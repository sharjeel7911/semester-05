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76" r:id="rId2"/>
    <p:sldId id="256" r:id="rId3"/>
    <p:sldId id="336" r:id="rId4"/>
    <p:sldId id="258" r:id="rId5"/>
    <p:sldId id="259" r:id="rId6"/>
    <p:sldId id="260" r:id="rId7"/>
    <p:sldId id="337" r:id="rId8"/>
    <p:sldId id="338" r:id="rId9"/>
    <p:sldId id="339" r:id="rId10"/>
    <p:sldId id="345" r:id="rId11"/>
    <p:sldId id="261" r:id="rId12"/>
    <p:sldId id="262" r:id="rId13"/>
    <p:sldId id="346" r:id="rId14"/>
    <p:sldId id="347" r:id="rId15"/>
    <p:sldId id="348" r:id="rId16"/>
    <p:sldId id="350" r:id="rId17"/>
    <p:sldId id="349" r:id="rId18"/>
    <p:sldId id="264" r:id="rId19"/>
    <p:sldId id="340" r:id="rId20"/>
    <p:sldId id="341" r:id="rId21"/>
    <p:sldId id="344" r:id="rId22"/>
    <p:sldId id="352" r:id="rId23"/>
    <p:sldId id="343" r:id="rId24"/>
    <p:sldId id="342" r:id="rId25"/>
    <p:sldId id="26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85098" autoAdjust="0"/>
  </p:normalViewPr>
  <p:slideViewPr>
    <p:cSldViewPr snapToGrid="0" snapToObjects="1">
      <p:cViewPr varScale="1">
        <p:scale>
          <a:sx n="114" d="100"/>
          <a:sy n="114" d="100"/>
        </p:scale>
        <p:origin x="1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325D-236B-4F03-BA94-913479B1924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0B9C-8593-45BF-B5DF-D540ED82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2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7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4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7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ve.org/Download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CS-</a:t>
            </a:r>
            <a:r>
              <a:rPr lang="en-US" sz="3300" dirty="0"/>
              <a:t>Cyber Security</a:t>
            </a:r>
            <a:br>
              <a:rPr lang="en-US" sz="3300" dirty="0"/>
            </a:br>
            <a:r>
              <a:rPr lang="en-US" sz="3300" dirty="0"/>
              <a:t>					Week-2		Lecture-2</a:t>
            </a:r>
            <a:br>
              <a:rPr lang="en-US" sz="3300" dirty="0"/>
            </a:br>
            <a:r>
              <a:rPr lang="en-US" sz="3300" dirty="0"/>
              <a:t>											</a:t>
            </a:r>
            <a:r>
              <a:rPr lang="en-US" sz="2100" dirty="0"/>
              <a:t>Semester- Spring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861C-24A8-47D2-986E-4811821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9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Vulnerabilities in Systems</a:t>
            </a:r>
          </a:p>
          <a:p>
            <a:r>
              <a:t>Cybersecurity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vulnerability is a weakness or flaw in a system, network, or software that attackers can exploit.</a:t>
            </a:r>
          </a:p>
          <a:p>
            <a:r>
              <a:t>It can allow unauthorized access, data theft, or disruption of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confidentiality, integrity, and availability (CIA) of data.</a:t>
            </a:r>
          </a:p>
          <a:p>
            <a:r>
              <a:t>Helps organizations prevent cyber attacks.</a:t>
            </a:r>
          </a:p>
          <a:p>
            <a:r>
              <a:t>Improves system security and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System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bugs or coding errors</a:t>
            </a:r>
          </a:p>
          <a:p>
            <a:r>
              <a:t>Weak passwords and authentication</a:t>
            </a:r>
          </a:p>
          <a:p>
            <a:r>
              <a:t>Misconfigured systems</a:t>
            </a:r>
          </a:p>
          <a:p>
            <a:r>
              <a:t>Outdated or unpatched software</a:t>
            </a:r>
          </a:p>
          <a:p>
            <a:r>
              <a:t>Lack of encryption</a:t>
            </a:r>
          </a:p>
          <a:p>
            <a:r>
              <a:t>Human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Software vulnerabilities are </a:t>
            </a:r>
            <a:r>
              <a:rPr lang="en-US" b="1" dirty="0"/>
              <a:t>errors or weaknesses in program code that attackers can exploit to gain unauthorized access, steal data, or damage a system</a:t>
            </a:r>
          </a:p>
          <a:p>
            <a:r>
              <a:rPr lang="en-US" dirty="0"/>
              <a:t>Errors in program code that attackers exploit.</a:t>
            </a:r>
            <a:endParaRPr dirty="0"/>
          </a:p>
          <a:p>
            <a:pPr lvl="1"/>
            <a:r>
              <a:rPr lang="en-US" dirty="0"/>
              <a:t>Buffer overflow → attacker crashes program or runs malicious code</a:t>
            </a:r>
          </a:p>
          <a:p>
            <a:pPr lvl="1"/>
            <a:r>
              <a:rPr lang="en-US" dirty="0"/>
              <a:t>SQL injection → attacker steals database information</a:t>
            </a:r>
          </a:p>
          <a:p>
            <a:pPr lvl="1"/>
            <a:r>
              <a:rPr lang="en-US" dirty="0"/>
              <a:t>XSS → attacker steals login cookies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376C-F994-FD10-2312-7CE30330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B9D8-92F5-92FE-D2F4-BB8A266C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30A2E-4996-A1C8-CCB6-4C816A22C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Buffer Overflow</a:t>
            </a:r>
            <a:br>
              <a:rPr lang="en-US" dirty="0"/>
            </a:br>
            <a:r>
              <a:rPr lang="en-US" dirty="0"/>
              <a:t>A buffer overflow occurs when a program writes </a:t>
            </a:r>
            <a:r>
              <a:rPr lang="en-US" b="1" dirty="0"/>
              <a:t>more data into memory than the allocated space can hold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Attackers exploit this to </a:t>
            </a:r>
            <a:r>
              <a:rPr lang="en-US" b="1" dirty="0"/>
              <a:t>overwrite memory and execute malicious code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a program expects 20 characters but an attacker sends 200 characters, the extra data may overwrite system memory.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613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D65F-17E7-037C-B1AA-86478A7B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F815-BE1C-F3FE-C1F1-DE822293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7D65-339C-91A4-AEB9-1B4CC5463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SQL injection is a vulnerability where attackers insert </a:t>
            </a:r>
            <a:r>
              <a:rPr lang="en-US" b="1" dirty="0"/>
              <a:t>malicious SQL queries into input fields</a:t>
            </a:r>
            <a:r>
              <a:rPr lang="en-US" dirty="0"/>
              <a:t> (like login forms) to manipulate the database.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attacker may bypass login authentication or retrieve confidential data from the database.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804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5660-23DE-F585-48BF-9F34D389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37D9-BA9D-728B-A0A5-5454B8E7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Cross-site Scripting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AD290-FE49-76A2-9ED7-9A116D44E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XSS occurs when attackers inject </a:t>
            </a:r>
            <a:r>
              <a:rPr lang="en-US" b="1" dirty="0"/>
              <a:t>malicious scripts into a trusted website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When other users visit the page, the script runs in their browser.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Attackers can steal </a:t>
            </a:r>
            <a:r>
              <a:rPr lang="en-US" b="1" dirty="0"/>
              <a:t>session cookies, login credentials, or personal data</a:t>
            </a:r>
            <a:r>
              <a:rPr lang="en-US" dirty="0"/>
              <a:t>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81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C9F7-A272-7F6C-2929-5A7F322D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87CC-7B68-6BD9-3325-AF39EB36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6865-EFC0-E475-20CF-8CF206C3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0617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Identify the Vulnerability</a:t>
            </a:r>
            <a:endParaRPr lang="en-US" dirty="0"/>
          </a:p>
          <a:p>
            <a:pPr lvl="1"/>
            <a:r>
              <a:rPr lang="en-US" dirty="0"/>
              <a:t>A website login form allows attackers to enter ' OR 1=1 -- and log in without a password.</a:t>
            </a:r>
          </a:p>
          <a:p>
            <a:pPr lvl="1"/>
            <a:r>
              <a:rPr lang="en-US" dirty="0"/>
              <a:t>A web comment section executes JavaScript when users open the page.</a:t>
            </a:r>
          </a:p>
          <a:p>
            <a:pPr lvl="1"/>
            <a:r>
              <a:rPr lang="en-US" dirty="0"/>
              <a:t>A program crashes when very long input is entered.</a:t>
            </a:r>
          </a:p>
          <a:p>
            <a:pPr lvl="1"/>
            <a:r>
              <a:rPr lang="en-US" dirty="0"/>
              <a:t>Attackers install malware through a trusted software update.</a:t>
            </a:r>
          </a:p>
          <a:p>
            <a:pPr marL="402336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044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login security makes systems easy to access.</a:t>
            </a:r>
          </a:p>
          <a:p>
            <a:r>
              <a:t>Examples:</a:t>
            </a:r>
          </a:p>
          <a:p>
            <a:r>
              <a:t>Simple passwords</a:t>
            </a:r>
          </a:p>
          <a:p>
            <a:r>
              <a:t>Default credentials</a:t>
            </a:r>
          </a:p>
          <a:p>
            <a:r>
              <a:t>No multi‑factor authentication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Incorrect system settings that create security gaps.</a:t>
            </a:r>
          </a:p>
          <a:p>
            <a:r>
              <a:t>Examples:</a:t>
            </a:r>
          </a:p>
          <a:p>
            <a:r>
              <a:t>Open ports</a:t>
            </a:r>
          </a:p>
          <a:p>
            <a:r>
              <a:t>Unnecessary services running</a:t>
            </a:r>
          </a:p>
          <a:p>
            <a:r>
              <a:t>Improper firewall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E0195-A0BA-6A63-9487-975E55A3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9EB3-6510-84BC-6998-0D555F8D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46A386-19D4-B3A9-3F76-5789B1E10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183988"/>
              </p:ext>
            </p:extLst>
          </p:nvPr>
        </p:nvGraphicFramePr>
        <p:xfrm>
          <a:off x="1492898" y="2425959"/>
          <a:ext cx="6186196" cy="3275197"/>
        </p:xfrm>
        <a:graphic>
          <a:graphicData uri="http://schemas.openxmlformats.org/drawingml/2006/table">
            <a:tbl>
              <a:tblPr/>
              <a:tblGrid>
                <a:gridCol w="1546549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546549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1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011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Broken Access Control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Users can access resources they should not be allowed to view or modify.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Viewing another user's account information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44890"/>
                  </a:ext>
                </a:extLst>
              </a:tr>
              <a:tr h="813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Cryptographic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Sensitive data is not properly protected using encryption.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Passwords stored in plain text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303778"/>
                  </a:ext>
                </a:extLst>
              </a:tr>
              <a:tr h="61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Injection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Malicious code is inserted into application inputs.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SQL Injection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654574"/>
                  </a:ext>
                </a:extLst>
              </a:tr>
              <a:tr h="61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Insecure Design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Weak system design leads to exploitable flaws.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Missing security checks in application logic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108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077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66D-21AF-2F3C-D38B-F97DE88A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FE59B8-4A20-3FB9-5370-16A3F63DA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096931"/>
              </p:ext>
            </p:extLst>
          </p:nvPr>
        </p:nvGraphicFramePr>
        <p:xfrm>
          <a:off x="1520890" y="2259777"/>
          <a:ext cx="6102220" cy="4122361"/>
        </p:xfrm>
        <a:graphic>
          <a:graphicData uri="http://schemas.openxmlformats.org/drawingml/2006/table">
            <a:tbl>
              <a:tblPr/>
              <a:tblGrid>
                <a:gridCol w="1525555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525555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21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025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5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Security Misconfiguration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Incorrect system settings expose vulnerabilities.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Default passwords on servers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87628"/>
                  </a:ext>
                </a:extLst>
              </a:tr>
              <a:tr h="824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Vulnerable and Outdated Components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Using old software with known vulnerabilities.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Exploiting CVE-2021-44228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3739"/>
                  </a:ext>
                </a:extLst>
              </a:tr>
              <a:tr h="122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Identification and Authentication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Weak login systems allow attackers to bypass authentication.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Brute-force password attacks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672206"/>
                  </a:ext>
                </a:extLst>
              </a:tr>
              <a:tr h="824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Software and Data Integrity Failures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Code or updates are not properly verified.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SolarWinds Supply Chain Attack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74112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5047C3D-7C4C-44FC-3E52-974CFC3B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102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C121-7C7C-7A43-A090-866428A0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CBB186-BC64-5C15-7316-B1A028B2F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742848"/>
              </p:ext>
            </p:extLst>
          </p:nvPr>
        </p:nvGraphicFramePr>
        <p:xfrm>
          <a:off x="1334278" y="2259777"/>
          <a:ext cx="5990252" cy="2797415"/>
        </p:xfrm>
        <a:graphic>
          <a:graphicData uri="http://schemas.openxmlformats.org/drawingml/2006/table">
            <a:tbl>
              <a:tblPr/>
              <a:tblGrid>
                <a:gridCol w="1497563">
                  <a:extLst>
                    <a:ext uri="{9D8B030D-6E8A-4147-A177-3AD203B41FA5}">
                      <a16:colId xmlns:a16="http://schemas.microsoft.com/office/drawing/2014/main" val="3689502471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1976720339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164498907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3709004349"/>
                    </a:ext>
                  </a:extLst>
                </a:gridCol>
              </a:tblGrid>
              <a:tr h="29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Rank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Vulnerability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Description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83645"/>
                  </a:ext>
                </a:extLst>
              </a:tr>
              <a:tr h="1113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Security Logging and Monitoring Failures</a:t>
                      </a:r>
                      <a:endParaRPr lang="en-US" sz="1200" dirty="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Security events are not recorded or monitored.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Attacks go undetected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16574"/>
                  </a:ext>
                </a:extLst>
              </a:tr>
              <a:tr h="1384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Server-Side Request Forgery (SSRF)</a:t>
                      </a:r>
                      <a:endParaRPr lang="en-US" sz="1200"/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Attackers trick servers into making unauthorized requests.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Accessing inter</a:t>
                      </a:r>
                    </a:p>
                  </a:txBody>
                  <a:tcPr marL="19084" marR="19084" marT="9542" marB="9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0626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DDCA7D0-AA13-ED81-CE83-A39EE74D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/>
          <a:lstStyle/>
          <a:p>
            <a:r>
              <a:rPr lang="en-US" dirty="0"/>
              <a:t>Top 10 OWASP Vulnerabilities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4908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0984-B53B-4A08-C735-7587DA42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9C28-F13A-C60E-921E-ABD150DA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CD36-0BA3-EC59-68C7-4580211D4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OWASP vulnerability is shown in each scenario?</a:t>
            </a:r>
          </a:p>
          <a:p>
            <a:pPr lvl="1"/>
            <a:r>
              <a:rPr lang="en-US" dirty="0"/>
              <a:t>A website allows users to see other customers’ orders.</a:t>
            </a:r>
          </a:p>
          <a:p>
            <a:pPr lvl="1"/>
            <a:r>
              <a:rPr lang="en-US" dirty="0"/>
              <a:t>A company still uses outdated software libraries with known CVEs.</a:t>
            </a:r>
          </a:p>
          <a:p>
            <a:pPr lvl="1"/>
            <a:r>
              <a:rPr lang="en-US" dirty="0"/>
              <a:t>Attackers repeatedly try thousands of passwords to log in.</a:t>
            </a:r>
          </a:p>
          <a:p>
            <a:pPr lvl="1"/>
            <a:r>
              <a:rPr lang="en-US" dirty="0"/>
              <a:t>The system administrator never checks security logs.</a:t>
            </a:r>
          </a:p>
        </p:txBody>
      </p:sp>
    </p:spTree>
    <p:extLst>
      <p:ext uri="{BB962C8B-B14F-4D97-AF65-F5344CB8AC3E}">
        <p14:creationId xmlns:p14="http://schemas.microsoft.com/office/powerpoint/2010/main" val="2104407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D01A-0856-49DD-D145-0F3B30CC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E65E-21CE-0BA2-55FA-AA432510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D305-3B8F-9A7D-272A-4ADAEBDA1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CVE stands for Common Vulnerabilities and Exposures.</a:t>
            </a:r>
          </a:p>
          <a:p>
            <a:r>
              <a:t>It is a public list of known security vulnerabilities.</a:t>
            </a:r>
          </a:p>
          <a:p>
            <a:r>
              <a:t>Used by security professionals to identify and track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973905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CVE Identification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vulnerability has a unique ID.</a:t>
            </a:r>
          </a:p>
          <a:p>
            <a:r>
              <a:t>Example: CVE-2023-12345</a:t>
            </a:r>
          </a:p>
          <a:p>
            <a:r>
              <a:t>CVE – Common Vulnerabilities and Exposures</a:t>
            </a:r>
          </a:p>
          <a:p>
            <a:r>
              <a:t>2023 – Year discovered</a:t>
            </a:r>
          </a:p>
          <a:p>
            <a:r>
              <a:t>12345 – Unique vulnerability number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3F08-85AD-EBB5-A3DD-B44842BE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7216-A0FE-7B80-B7D4-447B961C8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https://www.cve.org/Downloads</a:t>
            </a:r>
            <a:endParaRPr lang="en-US" dirty="0"/>
          </a:p>
          <a:p>
            <a:r>
              <a:rPr lang="en-US" dirty="0"/>
              <a:t>https://nvd.nist.gov/vuln/search#/nvd/home?keyword=CVE-2026-0012&amp;resultType=records</a:t>
            </a:r>
          </a:p>
        </p:txBody>
      </p:sp>
    </p:spTree>
    <p:extLst>
      <p:ext uri="{BB962C8B-B14F-4D97-AF65-F5344CB8AC3E}">
        <p14:creationId xmlns:p14="http://schemas.microsoft.com/office/powerpoint/2010/main" val="77613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82C6-E3BB-FCAF-43E6-732EBB6B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1C5D-E741-6ECE-D823-26EBF14B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For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87EF-D3E1-5FE1-3A68-594E0CC41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Explore these vulnerabilities, what attack methods were used and impact of these vulnerabilities: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dirty="0"/>
              <a:t>CVE-2026-26216</a:t>
            </a:r>
          </a:p>
          <a:p>
            <a:pPr lvl="1"/>
            <a:r>
              <a:rPr lang="en-US" dirty="0"/>
              <a:t>CVE-2026-1670</a:t>
            </a:r>
          </a:p>
          <a:p>
            <a:pPr lvl="1"/>
            <a:r>
              <a:rPr lang="en-US" dirty="0"/>
              <a:t>CVE-2022-22965</a:t>
            </a:r>
          </a:p>
          <a:p>
            <a:pPr lvl="1"/>
            <a:r>
              <a:rPr lang="en-US" dirty="0"/>
              <a:t>CVE-2020-1472</a:t>
            </a:r>
          </a:p>
          <a:p>
            <a:pPr lvl="1"/>
            <a:r>
              <a:rPr lang="en-US" dirty="0"/>
              <a:t>CVE-2026-21509</a:t>
            </a:r>
          </a:p>
          <a:p>
            <a:pPr lvl="1"/>
            <a:r>
              <a:rPr lang="en-US" dirty="0"/>
              <a:t>CVE-2017-0144</a:t>
            </a:r>
          </a:p>
          <a:p>
            <a:pPr lvl="1"/>
            <a:r>
              <a:rPr lang="en-US" dirty="0"/>
              <a:t>CVE-2021-44228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6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6DEC-E31F-5F7F-9E0A-D2C0A94E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8672-F9C4-950D-4EC9-C634BF4D6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are part of the IT security team at a university. Recently, the security team discovered that one of the university web servers uses the logging library </a:t>
            </a:r>
            <a:r>
              <a:rPr lang="en-US" b="1" dirty="0"/>
              <a:t>Apache Log4j</a:t>
            </a:r>
            <a:r>
              <a:rPr lang="en-US" dirty="0"/>
              <a:t>.</a:t>
            </a:r>
          </a:p>
          <a:p>
            <a:r>
              <a:rPr lang="en-US" dirty="0"/>
              <a:t>A critical vulnerability called </a:t>
            </a:r>
            <a:r>
              <a:rPr lang="en-US" b="1" dirty="0"/>
              <a:t>CVE-2021-44228</a:t>
            </a:r>
            <a:r>
              <a:rPr lang="en-US" dirty="0"/>
              <a:t> has been reported. This vulnerability allows attackers to execute malicious code remotely.</a:t>
            </a:r>
          </a:p>
          <a:p>
            <a:r>
              <a:rPr lang="en-US" dirty="0"/>
              <a:t>Security experts from </a:t>
            </a:r>
            <a:r>
              <a:rPr lang="en-US" b="1" dirty="0"/>
              <a:t>National Institute of Standards and Technology</a:t>
            </a:r>
            <a:r>
              <a:rPr lang="en-US" dirty="0"/>
              <a:t> have classified it as a </a:t>
            </a:r>
            <a:r>
              <a:rPr lang="en-US" b="1" dirty="0"/>
              <a:t>critical vulnerability</a:t>
            </a:r>
            <a:r>
              <a:rPr lang="en-US" dirty="0"/>
              <a:t>.</a:t>
            </a:r>
          </a:p>
          <a:p>
            <a:r>
              <a:rPr lang="en-US" dirty="0"/>
              <a:t>Your task is to analyze the situation and recommend actions to protect the university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1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455-0E39-E28E-8E74-A59F16E8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59C9-5698-73D2-84C6-2555BB8B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31C-5471-96F0-C92A-9272BB57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Identify the Vulnerability</a:t>
            </a:r>
          </a:p>
          <a:p>
            <a:pPr lvl="1"/>
            <a:r>
              <a:rPr lang="en-US" dirty="0"/>
              <a:t>What is the CVE ID?</a:t>
            </a:r>
          </a:p>
          <a:p>
            <a:pPr lvl="1"/>
            <a:r>
              <a:rPr lang="en-US" dirty="0"/>
              <a:t>Which software or system is affected?</a:t>
            </a:r>
          </a:p>
          <a:p>
            <a:r>
              <a:rPr lang="en-US" b="1" dirty="0"/>
              <a:t>2. Understand the Risk</a:t>
            </a:r>
          </a:p>
          <a:p>
            <a:pPr lvl="1"/>
            <a:r>
              <a:rPr lang="en-US" dirty="0"/>
              <a:t>What can attackers do using this vulnerability?</a:t>
            </a:r>
          </a:p>
          <a:p>
            <a:pPr lvl="1"/>
            <a:r>
              <a:rPr lang="en-US" dirty="0"/>
              <a:t>Which university systems could be affected?</a:t>
            </a:r>
          </a:p>
          <a:p>
            <a:r>
              <a:rPr lang="en-US" b="1" dirty="0"/>
              <a:t>What could happen if attackers exploit the vulnerability?</a:t>
            </a:r>
          </a:p>
          <a:p>
            <a:r>
              <a:rPr lang="en-US" dirty="0"/>
              <a:t>What actions should the university take to protect the systems?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79360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F5BC-A1ED-B2CF-A4CE-90668916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0698-010B-0E2E-B49F-6493282F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CVE databases important for cybersecurity?</a:t>
            </a:r>
          </a:p>
          <a:p>
            <a:r>
              <a:rPr lang="en-US" dirty="0"/>
              <a:t>What happens if organizations ignore vulnerability warnings?</a:t>
            </a:r>
          </a:p>
          <a:p>
            <a:r>
              <a:rPr lang="en-US" dirty="0"/>
              <a:t>How can universities improve their vulnerability management process?</a:t>
            </a:r>
          </a:p>
        </p:txBody>
      </p:sp>
    </p:spTree>
    <p:extLst>
      <p:ext uri="{BB962C8B-B14F-4D97-AF65-F5344CB8AC3E}">
        <p14:creationId xmlns:p14="http://schemas.microsoft.com/office/powerpoint/2010/main" val="3298571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0344-3232-5CD3-0C73-0EBDB96C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F2FC-142D-83E5-395C-3DD41407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Vulnerability Scanners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Nessus</a:t>
            </a:r>
          </a:p>
          <a:p>
            <a:pPr lvl="1"/>
            <a:r>
              <a:rPr lang="en-US" dirty="0"/>
              <a:t>OpenVAS</a:t>
            </a:r>
          </a:p>
          <a:p>
            <a:pPr lvl="1"/>
            <a:r>
              <a:rPr lang="en-US" dirty="0"/>
              <a:t>Nmap</a:t>
            </a:r>
          </a:p>
          <a:p>
            <a:pPr lvl="1"/>
            <a:r>
              <a:rPr lang="en-US" dirty="0" err="1"/>
              <a:t>BurpSuite</a:t>
            </a:r>
            <a:endParaRPr lang="en-US" dirty="0"/>
          </a:p>
          <a:p>
            <a:pPr lvl="1"/>
            <a:r>
              <a:rPr lang="en-US" dirty="0"/>
              <a:t>ZAP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09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Vulnerabilities are weaknesses that attackers can exploit.</a:t>
            </a:r>
          </a:p>
          <a:p>
            <a:r>
              <a:t>Organizations must identify and fix them quickly.</a:t>
            </a:r>
          </a:p>
          <a:p>
            <a:r>
              <a:t>CVE helps track and manage vulnerabilities globally.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668</TotalTime>
  <Words>997</Words>
  <Application>Microsoft Macintosh PowerPoint</Application>
  <PresentationFormat>On-screen Show (4:3)</PresentationFormat>
  <Paragraphs>171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Century Gothic</vt:lpstr>
      <vt:lpstr>Wingdings 3</vt:lpstr>
      <vt:lpstr>Ion Boardroom</vt:lpstr>
      <vt:lpstr>      CS-Cyber Security      Week-2  Lecture-2            Semester- Spring 2026</vt:lpstr>
      <vt:lpstr>Title Slide</vt:lpstr>
      <vt:lpstr>Definition of Vulnerabilities</vt:lpstr>
      <vt:lpstr>Importance of Vulnerability Management</vt:lpstr>
      <vt:lpstr>Common System Vulnerabilities</vt:lpstr>
      <vt:lpstr>Software Vulnerabilities</vt:lpstr>
      <vt:lpstr>Buffer Overflow</vt:lpstr>
      <vt:lpstr>SQL Injection</vt:lpstr>
      <vt:lpstr>Cross-site Scripting</vt:lpstr>
      <vt:lpstr>Activity</vt:lpstr>
      <vt:lpstr>Weak Authentication</vt:lpstr>
      <vt:lpstr>System Misconfiguration</vt:lpstr>
      <vt:lpstr>Top 10 OWASP Vulnerabilities</vt:lpstr>
      <vt:lpstr>Top 10 OWASP Vulnerabilities</vt:lpstr>
      <vt:lpstr>Top 10 OWASP Vulnerabilities</vt:lpstr>
      <vt:lpstr>Question</vt:lpstr>
      <vt:lpstr>Introduction to CVE</vt:lpstr>
      <vt:lpstr>CVE Identification Format</vt:lpstr>
      <vt:lpstr>LINKs</vt:lpstr>
      <vt:lpstr>Task For Student</vt:lpstr>
      <vt:lpstr>Case Study </vt:lpstr>
      <vt:lpstr>Case Study </vt:lpstr>
      <vt:lpstr>Questions</vt:lpstr>
      <vt:lpstr>Home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CS-Cyber Security      Week-2  Lecture-2            Semester- Spring 2026</dc:title>
  <dc:subject/>
  <dc:creator>Mahek Kausar</dc:creator>
  <cp:keywords/>
  <dc:description>generated using python-pptx</dc:description>
  <cp:lastModifiedBy>Muhammad Bilal Khan </cp:lastModifiedBy>
  <cp:revision>64</cp:revision>
  <dcterms:created xsi:type="dcterms:W3CDTF">2013-01-27T09:14:16Z</dcterms:created>
  <dcterms:modified xsi:type="dcterms:W3CDTF">2026-03-11T05:23:37Z</dcterms:modified>
  <cp:category/>
</cp:coreProperties>
</file>