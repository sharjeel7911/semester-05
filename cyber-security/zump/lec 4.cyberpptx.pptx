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2"/>
  </p:notesMasterIdLst>
  <p:sldIdLst>
    <p:sldId id="276" r:id="rId2"/>
    <p:sldId id="256" r:id="rId3"/>
    <p:sldId id="353" r:id="rId4"/>
    <p:sldId id="354" r:id="rId5"/>
    <p:sldId id="387" r:id="rId6"/>
    <p:sldId id="388" r:id="rId7"/>
    <p:sldId id="355" r:id="rId8"/>
    <p:sldId id="356" r:id="rId9"/>
    <p:sldId id="357" r:id="rId10"/>
    <p:sldId id="257" r:id="rId11"/>
    <p:sldId id="358" r:id="rId12"/>
    <p:sldId id="359" r:id="rId13"/>
    <p:sldId id="360" r:id="rId14"/>
    <p:sldId id="361" r:id="rId15"/>
    <p:sldId id="373" r:id="rId16"/>
    <p:sldId id="362" r:id="rId17"/>
    <p:sldId id="374" r:id="rId18"/>
    <p:sldId id="375" r:id="rId19"/>
    <p:sldId id="376" r:id="rId20"/>
    <p:sldId id="363" r:id="rId21"/>
    <p:sldId id="377" r:id="rId22"/>
    <p:sldId id="378" r:id="rId23"/>
    <p:sldId id="379" r:id="rId24"/>
    <p:sldId id="380" r:id="rId25"/>
    <p:sldId id="364" r:id="rId26"/>
    <p:sldId id="381" r:id="rId27"/>
    <p:sldId id="382" r:id="rId28"/>
    <p:sldId id="383" r:id="rId29"/>
    <p:sldId id="365" r:id="rId30"/>
    <p:sldId id="384" r:id="rId31"/>
    <p:sldId id="366" r:id="rId32"/>
    <p:sldId id="385" r:id="rId33"/>
    <p:sldId id="367" r:id="rId34"/>
    <p:sldId id="386" r:id="rId35"/>
    <p:sldId id="368" r:id="rId36"/>
    <p:sldId id="371" r:id="rId37"/>
    <p:sldId id="372" r:id="rId38"/>
    <p:sldId id="369" r:id="rId39"/>
    <p:sldId id="370" r:id="rId40"/>
    <p:sldId id="336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85098" autoAdjust="0"/>
  </p:normalViewPr>
  <p:slideViewPr>
    <p:cSldViewPr snapToGrid="0" snapToObjects="1">
      <p:cViewPr varScale="1">
        <p:scale>
          <a:sx n="115" d="100"/>
          <a:sy n="115" d="100"/>
        </p:scale>
        <p:origin x="156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325D-236B-4F03-BA94-913479B1924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0B9C-8593-45BF-B5DF-D540ED82B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1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2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7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7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1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8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3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2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54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75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97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98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CS-</a:t>
            </a:r>
            <a:r>
              <a:rPr lang="en-US" sz="3300" dirty="0"/>
              <a:t>Cyber Security</a:t>
            </a:r>
            <a:br>
              <a:rPr lang="en-US" sz="3300" dirty="0"/>
            </a:br>
            <a:r>
              <a:rPr lang="en-US" sz="3300" dirty="0"/>
              <a:t>					Week-4		Lecture-4</a:t>
            </a:r>
            <a:br>
              <a:rPr lang="en-US" sz="3300" dirty="0"/>
            </a:br>
            <a:r>
              <a:rPr lang="en-US" sz="3300" dirty="0"/>
              <a:t>											</a:t>
            </a:r>
            <a:r>
              <a:rPr lang="en-US" sz="2100" dirty="0"/>
              <a:t>Semester- Spring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B861C-24A8-47D2-986E-48118210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9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Malwares </a:t>
            </a:r>
            <a:endParaRPr dirty="0"/>
          </a:p>
          <a:p>
            <a:r>
              <a:rPr lang="en-US" dirty="0"/>
              <a:t>Malware Infection Mechanisms</a:t>
            </a:r>
          </a:p>
          <a:p>
            <a:r>
              <a:rPr lang="en-US" dirty="0"/>
              <a:t>Impact of malware on Systems</a:t>
            </a:r>
          </a:p>
          <a:p>
            <a:r>
              <a:rPr lang="en-US" dirty="0"/>
              <a:t>System Errors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Malware?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Malicious software designed to harm systems, steal data, or disrupt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Virus</a:t>
            </a:r>
          </a:p>
          <a:p>
            <a:r>
              <a:rPr dirty="0"/>
              <a:t>Worm</a:t>
            </a:r>
          </a:p>
          <a:p>
            <a:r>
              <a:rPr dirty="0"/>
              <a:t>Trojan Horse</a:t>
            </a:r>
          </a:p>
          <a:p>
            <a:r>
              <a:rPr dirty="0"/>
              <a:t>Ransomware</a:t>
            </a:r>
          </a:p>
          <a:p>
            <a:r>
              <a:rPr dirty="0"/>
              <a:t>Spyware</a:t>
            </a:r>
          </a:p>
          <a:p>
            <a:r>
              <a:rPr dirty="0"/>
              <a:t>Adware</a:t>
            </a:r>
          </a:p>
          <a:p>
            <a:r>
              <a:rPr dirty="0"/>
              <a:t>Rootkit</a:t>
            </a:r>
          </a:p>
          <a:p>
            <a:r>
              <a:rPr dirty="0"/>
              <a:t>Keylogger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40B4-28CC-C945-9398-50FB8022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DBAED-6AF9-DF44-75B7-A1531B1F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Malware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9FACE-4714-0BAA-CAF7-488CB9A15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Virus</a:t>
            </a:r>
            <a:r>
              <a:rPr lang="en-US" dirty="0"/>
              <a:t> Attaches to files/programs and spreads when executed.</a:t>
            </a:r>
          </a:p>
          <a:p>
            <a:r>
              <a:rPr lang="en-US" dirty="0"/>
              <a:t>Worm Self-replicates and spreads across networks without user action.</a:t>
            </a:r>
          </a:p>
          <a:p>
            <a:r>
              <a:rPr lang="en-US" dirty="0"/>
              <a:t>Trojan Horse Disguised as legitimate software but performs malicious actions.</a:t>
            </a:r>
          </a:p>
          <a:p>
            <a:r>
              <a:rPr lang="en-US" dirty="0"/>
              <a:t>Ransomware Locks/encrypts data and demands payment to restore access.</a:t>
            </a:r>
          </a:p>
          <a:p>
            <a:r>
              <a:rPr lang="en-US" dirty="0"/>
              <a:t>Spyware Secretly monitors user activity and steals information.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112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B363D-9D4B-90DE-A587-FA4B8B84A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2F39-10FB-C748-1477-793E80AE6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Malware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7B615-90B2-2883-AE9E-56AC86FFB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Adware Displays unwanted ads and may track user behavior.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Rootkit Hides malware presence and gives attackers deep system access.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Keylogger Records keystrokes to steal passwords and sensitive data.</a:t>
            </a:r>
          </a:p>
        </p:txBody>
      </p:sp>
    </p:spTree>
    <p:extLst>
      <p:ext uri="{BB962C8B-B14F-4D97-AF65-F5344CB8AC3E}">
        <p14:creationId xmlns:p14="http://schemas.microsoft.com/office/powerpoint/2010/main" val="273661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Infection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Emails</a:t>
            </a:r>
          </a:p>
          <a:p>
            <a:r>
              <a:t>Malicious Attachments</a:t>
            </a:r>
          </a:p>
          <a:p>
            <a:r>
              <a:t>Drive-by Downloads</a:t>
            </a:r>
          </a:p>
          <a:p>
            <a:r>
              <a:t>USB Devices</a:t>
            </a:r>
          </a:p>
          <a:p>
            <a:r>
              <a:t>Software Vulnerabilities</a:t>
            </a:r>
          </a:p>
          <a:p>
            <a:r>
              <a:t>Pirated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Theft</a:t>
            </a:r>
          </a:p>
          <a:p>
            <a:r>
              <a:t>System Slowdown</a:t>
            </a:r>
          </a:p>
          <a:p>
            <a:r>
              <a:t>Financial Loss</a:t>
            </a:r>
          </a:p>
          <a:p>
            <a:r>
              <a:t>Privacy Breach</a:t>
            </a:r>
          </a:p>
          <a:p>
            <a:r>
              <a:t>System Crash</a:t>
            </a:r>
          </a:p>
          <a:p>
            <a:r>
              <a:t>Network Disruption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Errors due to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crashes</a:t>
            </a:r>
          </a:p>
          <a:p>
            <a:r>
              <a:t>Slow performance</a:t>
            </a:r>
          </a:p>
          <a:p>
            <a:r>
              <a:t>Pop-ups</a:t>
            </a:r>
          </a:p>
          <a:p>
            <a:r>
              <a:t>Unknown processes</a:t>
            </a:r>
          </a:p>
          <a:p>
            <a:r>
              <a:t>File corruption</a:t>
            </a:r>
          </a:p>
          <a:p>
            <a:r>
              <a:t>Disabled antivirus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</a:t>
            </a:r>
            <a:r>
              <a:rPr lang="en-US" b="1" dirty="0" err="1"/>
              <a:t>NotPetya</a:t>
            </a:r>
            <a:r>
              <a:rPr lang="en-US" b="1" dirty="0"/>
              <a:t> Attack (2017)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r>
              <a:rPr lang="en-US" dirty="0"/>
              <a:t>Type: Ransomware (actually destructive malware)</a:t>
            </a:r>
          </a:p>
          <a:p>
            <a:r>
              <a:rPr lang="en-US" dirty="0"/>
              <a:t>Spread via: Software update mechanism</a:t>
            </a:r>
          </a:p>
          <a:p>
            <a:r>
              <a:rPr lang="en-US" dirty="0"/>
              <a:t>Impact:</a:t>
            </a:r>
          </a:p>
          <a:p>
            <a:pPr lvl="1"/>
            <a:r>
              <a:rPr lang="en-US" dirty="0"/>
              <a:t>Major companies affected (shipping, logistics)</a:t>
            </a:r>
          </a:p>
          <a:p>
            <a:pPr lvl="1"/>
            <a:r>
              <a:rPr lang="en-US" dirty="0"/>
              <a:t>Permanent data loss</a:t>
            </a:r>
          </a:p>
          <a:p>
            <a:pPr lvl="1"/>
            <a:r>
              <a:rPr lang="en-US" dirty="0"/>
              <a:t>Billions in damages</a:t>
            </a:r>
          </a:p>
          <a:p>
            <a:r>
              <a:rPr lang="en-US" b="1" dirty="0"/>
              <a:t>Learning Outcome:</a:t>
            </a:r>
            <a:endParaRPr lang="en-US" dirty="0"/>
          </a:p>
          <a:p>
            <a:r>
              <a:rPr lang="en-US" dirty="0"/>
              <a:t>Supply chain attacks are highly dangerous</a:t>
            </a:r>
          </a:p>
          <a:p>
            <a:r>
              <a:rPr lang="en-US" dirty="0"/>
              <a:t>Not all ransomware is recoverable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2544-D966-3CCE-4B46-53C07D2D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7284-FE48-D3FE-3EF2-900EDAD7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Study 3: ILOVEYOU Virus (2000)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BCC5-D45B-52F2-BC4E-6982381A0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Type: Email virus</a:t>
            </a:r>
          </a:p>
          <a:p>
            <a:r>
              <a:rPr lang="en-US" dirty="0"/>
              <a:t>Spread via: Email attachment (“LOVE-LETTER-FOR-YOU.txt”)</a:t>
            </a:r>
          </a:p>
          <a:p>
            <a:r>
              <a:rPr lang="en-US" dirty="0"/>
              <a:t>Impact:</a:t>
            </a:r>
          </a:p>
          <a:p>
            <a:pPr lvl="1"/>
            <a:r>
              <a:rPr lang="en-US" dirty="0"/>
              <a:t>Millions of systems infected</a:t>
            </a:r>
          </a:p>
          <a:p>
            <a:pPr lvl="1"/>
            <a:r>
              <a:rPr lang="en-US" dirty="0"/>
              <a:t>Over $10 billion damage</a:t>
            </a:r>
          </a:p>
          <a:p>
            <a:r>
              <a:rPr lang="en-US" b="1" dirty="0"/>
              <a:t>Learning Outcome:</a:t>
            </a:r>
            <a:endParaRPr lang="en-US" dirty="0"/>
          </a:p>
          <a:p>
            <a:r>
              <a:rPr lang="en-US" dirty="0"/>
              <a:t>Human curiosity is a major vulnerability</a:t>
            </a:r>
          </a:p>
          <a:p>
            <a:r>
              <a:rPr lang="en-US" dirty="0"/>
              <a:t>Email security awareness is critical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7750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B3108-8F52-405D-53C1-3A1C42CD9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3225-F265-23C8-F166-17A21EA6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Study 4: Zeus Banking Trojan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14322-ABB2-6CFA-1160-068661FE6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Type: Trojan + Keylogger</a:t>
            </a:r>
          </a:p>
          <a:p>
            <a:r>
              <a:rPr lang="en-US" dirty="0"/>
              <a:t>Impact:</a:t>
            </a:r>
          </a:p>
          <a:p>
            <a:pPr lvl="1"/>
            <a:r>
              <a:rPr lang="en-US" dirty="0"/>
              <a:t>Stole banking credentials</a:t>
            </a:r>
          </a:p>
          <a:p>
            <a:pPr lvl="1"/>
            <a:r>
              <a:rPr lang="en-US" dirty="0"/>
              <a:t>Caused massive financial fraud</a:t>
            </a:r>
          </a:p>
          <a:p>
            <a:r>
              <a:rPr lang="en-US" b="1" dirty="0"/>
              <a:t>Learning Outcome:</a:t>
            </a:r>
            <a:endParaRPr lang="en-US" dirty="0"/>
          </a:p>
          <a:p>
            <a:r>
              <a:rPr lang="en-US" dirty="0"/>
              <a:t>Importance of secure browsing and </a:t>
            </a:r>
            <a:r>
              <a:rPr lang="en-US" dirty="0" err="1"/>
              <a:t>authentica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1950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266DE-3E23-9548-253A-BCD8D852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AB77-0BD3-0231-1446-B7EC002A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Identifying Malware Symptoms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32A93-D1E4-B7F3-4299-E9D77FA01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Objective:</a:t>
            </a:r>
          </a:p>
          <a:p>
            <a:r>
              <a:rPr lang="en-US" dirty="0"/>
              <a:t>Recognize signs of malware infection.</a:t>
            </a:r>
          </a:p>
          <a:p>
            <a:r>
              <a:rPr lang="en-US" b="1" dirty="0"/>
              <a:t>Steps:</a:t>
            </a:r>
          </a:p>
          <a:p>
            <a:r>
              <a:rPr lang="en-US" dirty="0"/>
              <a:t>Observe a system (real or simulated).</a:t>
            </a:r>
          </a:p>
          <a:p>
            <a:r>
              <a:rPr lang="en-US" dirty="0"/>
              <a:t>Check:</a:t>
            </a:r>
          </a:p>
          <a:p>
            <a:pPr lvl="1"/>
            <a:r>
              <a:rPr lang="en-US" dirty="0"/>
              <a:t>Task Manager (unknown processes)</a:t>
            </a:r>
          </a:p>
          <a:p>
            <a:pPr lvl="1"/>
            <a:r>
              <a:rPr lang="en-US" dirty="0"/>
              <a:t>Startup programs</a:t>
            </a:r>
          </a:p>
          <a:p>
            <a:pPr lvl="1"/>
            <a:r>
              <a:rPr lang="en-US" dirty="0"/>
              <a:t>System performance</a:t>
            </a:r>
          </a:p>
          <a:p>
            <a:r>
              <a:rPr lang="en-US" dirty="0"/>
              <a:t>Note suspicious behavior.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4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9CE91-0FA4-4F2F-12C1-DD9B5AD0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02BB-512C-AACF-7042-6422E9E0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A4068-AD63-6A78-59EB-05EE5B33B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user downloads cracked software and later experiences slow system performance, pop-ups, and file loss.</a:t>
            </a:r>
          </a:p>
          <a:p>
            <a:r>
              <a:rPr lang="en-US" b="1" dirty="0"/>
              <a:t>Questions:</a:t>
            </a:r>
          </a:p>
          <a:p>
            <a:r>
              <a:rPr lang="en-US" dirty="0"/>
              <a:t>Identify possible malware type.</a:t>
            </a:r>
          </a:p>
          <a:p>
            <a:r>
              <a:rPr lang="en-US" dirty="0"/>
              <a:t>Explain infection method.</a:t>
            </a:r>
          </a:p>
          <a:p>
            <a:r>
              <a:rPr lang="en-US" dirty="0"/>
              <a:t>List impacts on the system.</a:t>
            </a:r>
          </a:p>
          <a:p>
            <a:r>
              <a:rPr lang="en-US" dirty="0"/>
              <a:t>Suggest prevention techniques.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2715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A194-51F7-F226-A85B-B4055FC3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21B3-C660-0779-7080-E16B8BE9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D7C99-D8A3-4A18-C61B-D11227590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this case, </a:t>
            </a:r>
            <a:r>
              <a:rPr lang="en-US" b="1" dirty="0"/>
              <a:t>Trojan + Adware combo</a:t>
            </a:r>
            <a:r>
              <a:rPr lang="en-US" dirty="0"/>
              <a:t> is most likely because the malware was delivered via cracked software.</a:t>
            </a:r>
          </a:p>
          <a:p>
            <a:r>
              <a:rPr lang="en-US" dirty="0"/>
              <a:t>This is a </a:t>
            </a:r>
            <a:r>
              <a:rPr lang="en-US" b="1" dirty="0"/>
              <a:t>social engineering-based infection</a:t>
            </a:r>
            <a:r>
              <a:rPr lang="en-US" dirty="0"/>
              <a:t>, where the user unknowingly installs malware thinking it’s legitimate software.</a:t>
            </a:r>
          </a:p>
          <a:p>
            <a:r>
              <a:rPr lang="en-US" b="1" dirty="0"/>
              <a:t>Impacts on the System</a:t>
            </a:r>
          </a:p>
          <a:p>
            <a:r>
              <a:rPr lang="en-US" b="1" dirty="0"/>
              <a:t>Slow performance</a:t>
            </a:r>
            <a:r>
              <a:rPr lang="en-US" dirty="0"/>
              <a:t> – malware consumes CPU and memory.</a:t>
            </a:r>
          </a:p>
          <a:p>
            <a:r>
              <a:rPr lang="en-US" b="1" dirty="0"/>
              <a:t>Pop-ups/ads</a:t>
            </a:r>
            <a:r>
              <a:rPr lang="en-US" dirty="0"/>
              <a:t> – intrusive adware runs in the background.</a:t>
            </a:r>
          </a:p>
          <a:p>
            <a:r>
              <a:rPr lang="en-US" b="1" dirty="0"/>
              <a:t>File loss or corruption</a:t>
            </a:r>
            <a:r>
              <a:rPr lang="en-US" dirty="0"/>
              <a:t> – Trojan may delete or encrypt files.</a:t>
            </a:r>
          </a:p>
          <a:p>
            <a:r>
              <a:rPr lang="en-US" b="1" dirty="0"/>
              <a:t>Privacy risk</a:t>
            </a:r>
            <a:r>
              <a:rPr lang="en-US" dirty="0"/>
              <a:t> – keyloggers or spyware may steal personal data.</a:t>
            </a:r>
          </a:p>
          <a:p>
            <a:r>
              <a:rPr lang="en-US" b="1" dirty="0"/>
              <a:t>System instability</a:t>
            </a:r>
            <a:r>
              <a:rPr lang="en-US" dirty="0"/>
              <a:t> – crashes, freezes, or unexpected errors.</a:t>
            </a:r>
          </a:p>
          <a:p>
            <a:r>
              <a:rPr lang="en-US" b="1" dirty="0"/>
              <a:t>Network threats</a:t>
            </a:r>
            <a:r>
              <a:rPr lang="en-US" dirty="0"/>
              <a:t> – malware may communicate with remote servers (botnets).</a:t>
            </a:r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201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E4BA-BAC6-C3FC-9017-4E3C294E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0A33-8238-C177-EE38-C2953643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225-CA0E-FED9-A9C1-B194A31EB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organization notices that all systems are extremely slow, and network traffic is unusually high even when no one is actively using the internet.</a:t>
            </a:r>
          </a:p>
          <a:p>
            <a:r>
              <a:rPr lang="en-US" b="1" dirty="0"/>
              <a:t>Questions:</a:t>
            </a:r>
          </a:p>
          <a:p>
            <a:r>
              <a:rPr lang="en-US" dirty="0"/>
              <a:t>Which type of malware could cause this?</a:t>
            </a:r>
          </a:p>
          <a:p>
            <a:r>
              <a:rPr lang="en-US" dirty="0"/>
              <a:t>How does it spread?</a:t>
            </a:r>
          </a:p>
          <a:p>
            <a:r>
              <a:rPr lang="en-US" dirty="0"/>
              <a:t>What system/network symptoms indicate infection?</a:t>
            </a:r>
          </a:p>
          <a:p>
            <a:r>
              <a:rPr lang="en-US" dirty="0"/>
              <a:t>Suggest detection and prevention strategies.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9444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0E2D7-58C5-334D-653E-36597E5E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8278-ED64-E72F-7784-637ECBC52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BD33F-A3CB-82B1-3E82-313CB4C2B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r>
              <a:rPr lang="en-US" b="1" dirty="0"/>
              <a:t>Botnet malware</a:t>
            </a:r>
            <a:r>
              <a:rPr lang="en-US" dirty="0"/>
              <a:t>: Infects computers and connects them to a network controlled by an attacker. The infected systems may be used for spam, DDoS attacks, or other malicious purposes.</a:t>
            </a:r>
          </a:p>
          <a:p>
            <a:r>
              <a:rPr lang="en-US" dirty="0"/>
              <a:t>Other possibilities: </a:t>
            </a:r>
            <a:r>
              <a:rPr lang="en-US" b="1" dirty="0"/>
              <a:t>worms</a:t>
            </a:r>
            <a:r>
              <a:rPr lang="en-US" dirty="0"/>
              <a:t> that spread across networks could also increase traffic.</a:t>
            </a:r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3269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F6237-B3E1-3874-A6A2-BF1E2A27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60E0-F30E-3123-E2CC-9E5DA8F4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5771C-0E40-0A46-7578-2C53BB890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r>
              <a:rPr lang="en-US" dirty="0"/>
              <a:t>This type of malware often spreads via:</a:t>
            </a:r>
          </a:p>
          <a:p>
            <a:r>
              <a:rPr lang="en-US" b="1" dirty="0"/>
              <a:t>Email attachments</a:t>
            </a:r>
            <a:r>
              <a:rPr lang="en-US" dirty="0"/>
              <a:t> or phishing links</a:t>
            </a:r>
          </a:p>
          <a:p>
            <a:r>
              <a:rPr lang="en-US" b="1" dirty="0"/>
              <a:t>Exploiting software vulnerabilities</a:t>
            </a:r>
            <a:r>
              <a:rPr lang="en-US" dirty="0"/>
              <a:t> on networked systems (e.g., unpatched Windows or Linux services)</a:t>
            </a:r>
          </a:p>
          <a:p>
            <a:r>
              <a:rPr lang="en-US" b="1" dirty="0"/>
              <a:t>Malicious downloads or cracked software</a:t>
            </a:r>
            <a:endParaRPr lang="en-US" dirty="0"/>
          </a:p>
          <a:p>
            <a:r>
              <a:rPr lang="en-US" b="1" dirty="0"/>
              <a:t>Removable media</a:t>
            </a:r>
            <a:r>
              <a:rPr lang="en-US" dirty="0"/>
              <a:t> (USB drives) in the case of worms</a:t>
            </a:r>
          </a:p>
          <a:p>
            <a:r>
              <a:rPr lang="en-US" b="1" dirty="0"/>
              <a:t>Drive-by downloads</a:t>
            </a:r>
            <a:r>
              <a:rPr lang="en-US" dirty="0"/>
              <a:t> from compromised websites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9177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91ECB-DBBC-8E56-CF7A-594C6B30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4041-CF6E-DFC6-E6E9-4E0F04B5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91605-91C6-AECB-2466-30008A5E3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System and Network Symptoms</a:t>
            </a:r>
          </a:p>
          <a:p>
            <a:r>
              <a:rPr lang="en-US" dirty="0"/>
              <a:t>Signs that the organization’s systems may be infected:</a:t>
            </a:r>
          </a:p>
          <a:p>
            <a:r>
              <a:rPr lang="en-US" b="1" dirty="0"/>
              <a:t>System Symptoms:</a:t>
            </a:r>
            <a:endParaRPr lang="en-US" dirty="0"/>
          </a:p>
          <a:p>
            <a:r>
              <a:rPr lang="en-US" dirty="0"/>
              <a:t>Extremely slow performance despite no heavy workload</a:t>
            </a:r>
          </a:p>
          <a:p>
            <a:r>
              <a:rPr lang="en-US" dirty="0"/>
              <a:t>High CPU or GPU usage for unknown processes</a:t>
            </a:r>
          </a:p>
          <a:p>
            <a:r>
              <a:rPr lang="en-US" dirty="0"/>
              <a:t>Frequent crashes or application hangs</a:t>
            </a:r>
          </a:p>
          <a:p>
            <a:r>
              <a:rPr lang="en-US" dirty="0"/>
              <a:t>Unexpected pop-ups or system alerts</a:t>
            </a:r>
          </a:p>
          <a:p>
            <a:r>
              <a:rPr lang="en-US" b="1" dirty="0"/>
              <a:t>Network Symptoms:</a:t>
            </a:r>
            <a:endParaRPr lang="en-US" dirty="0"/>
          </a:p>
          <a:p>
            <a:r>
              <a:rPr lang="en-US" dirty="0"/>
              <a:t>High outbound network traffic even when users are idle</a:t>
            </a:r>
          </a:p>
          <a:p>
            <a:r>
              <a:rPr lang="en-US" dirty="0"/>
              <a:t>Communication with unknown external IP addresses</a:t>
            </a:r>
          </a:p>
          <a:p>
            <a:r>
              <a:rPr lang="en-US" dirty="0"/>
              <a:t>Unexpected connections on unusual ports</a:t>
            </a:r>
          </a:p>
          <a:p>
            <a:r>
              <a:rPr lang="en-US" dirty="0"/>
              <a:t>Network slowdowns affecting multiple users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892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057EE-F7D1-F1B5-44CE-5590D61F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A04F3-BA81-7837-5B46-9D881966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A10D8-93A3-8AAC-F22B-2E03668A4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 user observes that their antivirus is turned off automatically and cannot be re-enabled. Unknown background processes are running.</a:t>
            </a:r>
          </a:p>
          <a:p>
            <a:pPr algn="just"/>
            <a:r>
              <a:rPr lang="en-US" b="1" dirty="0"/>
              <a:t>Questions:</a:t>
            </a:r>
          </a:p>
          <a:p>
            <a:r>
              <a:rPr lang="en-US" dirty="0"/>
              <a:t>What type of malware might be involved?</a:t>
            </a:r>
          </a:p>
          <a:p>
            <a:r>
              <a:rPr lang="en-US" dirty="0"/>
              <a:t>Why does malware disable security tools?</a:t>
            </a:r>
          </a:p>
          <a:p>
            <a:r>
              <a:rPr lang="en-US" dirty="0"/>
              <a:t>What risks does this pose?</a:t>
            </a:r>
          </a:p>
          <a:p>
            <a:r>
              <a:rPr lang="en-US" dirty="0"/>
              <a:t>What actions should be taken?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620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9B63F-EC72-01C5-EC69-EEB37C34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0951-9DC8-4C38-D756-0F7FC4A1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ABD63-A5B3-513C-A030-15769645A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r>
              <a:rPr lang="en-US" dirty="0"/>
              <a:t>The symptoms—antivirus turning off automatically and unknown background processes—suggest </a:t>
            </a:r>
            <a:r>
              <a:rPr lang="en-US" b="1" dirty="0"/>
              <a:t>Trojan malware or Rootkit</a:t>
            </a:r>
            <a:r>
              <a:rPr lang="en-US" dirty="0"/>
              <a:t>:</a:t>
            </a:r>
          </a:p>
          <a:p>
            <a:r>
              <a:rPr lang="en-US" b="1" dirty="0"/>
              <a:t>Trojan</a:t>
            </a:r>
            <a:r>
              <a:rPr lang="en-US" dirty="0"/>
              <a:t>: A malicious program disguised as legitimate software that often disables security tools to remain undetected.</a:t>
            </a:r>
          </a:p>
          <a:p>
            <a:r>
              <a:rPr lang="en-US" b="1" dirty="0"/>
              <a:t>Rootkit</a:t>
            </a:r>
            <a:r>
              <a:rPr lang="en-US" dirty="0"/>
              <a:t>: Malware that hides deep in the system, intercepts system calls, and allows attackers to control the system while avoiding detection.</a:t>
            </a:r>
          </a:p>
          <a:p>
            <a:r>
              <a:rPr lang="en-US" b="1" dirty="0"/>
              <a:t>Advanced persistent threats (APTs)</a:t>
            </a:r>
            <a:r>
              <a:rPr lang="en-US" dirty="0"/>
              <a:t> can also exhibit this behavior in enterprise environments.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8960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E4BC-8222-B618-D00D-5BCCA3E7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9845B-D7C2-C22F-8EF6-1E5BA66D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6A0F-9220-E545-569D-16D9FC25E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Why Malware Disables Security Tools</a:t>
            </a:r>
          </a:p>
          <a:p>
            <a:r>
              <a:rPr lang="en-US" dirty="0"/>
              <a:t>Malware disables antivirus and other protective software to:</a:t>
            </a:r>
          </a:p>
          <a:p>
            <a:r>
              <a:rPr lang="en-US" b="1" dirty="0"/>
              <a:t>Avoid detection</a:t>
            </a:r>
            <a:r>
              <a:rPr lang="en-US" dirty="0"/>
              <a:t> by security software</a:t>
            </a:r>
          </a:p>
          <a:p>
            <a:r>
              <a:rPr lang="en-US" b="1" dirty="0"/>
              <a:t>Maintain persistence</a:t>
            </a:r>
            <a:r>
              <a:rPr lang="en-US" dirty="0"/>
              <a:t> on the infected system</a:t>
            </a:r>
          </a:p>
          <a:p>
            <a:r>
              <a:rPr lang="en-US" b="1" dirty="0"/>
              <a:t>Perform malicious activities</a:t>
            </a:r>
            <a:r>
              <a:rPr lang="en-US" dirty="0"/>
              <a:t> like stealing data, spreading to other systems, or mining cryptocurrency</a:t>
            </a:r>
          </a:p>
          <a:p>
            <a:r>
              <a:rPr lang="en-US" b="1" dirty="0"/>
              <a:t>Evade removal</a:t>
            </a:r>
            <a:r>
              <a:rPr lang="en-US" dirty="0"/>
              <a:t> during scanning</a:t>
            </a:r>
          </a:p>
          <a:p>
            <a:r>
              <a:rPr lang="en-US" dirty="0"/>
              <a:t>Essentially, it ensures the malware can operate secretly without alerting the user or security infrastructure.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3835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E803E-F3ED-9FB5-90A3-C38D5EEB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D199-62E8-C345-4FA5-E099BEFB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44DE4-4206-E245-CF58-E45AEEE16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Risks Posed</a:t>
            </a:r>
          </a:p>
          <a:p>
            <a:r>
              <a:rPr lang="en-US" b="1" dirty="0"/>
              <a:t>Data theft</a:t>
            </a:r>
            <a:r>
              <a:rPr lang="en-US" dirty="0"/>
              <a:t>: Sensitive information (passwords, banking info, documents) can be stolen</a:t>
            </a:r>
          </a:p>
          <a:p>
            <a:r>
              <a:rPr lang="en-US" b="1" dirty="0"/>
              <a:t>System compromise</a:t>
            </a:r>
            <a:r>
              <a:rPr lang="en-US" dirty="0"/>
              <a:t>: Malware could open backdoors for attackers</a:t>
            </a:r>
          </a:p>
          <a:p>
            <a:r>
              <a:rPr lang="en-US" b="1" dirty="0"/>
              <a:t>Spread to other devices</a:t>
            </a:r>
            <a:r>
              <a:rPr lang="en-US" dirty="0"/>
              <a:t> on the network</a:t>
            </a:r>
          </a:p>
          <a:p>
            <a:r>
              <a:rPr lang="en-US" b="1" dirty="0"/>
              <a:t>Resource abuse</a:t>
            </a:r>
            <a:r>
              <a:rPr lang="en-US" dirty="0"/>
              <a:t>: CPU, memory, or network resources may be hijacked for </a:t>
            </a:r>
            <a:r>
              <a:rPr lang="en-US" dirty="0" err="1"/>
              <a:t>cryptomining</a:t>
            </a:r>
            <a:r>
              <a:rPr lang="en-US" dirty="0"/>
              <a:t> or DDoS attacks</a:t>
            </a:r>
          </a:p>
          <a:p>
            <a:r>
              <a:rPr lang="en-US" b="1" dirty="0"/>
              <a:t>Ransomware infection</a:t>
            </a:r>
            <a:r>
              <a:rPr lang="en-US" dirty="0"/>
              <a:t>: Security-disabled systems are highly vulnerable to ransomware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8629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40F4-0030-1D85-55AE-10793233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A38D-FA7A-827E-AB1D-84DF4904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7C352-CF23-93C3-ED64-849206A13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Recommended Actions</a:t>
            </a:r>
          </a:p>
          <a:p>
            <a:r>
              <a:rPr lang="en-US" b="1" dirty="0"/>
              <a:t>Immediate Steps:</a:t>
            </a:r>
            <a:endParaRPr lang="en-US" dirty="0"/>
          </a:p>
          <a:p>
            <a:r>
              <a:rPr lang="en-US" b="1" dirty="0"/>
              <a:t>Disconnect from the network</a:t>
            </a:r>
            <a:r>
              <a:rPr lang="en-US" dirty="0"/>
              <a:t> to prevent spreading or data exfiltration</a:t>
            </a:r>
          </a:p>
          <a:p>
            <a:r>
              <a:rPr lang="en-US" b="1" dirty="0"/>
              <a:t>Boot into Safe Mode</a:t>
            </a:r>
            <a:r>
              <a:rPr lang="en-US" dirty="0"/>
              <a:t> (Windows) or Recovery Mode (Mac/Linux)</a:t>
            </a:r>
          </a:p>
          <a:p>
            <a:r>
              <a:rPr lang="en-US" b="1" dirty="0"/>
              <a:t>Use a trusted antivirus/antimalware rescue disk</a:t>
            </a:r>
            <a:r>
              <a:rPr lang="en-US" dirty="0"/>
              <a:t> to scan and remove malware</a:t>
            </a:r>
          </a:p>
          <a:p>
            <a:r>
              <a:rPr lang="en-US" b="1" dirty="0"/>
              <a:t>Check for unusual startup programs and processes</a:t>
            </a:r>
            <a:r>
              <a:rPr lang="en-US" dirty="0"/>
              <a:t> using Task Manager or autorun utilities</a:t>
            </a:r>
          </a:p>
          <a:p>
            <a:r>
              <a:rPr lang="en-US" b="1" dirty="0"/>
              <a:t>Update system software and patches</a:t>
            </a:r>
            <a:r>
              <a:rPr lang="en-US" dirty="0"/>
              <a:t> after cleaning</a:t>
            </a:r>
          </a:p>
          <a:p>
            <a:r>
              <a:rPr lang="en-US" b="1" dirty="0"/>
              <a:t>Further Measures:</a:t>
            </a:r>
            <a:endParaRPr lang="en-US" dirty="0"/>
          </a:p>
          <a:p>
            <a:r>
              <a:rPr lang="en-US" b="1" dirty="0"/>
              <a:t>Change all passwords</a:t>
            </a:r>
            <a:r>
              <a:rPr lang="en-US" dirty="0"/>
              <a:t> after cleaning the system</a:t>
            </a:r>
          </a:p>
          <a:p>
            <a:r>
              <a:rPr lang="en-US" b="1" dirty="0"/>
              <a:t>Monitor for suspicious activity</a:t>
            </a:r>
            <a:r>
              <a:rPr lang="en-US" dirty="0"/>
              <a:t> on accounts and network</a:t>
            </a:r>
          </a:p>
          <a:p>
            <a:r>
              <a:rPr lang="en-US" b="1" dirty="0"/>
              <a:t>Enable application whitelisting</a:t>
            </a:r>
            <a:r>
              <a:rPr lang="en-US" dirty="0"/>
              <a:t> to prevent unknown programs from executing</a:t>
            </a:r>
          </a:p>
          <a:p>
            <a:r>
              <a:rPr lang="en-US" b="1" dirty="0"/>
              <a:t>Backup important data</a:t>
            </a:r>
            <a:r>
              <a:rPr lang="en-US" dirty="0"/>
              <a:t> regularly to prevent loss from malware attacks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1537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E14E-5312-E3F7-4B5B-B8A4E6D3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5A55-FB4C-19FB-7A75-BE69421E4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AF71-7477-3734-70E7-9CBEB83F5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Sensitive company data is found leaked online. Investigation shows an employee unknowingly installed a malicious app.</a:t>
            </a:r>
          </a:p>
          <a:p>
            <a:r>
              <a:rPr lang="en-US" b="1" dirty="0"/>
              <a:t>Questions:</a:t>
            </a:r>
          </a:p>
          <a:p>
            <a:r>
              <a:rPr lang="en-US" dirty="0"/>
              <a:t>Which malware type is likely responsible?</a:t>
            </a:r>
          </a:p>
          <a:p>
            <a:r>
              <a:rPr lang="en-US" dirty="0"/>
              <a:t>What was the infection method?</a:t>
            </a:r>
          </a:p>
          <a:p>
            <a:r>
              <a:rPr lang="en-US" dirty="0"/>
              <a:t>What type of data was compromised?</a:t>
            </a:r>
          </a:p>
          <a:p>
            <a:r>
              <a:rPr lang="en-US" dirty="0"/>
              <a:t>Recommend organizational security measures.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8959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886-A950-CCDF-7264-D50B5DBD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08D6-58DE-0D8E-2A00-FCADD163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830EE-1024-9BF1-7FD4-5527542CA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Likely Malware Type</a:t>
            </a:r>
          </a:p>
          <a:p>
            <a:r>
              <a:rPr lang="en-US" dirty="0"/>
              <a:t>The symptoms suggest a </a:t>
            </a:r>
            <a:r>
              <a:rPr lang="en-US" b="1" dirty="0"/>
              <a:t>Trojan or spyware</a:t>
            </a:r>
            <a:r>
              <a:rPr lang="en-US" dirty="0"/>
              <a:t> infection:</a:t>
            </a:r>
          </a:p>
          <a:p>
            <a:r>
              <a:rPr lang="en-US" b="1" dirty="0"/>
              <a:t>Trojan</a:t>
            </a:r>
            <a:r>
              <a:rPr lang="en-US" dirty="0"/>
              <a:t>: Disguised as a legitimate app, tricks the user into installing it, then performs malicious actions like stealing files or credentials.</a:t>
            </a:r>
          </a:p>
          <a:p>
            <a:r>
              <a:rPr lang="en-US" b="1" dirty="0"/>
              <a:t>Spyware</a:t>
            </a:r>
            <a:r>
              <a:rPr lang="en-US" dirty="0"/>
              <a:t>: Specifically designed to monitor user activity, capture sensitive information, and send it to attackers.</a:t>
            </a:r>
          </a:p>
          <a:p>
            <a:r>
              <a:rPr lang="en-US" b="1" dirty="0"/>
              <a:t>Keylogger component</a:t>
            </a:r>
            <a:r>
              <a:rPr lang="en-US" dirty="0"/>
              <a:t> (sometimes bundled with Trojans) can capture passwords and confidential data.</a:t>
            </a:r>
          </a:p>
          <a:p>
            <a:r>
              <a:rPr lang="en-US" dirty="0"/>
              <a:t>This is a </a:t>
            </a:r>
            <a:r>
              <a:rPr lang="en-US" b="1" dirty="0"/>
              <a:t>malware targeting data exfiltration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1665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E030-2803-07D0-29B5-4FDBA305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FA19-FE97-51CD-6B33-6B7E6F221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BE21C-EE6B-0956-F04A-3C6707C77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r>
              <a:rPr lang="en-US" dirty="0"/>
              <a:t>The employee </a:t>
            </a:r>
            <a:r>
              <a:rPr lang="en-US" b="1" dirty="0"/>
              <a:t>unknowingly installed a malicious app</a:t>
            </a:r>
            <a:r>
              <a:rPr lang="en-US" dirty="0"/>
              <a:t>, so the infection likely spread via:</a:t>
            </a:r>
          </a:p>
          <a:p>
            <a:r>
              <a:rPr lang="en-US" b="1" dirty="0"/>
              <a:t>Social engineering</a:t>
            </a:r>
            <a:r>
              <a:rPr lang="en-US" dirty="0"/>
              <a:t>: Fake apps, phishing emails, or fake download links</a:t>
            </a:r>
          </a:p>
          <a:p>
            <a:r>
              <a:rPr lang="en-US" b="1" dirty="0" err="1"/>
              <a:t>Trojanized</a:t>
            </a:r>
            <a:r>
              <a:rPr lang="en-US" b="1" dirty="0"/>
              <a:t> software</a:t>
            </a:r>
            <a:r>
              <a:rPr lang="en-US" dirty="0"/>
              <a:t>: Malicious app masquerading as legitimate software</a:t>
            </a:r>
          </a:p>
          <a:p>
            <a:r>
              <a:rPr lang="en-US" b="1" dirty="0"/>
              <a:t>Unverified mobile or desktop app stores</a:t>
            </a:r>
            <a:endParaRPr lang="en-US" dirty="0"/>
          </a:p>
          <a:p>
            <a:r>
              <a:rPr lang="en-US" b="1" dirty="0"/>
              <a:t>External media</a:t>
            </a:r>
            <a:r>
              <a:rPr lang="en-US" dirty="0"/>
              <a:t> (less common, e.g., USB drives)</a:t>
            </a:r>
          </a:p>
          <a:p>
            <a:r>
              <a:rPr lang="en-US" dirty="0"/>
              <a:t>Essentially, the malware relied on </a:t>
            </a:r>
            <a:r>
              <a:rPr lang="en-US" b="1" dirty="0"/>
              <a:t>human error to bypass security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1609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5609D-8988-7009-EA56-1923AE8B3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A036-3F0F-0931-F01F-707AA11C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B3B9-BCC6-F1AB-2598-D7DD2852C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Type of Data Compromised</a:t>
            </a:r>
          </a:p>
          <a:p>
            <a:r>
              <a:rPr lang="en-US" dirty="0"/>
              <a:t>Since the malware leaked company data, possible types of sensitive information include:</a:t>
            </a:r>
          </a:p>
          <a:p>
            <a:r>
              <a:rPr lang="en-US" dirty="0"/>
              <a:t>Financial records (invoices, budgets, payroll)</a:t>
            </a:r>
          </a:p>
          <a:p>
            <a:r>
              <a:rPr lang="en-US" dirty="0"/>
              <a:t>Client/customer personal information</a:t>
            </a:r>
          </a:p>
          <a:p>
            <a:r>
              <a:rPr lang="en-US" dirty="0"/>
              <a:t>Intellectual property (designs, source code, trade secrets)</a:t>
            </a:r>
          </a:p>
          <a:p>
            <a:r>
              <a:rPr lang="en-US" dirty="0"/>
              <a:t>Login credentials, passwords, and internal access keys</a:t>
            </a:r>
          </a:p>
          <a:p>
            <a:r>
              <a:rPr lang="en-US" dirty="0"/>
              <a:t>Emails and internal communications</a:t>
            </a:r>
          </a:p>
          <a:p>
            <a:r>
              <a:rPr lang="en-US" b="1" dirty="0"/>
              <a:t>4. Recommended Organizational Security Measures</a:t>
            </a:r>
          </a:p>
          <a:p>
            <a:r>
              <a:rPr lang="en-US" b="1" dirty="0"/>
              <a:t>User Awareness and Training:</a:t>
            </a:r>
            <a:endParaRPr lang="en-US" dirty="0"/>
          </a:p>
          <a:p>
            <a:r>
              <a:rPr lang="en-US" dirty="0"/>
              <a:t>Regular training on </a:t>
            </a:r>
            <a:r>
              <a:rPr lang="en-US" b="1" dirty="0"/>
              <a:t>phishing, fake apps, and social engineering</a:t>
            </a:r>
            <a:endParaRPr lang="en-US" dirty="0"/>
          </a:p>
          <a:p>
            <a:r>
              <a:rPr lang="en-US" dirty="0"/>
              <a:t>Awareness campaigns about </a:t>
            </a:r>
            <a:r>
              <a:rPr lang="en-US" b="1" dirty="0"/>
              <a:t>verified software sources</a:t>
            </a:r>
            <a:endParaRPr lang="en-US" dirty="0"/>
          </a:p>
          <a:p>
            <a:r>
              <a:rPr lang="en-US" b="1" dirty="0"/>
              <a:t>Endpoint Security: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antivirus/endpoint protection with real-time scanning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9227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CE01-44A3-AE3F-CFB2-3DC6AD78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D254-B74A-5193-1237-BA07BC26A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F22B1-9FEF-438B-533A-247DEA37F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 user’s computer is functioning normally, but unknowingly it is being used to send spam emails and participate in cyber attacks.</a:t>
            </a:r>
          </a:p>
          <a:p>
            <a:r>
              <a:rPr lang="en-US" b="1" dirty="0"/>
              <a:t>Questions:</a:t>
            </a:r>
          </a:p>
          <a:p>
            <a:r>
              <a:rPr lang="en-US" dirty="0"/>
              <a:t>What type of malware is involved?</a:t>
            </a:r>
          </a:p>
          <a:p>
            <a:r>
              <a:rPr lang="en-US" dirty="0"/>
              <a:t>What is a botnet?</a:t>
            </a:r>
          </a:p>
          <a:p>
            <a:r>
              <a:rPr lang="en-US" dirty="0"/>
              <a:t>What are the risks to the user?</a:t>
            </a:r>
          </a:p>
          <a:p>
            <a:r>
              <a:rPr lang="en-US" dirty="0"/>
              <a:t>How can such infections be detected?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0380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7BEA-553B-B479-352C-F778CBAB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0F75-9661-6DA5-D91E-5C88A13B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10E7A-1616-9FD4-7776-2B6BC3B50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r>
              <a:rPr lang="en-US" b="1" dirty="0"/>
              <a:t>Malware involved:</a:t>
            </a:r>
            <a:r>
              <a:rPr lang="en-US" dirty="0"/>
              <a:t> Trojan/backdoor installing a botnet agent.</a:t>
            </a:r>
          </a:p>
          <a:p>
            <a:r>
              <a:rPr lang="en-US" b="1" dirty="0"/>
              <a:t>Botnet:</a:t>
            </a:r>
            <a:r>
              <a:rPr lang="en-US" dirty="0"/>
              <a:t> Network of compromised machines controlled remotely for attacks.</a:t>
            </a:r>
          </a:p>
          <a:p>
            <a:r>
              <a:rPr lang="en-US" b="1" dirty="0"/>
              <a:t>Risks:</a:t>
            </a:r>
            <a:r>
              <a:rPr lang="en-US" dirty="0"/>
              <a:t> Legal liability, system slowdown, data compromise, blacklisting.</a:t>
            </a:r>
          </a:p>
          <a:p>
            <a:r>
              <a:rPr lang="en-US" b="1" dirty="0"/>
              <a:t>Detection:</a:t>
            </a:r>
            <a:r>
              <a:rPr lang="en-US" dirty="0"/>
              <a:t> Monitor network, scan with antivirus, check unknown processes, use firewall/EDR logs.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6351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0B57-FF9A-B86C-A718-3BCFF1423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3552-4595-C800-532E-9BB51760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B884A-A36C-68CE-A208-D9975B1C1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system crashes repeatedly after installing a software update from an unknown source.</a:t>
            </a:r>
          </a:p>
          <a:p>
            <a:r>
              <a:rPr lang="en-US" b="1" dirty="0"/>
              <a:t>Questions:</a:t>
            </a:r>
          </a:p>
          <a:p>
            <a:r>
              <a:rPr lang="en-US" dirty="0"/>
              <a:t>What could be the possible cause?</a:t>
            </a:r>
          </a:p>
          <a:p>
            <a:r>
              <a:rPr lang="en-US" dirty="0"/>
              <a:t>Which malware type may be involved?</a:t>
            </a:r>
          </a:p>
          <a:p>
            <a:r>
              <a:rPr lang="en-US" dirty="0"/>
              <a:t>What are the impacts on system integrity?</a:t>
            </a:r>
          </a:p>
          <a:p>
            <a:r>
              <a:rPr lang="en-US" dirty="0"/>
              <a:t>How can such risks be minimized?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6118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A6354-2F3C-BDC7-4F8C-BF5997BA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CB46-4D2D-B652-8BE9-43C2DE228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97447-14FE-2CF8-C0F2-490A81DF0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r>
              <a:rPr lang="en-US" b="1" dirty="0"/>
              <a:t>Cause:</a:t>
            </a:r>
            <a:r>
              <a:rPr lang="en-US" dirty="0"/>
              <a:t> Installing a malicious or tampered software update.</a:t>
            </a:r>
          </a:p>
          <a:p>
            <a:r>
              <a:rPr lang="en-US" b="1" dirty="0"/>
              <a:t>Malware type:</a:t>
            </a:r>
            <a:r>
              <a:rPr lang="en-US" dirty="0"/>
              <a:t> Trojan, rootkit, or virus.</a:t>
            </a:r>
          </a:p>
          <a:p>
            <a:r>
              <a:rPr lang="en-US" b="1" dirty="0"/>
              <a:t>Impact:</a:t>
            </a:r>
            <a:r>
              <a:rPr lang="en-US" dirty="0"/>
              <a:t> System crashes, file corruption, unauthorized access, data loss.</a:t>
            </a:r>
          </a:p>
          <a:p>
            <a:r>
              <a:rPr lang="en-US" b="1" dirty="0"/>
              <a:t>Prevention:</a:t>
            </a:r>
            <a:r>
              <a:rPr lang="en-US" dirty="0"/>
              <a:t> Use official sources, verify updates, maintain backups, and use security tools.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27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E818-A2AA-F1B3-0A5C-FCFF1F17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5D36-157E-7F82-5560-AEA97869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E3B94-422A-C9E1-AB41-B69A37616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user sees a message: </a:t>
            </a:r>
            <a:r>
              <a:rPr lang="en-US" i="1" dirty="0"/>
              <a:t>“Your system is infected! Click here to install antivirus.”</a:t>
            </a:r>
            <a:r>
              <a:rPr lang="en-US" dirty="0"/>
              <a:t> After clicking, more issues occur.</a:t>
            </a:r>
          </a:p>
          <a:p>
            <a:r>
              <a:rPr lang="en-US" b="1" dirty="0"/>
              <a:t>Questions:</a:t>
            </a:r>
          </a:p>
          <a:p>
            <a:r>
              <a:rPr lang="en-US" dirty="0"/>
              <a:t>What type of malware is this?</a:t>
            </a:r>
          </a:p>
          <a:p>
            <a:r>
              <a:rPr lang="en-US" dirty="0"/>
              <a:t>What technique is being used to trick the user?</a:t>
            </a:r>
          </a:p>
          <a:p>
            <a:r>
              <a:rPr lang="en-US" dirty="0"/>
              <a:t>What are the consequences of installing such software?</a:t>
            </a:r>
          </a:p>
          <a:p>
            <a:r>
              <a:rPr lang="en-US" dirty="0"/>
              <a:t>How should users respond to such alerts?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1639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BF45D-778F-7A46-14D5-774A0B33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DCDB-6DA0-BC5A-9908-DA6A4C7D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07F0-17B8-499B-36F1-6795C82C7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r>
              <a:rPr lang="en-US" b="1" dirty="0"/>
              <a:t>Malware type:</a:t>
            </a:r>
            <a:r>
              <a:rPr lang="en-US" dirty="0"/>
              <a:t> Scareware / Trojan</a:t>
            </a:r>
          </a:p>
          <a:p>
            <a:r>
              <a:rPr lang="en-US" b="1" dirty="0"/>
              <a:t>Technique:</a:t>
            </a:r>
            <a:r>
              <a:rPr lang="en-US" dirty="0"/>
              <a:t> Social engineering (fear-based manipulation)</a:t>
            </a:r>
          </a:p>
          <a:p>
            <a:r>
              <a:rPr lang="en-US" b="1" dirty="0"/>
              <a:t>Consequences:</a:t>
            </a:r>
            <a:r>
              <a:rPr lang="en-US" dirty="0"/>
              <a:t> Malware infection, data theft, financial loss, system slowdowns</a:t>
            </a:r>
          </a:p>
          <a:p>
            <a:r>
              <a:rPr lang="en-US" b="1" dirty="0"/>
              <a:t>User response:</a:t>
            </a:r>
            <a:r>
              <a:rPr lang="en-US" dirty="0"/>
              <a:t> Avoid clicking, use trusted antivirus, keep systems updated, and educate users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626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1FED-3E5A-65C1-CD6A-2B3E6D72B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963A-15CA-22A6-04ED-5B1605A4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799C-F895-2998-5BEA-10C37E84C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attacker sends a phishing email → user clicks link → downloads file → system gets infected → data is stolen.</a:t>
            </a:r>
          </a:p>
          <a:p>
            <a:r>
              <a:rPr lang="en-US" b="1" dirty="0"/>
              <a:t>Questions:</a:t>
            </a:r>
          </a:p>
          <a:p>
            <a:r>
              <a:rPr lang="en-US" dirty="0"/>
              <a:t>Identify each stage of the attack.</a:t>
            </a:r>
          </a:p>
          <a:p>
            <a:r>
              <a:rPr lang="en-US" dirty="0"/>
              <a:t>What vulnerabilities were exploited?</a:t>
            </a:r>
          </a:p>
          <a:p>
            <a:r>
              <a:rPr lang="en-US" dirty="0"/>
              <a:t>How could this attack be prevented at each stage?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41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A5EF7-E05D-2C0C-407B-30872F27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4B0D-D799-7F1E-0C6F-A0328F9C2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6BEAC-B4C2-63D4-57C1-734A0D8B0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Identify Each Stage of the Attack</a:t>
            </a:r>
          </a:p>
          <a:p>
            <a:r>
              <a:rPr lang="en-US" b="1" dirty="0"/>
              <a:t>Phishing Email Sent</a:t>
            </a:r>
            <a:br>
              <a:rPr lang="en-US" dirty="0"/>
            </a:br>
            <a:r>
              <a:rPr lang="en-US" dirty="0"/>
              <a:t>→ Attacker sends a fake email pretending to be a trusted source</a:t>
            </a:r>
          </a:p>
          <a:p>
            <a:r>
              <a:rPr lang="en-US" b="1" dirty="0"/>
              <a:t>User Clicks Link</a:t>
            </a:r>
            <a:br>
              <a:rPr lang="en-US" dirty="0"/>
            </a:br>
            <a:r>
              <a:rPr lang="en-US" dirty="0"/>
              <a:t>→ Victim interacts with the malicious link</a:t>
            </a:r>
          </a:p>
          <a:p>
            <a:r>
              <a:rPr lang="en-US" b="1" dirty="0"/>
              <a:t>Malicious File Downloaded</a:t>
            </a:r>
            <a:br>
              <a:rPr lang="en-US" dirty="0"/>
            </a:br>
            <a:r>
              <a:rPr lang="en-US" dirty="0"/>
              <a:t>→ File (e.g., Trojan or malware) is downloaded</a:t>
            </a:r>
          </a:p>
          <a:p>
            <a:r>
              <a:rPr lang="en-US" b="1" dirty="0"/>
              <a:t>System Infection</a:t>
            </a:r>
            <a:br>
              <a:rPr lang="en-US" dirty="0"/>
            </a:br>
            <a:r>
              <a:rPr lang="en-US" dirty="0"/>
              <a:t>→ Malware executes and compromises the system</a:t>
            </a:r>
          </a:p>
          <a:p>
            <a:r>
              <a:rPr lang="en-US" b="1" dirty="0"/>
              <a:t>Data Exfiltration</a:t>
            </a:r>
            <a:br>
              <a:rPr lang="en-US" dirty="0"/>
            </a:br>
            <a:r>
              <a:rPr lang="en-US" dirty="0"/>
              <a:t>→ Sensitive data is stolen and sent to attacker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0565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A925-209C-1503-7E2D-352E04DA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B141C-8DD9-3FCC-A93C-4BC4170B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B063D-1375-2712-79C1-A9CA4866F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Vulnerabilities Exploited</a:t>
            </a:r>
          </a:p>
          <a:p>
            <a:r>
              <a:rPr lang="en-US" b="1" dirty="0"/>
              <a:t>Human Vulnerability (Social Engineering)</a:t>
            </a:r>
            <a:br>
              <a:rPr lang="en-US" dirty="0"/>
            </a:br>
            <a:r>
              <a:rPr lang="en-US" dirty="0"/>
              <a:t>→ User trusts the fake email</a:t>
            </a:r>
          </a:p>
          <a:p>
            <a:r>
              <a:rPr lang="en-US" b="1" dirty="0"/>
              <a:t>Lack of Security Awareness</a:t>
            </a:r>
            <a:br>
              <a:rPr lang="en-US" dirty="0"/>
            </a:br>
            <a:r>
              <a:rPr lang="en-US" dirty="0"/>
              <a:t>→ User unable to identify phishing attempt</a:t>
            </a:r>
          </a:p>
          <a:p>
            <a:r>
              <a:rPr lang="en-US" b="1" dirty="0"/>
              <a:t>Unpatched Software/System</a:t>
            </a:r>
            <a:br>
              <a:rPr lang="en-US" dirty="0"/>
            </a:br>
            <a:r>
              <a:rPr lang="en-US" dirty="0"/>
              <a:t>→ Malware exploits system weaknesses</a:t>
            </a:r>
          </a:p>
          <a:p>
            <a:r>
              <a:rPr lang="en-US" b="1" dirty="0"/>
              <a:t>Weak Email Filtering</a:t>
            </a:r>
            <a:br>
              <a:rPr lang="en-US" dirty="0"/>
            </a:br>
            <a:r>
              <a:rPr lang="en-US" dirty="0"/>
              <a:t>→ Phishing email reaches inbox</a:t>
            </a:r>
          </a:p>
          <a:p>
            <a:r>
              <a:rPr lang="en-US" b="1" dirty="0"/>
              <a:t>Lack of Endpoint Protection</a:t>
            </a:r>
            <a:br>
              <a:rPr lang="en-US" dirty="0"/>
            </a:br>
            <a:r>
              <a:rPr lang="en-US" dirty="0"/>
              <a:t>→ Malware not detected during download/execution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9926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25D01-F960-7B3B-A628-94B5233D9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DD1D-09FA-1400-0A6A-9D7D4B72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3C8FE-3501-2304-B6DE-935516AE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employee intentionally installs malware on a company system to steal confidential data.</a:t>
            </a:r>
          </a:p>
          <a:p>
            <a:r>
              <a:rPr lang="en-US" b="1" dirty="0"/>
              <a:t>Questions:</a:t>
            </a:r>
          </a:p>
          <a:p>
            <a:r>
              <a:rPr lang="en-US" dirty="0"/>
              <a:t>What type of threat is this?</a:t>
            </a:r>
          </a:p>
          <a:p>
            <a:r>
              <a:rPr lang="en-US" dirty="0"/>
              <a:t>What malware could be used?</a:t>
            </a:r>
          </a:p>
          <a:p>
            <a:r>
              <a:rPr lang="en-US" dirty="0"/>
              <a:t>What controls can prevent insider attacks?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4969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6D51-462E-BB6F-E17D-9C805619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BC5D-3619-2ABB-74B0-86A2A218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60EEF-BF76-982E-FD71-71DB22526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00302"/>
            <a:ext cx="6345260" cy="35306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What type of threat is this?</a:t>
            </a:r>
          </a:p>
          <a:p>
            <a:r>
              <a:rPr lang="en-US" dirty="0"/>
              <a:t>This is an </a:t>
            </a:r>
            <a:r>
              <a:rPr lang="en-US" b="1" dirty="0"/>
              <a:t>Insider Threat (Malicious Insider)</a:t>
            </a:r>
            <a:endParaRPr lang="en-US" dirty="0"/>
          </a:p>
          <a:p>
            <a:r>
              <a:rPr lang="en-US" dirty="0"/>
              <a:t>The attacker is an </a:t>
            </a:r>
            <a:r>
              <a:rPr lang="en-US" b="1" dirty="0"/>
              <a:t>authorized employee</a:t>
            </a:r>
            <a:r>
              <a:rPr lang="en-US" dirty="0"/>
              <a:t> with legitimate access.</a:t>
            </a:r>
          </a:p>
          <a:p>
            <a:r>
              <a:rPr lang="en-US" dirty="0"/>
              <a:t>The attack is </a:t>
            </a:r>
            <a:r>
              <a:rPr lang="en-US" b="1" dirty="0"/>
              <a:t>intentional</a:t>
            </a:r>
            <a:r>
              <a:rPr lang="en-US" dirty="0"/>
              <a:t>, making it more dangerous than accidental threats.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 What malware could be used?</a:t>
            </a:r>
          </a:p>
          <a:p>
            <a:r>
              <a:rPr lang="en-US" dirty="0"/>
              <a:t>The employee could use different types of malware depending on the goal:</a:t>
            </a:r>
          </a:p>
          <a:p>
            <a:r>
              <a:rPr lang="en-US" b="1" dirty="0"/>
              <a:t>Spyware</a:t>
            </a:r>
            <a:r>
              <a:rPr lang="en-US" dirty="0"/>
              <a:t> → to monitor and collect confidential data</a:t>
            </a:r>
          </a:p>
          <a:p>
            <a:r>
              <a:rPr lang="en-US" b="1" dirty="0"/>
              <a:t>Keylogger</a:t>
            </a:r>
            <a:r>
              <a:rPr lang="en-US" dirty="0"/>
              <a:t> → to capture passwords and sensitive inputs</a:t>
            </a:r>
          </a:p>
          <a:p>
            <a:r>
              <a:rPr lang="en-US" b="1" dirty="0"/>
              <a:t>Trojan Horse</a:t>
            </a:r>
            <a:r>
              <a:rPr lang="en-US" dirty="0"/>
              <a:t> → to create a backdoor for external attackers</a:t>
            </a:r>
          </a:p>
          <a:p>
            <a:r>
              <a:rPr lang="en-US" b="1" dirty="0"/>
              <a:t>Ransomware</a:t>
            </a:r>
            <a:r>
              <a:rPr lang="en-US" dirty="0"/>
              <a:t> → to extort the company after accessing data</a:t>
            </a:r>
          </a:p>
          <a:p>
            <a:r>
              <a:rPr lang="en-US" b="1" dirty="0"/>
              <a:t>Data Exfiltration Malware</a:t>
            </a:r>
            <a:r>
              <a:rPr lang="en-US" dirty="0"/>
              <a:t> → to secretly transfer files outside the organization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0310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prepared by Ms. </a:t>
            </a:r>
            <a:r>
              <a:rPr lang="en-US" dirty="0" err="1"/>
              <a:t>Mahek</a:t>
            </a:r>
            <a:r>
              <a:rPr lang="en-US" dirty="0"/>
              <a:t> </a:t>
            </a:r>
            <a:r>
              <a:rPr lang="en-US" dirty="0" err="1"/>
              <a:t>Kausar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864</TotalTime>
  <Words>2050</Words>
  <Application>Microsoft Macintosh PowerPoint</Application>
  <PresentationFormat>On-screen Show (4:3)</PresentationFormat>
  <Paragraphs>286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Century Gothic</vt:lpstr>
      <vt:lpstr>Wingdings 3</vt:lpstr>
      <vt:lpstr>Ion Boardroom</vt:lpstr>
      <vt:lpstr>      CS-Cyber Security      Week-4  Lecture-4            Semester- Spring 2026</vt:lpstr>
      <vt:lpstr>Agenda</vt:lpstr>
      <vt:lpstr>What is Malware?</vt:lpstr>
      <vt:lpstr>Types of Malware</vt:lpstr>
      <vt:lpstr>Types of Malware</vt:lpstr>
      <vt:lpstr>Types of Malware</vt:lpstr>
      <vt:lpstr>Malware Infection Mechanisms</vt:lpstr>
      <vt:lpstr>Impact of Malware</vt:lpstr>
      <vt:lpstr>System Errors due to Malware</vt:lpstr>
      <vt:lpstr>Case Study: NotPetya Attack (2017) </vt:lpstr>
      <vt:lpstr>Case Study 3: ILOVEYOU Virus (2000)</vt:lpstr>
      <vt:lpstr>Case Study 4: Zeus Banking Trojan</vt:lpstr>
      <vt:lpstr>Identifying Malware Symptoms</vt:lpstr>
      <vt:lpstr>Scenario</vt:lpstr>
      <vt:lpstr>Answer</vt:lpstr>
      <vt:lpstr>Scenario</vt:lpstr>
      <vt:lpstr>Answer</vt:lpstr>
      <vt:lpstr>Answer</vt:lpstr>
      <vt:lpstr>Answer</vt:lpstr>
      <vt:lpstr>Scenario</vt:lpstr>
      <vt:lpstr>Answer</vt:lpstr>
      <vt:lpstr>Answer</vt:lpstr>
      <vt:lpstr>Answer</vt:lpstr>
      <vt:lpstr>Answer</vt:lpstr>
      <vt:lpstr>Scenario</vt:lpstr>
      <vt:lpstr>Answer</vt:lpstr>
      <vt:lpstr>Answer</vt:lpstr>
      <vt:lpstr>Answer</vt:lpstr>
      <vt:lpstr>Scenario</vt:lpstr>
      <vt:lpstr>Answer</vt:lpstr>
      <vt:lpstr>Scenario</vt:lpstr>
      <vt:lpstr>Answer</vt:lpstr>
      <vt:lpstr>Scenario</vt:lpstr>
      <vt:lpstr>Answer</vt:lpstr>
      <vt:lpstr>Scenario</vt:lpstr>
      <vt:lpstr>Answer</vt:lpstr>
      <vt:lpstr>Answer</vt:lpstr>
      <vt:lpstr>Scenario</vt:lpstr>
      <vt:lpstr>Answer</vt:lpstr>
      <vt:lpstr>Acknowledgement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CS-Cyber Security      Week-4  Lecture-4            Semester- Spring 2026</dc:title>
  <dc:subject/>
  <dc:creator>Mahek Kausar</dc:creator>
  <cp:keywords/>
  <dc:description>generated using python-pptx</dc:description>
  <cp:lastModifiedBy>Muhammad Bilal Khan</cp:lastModifiedBy>
  <cp:revision>90</cp:revision>
  <dcterms:created xsi:type="dcterms:W3CDTF">2013-01-27T09:14:16Z</dcterms:created>
  <dcterms:modified xsi:type="dcterms:W3CDTF">2026-03-24T06:05:11Z</dcterms:modified>
  <cp:category/>
</cp:coreProperties>
</file>