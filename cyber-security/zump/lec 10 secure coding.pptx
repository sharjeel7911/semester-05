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8"/>
  </p:notesMasterIdLst>
  <p:sldIdLst>
    <p:sldId id="309" r:id="rId2"/>
    <p:sldId id="311" r:id="rId3"/>
    <p:sldId id="259" r:id="rId4"/>
    <p:sldId id="301" r:id="rId5"/>
    <p:sldId id="300" r:id="rId6"/>
    <p:sldId id="302" r:id="rId7"/>
    <p:sldId id="303" r:id="rId8"/>
    <p:sldId id="298" r:id="rId9"/>
    <p:sldId id="262" r:id="rId10"/>
    <p:sldId id="299" r:id="rId11"/>
    <p:sldId id="305" r:id="rId12"/>
    <p:sldId id="306" r:id="rId13"/>
    <p:sldId id="263" r:id="rId14"/>
    <p:sldId id="307" r:id="rId15"/>
    <p:sldId id="304" r:id="rId16"/>
    <p:sldId id="264" r:id="rId17"/>
    <p:sldId id="265" r:id="rId18"/>
    <p:sldId id="266" r:id="rId19"/>
    <p:sldId id="267" r:id="rId20"/>
    <p:sldId id="270" r:id="rId21"/>
    <p:sldId id="271" r:id="rId22"/>
    <p:sldId id="272" r:id="rId23"/>
    <p:sldId id="273" r:id="rId24"/>
    <p:sldId id="274" r:id="rId25"/>
    <p:sldId id="275" r:id="rId26"/>
    <p:sldId id="277" r:id="rId27"/>
    <p:sldId id="278" r:id="rId28"/>
    <p:sldId id="279" r:id="rId29"/>
    <p:sldId id="280" r:id="rId30"/>
    <p:sldId id="281" r:id="rId31"/>
    <p:sldId id="282" r:id="rId32"/>
    <p:sldId id="283" r:id="rId33"/>
    <p:sldId id="284" r:id="rId34"/>
    <p:sldId id="285" r:id="rId35"/>
    <p:sldId id="287" r:id="rId36"/>
    <p:sldId id="288" r:id="rId37"/>
    <p:sldId id="289" r:id="rId38"/>
    <p:sldId id="290" r:id="rId39"/>
    <p:sldId id="291" r:id="rId40"/>
    <p:sldId id="292" r:id="rId41"/>
    <p:sldId id="293" r:id="rId42"/>
    <p:sldId id="294" r:id="rId43"/>
    <p:sldId id="295" r:id="rId44"/>
    <p:sldId id="296" r:id="rId45"/>
    <p:sldId id="297" r:id="rId46"/>
    <p:sldId id="31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78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F89E2-7037-4CCD-800F-7547F2902883}" type="datetimeFigureOut">
              <a:rPr lang="en-US" smtClean="0"/>
              <a:pPr/>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2E13BA-FBD1-4450-A301-D16E92C8A60B}" type="slidenum">
              <a:rPr lang="en-US" smtClean="0"/>
              <a:pPr/>
              <a:t>‹#›</a:t>
            </a:fld>
            <a:endParaRPr lang="en-US"/>
          </a:p>
        </p:txBody>
      </p:sp>
    </p:spTree>
    <p:extLst>
      <p:ext uri="{BB962C8B-B14F-4D97-AF65-F5344CB8AC3E}">
        <p14:creationId xmlns:p14="http://schemas.microsoft.com/office/powerpoint/2010/main" val="1278253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21BB602-7CD3-4A71-9D0A-F5F11FEE850C}" type="slidenum">
              <a:rPr lang="en-AU" altLang="en-US"/>
              <a:pPr>
                <a:spcBef>
                  <a:spcPct val="0"/>
                </a:spcBef>
              </a:pPr>
              <a:t>2</a:t>
            </a:fld>
            <a:endParaRPr lang="en-AU" altLang="en-US"/>
          </a:p>
        </p:txBody>
      </p:sp>
      <p:sp>
        <p:nvSpPr>
          <p:cNvPr id="83971" name="Rectangle 4"/>
          <p:cNvSpPr>
            <a:spLocks noGrp="1" noRot="1" noChangeAspect="1" noChangeArrowheads="1" noTextEdit="1"/>
          </p:cNvSpPr>
          <p:nvPr>
            <p:ph type="sldImg"/>
          </p:nvPr>
        </p:nvSpPr>
        <p:spPr>
          <a:ln/>
        </p:spPr>
      </p:sp>
      <p:sp>
        <p:nvSpPr>
          <p:cNvPr id="83972" name="Rectangle 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Chapter 12 summary.</a:t>
            </a:r>
          </a:p>
        </p:txBody>
      </p:sp>
    </p:spTree>
    <p:extLst>
      <p:ext uri="{BB962C8B-B14F-4D97-AF65-F5344CB8AC3E}">
        <p14:creationId xmlns:p14="http://schemas.microsoft.com/office/powerpoint/2010/main" val="1016229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74110FF-2D62-4616-B8E9-EE1EBCCF00D9}" type="slidenum">
              <a:rPr lang="en-AU" altLang="en-US"/>
              <a:pPr>
                <a:spcBef>
                  <a:spcPct val="0"/>
                </a:spcBef>
              </a:pPr>
              <a:t>3</a:t>
            </a:fld>
            <a:endParaRPr lang="en-AU"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This chapter explores the general topic of software security. There are many vulnerabilities related to program deficiencies that result in the subversion of security mechanisms and allow unauthorized access and use of computer data and resources. The </a:t>
            </a:r>
            <a:r>
              <a:rPr lang="en-US" altLang="en-US">
                <a:solidFill>
                  <a:srgbClr val="000000"/>
                </a:solidFill>
              </a:rPr>
              <a:t>Open Web Application Security Project Top Ten list of critical web application security flaws includes five related to insecure software code. These include unvalidated input, cross-site scripting, buffer overflow, injection flaws, and improper error handling. These flaws occur as a consequence of insufficient checking and validation of data and error codes in programs. Awareness of these issues is a critical initial step in writing more secure program code. </a:t>
            </a:r>
          </a:p>
        </p:txBody>
      </p:sp>
    </p:spTree>
    <p:extLst>
      <p:ext uri="{BB962C8B-B14F-4D97-AF65-F5344CB8AC3E}">
        <p14:creationId xmlns:p14="http://schemas.microsoft.com/office/powerpoint/2010/main" val="2761389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shows these software testing terms:</a:t>
            </a:r>
          </a:p>
          <a:p>
            <a:r>
              <a:rPr lang="en-US" b="1" dirty="0"/>
              <a:t>Error:</a:t>
            </a:r>
            <a:r>
              <a:rPr lang="en-US" dirty="0"/>
              <a:t> Human mistake in understanding or interpreting the requirements/specifications.</a:t>
            </a:r>
          </a:p>
          <a:p>
            <a:r>
              <a:rPr lang="en-US" b="1" dirty="0"/>
              <a:t>Failure:</a:t>
            </a:r>
            <a:r>
              <a:rPr lang="en-US" dirty="0"/>
              <a:t> Software behavior that does not match the required specifications.</a:t>
            </a:r>
          </a:p>
          <a:p>
            <a:r>
              <a:rPr lang="en-US" b="1" dirty="0"/>
              <a:t>Fault:</a:t>
            </a:r>
            <a:r>
              <a:rPr lang="en-US" dirty="0"/>
              <a:t> Defect in the source code, also called a </a:t>
            </a:r>
            <a:r>
              <a:rPr lang="en-US" b="1" dirty="0"/>
              <a:t>bug</a:t>
            </a:r>
            <a:r>
              <a:rPr lang="en-US" dirty="0"/>
              <a:t>.</a:t>
            </a:r>
          </a:p>
          <a:p>
            <a:r>
              <a:rPr lang="en-US" dirty="0"/>
              <a:t>Simple flow:</a:t>
            </a:r>
          </a:p>
          <a:p>
            <a:r>
              <a:rPr lang="en-US" b="1" dirty="0"/>
              <a:t>Error → Fault → Failure</a:t>
            </a:r>
            <a:endParaRPr lang="en-US" dirty="0"/>
          </a:p>
          <a:p>
            <a:r>
              <a:rPr lang="en-US" dirty="0"/>
              <a:t>A person makes an </a:t>
            </a:r>
            <a:r>
              <a:rPr lang="en-US" b="1" dirty="0"/>
              <a:t>error</a:t>
            </a:r>
            <a:r>
              <a:rPr lang="en-US" dirty="0"/>
              <a:t>, that error creates a </a:t>
            </a:r>
            <a:r>
              <a:rPr lang="en-US" b="1" dirty="0"/>
              <a:t>fault/bug</a:t>
            </a:r>
            <a:r>
              <a:rPr lang="en-US" dirty="0"/>
              <a:t> in code, and when the software runs incorrectly, it becomes a </a:t>
            </a:r>
            <a:r>
              <a:rPr lang="en-US" b="1" dirty="0"/>
              <a:t>failure</a:t>
            </a:r>
            <a:r>
              <a:rPr lang="en-US" dirty="0"/>
              <a:t>.</a:t>
            </a:r>
          </a:p>
          <a:p>
            <a:endParaRPr lang="en-US"/>
          </a:p>
          <a:p>
            <a:endParaRPr lang="en-US"/>
          </a:p>
        </p:txBody>
      </p:sp>
      <p:sp>
        <p:nvSpPr>
          <p:cNvPr id="4" name="Slide Number Placeholder 3"/>
          <p:cNvSpPr>
            <a:spLocks noGrp="1"/>
          </p:cNvSpPr>
          <p:nvPr>
            <p:ph type="sldNum" sz="quarter" idx="5"/>
          </p:nvPr>
        </p:nvSpPr>
        <p:spPr/>
        <p:txBody>
          <a:bodyPr/>
          <a:lstStyle/>
          <a:p>
            <a:fld id="{152E13BA-FBD1-4450-A301-D16E92C8A60B}" type="slidenum">
              <a:rPr lang="en-US" smtClean="0"/>
              <a:pPr/>
              <a:t>4</a:t>
            </a:fld>
            <a:endParaRPr lang="en-US"/>
          </a:p>
        </p:txBody>
      </p:sp>
    </p:spTree>
    <p:extLst>
      <p:ext uri="{BB962C8B-B14F-4D97-AF65-F5344CB8AC3E}">
        <p14:creationId xmlns:p14="http://schemas.microsoft.com/office/powerpoint/2010/main" val="2022584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1B9148C-78EA-4412-ABF5-7CF6CD510386}" type="slidenum">
              <a:rPr lang="en-AU" altLang="en-US"/>
              <a:pPr>
                <a:spcBef>
                  <a:spcPct val="0"/>
                </a:spcBef>
              </a:pPr>
              <a:t>9</a:t>
            </a:fld>
            <a:endParaRPr lang="en-AU" altLang="en-US"/>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To help clarify the issues, consider the abstract model of a program shown in Figure 12.1. This illustrates the concepts taught in most introductory programming courses. A program reads input data from a variety of possible sources, processes that data according to some algorithm, and then generates output, possibly to multiple different destinations. It executes in the environment provided by some operating system, using the machine instructions of some specific processor type. While processing the data, the program will use system calls, and possibly other programs available on the system. These may result in data being saved or modified on the system, or cause some other side effect as a result of the program execution. All of these aspects can interact with each other, often in complex ways. Correctly anticipating, checking and handling all possible errors will certainly increase the amount of code needed in, and the time taken to write, a program. This conflicts with business pressures to keep development times as short as possible to maximize market advantage. Unless software security is a design goal, addressed from the start of program development, a secure program is unlikely to result. </a:t>
            </a:r>
          </a:p>
        </p:txBody>
      </p:sp>
    </p:spTree>
    <p:extLst>
      <p:ext uri="{BB962C8B-B14F-4D97-AF65-F5344CB8AC3E}">
        <p14:creationId xmlns:p14="http://schemas.microsoft.com/office/powerpoint/2010/main" val="441149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BBFA12-C806-4060-81E6-80F25E0FCF17}" type="slidenum">
              <a:rPr lang="en-AU" altLang="en-US"/>
              <a:pPr>
                <a:spcBef>
                  <a:spcPct val="0"/>
                </a:spcBef>
              </a:pPr>
              <a:t>13</a:t>
            </a:fld>
            <a:endParaRPr lang="en-AU" alt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necessity for security and reliability to be design goals from the inception of a project has long been recognized by most engineering disciplines. Society in general is intolerant of bridges collapsing, buildings falling down or airplanes crashing. The design of such items is expected to provide a high likelihood that these catastrophic events will not occur. Software development has not yet reached this level of maturity, and society tolerates far higher levels of failure in software than it does in other engineering disciplines. This is despite the best efforts of software engineers, and the development of a number of software development and quality standards. While the focus of these standards is on the general software development lifecycle, they increasingly identify security as a key design goal. In recent years increasing recognition has been given to software security issues by a number of major companies, including Microsoft and IBM. The topic of software development techniques and standards, and the integration of security with them, is well beyond the scope of this text. However we will explore some specific software security issues, which should be incorporated into a wider development methodology. </a:t>
            </a:r>
          </a:p>
        </p:txBody>
      </p:sp>
    </p:spTree>
    <p:extLst>
      <p:ext uri="{BB962C8B-B14F-4D97-AF65-F5344CB8AC3E}">
        <p14:creationId xmlns:p14="http://schemas.microsoft.com/office/powerpoint/2010/main" val="3022244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0007518-25B4-4CD1-99E8-CCBD93571229}" type="slidenum">
              <a:rPr lang="en-AU" altLang="en-US"/>
              <a:pPr>
                <a:spcBef>
                  <a:spcPct val="0"/>
                </a:spcBef>
              </a:pPr>
              <a:t>16</a:t>
            </a:fld>
            <a:endParaRPr lang="en-AU" alt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Incorrect handling of program input is one of the most common failings in software security. Program input refers to </a:t>
            </a:r>
            <a:r>
              <a:rPr lang="en-US" altLang="en-US" b="1"/>
              <a:t>any</a:t>
            </a:r>
            <a:r>
              <a:rPr lang="en-US" altLang="en-US"/>
              <a:t> source of data that originates outside the program, and whose value is not explicitly known by the programmer when the code was written. This obviously includes data read into the program from user keyboard or mouse entry, files, or network connections. However, it also includes data supplied to the program in the execution environment, the values of any configuration or other data read from files by the program, and values supplied by the operating system to the program. All sources of input data, and any assumptions about the size and type of values they take, have to be identified. Those assumptions must be explicitly verified by the program code, and the values used in a manner consistent with these assumptions. The two key areas of concern for any input are the size of the input, and the meaning and interpretation of the input.</a:t>
            </a:r>
          </a:p>
        </p:txBody>
      </p:sp>
    </p:spTree>
    <p:extLst>
      <p:ext uri="{BB962C8B-B14F-4D97-AF65-F5344CB8AC3E}">
        <p14:creationId xmlns:p14="http://schemas.microsoft.com/office/powerpoint/2010/main" val="1312286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8EFC71-E6F4-4EA8-8B16-23CFE4F846B4}" type="slidenum">
              <a:rPr lang="en-AU" altLang="en-US"/>
              <a:pPr>
                <a:spcBef>
                  <a:spcPct val="0"/>
                </a:spcBef>
              </a:pPr>
              <a:t>17</a:t>
            </a:fld>
            <a:endParaRPr lang="en-AU" alt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When reading or copying input from some source, programmers often make assumptions about the maximum expected size of input. If the input is text entered by the user, either as a command-line argument to the program, or in response to a prompt for input, the assumption is often that this input would not exceed a few lines in size. Consequently, the programmer allocates a buffer of typically 512 or 1024 bytes to hold this input, but often does not check to confirm that the input is indeed no more than this size. If it does exceed the size of the buffer, then a buffer overflow occurs which can potentially compromise the execution of the program. We discuss the problems of buffer overflows in detail in Chapter 11. Testing of such programs may well not identify the buffer overflow vulnerability, as the test inputs provided would usually reflect the range of inputs the programmers expect users to provide. These are unlikely to include sufficiently large inputs to trigger the overflow, unless this vulnerability is being explicitly tested.</a:t>
            </a:r>
          </a:p>
          <a:p>
            <a:pPr eaLnBrk="1" hangingPunct="1"/>
            <a:r>
              <a:rPr lang="en-US" altLang="en-US"/>
              <a:t>Writing code that is safe against buffer overflows requires a mindset that regards any input as dangerous, and processes it in a manner that does not expose the program to danger. With respect to the size of input, this means either using a dynamically sized buffer to ensure that sufficient space is available, or processing the input in buffer sized blocks. Even if dynamically sized buffers are used, care is needed to ensure that the space requested does not exceed available memory. These checks must apply wherever data whose value is unknown enters, or is manipulated by, the program. They must also apply to all potential sources of input.</a:t>
            </a:r>
          </a:p>
        </p:txBody>
      </p:sp>
    </p:spTree>
    <p:extLst>
      <p:ext uri="{BB962C8B-B14F-4D97-AF65-F5344CB8AC3E}">
        <p14:creationId xmlns:p14="http://schemas.microsoft.com/office/powerpoint/2010/main" val="1421472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52E4C5-322E-4FF2-93B7-E8B73CA555C7}" type="slidenum">
              <a:rPr lang="en-AU" altLang="en-US"/>
              <a:pPr>
                <a:spcBef>
                  <a:spcPct val="0"/>
                </a:spcBef>
              </a:pPr>
              <a:t>18</a:t>
            </a:fld>
            <a:endParaRPr lang="en-AU"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other key concern with program input is its meaning and interpretation. Program input data may be broadly classified as textual or binary. When processing binary data, the program assumes some interpretation of the raw binary values as representing integers, floating point numbers, character strings, or some more complex structured data representation. The assumed interpretation must be validated as the binary values are read. The details of how this is done will depend very much on the particular interpretation of encoding of the information. More commonly though, programs process textual data as input. The raw binary values are interpreted as representing characters, according to some character set. Traditionally, the ASCII character set was assumed, although common systems like Windows and MacOSX both use different extensions to this to manage accented characters. With increasing internationalization of programs, there is an increasing variety of character sets being used. Care is needed to identify just which set is being used, and hence just what characters are being read. Beyond identifying which characters are input, their meaning has also to be identified. They may represent an integer or floating-point number. They might be a filename, a URL, an email address, or an identifier of some form. Depending on how these inputs are used, it may be necessary to confirm that the values entered do indeed represent the expected type of data. Failure to do so could result in a vulnerability that permits an attacker to influence the operation of the program, with possibly serious consequences.</a:t>
            </a:r>
          </a:p>
        </p:txBody>
      </p:sp>
    </p:spTree>
    <p:extLst>
      <p:ext uri="{BB962C8B-B14F-4D97-AF65-F5344CB8AC3E}">
        <p14:creationId xmlns:p14="http://schemas.microsoft.com/office/powerpoint/2010/main" val="1070776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31E229C-5BD5-498A-A44F-7583B6DC814B}" type="slidenum">
              <a:rPr lang="en-AU" altLang="en-US"/>
              <a:pPr>
                <a:spcBef>
                  <a:spcPct val="0"/>
                </a:spcBef>
              </a:pPr>
              <a:t>19</a:t>
            </a:fld>
            <a:endParaRPr lang="en-AU" alt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term </a:t>
            </a:r>
            <a:r>
              <a:rPr lang="en-US" altLang="en-US" b="1"/>
              <a:t>injection attack</a:t>
            </a:r>
            <a:r>
              <a:rPr lang="en-US" altLang="en-US"/>
              <a:t> refers to a wide variety of program flaws related to invalid handling of input data. Specifically, this problem occurs when program input data can accidentally or deliberately influence the flow of execution of the program. There are a wide variety of mechanisms by which this can occur. One of the most common is when input data is passed as a parameter to another helper program on the system, whose output is then processed and used by the original program. This most often occurs when programs are developed using scripting languages such as perl, PHP, python, sh and many others. Such languages encourage the reuse of other existing programs and system utilities where possible to save coding effort. They may be used to develop applications on some system. More commonly, they are now often used as web CGI scripts to process data supplied from HTML forms.</a:t>
            </a:r>
          </a:p>
        </p:txBody>
      </p:sp>
    </p:spTree>
    <p:extLst>
      <p:ext uri="{BB962C8B-B14F-4D97-AF65-F5344CB8AC3E}">
        <p14:creationId xmlns:p14="http://schemas.microsoft.com/office/powerpoint/2010/main" val="2709632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A6D0695-6A8F-416A-8BA5-8CBF4C6B8EE2}" type="slidenum">
              <a:rPr lang="en-AU" altLang="en-US"/>
              <a:pPr>
                <a:spcBef>
                  <a:spcPct val="0"/>
                </a:spcBef>
              </a:pPr>
              <a:t>20</a:t>
            </a:fld>
            <a:endParaRPr lang="en-AU"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Another widely exploited variant of this attack is </a:t>
            </a:r>
            <a:r>
              <a:rPr lang="en-US" altLang="en-US" b="1"/>
              <a:t>SQL injection</a:t>
            </a:r>
            <a:r>
              <a:rPr lang="en-US" altLang="en-US"/>
              <a:t>. In this attack, the user-supplied input is used to construct a SQL request to retrieve information from a database. Consider the excerpt of PHP code from a CGI script shown in Figure 12.3a. It takes a name provided as input to the script, typically from a form field similar to that shown in Figure 12.2b. It uses this value to construct a request to retrieve the records relating to that name from the database. The vulnerability in this code is very similar to that in the command injection example. The difference is that SQL metacharacters are used, rather than shell metacharacters. If a suitable name is provided, for example “Bob”, then the code works as intended, retrieving the desired record. However an input such as “Bob’ drop table suppliers --“ results in the specified record being retrieved, followed by deletion of the entire table! This would have rather unfortunate consequences for subsequent users. To prevent this type of attack, the input must be validated before use. Any metacharacters must either be escaped, canceling their effect, or the input rejected entirely. Given the widespread recognition of SQL injection attacks, many languages used by CGI scripts contain functions that can sanitize any input that is subsequently included in a SQL request. The code shown in Figure 12.3b illustrates the use of a suitable PHP function to correct this vulnerability.</a:t>
            </a:r>
          </a:p>
        </p:txBody>
      </p:sp>
    </p:spTree>
    <p:extLst>
      <p:ext uri="{BB962C8B-B14F-4D97-AF65-F5344CB8AC3E}">
        <p14:creationId xmlns:p14="http://schemas.microsoft.com/office/powerpoint/2010/main" val="1244353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EE3FBD-30CB-4283-8D89-F978CE23689F}" type="slidenum">
              <a:rPr lang="en-AU" altLang="en-US"/>
              <a:pPr>
                <a:spcBef>
                  <a:spcPct val="0"/>
                </a:spcBef>
              </a:pPr>
              <a:t>21</a:t>
            </a:fld>
            <a:endParaRPr lang="en-AU"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A third common variant is the </a:t>
            </a:r>
            <a:r>
              <a:rPr lang="en-US" altLang="en-US" b="1">
                <a:latin typeface="Times" panose="02020603050405020304" pitchFamily="18" charset="0"/>
              </a:rPr>
              <a:t>code injection</a:t>
            </a:r>
            <a:r>
              <a:rPr lang="en-US" altLang="en-US">
                <a:latin typeface="Times" panose="02020603050405020304" pitchFamily="18" charset="0"/>
              </a:rPr>
              <a:t> attack, where the input includes code that is then executed by the attacked system. Many of the buffer overflow examples include a code injection component. However, there are also significant concerns about the injection of scripting language code into remotely executed scripts. Figure 12.4a illustrates a few lines from the start of a vulnerable PHP calendar script. The flaw results from the use of a variable to construct the name of a file that is then included into the script. Unfortunately attackers do not “play by the rules”. Just because a script is not supposed to be called directly, does not mean it is not possible. The access protections must be configured in the web server to block direct access to prevent this. Otherwise, if direct access to such scripts is combined with two other features of PHP, a serious attack is possible. The first is that PHP originally assigned the value of any input variable supplied in the HTTP request to global variables with the same name as the field. Hence a user could specify values for any desired global variable, and they would be created and passed to the script. In this example, the variable </a:t>
            </a:r>
            <a:r>
              <a:rPr lang="en-US" altLang="en-US">
                <a:latin typeface="Courier" charset="0"/>
              </a:rPr>
              <a:t>$path</a:t>
            </a:r>
            <a:r>
              <a:rPr lang="en-US" altLang="en-US">
                <a:latin typeface="Times" panose="02020603050405020304" pitchFamily="18" charset="0"/>
              </a:rPr>
              <a:t> is not expected to be a form field. The second PHP feature concerns the behavior of the </a:t>
            </a:r>
            <a:r>
              <a:rPr lang="en-US" altLang="en-US">
                <a:latin typeface="Courier" charset="0"/>
              </a:rPr>
              <a:t>include</a:t>
            </a:r>
            <a:r>
              <a:rPr lang="en-US" altLang="en-US">
                <a:latin typeface="Times" panose="02020603050405020304" pitchFamily="18" charset="0"/>
              </a:rPr>
              <a:t> command. Not only could local files be included, but if a URL is supplied, the included code can be sourced from anywhere on the network. Combine all of these elements, and the attack may be implemented using a request similar to that shown in Figure 12.4b. This results in the </a:t>
            </a:r>
            <a:r>
              <a:rPr lang="en-US" altLang="en-US">
                <a:latin typeface="Courier" charset="0"/>
              </a:rPr>
              <a:t>$path</a:t>
            </a:r>
            <a:r>
              <a:rPr lang="en-US" altLang="en-US">
                <a:latin typeface="Times" panose="02020603050405020304" pitchFamily="18" charset="0"/>
              </a:rPr>
              <a:t> variable containing the URL of a file containing the attacker’s PHP code. It also defines another variable, </a:t>
            </a:r>
            <a:r>
              <a:rPr lang="en-US" altLang="en-US">
                <a:latin typeface="Courier" charset="0"/>
              </a:rPr>
              <a:t>$cmd,</a:t>
            </a:r>
            <a:r>
              <a:rPr lang="en-US" altLang="en-US">
                <a:latin typeface="Times" panose="02020603050405020304" pitchFamily="18" charset="0"/>
              </a:rPr>
              <a:t> which tells the attacker’s script what command to run. This specific type of attack is known as a PHP </a:t>
            </a:r>
            <a:r>
              <a:rPr lang="en-US" altLang="en-US" b="1">
                <a:latin typeface="Times" panose="02020603050405020304" pitchFamily="18" charset="0"/>
              </a:rPr>
              <a:t>remote code injection</a:t>
            </a:r>
            <a:r>
              <a:rPr lang="en-US" altLang="en-US">
                <a:latin typeface="Times" panose="02020603050405020304" pitchFamily="18" charset="0"/>
              </a:rPr>
              <a:t> vulnerability. Recent reports indicate that a very large number of PHP CGI scripts are vulnerable to this attack, and are being actively exploited.</a:t>
            </a:r>
          </a:p>
        </p:txBody>
      </p:sp>
    </p:spTree>
    <p:extLst>
      <p:ext uri="{BB962C8B-B14F-4D97-AF65-F5344CB8AC3E}">
        <p14:creationId xmlns:p14="http://schemas.microsoft.com/office/powerpoint/2010/main" val="654932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FC1CEE3-CAF7-4AE6-8275-80EF37668921}" type="slidenum">
              <a:rPr lang="en-AU" altLang="en-US"/>
              <a:pPr>
                <a:spcBef>
                  <a:spcPct val="0"/>
                </a:spcBef>
              </a:pPr>
              <a:t>22</a:t>
            </a:fld>
            <a:endParaRPr lang="en-AU" alt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Another broad class of vulnerabilities concerns input provided to a program by one user, that is subsequently output to another user, known as </a:t>
            </a:r>
            <a:r>
              <a:rPr lang="en-US" altLang="en-US" b="1"/>
              <a:t>cross-site scripting </a:t>
            </a:r>
            <a:r>
              <a:rPr lang="en-US" altLang="en-US"/>
              <a:t>(XSS) attacks because they are most commonly seen in scripted web applications. This vulnerability involves the inclusion of script code in the HTML content of a web page displayed by a user’s browser. The script code could be Javascript, ActiveX, VBScript, Flash or just about any client-side scripting language supported by a user’s browser. To support some categories of web applications, script code may need to access data associated with other pages currently displayed by the user’s browser. Since this clearly raises security concerns, browsers impose security checks and restrict such data access to pages originating from the same site. The assumption is that all content from one site is equally trusted, and hence is permitted to interact with other content from that site. Cross-site scripting attacks exploit this assumption. This data can include page contents, session cookies, and a variety of other objects. Attackers use a variety of mechanisms to inject malicious script content into pages returned to users by the targeted sites. The most common variant is the </a:t>
            </a:r>
            <a:r>
              <a:rPr lang="en-US" altLang="en-US" b="1"/>
              <a:t>XSS reflection</a:t>
            </a:r>
            <a:r>
              <a:rPr lang="en-US" altLang="en-US"/>
              <a:t> vulnerability. The attacker includes the malicious script content in data supplied to a site. If this content is subsequently displayed to other users without sufficient checking, they will execute the script assuming it is trusted to access any data associated with that site..</a:t>
            </a:r>
          </a:p>
        </p:txBody>
      </p:sp>
    </p:spTree>
    <p:extLst>
      <p:ext uri="{BB962C8B-B14F-4D97-AF65-F5344CB8AC3E}">
        <p14:creationId xmlns:p14="http://schemas.microsoft.com/office/powerpoint/2010/main" val="3433763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37E54AE-90D8-4439-A04B-E6F916096767}" type="slidenum">
              <a:rPr lang="en-AU" altLang="en-US"/>
              <a:pPr>
                <a:spcBef>
                  <a:spcPct val="0"/>
                </a:spcBef>
              </a:pPr>
              <a:t>24</a:t>
            </a:fld>
            <a:endParaRPr lang="en-AU" alt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Consider the widespread use of “guestbook” programs, wikis, and blogs by many web sites. They all allow users accessing the site to leave comments, which are subsequently viewed by other users. Unless the contents of these comments are checked, and any dangerous code removed, the attack is possible. Consider the example shown from Figure 12.5a. If this text were saved by a guestbook application, then when viewed it displays a little text and then executes the Javascript code. This code replaces the document contents with the information returned by the attacker’s cookie script, which is provided with the cookie associated with this document. Many sites require users to register before using features like a guestbook application. With this attack, the user’s cookie is supplied to the attacker, who could then use it to impersonate the user on the original site. This example obviously replaces the page content being viewed with whatever the attacker’s script returns. By using more sophisticated Javascript code though, it is possible for the script to execute with very little visible effect. To prevent this attack, any user-supplied input should be examined, and any dangerous code removed, or escaped to block its execution. While the example shown may seem easy to check and correct, the attacker will not necessarily make the task this easy, as the information may be variously encoded and obscured. The same code may have all of the characters relating to the script code encoded using HTML character entities, as shown in the text Figure 12.5b. XSS attacks illustrate a failure to correctly handle both program input and program output. The failure to check and validate the input results in potentially dangerous data values being saved by the program. However the program is not the target. Rather it is subsequent users of the program, and the programs they use to access it, which are the target. If all potentially unsafe data output by the program is sanitized, then the attack cannot occur. </a:t>
            </a:r>
          </a:p>
        </p:txBody>
      </p:sp>
    </p:spTree>
    <p:extLst>
      <p:ext uri="{BB962C8B-B14F-4D97-AF65-F5344CB8AC3E}">
        <p14:creationId xmlns:p14="http://schemas.microsoft.com/office/powerpoint/2010/main" val="1730828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B78E21C-5A8C-4CCD-8918-5EA7253D2445}" type="slidenum">
              <a:rPr lang="en-AU" altLang="en-US"/>
              <a:pPr>
                <a:spcBef>
                  <a:spcPct val="0"/>
                </a:spcBef>
              </a:pPr>
              <a:t>25</a:t>
            </a:fld>
            <a:endParaRPr lang="en-AU" alt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685800" y="4343400"/>
            <a:ext cx="5562600" cy="4419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Given the programmer cannot control the content of input data, it is necessary to ensure that such data conforms with any assumptions made about it before subsequent use. If the data is textual, these assumptions may be that it contains only printable characters, has certain HTML markup, is the name of a person, a userid, an email address, a filename or is a URL. A program using such input should confirm that it meets these assumptions. An important principle is that input data should be compared against what is wanted, accepting only valid input. The alternative is to compare the input data with known dangerous values. The problem with this approach is that new problems, and methods of bypassing existing checks continue to be discovered. By trying to block known dangerous input data, an attacker using a new encoding may succeed. By only accepting known safe data, the program is more likely to remain secure. This type of comparison is commonly done using regular expressions. It may be explicitly coded by the programmer, or may be implicitly included in a supplied input processing routine. A regular expression is a pattern composed of a sequence of characters that describe allowable input variants. Some characters in a regular expression are treated literally, and the input compared to them must contain those characters at that point. Other characters have special meanings, allowing the specification of alternative sets of characters, classes of characters, and repeated characters. Details of regular expression content and usage vary from language to language. An appropriate reference should be consulted for the language in use. If the input data fails the comparison, it could be rejected. Alternatively, it may be altered so that it does conform. This generally involves “escaping” metacharacters to remove any special interpretation, thus rendering the input safe.</a:t>
            </a:r>
          </a:p>
        </p:txBody>
      </p:sp>
    </p:spTree>
    <p:extLst>
      <p:ext uri="{BB962C8B-B14F-4D97-AF65-F5344CB8AC3E}">
        <p14:creationId xmlns:p14="http://schemas.microsoft.com/office/powerpoint/2010/main" val="749023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BBAE18-EC2A-4FA6-9700-45196BA14F9C}" type="slidenum">
              <a:rPr lang="en-AU" altLang="en-US"/>
              <a:pPr>
                <a:spcBef>
                  <a:spcPct val="0"/>
                </a:spcBef>
              </a:pPr>
              <a:t>26</a:t>
            </a:fld>
            <a:endParaRPr lang="en-AU" alt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There is an additional concern when the input data represents a numeric value. Such values are represented on a computer by a fixed size value. Integers are commonly 8, 16, 32 and now 64-bits in size. Floating point numbers may be 32, 64, 96 or other numbers of bits, depending on the computer processor used. These values may also be signed or unsigned. When the input data is interpreted, the various representations of numeric values, including optional sign, leading zeroes, decimal values, and power values must be handled appropriately. The subsequent use of numeric values must also be monitored. Problems particularly occur when a value of one size or form is cast to another. For example, a buffer size may be read as an unsigned integer. It may later be compared with the acceptable maximum buffer size. Depending on the language used, the size value that was input as unsigned may subsequently be treated as a signed value in some comparison. This leads to a vulnerability because negative values have the top bit set. This is the same bit pattern used by large positive values in unsigned integers. So the attacker could specify a very large actual input data length, which is treated as a negative number when compared with the maximum buffer size. Being a negative number it clearly satisfies a comparison with a smaller, positive buffer size. However when used, the actual data is much larger than the buffer allows, and an overflow occurs as a consequence of incorrect handling of the input size data. Once again, care is needed to check assumptions about data values, and to ensure all use is consistent with these assumptions.</a:t>
            </a:r>
          </a:p>
          <a:p>
            <a:pPr eaLnBrk="1" hangingPunct="1"/>
            <a:endParaRPr lang="en-US" altLang="en-US"/>
          </a:p>
        </p:txBody>
      </p:sp>
    </p:spTree>
    <p:extLst>
      <p:ext uri="{BB962C8B-B14F-4D97-AF65-F5344CB8AC3E}">
        <p14:creationId xmlns:p14="http://schemas.microsoft.com/office/powerpoint/2010/main" val="1972086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8BABEB7-702C-4D13-874E-109003888250}" type="slidenum">
              <a:rPr lang="en-AU" altLang="en-US"/>
              <a:pPr>
                <a:spcBef>
                  <a:spcPct val="0"/>
                </a:spcBef>
              </a:pPr>
              <a:t>27</a:t>
            </a:fld>
            <a:endParaRPr lang="en-AU" alt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A powerful approach called </a:t>
            </a:r>
            <a:r>
              <a:rPr lang="en-US" altLang="en-US" b="1">
                <a:latin typeface="Times" panose="02020603050405020304" pitchFamily="18" charset="0"/>
              </a:rPr>
              <a:t>fuzzing</a:t>
            </a:r>
            <a:r>
              <a:rPr lang="en-US" altLang="en-US">
                <a:latin typeface="Times" panose="02020603050405020304" pitchFamily="18" charset="0"/>
              </a:rPr>
              <a:t> was developed by Professor Barton Miller at the University of Wisconsin Madison in 198 to test for potential types of non-standard inputs that might be exploited by an attacker to subvert a program. It uses randomly generated data as inputs to a program. The intent is to determine whether the program or function correctly handles all such abnormal inputs, or whether it crashes or otherwise fails to respond appropriately. In the latter cases the program or function clearly has a bug that needs to be corrected. The major advantage of fuzzing is its simplicity, and its freedom from assumptions about the “expected” input to any program, service or function. The cost of generating large numbers of tests is very low. Further such testing assists in identifying reliability as well as security deficiencies in programs. While the input can be completely randomly generated, it may also be randomly generated according to some template. Such templates are designed to examine likely scenarios for bugs. This might include excessively long inputs, or textual inputs that contain no spaces or other word boundaries, for example. When used with network protocols, it might specifically target critical aspects of the protocol. The intent of using such templates is to increase the likelihood of locating bugs. The disadvantage is that the templates incorporate assumptions about the input. Hence bugs triggered by other forms of input would be missed. This suggests that a combination of these approaches is needed for a reasonably comprehensive coverage of the inputs.</a:t>
            </a:r>
          </a:p>
          <a:p>
            <a:pPr eaLnBrk="1" hangingPunct="1"/>
            <a:endParaRPr lang="en-US" altLang="en-US"/>
          </a:p>
        </p:txBody>
      </p:sp>
    </p:spTree>
    <p:extLst>
      <p:ext uri="{BB962C8B-B14F-4D97-AF65-F5344CB8AC3E}">
        <p14:creationId xmlns:p14="http://schemas.microsoft.com/office/powerpoint/2010/main" val="3535744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8F18F5-3EDF-4E56-899F-B67D73DCE5BB}" type="slidenum">
              <a:rPr lang="en-AU" altLang="en-US"/>
              <a:pPr>
                <a:spcBef>
                  <a:spcPct val="0"/>
                </a:spcBef>
              </a:pPr>
              <a:t>28</a:t>
            </a:fld>
            <a:endParaRPr lang="en-AU" alt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second component of our model of computer programs is the processing of the input data according to some algorithm. For procedural languages like C and its descendents, this algorithm specifies the series of steps taken to manipulate the input to solve the required problem. High-level languages are typically compiled and linked into machine code, when is then directly executed by the target processor. Alternatively, a high-level language such as Java may be compiled into an intermediate language that is then interpreted by a suitable program on the target system. The same may be done for programs written using an interpreted scripting language. In all cases the execution of a program involves the execution of machine language instructions by a processor to implement the desired algorithm. These instructions will manipulate data stored in various regions of memory, and in the processor’s registers. From a software security perspective, the key issues are whether the implemented algorithm correctly solves the specified problem, whether the machine instructions executed correctly represent the high-level algorithm specification, and whether the manipulation of data values in variables, as stored in machine registers or memory, is valid and meaningful.</a:t>
            </a:r>
          </a:p>
          <a:p>
            <a:pPr eaLnBrk="1" hangingPunct="1"/>
            <a:endParaRPr lang="en-US" altLang="en-US"/>
          </a:p>
        </p:txBody>
      </p:sp>
    </p:spTree>
    <p:extLst>
      <p:ext uri="{BB962C8B-B14F-4D97-AF65-F5344CB8AC3E}">
        <p14:creationId xmlns:p14="http://schemas.microsoft.com/office/powerpoint/2010/main" val="2203423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35ED11A-D35F-45C3-8024-5102295FECD1}" type="slidenum">
              <a:rPr lang="en-AU" altLang="en-US"/>
              <a:pPr>
                <a:spcBef>
                  <a:spcPct val="0"/>
                </a:spcBef>
              </a:pPr>
              <a:t>29</a:t>
            </a:fld>
            <a:endParaRPr lang="en-AU" alt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 first issue is primarily one of good program development technique. The algorithm may not correctly implement all cases or variants of the problem. This might allow some seemingly legitimate program input to trigger program behavior that was not intended, providing an attacker with additional capabilities. A good example of this was the bug in some early releases of the Netscape web browser. Their implementation of the random number generator used to generate session keys for secure web connections was inadequate. The assumption was that these numbers should be unguessable, short of trying all alternatives. However, due to a poor choice of the information used to seed this algorithm, the resulting numbers were relatively easy to predict. As a consequence, it was possible for an attacker to guess the key used, and then decrypt the data exchanged over a secure web session. This flaw was fixed by re-implementing the random number generator to ensure that it was seeded with sufficient unpredictable information that it was not possible for an attacker to guess its output. Another well-known example is the TCP session spoof or hijack attack. See text for details. Another variant of this issue is when the programmers deliberately include additional code in a program to help test and debug it. While this valid during program development, all to often this code remains in production releases of a program. At the very least, this code could inappropriately release information to a user of the program. At worst, it may permit a user to bypass security checks or other program limitations and perform actions they would not otherwise be allowed to perform. This type of vulnerability was seen in the </a:t>
            </a:r>
            <a:r>
              <a:rPr lang="en-US" altLang="en-US">
                <a:latin typeface="Courier" charset="0"/>
              </a:rPr>
              <a:t>sendmail</a:t>
            </a:r>
            <a:r>
              <a:rPr lang="en-US" altLang="en-US">
                <a:latin typeface="Times" panose="02020603050405020304" pitchFamily="18" charset="0"/>
              </a:rPr>
              <a:t> mail delivery program in the late 1980’s, and famously exploited by the Morris Internet Worm.  A further example concerns the implementation of the interpreter for interpreted high or intermediate-level languages. These examples illustrate the care that is needed when designing and implementing a program.</a:t>
            </a:r>
          </a:p>
        </p:txBody>
      </p:sp>
    </p:spTree>
    <p:extLst>
      <p:ext uri="{BB962C8B-B14F-4D97-AF65-F5344CB8AC3E}">
        <p14:creationId xmlns:p14="http://schemas.microsoft.com/office/powerpoint/2010/main" val="1552279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58BC225-2F30-4775-90BC-65FC3BF5C42F}" type="slidenum">
              <a:rPr lang="en-AU" altLang="en-US"/>
              <a:pPr>
                <a:spcBef>
                  <a:spcPct val="0"/>
                </a:spcBef>
              </a:pPr>
              <a:t>30</a:t>
            </a:fld>
            <a:endParaRPr lang="en-AU" alt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second issue concerns the correspondence between the algorithm specified in some programming language, and the machine instructions that are run to implement it. This issue is one that is largely ignored by most programmers. The assumption is that the compiler or interpreter does indeed generate or execute code that validly implements the language statements. When this is considered at all, the issue is typically one of efficiency, usually addressed by specifying the required level of optimization flags to the compiler. With compiled languages, as Ken Thompson famously noted in [THOM84], a malicious compiler programmer could include instructions in the compiler to emit additional code when some specific input statements were processed. These statements could even include part of the compiler, so that these changes could be reinserted when it was compiled, even after all trace of them had been removed from the compiler source. If this were done, the only evidence of these changes would be found in the machine code. Locating this would require careful comparison of the generated machine code with the original source. For large programs, with many source files, this would be an exceedingly slow and difficult task. One that in general is very unlikely to be done. However the development of trusted computer systems with very high assurance level is the one area where this level of checking is required. Specifically, certification of computer systems using a Common Criteria assurance level of EAL7 require validation of the correspondence between design, source code and object code. </a:t>
            </a:r>
          </a:p>
        </p:txBody>
      </p:sp>
    </p:spTree>
    <p:extLst>
      <p:ext uri="{BB962C8B-B14F-4D97-AF65-F5344CB8AC3E}">
        <p14:creationId xmlns:p14="http://schemas.microsoft.com/office/powerpoint/2010/main" val="8614936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8A2698-314C-4543-8640-05C5F616C976}" type="slidenum">
              <a:rPr lang="en-AU" altLang="en-US"/>
              <a:pPr>
                <a:spcBef>
                  <a:spcPct val="0"/>
                </a:spcBef>
              </a:pPr>
              <a:t>31</a:t>
            </a:fld>
            <a:endParaRPr lang="en-AU" alt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 next issue concerns the correct interpretation of data values. At the most basic level, all data on a computer is stored as groups of binary bits, saved in bytes of memory, be grouped together as a word or longword values. They may be accessed and manipulated in memory, or they may be copied into processor registers before being used. Whether a group of bits is interpreted as representing a character, an integer, a floating point number, a memory address (pointer), or some more complex interpretation depends on the program operations used to manipulate it, and ultimately on the specific machine instructions executed. Different languages provide varying capabilities for restricting and validating assumptions on the interpretation of data in variables. If the language includes strong typing, then the operations performed on any specific type of data will be limited to appropriate manipulations of the values. This greatly reduces the likelihood of inappropriate manipulation and use of variables introducing a flaw in the program. Other languages though, allow a much more liberal interpretation of data, and permit program code to explicitly change their interpretation. The widely used language C has this characteristic. In particular, it allows easy conversion between interpreting variables as integers, and interpreting them as memory addresses (pointers). This results in errors caused by the inappropriate manipulation and use of pointers. A related issue is the occurrence of errors due to the incorrect manipulation of pointers in complex data structures, such as linked lists or trees, resulting in corruption of the structure, or changing of incorrect data values. Any such programming bugs could provide a means for an attacker to subvert the correct operation of a program, or simply to cause it to crash. The best defense against such errors is to use a strongly typed programming language. </a:t>
            </a:r>
          </a:p>
        </p:txBody>
      </p:sp>
    </p:spTree>
    <p:extLst>
      <p:ext uri="{BB962C8B-B14F-4D97-AF65-F5344CB8AC3E}">
        <p14:creationId xmlns:p14="http://schemas.microsoft.com/office/powerpoint/2010/main" val="1046195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DC7A23-4C9F-4936-BD2A-F451A3A7C8C1}" type="slidenum">
              <a:rPr lang="en-AU" altLang="en-US"/>
              <a:pPr>
                <a:spcBef>
                  <a:spcPct val="0"/>
                </a:spcBef>
              </a:pPr>
              <a:t>32</a:t>
            </a:fld>
            <a:endParaRPr lang="en-AU"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Related to the issue of interpretation of data values is the allocation and management of dynamic memory storage, generally using the process heap. Many programs, which manipulate unknown quantities of data, use dynamically allocated memory to store data when required. This memory must be allocated when needed, and released when done. If a program fails to correctly manage this process, the consequence may be a steady reduction in memory available on the heap to the point where it is completely exhausted. This is known as a </a:t>
            </a:r>
            <a:r>
              <a:rPr lang="en-US" altLang="en-US" b="1"/>
              <a:t>memory leak</a:t>
            </a:r>
            <a:r>
              <a:rPr lang="en-US" altLang="en-US"/>
              <a:t>, and often the program will crash once the available memory on the heap is exhausted. This provides an obvious mechanism for an attacker to implement a denial of service attack on such a program. Many older languages, including C, provide no explicit support for dynamically allocated memory. Instead support is provided by explicitly calling standard library routines to allocate and release memory. Unfortunately, in large complex programs, determining exactly when dynamically allocated memory is no longer required can be a very difficult task. As a consequence, memory leaks in such programs can easily occur, and be very difficult to identify and correct. There are library variants that implement much higher levels of checking and debugging such allocations which can be used to assist this process. Other languages like Java and C++ manage memory allocation and release automatically. While such languages do incur an execution overhead to support this automatic management, the resulting programs and generally far more reliable. The use of such languages is strongly encouraged to avoid memory management problems.</a:t>
            </a:r>
          </a:p>
        </p:txBody>
      </p:sp>
    </p:spTree>
    <p:extLst>
      <p:ext uri="{BB962C8B-B14F-4D97-AF65-F5344CB8AC3E}">
        <p14:creationId xmlns:p14="http://schemas.microsoft.com/office/powerpoint/2010/main" val="9339708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1CF73C8-4849-4B60-94E8-EDEDE38204BD}" type="slidenum">
              <a:rPr lang="en-AU" altLang="en-US"/>
              <a:pPr>
                <a:spcBef>
                  <a:spcPct val="0"/>
                </a:spcBef>
              </a:pPr>
              <a:t>33</a:t>
            </a:fld>
            <a:endParaRPr lang="en-AU" alt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Another topic of concern is management of access to common, shared memory by several processes, or threads within a process. Without suitable synchronization of accesses, it is possible that values may be corrupted, or changes lost, due to overlapping access, use and replacement of shared values. The resulting </a:t>
            </a:r>
            <a:r>
              <a:rPr lang="en-US" altLang="en-US" b="1"/>
              <a:t>race condition</a:t>
            </a:r>
            <a:r>
              <a:rPr lang="en-US" altLang="en-US"/>
              <a:t> occurs when multiple processes and threads compete to gain uncontrolled access to some resource. This problem is a well-known and documented issue that arises when writing concurrent code, whose solution requires the correct selection and use of appropriate synchronization primitives. Even so, it is neither easy nor obvious what the most appropriate and efficient choice is. If an incorrect sequence of synchronization primitives is chosen, it is possible for the various processes or threads to </a:t>
            </a:r>
            <a:r>
              <a:rPr lang="en-US" altLang="en-US" b="1"/>
              <a:t>deadlock</a:t>
            </a:r>
            <a:r>
              <a:rPr lang="en-US" altLang="en-US"/>
              <a:t>, each waiting on a resource held by the other. There is no easy way of recovering from this flaw without terminating one or more of the programs. An attacker could trigger such a deadlock in a vulnerable program to implement a denial of service upon it. In large complex applications, ensuring that deadlocks are not possible can be very difficult. Care is needed to carefully design and partition the problem to limit areas where access to shared memory is needed, and to determine the best primitives to use.</a:t>
            </a:r>
          </a:p>
          <a:p>
            <a:pPr eaLnBrk="1" hangingPunct="1"/>
            <a:endParaRPr lang="en-US" altLang="en-US"/>
          </a:p>
        </p:txBody>
      </p:sp>
    </p:spTree>
    <p:extLst>
      <p:ext uri="{BB962C8B-B14F-4D97-AF65-F5344CB8AC3E}">
        <p14:creationId xmlns:p14="http://schemas.microsoft.com/office/powerpoint/2010/main" val="4082455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5AB9AD1-BCB1-43AF-AF63-119B8450325B}" type="slidenum">
              <a:rPr lang="en-AU" altLang="en-US"/>
              <a:pPr>
                <a:spcBef>
                  <a:spcPct val="0"/>
                </a:spcBef>
              </a:pPr>
              <a:t>34</a:t>
            </a:fld>
            <a:endParaRPr lang="en-AU"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 third component of our model of computer programs is that it executes on a computer system under the control of an operating system (O/S). This aspect of a computer program is often not emphasized in introductory programming courses, however from the perspective of writing secure software it is critical. Excepting dedicated embedded applications, in general, programs do not run in isolation on most computer systems. Rather, they run under the control of an operating system that mediates access to the resources of that system, and shares their use between all the currently executing programs. The operating system constructs an execution environment for a process when a program is run. In addition to the code and data for the program, the process includes information provided by the operating system. These include environment variables which may be used to tailor the operation of the program, and any command-line arguments specified for the program. All such data should be considered external inputs to the program, whose values need validation before use. Generally these systems have a concept of multiple users on the system. Resources, like files and devices, are owned by a user, and have permissions granting access with various rights to different categories of users. From the perspective of software security, programs need access to the various resources, such as files and devices, they use. Unless appropriate access is granted, these programs will likely fail. However excessive levels of access is also dangerous, since any bug in the program could then potentially compromise more of the system. There are also concerns when multiple programs access shared resources, such as a common file. This is a generalization of the problem of managing access to shared memory, and many of the same concerns apply, and appropriate synchronization mechanisms are needed.</a:t>
            </a:r>
          </a:p>
        </p:txBody>
      </p:sp>
    </p:spTree>
    <p:extLst>
      <p:ext uri="{BB962C8B-B14F-4D97-AF65-F5344CB8AC3E}">
        <p14:creationId xmlns:p14="http://schemas.microsoft.com/office/powerpoint/2010/main" val="14601404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1C3B245-5AB7-44B7-AE84-9E7E3F324A35}" type="slidenum">
              <a:rPr lang="en-AU" altLang="en-US"/>
              <a:pPr>
                <a:spcBef>
                  <a:spcPct val="0"/>
                </a:spcBef>
              </a:pPr>
              <a:t>35</a:t>
            </a:fld>
            <a:endParaRPr lang="en-AU" alt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Consider the simple example script shown in Figure 12.6a. This scriptretrieves the mapping for a user to an IP address. Since that information is held in a directory of privileged user accounting information, general access to that directory is not granted. Instead the script is run with the privileges of its owner, which does have access to the relevant directory. This type of simple utility script is very common on many systems. However it contains a number of serious flaws. The first concerns the interaction with the </a:t>
            </a:r>
            <a:r>
              <a:rPr lang="en-US" altLang="en-US">
                <a:latin typeface="Courier" charset="0"/>
              </a:rPr>
              <a:t>PATH</a:t>
            </a:r>
            <a:r>
              <a:rPr lang="en-US" altLang="en-US">
                <a:latin typeface="Times" panose="02020603050405020304" pitchFamily="18" charset="0"/>
              </a:rPr>
              <a:t> environment variable. This simple script calls two separate programs: </a:t>
            </a:r>
            <a:r>
              <a:rPr lang="en-US" altLang="en-US">
                <a:latin typeface="Courier" charset="0"/>
              </a:rPr>
              <a:t>sed</a:t>
            </a:r>
            <a:r>
              <a:rPr lang="en-US" altLang="en-US">
                <a:latin typeface="Times" panose="02020603050405020304" pitchFamily="18" charset="0"/>
              </a:rPr>
              <a:t> and </a:t>
            </a:r>
            <a:r>
              <a:rPr lang="en-US" altLang="en-US">
                <a:latin typeface="Courier" charset="0"/>
              </a:rPr>
              <a:t>grep</a:t>
            </a:r>
            <a:r>
              <a:rPr lang="en-US" altLang="en-US">
                <a:latin typeface="Times" panose="02020603050405020304" pitchFamily="18" charset="0"/>
              </a:rPr>
              <a:t>. The programmer assumes that the standard system versions of these scripts would be called. But they are specified just by their filename. To locate the actual program, the shell will search each directory named in the </a:t>
            </a:r>
            <a:r>
              <a:rPr lang="en-US" altLang="en-US">
                <a:latin typeface="Courier" charset="0"/>
              </a:rPr>
              <a:t>PATH</a:t>
            </a:r>
            <a:r>
              <a:rPr lang="en-US" altLang="en-US">
                <a:latin typeface="Times" panose="02020603050405020304" pitchFamily="18" charset="0"/>
              </a:rPr>
              <a:t> variable for a file with the desired name. The attacker simply has to redefine the </a:t>
            </a:r>
            <a:r>
              <a:rPr lang="en-US" altLang="en-US">
                <a:latin typeface="Courier" charset="0"/>
              </a:rPr>
              <a:t>PATH</a:t>
            </a:r>
            <a:r>
              <a:rPr lang="en-US" altLang="en-US">
                <a:latin typeface="Times" panose="02020603050405020304" pitchFamily="18" charset="0"/>
              </a:rPr>
              <a:t> variable to include a directory they control, which contains a program called </a:t>
            </a:r>
            <a:r>
              <a:rPr lang="en-US" altLang="en-US">
                <a:latin typeface="Courier" charset="0"/>
              </a:rPr>
              <a:t>grep</a:t>
            </a:r>
            <a:r>
              <a:rPr lang="en-US" altLang="en-US">
                <a:latin typeface="Times" panose="02020603050405020304" pitchFamily="18" charset="0"/>
              </a:rPr>
              <a:t> for example. Then when this script is run, the attacker’s </a:t>
            </a:r>
            <a:r>
              <a:rPr lang="en-US" altLang="en-US">
                <a:latin typeface="Courier" charset="0"/>
              </a:rPr>
              <a:t>grep</a:t>
            </a:r>
            <a:r>
              <a:rPr lang="en-US" altLang="en-US">
                <a:latin typeface="Times" panose="02020603050405020304" pitchFamily="18" charset="0"/>
              </a:rPr>
              <a:t> program is called instead of the standard system version. This program can do whatever the attacker desires, with the privileges granted to the shell script. To address this vulnerability the script could be rewritten to use absolute names for each program. Alternatively the </a:t>
            </a:r>
            <a:r>
              <a:rPr lang="en-US" altLang="en-US">
                <a:latin typeface="Courier" charset="0"/>
              </a:rPr>
              <a:t>PATH</a:t>
            </a:r>
            <a:r>
              <a:rPr lang="en-US" altLang="en-US">
                <a:latin typeface="Times" panose="02020603050405020304" pitchFamily="18" charset="0"/>
              </a:rPr>
              <a:t> variable could be reset to a known default value by the script, as shown in Figure 12.6b. Unfortunately this version of the script is still vulnerable, this time due to the </a:t>
            </a:r>
            <a:r>
              <a:rPr lang="en-US" altLang="en-US">
                <a:latin typeface="Courier" charset="0"/>
              </a:rPr>
              <a:t>IFS</a:t>
            </a:r>
            <a:r>
              <a:rPr lang="en-US" altLang="en-US">
                <a:latin typeface="Times" panose="02020603050405020304" pitchFamily="18" charset="0"/>
              </a:rPr>
              <a:t> variable. This is used to separate the words that form a line of commands. Consider the effect of using the </a:t>
            </a:r>
            <a:r>
              <a:rPr lang="en-US" altLang="en-US">
                <a:latin typeface="Courier" charset="0"/>
              </a:rPr>
              <a:t>‘=’</a:t>
            </a:r>
            <a:r>
              <a:rPr lang="en-US" altLang="en-US">
                <a:latin typeface="Times" panose="02020603050405020304" pitchFamily="18" charset="0"/>
              </a:rPr>
              <a:t> character. Then the assignment of a new value to the </a:t>
            </a:r>
            <a:r>
              <a:rPr lang="en-US" altLang="en-US">
                <a:latin typeface="Courier" charset="0"/>
              </a:rPr>
              <a:t>PATH</a:t>
            </a:r>
            <a:r>
              <a:rPr lang="en-US" altLang="en-US">
                <a:latin typeface="Times" panose="02020603050405020304" pitchFamily="18" charset="0"/>
              </a:rPr>
              <a:t> variable is now interpreted as a command to execute the program </a:t>
            </a:r>
            <a:r>
              <a:rPr lang="en-US" altLang="en-US">
                <a:latin typeface="Courier" charset="0"/>
              </a:rPr>
              <a:t>PATH</a:t>
            </a:r>
            <a:r>
              <a:rPr lang="en-US" altLang="en-US">
                <a:latin typeface="Times" panose="02020603050405020304" pitchFamily="18" charset="0"/>
              </a:rPr>
              <a:t> with the list of directories as its argument. If the attacker has also changed the </a:t>
            </a:r>
            <a:r>
              <a:rPr lang="en-US" altLang="en-US">
                <a:latin typeface="Courier" charset="0"/>
              </a:rPr>
              <a:t>PATH</a:t>
            </a:r>
            <a:r>
              <a:rPr lang="en-US" altLang="en-US">
                <a:latin typeface="Times" panose="02020603050405020304" pitchFamily="18" charset="0"/>
              </a:rPr>
              <a:t> variable to include a directory with an attack program </a:t>
            </a:r>
            <a:r>
              <a:rPr lang="en-US" altLang="en-US">
                <a:latin typeface="Courier" charset="0"/>
              </a:rPr>
              <a:t>PATH</a:t>
            </a:r>
            <a:r>
              <a:rPr lang="en-US" altLang="en-US">
                <a:latin typeface="Times" panose="02020603050405020304" pitchFamily="18" charset="0"/>
              </a:rPr>
              <a:t>, then this will be executed when the script is run. It is essentially impossible to prevent this form of attack on a shell script.</a:t>
            </a:r>
          </a:p>
        </p:txBody>
      </p:sp>
    </p:spTree>
    <p:extLst>
      <p:ext uri="{BB962C8B-B14F-4D97-AF65-F5344CB8AC3E}">
        <p14:creationId xmlns:p14="http://schemas.microsoft.com/office/powerpoint/2010/main" val="4045279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D018E4-547F-4604-BF04-14A2D15CF55A}" type="slidenum">
              <a:rPr lang="en-AU" altLang="en-US"/>
              <a:pPr>
                <a:spcBef>
                  <a:spcPct val="0"/>
                </a:spcBef>
              </a:pPr>
              <a:t>36</a:t>
            </a:fld>
            <a:endParaRPr lang="en-AU"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Even if a compiled program is run with elevated privileges, it may still be vulnerable to attacks using environment variables. If this program executes another program, depending on the command used to do this, the </a:t>
            </a:r>
            <a:r>
              <a:rPr lang="en-US" altLang="en-US">
                <a:latin typeface="Courier" charset="0"/>
              </a:rPr>
              <a:t>PATH</a:t>
            </a:r>
            <a:r>
              <a:rPr lang="en-US" altLang="en-US">
                <a:latin typeface="Times" panose="02020603050405020304" pitchFamily="18" charset="0"/>
              </a:rPr>
              <a:t> variable may still be used to locate it. Hence any such program must reset this to known safe values first. This at least can be done securely. However there are other vulnerabilities. Essentially all programs on modern computer systems use functionality provided by standard library routines. A dynamically linked executable program does not include the code for common libraries, but rather has a table of names and pointers to all the functions its needs to use. When the program is loaded into a process, this table is resolved to reference a single copy of any library, shared by all processes needing it on the system. However there are reasons why different programs may need different versions of libraries with the same name. Hence there is usually a way to specify a list of directories to search for dynamically loaded libraries. On many Unix systems this is the </a:t>
            </a:r>
            <a:r>
              <a:rPr lang="en-US" altLang="en-US">
                <a:latin typeface="Courier" charset="0"/>
              </a:rPr>
              <a:t>LD_LIBRARY_PATH</a:t>
            </a:r>
            <a:r>
              <a:rPr lang="en-US" altLang="en-US">
                <a:latin typeface="Times" panose="02020603050405020304" pitchFamily="18" charset="0"/>
              </a:rPr>
              <a:t> environment variable. Its use does provide a degree of flexibility with the use of dynamic libraries. But again it also introduces a possible mechanism for attack. The attacker constructs a custom version of a common library, placing the desired attack code in a function known to be used by some target, dynamically linked, program. Then by setting the </a:t>
            </a:r>
            <a:r>
              <a:rPr lang="en-US" altLang="en-US">
                <a:latin typeface="Courier" charset="0"/>
              </a:rPr>
              <a:t>LD_LIBRARY_PATH</a:t>
            </a:r>
            <a:r>
              <a:rPr lang="en-US" altLang="en-US">
                <a:latin typeface="Times" panose="02020603050405020304" pitchFamily="18" charset="0"/>
              </a:rPr>
              <a:t> variable to reference their copy of the library first, when the target program is run and calls the known function, the attackers code is run with the privileges of the target program. To prevent this type of attack a statically linked executable can be used, at a cost in memory efficiency. Alternatively, again some modern operating systems block the use of this environment variable when the program executed runs with different privileges.</a:t>
            </a:r>
          </a:p>
        </p:txBody>
      </p:sp>
    </p:spTree>
    <p:extLst>
      <p:ext uri="{BB962C8B-B14F-4D97-AF65-F5344CB8AC3E}">
        <p14:creationId xmlns:p14="http://schemas.microsoft.com/office/powerpoint/2010/main" val="2634802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CE09167-9E30-4806-8032-A00C1253245A}" type="slidenum">
              <a:rPr lang="en-AU" altLang="en-US"/>
              <a:pPr>
                <a:spcBef>
                  <a:spcPct val="0"/>
                </a:spcBef>
              </a:pPr>
              <a:t>37</a:t>
            </a:fld>
            <a:endParaRPr lang="en-AU" alt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 consequence of many program flaws we discuss is that the attacker is able to execute code with the privileges and access rights of the compromised program or service. If these privileges are greater than those available already to the attacker, then this results in a </a:t>
            </a:r>
            <a:r>
              <a:rPr lang="en-US" altLang="en-US" b="1">
                <a:latin typeface="Times" panose="02020603050405020304" pitchFamily="18" charset="0"/>
              </a:rPr>
              <a:t>privilege escalation</a:t>
            </a:r>
            <a:r>
              <a:rPr lang="en-US" altLang="en-US">
                <a:latin typeface="Times" panose="02020603050405020304" pitchFamily="18" charset="0"/>
              </a:rPr>
              <a:t>, an important stage in the overall attack process. Using the higher levels of privilege may enable the attacker to make changes to the system, ensuring future use of these greater capabilities. This strongly suggests that programs should execute with the least amount of privileges needed to complete their function. This is know as the principle of </a:t>
            </a:r>
            <a:r>
              <a:rPr lang="en-US" altLang="en-US" b="1">
                <a:latin typeface="Times" panose="02020603050405020304" pitchFamily="18" charset="0"/>
              </a:rPr>
              <a:t>least privilege</a:t>
            </a:r>
            <a:r>
              <a:rPr lang="en-US" altLang="en-US">
                <a:latin typeface="Times" panose="02020603050405020304" pitchFamily="18" charset="0"/>
              </a:rPr>
              <a:t>, and is widely recognized as a desirable characteristic in a secure program. Whenever a privileged program runs, care must be taken to carefully determine the appropriate user and group privileges required. One key decision involves whether to grant additional user or just group privileges. Where appropriate the latter is generally preferred. Another concern is ensuring that any privileged program can modify only those files and directories necessary. A common deficiency found with many privileged programs is for them to have ownership of all associated files and directories. If the program is then compromised, the attacker then has greater scope for modifying and corrupting the system. This violates the principle of least privilege. Care is needed to assign the correct file and group ownerships to files and directories managed by privileged programs. Problems with this can manifest particularly when a program is moved from one computer system to another, or when there is a major upgrade of the operating system. </a:t>
            </a:r>
          </a:p>
        </p:txBody>
      </p:sp>
    </p:spTree>
    <p:extLst>
      <p:ext uri="{BB962C8B-B14F-4D97-AF65-F5344CB8AC3E}">
        <p14:creationId xmlns:p14="http://schemas.microsoft.com/office/powerpoint/2010/main" val="33004644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B67A48D-8814-4DB1-9D54-479A6B8D31C0}" type="slidenum">
              <a:rPr lang="en-AU" altLang="en-US"/>
              <a:pPr>
                <a:spcBef>
                  <a:spcPct val="0"/>
                </a:spcBef>
              </a:pPr>
              <a:t>38</a:t>
            </a:fld>
            <a:endParaRPr lang="en-AU" alt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 greatest concerns with privileged programs occur when they execute with root or administrator privileges. These provide very high levels of access and control to the system. Acquiring such privileges is typically the major goal of an attacker on any system. Hence any such privileged program is a key target. The principle of least privilege indicates that such access short be granted as rarely, and as briefly as possible. Unfortunately, due to the design of operating systems, and the need to restrict access to underlying system resources, there are circumstances when such access must be granted. Classic examples include the programs used to allow a user to login or to change passwords on a system, which are only accessible to the root user. Another common example is network servers that need to bind to a privileged service port. Traditionally, such server programs executed with root privileges for the entire time they were running, but they only need root privileges to initially bind to the desired privileged port. Once this is done they could reduce their user privileges to those of another special system user. Any subsequent attack is then much less significant. Good defensive program design requires that large complex programs be partitioned into smaller modules, each granted the privileges they require, only for as long as they need them. This form of program modularization provides a greater degree of isolation between the components, reducing the consequences of a security breach in one component. In addition, being smaller, each component module is easier to test and verify. Ideally the few components that require elevated privileges can be kept small, and subject to much greater scrutiny than the remainder of the program. </a:t>
            </a:r>
            <a:endParaRPr lang="en-US" altLang="en-US"/>
          </a:p>
        </p:txBody>
      </p:sp>
    </p:spTree>
    <p:extLst>
      <p:ext uri="{BB962C8B-B14F-4D97-AF65-F5344CB8AC3E}">
        <p14:creationId xmlns:p14="http://schemas.microsoft.com/office/powerpoint/2010/main" val="38770376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C2A3FB1-64DD-4CD6-A46D-F801B1EF959F}" type="slidenum">
              <a:rPr lang="en-AU" altLang="en-US"/>
              <a:pPr>
                <a:spcBef>
                  <a:spcPct val="0"/>
                </a:spcBef>
              </a:pPr>
              <a:t>39</a:t>
            </a:fld>
            <a:endParaRPr lang="en-AU" alt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Except on very small, embedded systems, no computer program contains all of the code it needs to execute. Rather, programs make calls to the operating system to access the system’s resources, and to standard library functions to perform common operations. When using such functions, programmers commonly make assumptions about how they actually operate. Most of the time they do indeed seem to perform as expected. However there are circumstances when the assumptions a programmer makes about these functions are not correct. The result can be that the program does not perform as expected. Part of the reason for this is that programmers tend to focus on the particular program they are developing, and view it in isolation. However on most systems this program will simply be one of many running, and sharing the available system resources. The operating system and library functions attempt to manage their resources in a manner that provides the best performance to all the programs running on the system. This does result in requests for services being buffered, re-sequenced, or otherwise modified to optimize system use. Unfortunately there are times when these optimizations conflict with the goals of the program. Unless the programmer is aware of these interactions, and explicitly codes for them, the resulting program may not perform as expected.</a:t>
            </a:r>
          </a:p>
        </p:txBody>
      </p:sp>
    </p:spTree>
    <p:extLst>
      <p:ext uri="{BB962C8B-B14F-4D97-AF65-F5344CB8AC3E}">
        <p14:creationId xmlns:p14="http://schemas.microsoft.com/office/powerpoint/2010/main" val="23614684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2DB876E-00CE-4539-B592-55FB112050D6}" type="slidenum">
              <a:rPr lang="en-AU" altLang="en-US"/>
              <a:pPr>
                <a:spcBef>
                  <a:spcPct val="0"/>
                </a:spcBef>
              </a:pPr>
              <a:t>40</a:t>
            </a:fld>
            <a:endParaRPr lang="en-AU" alt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An excellent illustration of these issues is given by Venema in his discussion of the design of a secure file shredding program [VENE06]. The problem is how to securely delete a file so that its contents cannot subsequently be recovered. Just using the standard file delete utility or system call does not suffice, as this simply removes the linkage between the file’s name and its contents. The contents still exist on the disk until those blocks are eventually reused in another file. Even when blocks from a deleted file are reused, the data in the files can still be recovered because not all traces of the previous bit values are removed. Consequently, the standard recommendation is to repeatedly overwrite the data contents with several distinct bit patterns to minimize the likelihood of the original data being recovered. So a secure file shredding program might perhaps implement the algorithm like that shown in Figure 12.7a. However when an “obvious” implementation of this algorithm is tried, the file contents were still recoverable afterwards. Venema details a number of flaws in this algorithm that means the program does not behave as expected. These flaws relate to incorrect assumptions about how the relevant system functions operate (see text). With suggested changes, the algorithm for a secure file shredding program changes to that shown in Figure 12.7b. This is certainly more likely to achieve the desired result, however examined more closely there are yet more concerns. All of this indicates that writing a really secure file shredding program is actually an extremely difficult exercise. There are so many layers of code involved, each of which makes assumptions about what the program really requires in order to provide the best performance. Venema concludes his discussion by noting that in fact the program may actually be solving the wrong problem. This is a critical issue for the secure programmer, to try and ensure they are actually solving the right problem.</a:t>
            </a:r>
          </a:p>
        </p:txBody>
      </p:sp>
    </p:spTree>
    <p:extLst>
      <p:ext uri="{BB962C8B-B14F-4D97-AF65-F5344CB8AC3E}">
        <p14:creationId xmlns:p14="http://schemas.microsoft.com/office/powerpoint/2010/main" val="1591626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6BFAC9F-CE91-4F34-9096-87CA09C3B584}" type="slidenum">
              <a:rPr lang="en-AU" altLang="en-US"/>
              <a:pPr>
                <a:spcBef>
                  <a:spcPct val="0"/>
                </a:spcBef>
              </a:pPr>
              <a:t>41</a:t>
            </a:fld>
            <a:endParaRPr lang="en-AU"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There are circumstances in which multiple programs need to access a common system resource, often a file containing data created and manipulated by multiple programs. Examples include mail client and mail delivery programs sharing access to a user’s mailbox file, or various users of a web CGI script updating the same file used to save submitted form values. This is a variant of the issue of synchronizing access to shared memory we discuss in Section 12.3. As in that case, the solution is to use an appropriate synchronization mechanism to serialize the accesses to prevent errors. The most common technique is to acquire a </a:t>
            </a:r>
            <a:r>
              <a:rPr lang="en-US" altLang="en-US" b="1">
                <a:latin typeface="Times" panose="02020603050405020304" pitchFamily="18" charset="0"/>
              </a:rPr>
              <a:t>lock</a:t>
            </a:r>
            <a:r>
              <a:rPr lang="en-US" altLang="en-US">
                <a:latin typeface="Times" panose="02020603050405020304" pitchFamily="18" charset="0"/>
              </a:rPr>
              <a:t> on the shared file, ensuring that each process has appropriate access in turn. There are several methods used for this, depending on the operating system in use.</a:t>
            </a:r>
          </a:p>
          <a:p>
            <a:pPr eaLnBrk="1" hangingPunct="1"/>
            <a:r>
              <a:rPr lang="en-US" altLang="en-US">
                <a:latin typeface="Times" panose="02020603050405020304" pitchFamily="18" charset="0"/>
              </a:rPr>
              <a:t>The oldest and most general technique is to use a </a:t>
            </a:r>
            <a:r>
              <a:rPr lang="en-US" altLang="en-US" b="1">
                <a:latin typeface="Times" panose="02020603050405020304" pitchFamily="18" charset="0"/>
              </a:rPr>
              <a:t>lockfile</a:t>
            </a:r>
            <a:r>
              <a:rPr lang="en-US" altLang="en-US">
                <a:latin typeface="Times" panose="02020603050405020304" pitchFamily="18" charset="0"/>
              </a:rPr>
              <a:t>. A process must create and own the lockfile in order to gain access to the shared resource. Any other process that detects the existence of a lockfile must wait until it is removed before creating its own to gain access. Issues - is purely advisory, process of checking the lockfile does not exist, and then creating the lockfile must be executed as an </a:t>
            </a:r>
            <a:r>
              <a:rPr lang="en-US" altLang="en-US" b="1">
                <a:latin typeface="Times" panose="02020603050405020304" pitchFamily="18" charset="0"/>
              </a:rPr>
              <a:t>atomic operation</a:t>
            </a:r>
            <a:r>
              <a:rPr lang="en-US" altLang="en-US">
                <a:latin typeface="Times" panose="02020603050405020304" pitchFamily="18" charset="0"/>
              </a:rPr>
              <a:t>, without the possibility of interruption. There are more modern and alternative locking mechanisms available for files. These may also be advisory, or can also be mandatory, where the operating system guarantees that a locked file cannot be accessed inappropriately. The issue with mandatory locks is the mechanisms for removing them should the locking process crash or otherwise not release the lock. These mechanisms are also implanted differently on different operating systems. Note there are subtle complexities related to locking files using different types of read or write access. Suitable program or function references should be consulted on the correct use of these features. Hence care is needed to ensure the mechanism used</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9246914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ABC1FCF-66CA-4AFE-B9E3-ED0C1A3651BC}" type="slidenum">
              <a:rPr lang="en-AU" altLang="en-US"/>
              <a:pPr>
                <a:spcBef>
                  <a:spcPct val="0"/>
                </a:spcBef>
              </a:pPr>
              <a:t>42</a:t>
            </a:fld>
            <a:endParaRPr lang="en-AU" alt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Many programs need to store a temporary copy of data while they are processing it. A temporary file is commonly used for this purpose. Most operating systems provide well-known locations for placing temporary files, and standard functions for naming and creating them. The critical issue with temporary files is that they are unique, and not accessed by other processes. In a sense this is the opposite problem to managing access to a shared file. The most common technique for constructing a temporary file name is to include a value such as the process identifier. As each process has its own distinct identifier, this should guarantee a unique name. The program generally checks to ensure the file does not already exist, perhaps left over from a crash of a previous program, and then creates the file. This approach suffices from the perspective of reliability, but not with respect to security. Again the problem is that an attacker does not “play by the rules”. They could attempt to guess the temporary filename a privileged program will use, and then attempt to create their own version in the interval between the program checking the file does not exist, and subsequently creating it. This is another example of a race condition, very similar to that when two processes race to access a shared file when locks are not used. cf tripwire bug discussed in text. Secure temporary file creation and use preferably requires the use of a random temporary filename. The creation of this file should be done using an atomic system primitive, as is done with the creation of a lockfile. The standard C function “mkstemp()” is suitable, however the older functions “tmpfile()”, “tmpnam()”,  and  “tempnam()” are all insecure unless used with care. It is also important that the minimum access is given to this file. When the file is created in a shared temporary directory, the access permissions should specify that only the owner of the temporary file, or the system administrators, should be able to remove it. </a:t>
            </a:r>
          </a:p>
        </p:txBody>
      </p:sp>
    </p:spTree>
    <p:extLst>
      <p:ext uri="{BB962C8B-B14F-4D97-AF65-F5344CB8AC3E}">
        <p14:creationId xmlns:p14="http://schemas.microsoft.com/office/powerpoint/2010/main" val="5677493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E6EC435-CA9C-4B61-BB7C-F10BA4FD0A87}" type="slidenum">
              <a:rPr lang="en-AU" altLang="en-US"/>
              <a:pPr>
                <a:spcBef>
                  <a:spcPct val="0"/>
                </a:spcBef>
              </a:pPr>
              <a:t>43</a:t>
            </a:fld>
            <a:endParaRPr lang="en-AU" alt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As well as using functionality provided by the operating system and standard library functions, programs may also use functionality and services provided by other programs. Unless care is taken with this interaction, failure to identify assumptions about the size and interpretation of data flowing between different programs can result in security vulnerabilities. The flow of information between programs can be viewed as output from one forming input to the other. Such issues are of particular concern when the program being used was not originally written with this wider use as a design issue, and hence did not adequately identify all the security concerns that might arise. This occurs particularly with the current trend of providing web interfaces to programs that users previously ran directly on the server system. A further concern relates to protecting the confidentiality and integrity of the data flowing between various programs. When these programs are running on the same computer system, appropriate use of system functionality such as pipes or temporary files provide this protection. If the programs run on different systems, linked by a suitable network connection, then appropriate security mechanisms should be employed by these network connections. Alternatives include the use of IP Security (IPSec), Transport Layer/Secure Socket Layer Security (TLS/SSL), or Secure Shell (SSH) connections. Suitable detection and handling of exceptions and errors generated by program interaction is also important from a security perspective. When one process invokes another program as a child process, it should ensure that program terminates correctly, and accept its exit status. It must also catch and process signals resulting from interaction with other programs and the operating system.</a:t>
            </a:r>
          </a:p>
        </p:txBody>
      </p:sp>
    </p:spTree>
    <p:extLst>
      <p:ext uri="{BB962C8B-B14F-4D97-AF65-F5344CB8AC3E}">
        <p14:creationId xmlns:p14="http://schemas.microsoft.com/office/powerpoint/2010/main" val="33293530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EF5B6A3-25DC-45F4-BAB1-2A317B38543F}" type="slidenum">
              <a:rPr lang="en-AU" altLang="en-US"/>
              <a:pPr>
                <a:spcBef>
                  <a:spcPct val="0"/>
                </a:spcBef>
              </a:pPr>
              <a:t>44</a:t>
            </a:fld>
            <a:endParaRPr lang="en-AU"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panose="02020603050405020304" pitchFamily="18" charset="0"/>
              </a:rPr>
              <a:t>The final component of our model of computer programs is the generation of output as a result of the processing of input and other interactions. This output might be stored for future use, in files or a database for example, transmitted over a network connection, or be destined for display to some user. As with program input, the output data may be classified as binary or textual. It is important from a program security perspective that the output really does conform to the expected form and interpretation. If directed to a user, it will be interpreted and displayed by some appropriate program or device. If this output includes unexpected content, then anomalous behavior may result, with detrimental affects on the user. A critical issue here is the assumption of common origin. If a user is interacting with a program, the assumption is that all output seen was created by, or at least validated by, that program. Consider the examples detailed in the text - VT100 escape sequences, X window session hijack, and XSS guestbook attacks. Another issue here is that different character sets allow different encodings of “meta-characters”, which may change the interpretation of what is valid output. If the display program or device is unaware of the specific encoding used, it might make a different assumption to the program, possibly subverting the filtering. Hence it is important for the program to either explicitly specify encoding where possible c.f. Content-Type HTTP response header, or otherwise ensure it conforms to the display expectations, to avoid this. Note in these examples of security flaws that result from program output, the target of compromise was not the program generating the output, but rather the program or device used to display the output. </a:t>
            </a:r>
          </a:p>
        </p:txBody>
      </p:sp>
    </p:spTree>
    <p:extLst>
      <p:ext uri="{BB962C8B-B14F-4D97-AF65-F5344CB8AC3E}">
        <p14:creationId xmlns:p14="http://schemas.microsoft.com/office/powerpoint/2010/main" val="18992819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21BB602-7CD3-4A71-9D0A-F5F11FEE850C}" type="slidenum">
              <a:rPr lang="en-AU" altLang="en-US"/>
              <a:pPr>
                <a:spcBef>
                  <a:spcPct val="0"/>
                </a:spcBef>
              </a:pPr>
              <a:t>45</a:t>
            </a:fld>
            <a:endParaRPr lang="en-AU" altLang="en-US"/>
          </a:p>
        </p:txBody>
      </p:sp>
      <p:sp>
        <p:nvSpPr>
          <p:cNvPr id="83971" name="Rectangle 4"/>
          <p:cNvSpPr>
            <a:spLocks noGrp="1" noRot="1" noChangeAspect="1" noChangeArrowheads="1" noTextEdit="1"/>
          </p:cNvSpPr>
          <p:nvPr>
            <p:ph type="sldImg"/>
          </p:nvPr>
        </p:nvSpPr>
        <p:spPr>
          <a:ln/>
        </p:spPr>
      </p:sp>
      <p:sp>
        <p:nvSpPr>
          <p:cNvPr id="83972" name="Rectangle 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Chapter 12 summary.</a:t>
            </a:r>
          </a:p>
        </p:txBody>
      </p:sp>
    </p:spTree>
    <p:extLst>
      <p:ext uri="{BB962C8B-B14F-4D97-AF65-F5344CB8AC3E}">
        <p14:creationId xmlns:p14="http://schemas.microsoft.com/office/powerpoint/2010/main" val="10162291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4020876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1049194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1218843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FBD3F9-C45A-4BAC-A1FC-7FED02988F27}"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522509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FBD3F9-C45A-4BAC-A1FC-7FED02988F27}" type="datetimeFigureOut">
              <a:rPr lang="en-US" smtClean="0"/>
              <a:pPr/>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91945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FBD3F9-C45A-4BAC-A1FC-7FED02988F27}" type="datetimeFigureOut">
              <a:rPr lang="en-US" smtClean="0"/>
              <a:pPr/>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3157349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FBD3F9-C45A-4BAC-A1FC-7FED02988F27}" type="datetimeFigureOut">
              <a:rPr lang="en-US" smtClean="0"/>
              <a:pPr/>
              <a:t>6/1/2026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3156631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FBD3F9-C45A-4BAC-A1FC-7FED02988F27}"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907199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FBD3F9-C45A-4BAC-A1FC-7FED02988F27}"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2627701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FBD3F9-C45A-4BAC-A1FC-7FED02988F27}"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2953638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1235922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3407867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10600183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FBD3F9-C45A-4BAC-A1FC-7FED02988F27}" type="datetimeFigureOut">
              <a:rPr lang="en-US" smtClean="0"/>
              <a:pPr/>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516176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FBD3F9-C45A-4BAC-A1FC-7FED02988F27}" type="datetimeFigureOut">
              <a:rPr lang="en-US" smtClean="0"/>
              <a:pPr/>
              <a:t>6/1/2026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40849484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38698462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2FBD3F9-C45A-4BAC-A1FC-7FED02988F27}"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89BBECA-815F-4C4A-B0D2-54B81CBD3FC1}" type="slidenum">
              <a:rPr lang="en-US" smtClean="0"/>
              <a:pPr/>
              <a:t>‹#›</a:t>
            </a:fld>
            <a:endParaRPr lang="en-US"/>
          </a:p>
        </p:txBody>
      </p:sp>
    </p:spTree>
    <p:extLst>
      <p:ext uri="{BB962C8B-B14F-4D97-AF65-F5344CB8AC3E}">
        <p14:creationId xmlns:p14="http://schemas.microsoft.com/office/powerpoint/2010/main" val="145532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2FBD3F9-C45A-4BAC-A1FC-7FED02988F27}" type="datetimeFigureOut">
              <a:rPr lang="en-US" smtClean="0"/>
              <a:pPr/>
              <a:t>6/1/2026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89BBECA-815F-4C4A-B0D2-54B81CBD3FC1}" type="slidenum">
              <a:rPr lang="en-US" smtClean="0"/>
              <a:pPr/>
              <a:t>‹#›</a:t>
            </a:fld>
            <a:endParaRPr lang="en-US"/>
          </a:p>
        </p:txBody>
      </p:sp>
    </p:spTree>
    <p:extLst>
      <p:ext uri="{BB962C8B-B14F-4D97-AF65-F5344CB8AC3E}">
        <p14:creationId xmlns:p14="http://schemas.microsoft.com/office/powerpoint/2010/main" val="323689214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msdn.microsoft.com/en-us/library/aa973813.aspx"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br>
              <a:rPr lang="en-US" dirty="0"/>
            </a:br>
            <a:br>
              <a:rPr lang="en-US" dirty="0"/>
            </a:br>
            <a:br>
              <a:rPr lang="en-US" dirty="0"/>
            </a:br>
            <a:br>
              <a:rPr lang="en-US" dirty="0"/>
            </a:br>
            <a:br>
              <a:rPr lang="en-US" dirty="0"/>
            </a:br>
            <a:r>
              <a:rPr lang="en-US" dirty="0"/>
              <a:t>Secure Coding</a:t>
            </a:r>
            <a:endParaRPr lang="en-US" sz="2800" dirty="0"/>
          </a:p>
        </p:txBody>
      </p:sp>
      <p:sp>
        <p:nvSpPr>
          <p:cNvPr id="3" name="Subtitle 2"/>
          <p:cNvSpPr>
            <a:spLocks noGrp="1"/>
          </p:cNvSpPr>
          <p:nvPr>
            <p:ph type="subTitle" idx="1"/>
          </p:nvPr>
        </p:nvSpPr>
        <p:spPr/>
        <p:txBody>
          <a:bodyPr>
            <a:normAutofit/>
          </a:bodyPr>
          <a:lstStyle/>
          <a:p>
            <a:pPr lvl="8" algn="l"/>
            <a:r>
              <a:rPr lang="en-US" dirty="0">
                <a:latin typeface="Arial" panose="020B0604020202020204" pitchFamily="34" charset="0"/>
                <a:cs typeface="Arial" panose="020B0604020202020204" pitchFamily="34" charset="0"/>
              </a:rPr>
              <a:t>									 </a:t>
            </a:r>
          </a:p>
        </p:txBody>
      </p:sp>
      <p:sp>
        <p:nvSpPr>
          <p:cNvPr id="5" name="Footer Placeholder 4"/>
          <p:cNvSpPr>
            <a:spLocks noGrp="1"/>
          </p:cNvSpPr>
          <p:nvPr>
            <p:ph type="ftr" sz="quarter" idx="11"/>
          </p:nvPr>
        </p:nvSpPr>
        <p:spPr/>
        <p:txBody>
          <a:bodyPr/>
          <a:lstStyle/>
          <a:p>
            <a:r>
              <a:rPr lang="en-US"/>
              <a:t>Lahore Garrison University</a:t>
            </a:r>
          </a:p>
        </p:txBody>
      </p:sp>
      <p:sp>
        <p:nvSpPr>
          <p:cNvPr id="7" name="Slide Number Placeholder 6">
            <a:extLst>
              <a:ext uri="{FF2B5EF4-FFF2-40B4-BE49-F238E27FC236}">
                <a16:creationId xmlns:a16="http://schemas.microsoft.com/office/drawing/2014/main" id="{E37AC1C5-6A74-442E-A704-368E080E639D}"/>
              </a:ext>
            </a:extLst>
          </p:cNvPr>
          <p:cNvSpPr>
            <a:spLocks noGrp="1"/>
          </p:cNvSpPr>
          <p:nvPr>
            <p:ph type="sldNum" sz="quarter" idx="12"/>
          </p:nvPr>
        </p:nvSpPr>
        <p:spPr/>
        <p:txBody>
          <a:bodyPr/>
          <a:lstStyle/>
          <a:p>
            <a:fld id="{8E9ED8F5-F0EE-4F30-BF79-1CB5FF8C36DA}" type="slidenum">
              <a:rPr lang="en-US" smtClean="0"/>
              <a:pPr/>
              <a:t>1</a:t>
            </a:fld>
            <a:endParaRPr lang="en-US"/>
          </a:p>
        </p:txBody>
      </p:sp>
    </p:spTree>
    <p:extLst>
      <p:ext uri="{BB962C8B-B14F-4D97-AF65-F5344CB8AC3E}">
        <p14:creationId xmlns:p14="http://schemas.microsoft.com/office/powerpoint/2010/main" val="2753082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Today’s Lecture</a:t>
            </a:r>
            <a:endParaRPr lang="en-AU" altLang="en-US" b="1" dirty="0">
              <a:latin typeface="Times New Roman" panose="02020603050405020304" pitchFamily="18" charset="0"/>
              <a:cs typeface="Times New Roman" panose="02020603050405020304" pitchFamily="18" charset="0"/>
            </a:endParaRPr>
          </a:p>
        </p:txBody>
      </p:sp>
      <p:sp>
        <p:nvSpPr>
          <p:cNvPr id="82947" name="Rectangle 3"/>
          <p:cNvSpPr>
            <a:spLocks noGrp="1" noChangeArrowheads="1"/>
          </p:cNvSpPr>
          <p:nvPr>
            <p:ph idx="1"/>
          </p:nvPr>
        </p:nvSpPr>
        <p:spPr>
          <a:xfrm>
            <a:off x="1154954" y="2524538"/>
            <a:ext cx="8229600" cy="4724400"/>
          </a:xfrm>
        </p:spPr>
        <p:txBody>
          <a:bodyPr>
            <a:normAutofit/>
          </a:bodyPr>
          <a:lstStyle/>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software security issues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Handling program input safely</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size, interpretation, injection, XSS, fuzzing</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Writing safe program code</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algorithm, machine language, data, memory</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Interacting with O/S and other programs</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ENV, least privilege, </a:t>
            </a:r>
            <a:r>
              <a:rPr lang="en-US" altLang="en-US" sz="2400" dirty="0" err="1">
                <a:solidFill>
                  <a:schemeClr val="tx1"/>
                </a:solidFill>
                <a:latin typeface="Times New Roman" panose="02020603050405020304" pitchFamily="18" charset="0"/>
                <a:cs typeface="Times New Roman" panose="02020603050405020304" pitchFamily="18" charset="0"/>
              </a:rPr>
              <a:t>syscalls</a:t>
            </a:r>
            <a:r>
              <a:rPr lang="en-US" altLang="en-US" sz="2400" dirty="0">
                <a:solidFill>
                  <a:schemeClr val="tx1"/>
                </a:solidFill>
                <a:latin typeface="Times New Roman" panose="02020603050405020304" pitchFamily="18" charset="0"/>
                <a:cs typeface="Times New Roman" panose="02020603050405020304" pitchFamily="18" charset="0"/>
              </a:rPr>
              <a:t> / </a:t>
            </a:r>
            <a:r>
              <a:rPr lang="en-US" altLang="en-US" sz="2400" dirty="0" err="1">
                <a:solidFill>
                  <a:schemeClr val="tx1"/>
                </a:solidFill>
                <a:latin typeface="Times New Roman" panose="02020603050405020304" pitchFamily="18" charset="0"/>
                <a:cs typeface="Times New Roman" panose="02020603050405020304" pitchFamily="18" charset="0"/>
              </a:rPr>
              <a:t>std</a:t>
            </a:r>
            <a:r>
              <a:rPr lang="en-US" altLang="en-US" sz="2400" dirty="0">
                <a:solidFill>
                  <a:schemeClr val="tx1"/>
                </a:solidFill>
                <a:latin typeface="Times New Roman" panose="02020603050405020304" pitchFamily="18" charset="0"/>
                <a:cs typeface="Times New Roman" panose="02020603050405020304" pitchFamily="18" charset="0"/>
              </a:rPr>
              <a:t> libs, file lock, temp files, other programs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Handling program output</a:t>
            </a:r>
            <a:endParaRPr lang="en-AU"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409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kumimoji="1" lang="en-GB" altLang="en-US" b="1" dirty="0">
                <a:solidFill>
                  <a:schemeClr val="bg1"/>
                </a:solidFill>
                <a:latin typeface="Times New Roman" panose="02020603050405020304" pitchFamily="18" charset="0"/>
                <a:cs typeface="Times New Roman" panose="02020603050405020304" pitchFamily="18" charset="0"/>
              </a:rPr>
              <a:t>Software Security</a:t>
            </a:r>
            <a:endParaRPr kumimoji="1" lang="en-AU" altLang="en-US" sz="2800" b="1" dirty="0">
              <a:solidFill>
                <a:schemeClr val="bg1"/>
              </a:solidFill>
              <a:latin typeface="Times New Roman" panose="02020603050405020304" pitchFamily="18" charset="0"/>
              <a:cs typeface="Times New Roman" panose="02020603050405020304" pitchFamily="18" charset="0"/>
            </a:endParaRPr>
          </a:p>
        </p:txBody>
      </p:sp>
      <p:sp>
        <p:nvSpPr>
          <p:cNvPr id="6147" name="Rectangle 3"/>
          <p:cNvSpPr>
            <a:spLocks noGrp="1" noChangeArrowheads="1"/>
          </p:cNvSpPr>
          <p:nvPr>
            <p:ph idx="1"/>
          </p:nvPr>
        </p:nvSpPr>
        <p:spPr>
          <a:xfrm>
            <a:off x="346572" y="2338457"/>
            <a:ext cx="10626228" cy="3416300"/>
          </a:xfrm>
        </p:spPr>
        <p:txBody>
          <a:bodyPr>
            <a:noAutofit/>
          </a:bodyPr>
          <a:lstStyle/>
          <a:p>
            <a:pPr eaLnBrk="1" hangingPunct="1"/>
            <a:r>
              <a:rPr lang="en-AU" altLang="en-US" sz="2800" dirty="0">
                <a:solidFill>
                  <a:schemeClr val="tx1"/>
                </a:solidFill>
                <a:latin typeface="Times New Roman" panose="02020603050405020304" pitchFamily="18" charset="0"/>
                <a:cs typeface="Times New Roman" panose="02020603050405020304" pitchFamily="18" charset="0"/>
              </a:rPr>
              <a:t>Many vulnerabilities result from poor programming practises</a:t>
            </a:r>
          </a:p>
          <a:p>
            <a:pPr lvl="1"/>
            <a:r>
              <a:rPr lang="en-AU" altLang="en-US" sz="2800" dirty="0">
                <a:solidFill>
                  <a:schemeClr val="tx1"/>
                </a:solidFill>
                <a:latin typeface="Times New Roman" panose="02020603050405020304" pitchFamily="18" charset="0"/>
                <a:cs typeface="Times New Roman" panose="02020603050405020304" pitchFamily="18" charset="0"/>
              </a:rPr>
              <a:t>cf. Open Web Application Security Top Ten include 5 software related flaws, e.g., </a:t>
            </a:r>
            <a:r>
              <a:rPr lang="en-US" sz="2800" i="1" dirty="0" err="1">
                <a:solidFill>
                  <a:srgbClr val="FF0000"/>
                </a:solidFill>
                <a:latin typeface="Times New Roman" panose="02020603050405020304" pitchFamily="18" charset="0"/>
                <a:cs typeface="Times New Roman" panose="02020603050405020304" pitchFamily="18" charset="0"/>
              </a:rPr>
              <a:t>unvalidated</a:t>
            </a:r>
            <a:r>
              <a:rPr lang="en-US" sz="2800" i="1" dirty="0">
                <a:solidFill>
                  <a:srgbClr val="FF0000"/>
                </a:solidFill>
                <a:latin typeface="Times New Roman" panose="02020603050405020304" pitchFamily="18" charset="0"/>
                <a:cs typeface="Times New Roman" panose="02020603050405020304" pitchFamily="18" charset="0"/>
              </a:rPr>
              <a:t> input</a:t>
            </a:r>
            <a:r>
              <a:rPr lang="en-US" sz="2800" dirty="0">
                <a:solidFill>
                  <a:schemeClr val="tx1"/>
                </a:solidFill>
                <a:latin typeface="Times New Roman" panose="02020603050405020304" pitchFamily="18" charset="0"/>
                <a:cs typeface="Times New Roman" panose="02020603050405020304" pitchFamily="18" charset="0"/>
              </a:rPr>
              <a:t>, </a:t>
            </a:r>
            <a:r>
              <a:rPr lang="en-US" sz="2800" b="1" i="1" dirty="0">
                <a:solidFill>
                  <a:schemeClr val="accent5">
                    <a:lumMod val="75000"/>
                  </a:schemeClr>
                </a:solidFill>
                <a:latin typeface="Times New Roman" panose="02020603050405020304" pitchFamily="18" charset="0"/>
                <a:cs typeface="Times New Roman" panose="02020603050405020304" pitchFamily="18" charset="0"/>
              </a:rPr>
              <a:t>cross-site scripting</a:t>
            </a:r>
            <a:r>
              <a:rPr lang="en-US" sz="2800" dirty="0">
                <a:solidFill>
                  <a:schemeClr val="tx1"/>
                </a:solidFill>
                <a:latin typeface="Times New Roman" panose="02020603050405020304" pitchFamily="18" charset="0"/>
                <a:cs typeface="Times New Roman" panose="02020603050405020304" pitchFamily="18" charset="0"/>
              </a:rPr>
              <a:t>, </a:t>
            </a:r>
            <a:r>
              <a:rPr lang="en-US" sz="2800" i="1" dirty="0">
                <a:solidFill>
                  <a:schemeClr val="accent2">
                    <a:lumMod val="75000"/>
                  </a:schemeClr>
                </a:solidFill>
                <a:latin typeface="Times New Roman" panose="02020603050405020304" pitchFamily="18" charset="0"/>
                <a:cs typeface="Times New Roman" panose="02020603050405020304" pitchFamily="18" charset="0"/>
              </a:rPr>
              <a:t>buffer overflow</a:t>
            </a:r>
            <a:r>
              <a:rPr lang="en-US" sz="2800" dirty="0">
                <a:solidFill>
                  <a:schemeClr val="tx1"/>
                </a:solidFill>
                <a:latin typeface="Times New Roman" panose="02020603050405020304" pitchFamily="18" charset="0"/>
                <a:cs typeface="Times New Roman" panose="02020603050405020304" pitchFamily="18" charset="0"/>
              </a:rPr>
              <a:t>, </a:t>
            </a:r>
            <a:r>
              <a:rPr lang="en-US" sz="2800" b="1" i="1" dirty="0">
                <a:solidFill>
                  <a:srgbClr val="002060"/>
                </a:solidFill>
                <a:latin typeface="Times New Roman" panose="02020603050405020304" pitchFamily="18" charset="0"/>
                <a:cs typeface="Times New Roman" panose="02020603050405020304" pitchFamily="18" charset="0"/>
              </a:rPr>
              <a:t>injection flaws</a:t>
            </a:r>
            <a:r>
              <a:rPr lang="en-US" sz="2800" dirty="0">
                <a:solidFill>
                  <a:schemeClr val="tx1"/>
                </a:solidFill>
                <a:latin typeface="Times New Roman" panose="02020603050405020304" pitchFamily="18" charset="0"/>
                <a:cs typeface="Times New Roman" panose="02020603050405020304" pitchFamily="18" charset="0"/>
              </a:rPr>
              <a:t>, and </a:t>
            </a:r>
            <a:r>
              <a:rPr lang="en-US" sz="2800" b="1" i="1" dirty="0">
                <a:solidFill>
                  <a:srgbClr val="00B050"/>
                </a:solidFill>
                <a:latin typeface="Times New Roman" panose="02020603050405020304" pitchFamily="18" charset="0"/>
                <a:cs typeface="Times New Roman" panose="02020603050405020304" pitchFamily="18" charset="0"/>
              </a:rPr>
              <a:t>improper error handling</a:t>
            </a:r>
            <a:r>
              <a:rPr lang="en-US" sz="2800" dirty="0">
                <a:solidFill>
                  <a:schemeClr val="tx1"/>
                </a:solidFill>
                <a:latin typeface="Times New Roman" panose="02020603050405020304" pitchFamily="18" charset="0"/>
                <a:cs typeface="Times New Roman" panose="02020603050405020304" pitchFamily="18" charset="0"/>
              </a:rPr>
              <a:t>. </a:t>
            </a:r>
          </a:p>
          <a:p>
            <a:pPr lvl="1"/>
            <a:r>
              <a:rPr lang="en-AU" altLang="en-US" sz="2800" dirty="0">
                <a:solidFill>
                  <a:schemeClr val="tx1"/>
                </a:solidFill>
                <a:latin typeface="Times New Roman" panose="02020603050405020304" pitchFamily="18" charset="0"/>
                <a:cs typeface="Times New Roman" panose="02020603050405020304" pitchFamily="18" charset="0"/>
              </a:rPr>
              <a:t>Often from insufficient checking/validation of program input</a:t>
            </a:r>
          </a:p>
          <a:p>
            <a:pPr eaLnBrk="1" hangingPunct="1"/>
            <a:r>
              <a:rPr lang="en-AU" altLang="en-US" sz="2800" dirty="0">
                <a:solidFill>
                  <a:schemeClr val="tx1"/>
                </a:solidFill>
                <a:latin typeface="Times New Roman" panose="02020603050405020304" pitchFamily="18" charset="0"/>
                <a:cs typeface="Times New Roman" panose="02020603050405020304" pitchFamily="18" charset="0"/>
              </a:rPr>
              <a:t>Awareness of issues is critical</a:t>
            </a:r>
          </a:p>
          <a:p>
            <a:pPr eaLnBrk="1" hangingPunct="1">
              <a:buFontTx/>
              <a:buNone/>
            </a:pPr>
            <a:r>
              <a:rPr lang="en-US" altLang="en-US" sz="2800" b="1" dirty="0">
                <a:solidFill>
                  <a:schemeClr val="tx1"/>
                </a:solidFill>
                <a:latin typeface="Times New Roman" panose="02020603050405020304" pitchFamily="18" charset="0"/>
                <a:cs typeface="Times New Roman" panose="02020603050405020304" pitchFamily="18" charset="0"/>
              </a:rPr>
              <a:t>	</a:t>
            </a:r>
            <a:endParaRPr lang="en-AU" alt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02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software defects </a:t>
            </a:r>
          </a:p>
        </p:txBody>
      </p:sp>
      <p:sp>
        <p:nvSpPr>
          <p:cNvPr id="3" name="Content Placeholder 2"/>
          <p:cNvSpPr>
            <a:spLocks noGrp="1"/>
          </p:cNvSpPr>
          <p:nvPr>
            <p:ph idx="1"/>
          </p:nvPr>
        </p:nvSpPr>
        <p:spPr>
          <a:xfrm>
            <a:off x="465840" y="2417969"/>
            <a:ext cx="11103308" cy="3416300"/>
          </a:xfrm>
        </p:spPr>
        <p:txBody>
          <a:bodyPr>
            <a:noAutofit/>
          </a:bodyPr>
          <a:lstStyle/>
          <a:p>
            <a:r>
              <a:rPr lang="en-US" sz="4800" b="1" i="1" dirty="0">
                <a:solidFill>
                  <a:srgbClr val="FF0000"/>
                </a:solidFill>
                <a:latin typeface="Times New Roman" panose="02020603050405020304" pitchFamily="18" charset="0"/>
                <a:cs typeface="Times New Roman" panose="02020603050405020304" pitchFamily="18" charset="0"/>
              </a:rPr>
              <a:t>Error:</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human error in the interpretation of the specifications</a:t>
            </a:r>
          </a:p>
          <a:p>
            <a:r>
              <a:rPr lang="en-US" sz="4400" b="1" i="1" dirty="0">
                <a:solidFill>
                  <a:srgbClr val="FF0000"/>
                </a:solidFill>
                <a:latin typeface="Times New Roman" panose="02020603050405020304" pitchFamily="18" charset="0"/>
                <a:cs typeface="Times New Roman" panose="02020603050405020304" pitchFamily="18" charset="0"/>
              </a:rPr>
              <a:t>Failure:</a:t>
            </a:r>
            <a:r>
              <a:rPr lang="en-US" sz="44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behavior of the software not specified in the specifications </a:t>
            </a:r>
          </a:p>
          <a:p>
            <a:r>
              <a:rPr lang="en-US" sz="4800" b="1" i="1" dirty="0">
                <a:solidFill>
                  <a:srgbClr val="FF0000"/>
                </a:solidFill>
                <a:latin typeface="Times New Roman" panose="02020603050405020304" pitchFamily="18" charset="0"/>
                <a:cs typeface="Times New Roman" panose="02020603050405020304" pitchFamily="18" charset="0"/>
              </a:rPr>
              <a:t>Fault:</a:t>
            </a:r>
            <a:r>
              <a:rPr lang="en-US" sz="3600" b="1" i="1"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defect of the source code (also known as bug ) </a:t>
            </a:r>
          </a:p>
        </p:txBody>
      </p:sp>
    </p:spTree>
    <p:extLst>
      <p:ext uri="{BB962C8B-B14F-4D97-AF65-F5344CB8AC3E}">
        <p14:creationId xmlns:p14="http://schemas.microsoft.com/office/powerpoint/2010/main" val="1385995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GB" altLang="en-US" b="1" dirty="0">
                <a:solidFill>
                  <a:schemeClr val="bg1"/>
                </a:solidFill>
                <a:latin typeface="Times New Roman" panose="02020603050405020304" pitchFamily="18" charset="0"/>
                <a:cs typeface="Times New Roman" panose="02020603050405020304" pitchFamily="18" charset="0"/>
              </a:rPr>
              <a:t>Software Security Concept</a:t>
            </a:r>
            <a:endParaRPr lang="en-US" dirty="0"/>
          </a:p>
        </p:txBody>
      </p:sp>
      <p:grpSp>
        <p:nvGrpSpPr>
          <p:cNvPr id="4" name="Group 3"/>
          <p:cNvGrpSpPr>
            <a:grpSpLocks/>
          </p:cNvGrpSpPr>
          <p:nvPr/>
        </p:nvGrpSpPr>
        <p:grpSpPr bwMode="auto">
          <a:xfrm>
            <a:off x="887896" y="2398643"/>
            <a:ext cx="10310191" cy="4051856"/>
            <a:chOff x="96" y="1296"/>
            <a:chExt cx="5740" cy="2736"/>
          </a:xfrm>
        </p:grpSpPr>
        <p:sp>
          <p:nvSpPr>
            <p:cNvPr id="5" name="AutoShape 4"/>
            <p:cNvSpPr>
              <a:spLocks noChangeArrowheads="1"/>
            </p:cNvSpPr>
            <p:nvPr/>
          </p:nvSpPr>
          <p:spPr bwMode="auto">
            <a:xfrm>
              <a:off x="216" y="2208"/>
              <a:ext cx="480" cy="288"/>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Source</a:t>
              </a:r>
            </a:p>
            <a:p>
              <a:pPr algn="ctr" eaLnBrk="1" hangingPunct="1"/>
              <a:r>
                <a:rPr lang="en-US" sz="1400" b="1" dirty="0">
                  <a:latin typeface="Arial" panose="020B0604020202020204" pitchFamily="34" charset="0"/>
                </a:rPr>
                <a:t>code</a:t>
              </a:r>
            </a:p>
          </p:txBody>
        </p:sp>
        <p:sp>
          <p:nvSpPr>
            <p:cNvPr id="6" name="AutoShape 5"/>
            <p:cNvSpPr>
              <a:spLocks noChangeArrowheads="1"/>
            </p:cNvSpPr>
            <p:nvPr/>
          </p:nvSpPr>
          <p:spPr bwMode="auto">
            <a:xfrm>
              <a:off x="1344" y="2160"/>
              <a:ext cx="576" cy="384"/>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Software</a:t>
              </a:r>
            </a:p>
            <a:p>
              <a:pPr algn="ctr" eaLnBrk="1" hangingPunct="1"/>
              <a:r>
                <a:rPr lang="en-US" sz="1400" b="1" dirty="0">
                  <a:latin typeface="Arial" panose="020B0604020202020204" pitchFamily="34" charset="0"/>
                </a:rPr>
                <a:t>component</a:t>
              </a:r>
            </a:p>
          </p:txBody>
        </p:sp>
        <p:sp>
          <p:nvSpPr>
            <p:cNvPr id="7" name="AutoShape 6"/>
            <p:cNvSpPr>
              <a:spLocks noChangeArrowheads="1"/>
            </p:cNvSpPr>
            <p:nvPr/>
          </p:nvSpPr>
          <p:spPr bwMode="auto">
            <a:xfrm>
              <a:off x="2592" y="2160"/>
              <a:ext cx="576" cy="384"/>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Program</a:t>
              </a:r>
            </a:p>
          </p:txBody>
        </p:sp>
        <p:sp>
          <p:nvSpPr>
            <p:cNvPr id="8" name="AutoShape 7"/>
            <p:cNvSpPr>
              <a:spLocks noChangeArrowheads="1"/>
            </p:cNvSpPr>
            <p:nvPr/>
          </p:nvSpPr>
          <p:spPr bwMode="auto">
            <a:xfrm>
              <a:off x="3696" y="2904"/>
              <a:ext cx="720" cy="240"/>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Vulnerability</a:t>
              </a:r>
            </a:p>
          </p:txBody>
        </p:sp>
        <p:sp>
          <p:nvSpPr>
            <p:cNvPr id="9" name="AutoShape 8"/>
            <p:cNvSpPr>
              <a:spLocks noChangeArrowheads="1"/>
            </p:cNvSpPr>
            <p:nvPr/>
          </p:nvSpPr>
          <p:spPr bwMode="auto">
            <a:xfrm>
              <a:off x="96" y="2904"/>
              <a:ext cx="720" cy="240"/>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Security flaw</a:t>
              </a:r>
            </a:p>
          </p:txBody>
        </p:sp>
        <p:cxnSp>
          <p:nvCxnSpPr>
            <p:cNvPr id="10" name="AutoShape 9"/>
            <p:cNvCxnSpPr>
              <a:cxnSpLocks noChangeShapeType="1"/>
              <a:stCxn id="5" idx="3"/>
              <a:endCxn id="6" idx="1"/>
            </p:cNvCxnSpPr>
            <p:nvPr/>
          </p:nvCxnSpPr>
          <p:spPr bwMode="auto">
            <a:xfrm>
              <a:off x="696" y="2352"/>
              <a:ext cx="648" cy="0"/>
            </a:xfrm>
            <a:prstGeom prst="straightConnector1">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0"/>
            <p:cNvCxnSpPr>
              <a:cxnSpLocks noChangeShapeType="1"/>
              <a:stCxn id="6" idx="3"/>
              <a:endCxn id="7" idx="1"/>
            </p:cNvCxnSpPr>
            <p:nvPr/>
          </p:nvCxnSpPr>
          <p:spPr bwMode="auto">
            <a:xfrm>
              <a:off x="1920" y="2352"/>
              <a:ext cx="672" cy="0"/>
            </a:xfrm>
            <a:prstGeom prst="straightConnector1">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1"/>
            <p:cNvCxnSpPr>
              <a:cxnSpLocks noChangeShapeType="1"/>
              <a:stCxn id="5" idx="2"/>
              <a:endCxn id="9" idx="0"/>
            </p:cNvCxnSpPr>
            <p:nvPr/>
          </p:nvCxnSpPr>
          <p:spPr bwMode="auto">
            <a:xfrm>
              <a:off x="456" y="2496"/>
              <a:ext cx="0" cy="408"/>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2"/>
            <p:cNvCxnSpPr>
              <a:cxnSpLocks noChangeShapeType="1"/>
              <a:stCxn id="6" idx="2"/>
              <a:endCxn id="9" idx="3"/>
            </p:cNvCxnSpPr>
            <p:nvPr/>
          </p:nvCxnSpPr>
          <p:spPr bwMode="auto">
            <a:xfrm flipH="1">
              <a:off x="816" y="2544"/>
              <a:ext cx="816" cy="48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3"/>
            <p:cNvCxnSpPr>
              <a:cxnSpLocks noChangeShapeType="1"/>
              <a:stCxn id="7" idx="2"/>
              <a:endCxn id="8" idx="1"/>
            </p:cNvCxnSpPr>
            <p:nvPr/>
          </p:nvCxnSpPr>
          <p:spPr bwMode="auto">
            <a:xfrm>
              <a:off x="2880" y="2544"/>
              <a:ext cx="816" cy="48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 Box 14"/>
            <p:cNvSpPr txBox="1">
              <a:spLocks noChangeArrowheads="1"/>
            </p:cNvSpPr>
            <p:nvPr/>
          </p:nvSpPr>
          <p:spPr bwMode="auto">
            <a:xfrm>
              <a:off x="432" y="2558"/>
              <a:ext cx="424"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may </a:t>
              </a:r>
            </a:p>
            <a:p>
              <a:pPr eaLnBrk="1" hangingPunct="1"/>
              <a:r>
                <a:rPr lang="en-US" sz="1200">
                  <a:latin typeface="Arial" panose="020B0604020202020204" pitchFamily="34" charset="0"/>
                </a:rPr>
                <a:t>contain</a:t>
              </a:r>
            </a:p>
          </p:txBody>
        </p:sp>
        <p:sp>
          <p:nvSpPr>
            <p:cNvPr id="16" name="Text Box 15"/>
            <p:cNvSpPr txBox="1">
              <a:spLocks noChangeArrowheads="1"/>
            </p:cNvSpPr>
            <p:nvPr/>
          </p:nvSpPr>
          <p:spPr bwMode="auto">
            <a:xfrm>
              <a:off x="1056" y="2606"/>
              <a:ext cx="532"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may  </a:t>
              </a:r>
            </a:p>
            <a:p>
              <a:pPr eaLnBrk="1" hangingPunct="1"/>
              <a:r>
                <a:rPr lang="en-US" sz="1200">
                  <a:latin typeface="Arial" panose="020B0604020202020204" pitchFamily="34" charset="0"/>
                </a:rPr>
                <a:t>    contain</a:t>
              </a:r>
            </a:p>
          </p:txBody>
        </p:sp>
        <p:sp>
          <p:nvSpPr>
            <p:cNvPr id="17" name="Text Box 16"/>
            <p:cNvSpPr txBox="1">
              <a:spLocks noChangeArrowheads="1"/>
            </p:cNvSpPr>
            <p:nvPr/>
          </p:nvSpPr>
          <p:spPr bwMode="auto">
            <a:xfrm>
              <a:off x="4032" y="2592"/>
              <a:ext cx="52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sz="1200">
                  <a:latin typeface="Arial" panose="020B0604020202020204" pitchFamily="34" charset="0"/>
                </a:rPr>
                <a:t>may </a:t>
              </a:r>
            </a:p>
            <a:p>
              <a:pPr eaLnBrk="1" hangingPunct="1"/>
              <a:r>
                <a:rPr lang="en-US" sz="1200">
                  <a:latin typeface="Arial" panose="020B0604020202020204" pitchFamily="34" charset="0"/>
                </a:rPr>
                <a:t>possess</a:t>
              </a:r>
            </a:p>
          </p:txBody>
        </p:sp>
        <p:sp>
          <p:nvSpPr>
            <p:cNvPr id="18" name="Text Box 17"/>
            <p:cNvSpPr txBox="1">
              <a:spLocks noChangeArrowheads="1"/>
            </p:cNvSpPr>
            <p:nvPr/>
          </p:nvSpPr>
          <p:spPr bwMode="auto">
            <a:xfrm>
              <a:off x="672" y="2174"/>
              <a:ext cx="664" cy="17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composed of</a:t>
              </a:r>
            </a:p>
          </p:txBody>
        </p:sp>
        <p:sp>
          <p:nvSpPr>
            <p:cNvPr id="19" name="Text Box 18"/>
            <p:cNvSpPr txBox="1">
              <a:spLocks noChangeArrowheads="1"/>
            </p:cNvSpPr>
            <p:nvPr/>
          </p:nvSpPr>
          <p:spPr bwMode="auto">
            <a:xfrm>
              <a:off x="1920" y="2179"/>
              <a:ext cx="664" cy="17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composed of</a:t>
              </a:r>
            </a:p>
          </p:txBody>
        </p:sp>
        <p:cxnSp>
          <p:nvCxnSpPr>
            <p:cNvPr id="20" name="AutoShape 19"/>
            <p:cNvCxnSpPr>
              <a:cxnSpLocks noChangeShapeType="1"/>
              <a:stCxn id="9" idx="3"/>
              <a:endCxn id="8" idx="1"/>
            </p:cNvCxnSpPr>
            <p:nvPr/>
          </p:nvCxnSpPr>
          <p:spPr bwMode="auto">
            <a:xfrm>
              <a:off x="816" y="3024"/>
              <a:ext cx="2880"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 Box 20"/>
            <p:cNvSpPr txBox="1">
              <a:spLocks noChangeArrowheads="1"/>
            </p:cNvSpPr>
            <p:nvPr/>
          </p:nvSpPr>
          <p:spPr bwMode="auto">
            <a:xfrm>
              <a:off x="1056" y="3168"/>
              <a:ext cx="504"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en-US" sz="1200">
                  <a:latin typeface="Arial" panose="020B0604020202020204" pitchFamily="34" charset="0"/>
                </a:rPr>
                <a:t>resolved </a:t>
              </a:r>
            </a:p>
            <a:p>
              <a:pPr algn="r" eaLnBrk="1" hangingPunct="1"/>
              <a:r>
                <a:rPr lang="en-US" sz="1200">
                  <a:latin typeface="Arial" panose="020B0604020202020204" pitchFamily="34" charset="0"/>
                </a:rPr>
                <a:t>by</a:t>
              </a:r>
            </a:p>
          </p:txBody>
        </p:sp>
        <p:grpSp>
          <p:nvGrpSpPr>
            <p:cNvPr id="22" name="Group 21"/>
            <p:cNvGrpSpPr>
              <a:grpSpLocks/>
            </p:cNvGrpSpPr>
            <p:nvPr/>
          </p:nvGrpSpPr>
          <p:grpSpPr bwMode="auto">
            <a:xfrm>
              <a:off x="4464" y="3168"/>
              <a:ext cx="144" cy="288"/>
              <a:chOff x="768" y="3168"/>
              <a:chExt cx="384" cy="768"/>
            </a:xfrm>
          </p:grpSpPr>
          <p:sp>
            <p:nvSpPr>
              <p:cNvPr id="96" name="Line 22"/>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 name="Line 23"/>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 name="Line 24"/>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9" name="Line 25"/>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0" name="Oval 26"/>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 name="Group 27"/>
            <p:cNvGrpSpPr>
              <a:grpSpLocks/>
            </p:cNvGrpSpPr>
            <p:nvPr/>
          </p:nvGrpSpPr>
          <p:grpSpPr bwMode="auto">
            <a:xfrm>
              <a:off x="192" y="1776"/>
              <a:ext cx="144" cy="288"/>
              <a:chOff x="768" y="3168"/>
              <a:chExt cx="384" cy="768"/>
            </a:xfrm>
          </p:grpSpPr>
          <p:sp>
            <p:nvSpPr>
              <p:cNvPr id="91" name="Line 28"/>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 name="Line 29"/>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 name="Line 30"/>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 name="Line 31"/>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5" name="Oval 32"/>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4" name="Group 33"/>
            <p:cNvGrpSpPr>
              <a:grpSpLocks/>
            </p:cNvGrpSpPr>
            <p:nvPr/>
          </p:nvGrpSpPr>
          <p:grpSpPr bwMode="auto">
            <a:xfrm>
              <a:off x="1632" y="1776"/>
              <a:ext cx="144" cy="288"/>
              <a:chOff x="768" y="3168"/>
              <a:chExt cx="384" cy="768"/>
            </a:xfrm>
          </p:grpSpPr>
          <p:sp>
            <p:nvSpPr>
              <p:cNvPr id="86" name="Line 34"/>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7" name="Line 35"/>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 name="Line 36"/>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 name="Line 37"/>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 name="Oval 38"/>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5" name="Group 39"/>
            <p:cNvGrpSpPr>
              <a:grpSpLocks/>
            </p:cNvGrpSpPr>
            <p:nvPr/>
          </p:nvGrpSpPr>
          <p:grpSpPr bwMode="auto">
            <a:xfrm>
              <a:off x="192" y="3408"/>
              <a:ext cx="144" cy="288"/>
              <a:chOff x="768" y="3168"/>
              <a:chExt cx="384" cy="768"/>
            </a:xfrm>
          </p:grpSpPr>
          <p:sp>
            <p:nvSpPr>
              <p:cNvPr id="81" name="Line 40"/>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Line 41"/>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 name="Line 42"/>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 name="Line 43"/>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 name="Oval 44"/>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6" name="Text Box 45"/>
            <p:cNvSpPr txBox="1">
              <a:spLocks noChangeArrowheads="1"/>
            </p:cNvSpPr>
            <p:nvPr/>
          </p:nvSpPr>
          <p:spPr bwMode="auto">
            <a:xfrm>
              <a:off x="384" y="1776"/>
              <a:ext cx="790" cy="194"/>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b="1" dirty="0">
                  <a:latin typeface="Arial" panose="020B0604020202020204" pitchFamily="34" charset="0"/>
                </a:rPr>
                <a:t>Programmer</a:t>
              </a:r>
            </a:p>
          </p:txBody>
        </p:sp>
        <p:sp>
          <p:nvSpPr>
            <p:cNvPr id="27" name="Text Box 46"/>
            <p:cNvSpPr txBox="1">
              <a:spLocks noChangeArrowheads="1"/>
            </p:cNvSpPr>
            <p:nvPr/>
          </p:nvSpPr>
          <p:spPr bwMode="auto">
            <a:xfrm>
              <a:off x="1776" y="1776"/>
              <a:ext cx="642" cy="33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b="1" dirty="0">
                  <a:latin typeface="Arial" panose="020B0604020202020204" pitchFamily="34" charset="0"/>
                </a:rPr>
                <a:t>System </a:t>
              </a:r>
            </a:p>
            <a:p>
              <a:pPr eaLnBrk="1" hangingPunct="1"/>
              <a:r>
                <a:rPr lang="en-US" sz="1400" b="1" dirty="0">
                  <a:latin typeface="Arial" panose="020B0604020202020204" pitchFamily="34" charset="0"/>
                </a:rPr>
                <a:t>integrator</a:t>
              </a:r>
            </a:p>
          </p:txBody>
        </p:sp>
        <p:sp>
          <p:nvSpPr>
            <p:cNvPr id="28" name="AutoShape 47"/>
            <p:cNvSpPr>
              <a:spLocks noChangeArrowheads="1"/>
            </p:cNvSpPr>
            <p:nvPr/>
          </p:nvSpPr>
          <p:spPr bwMode="auto">
            <a:xfrm>
              <a:off x="3696" y="3552"/>
              <a:ext cx="720" cy="240"/>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Exploit</a:t>
              </a:r>
            </a:p>
          </p:txBody>
        </p:sp>
        <p:cxnSp>
          <p:nvCxnSpPr>
            <p:cNvPr id="29" name="AutoShape 48"/>
            <p:cNvCxnSpPr>
              <a:cxnSpLocks noChangeShapeType="1"/>
              <a:stCxn id="8" idx="2"/>
              <a:endCxn id="28" idx="0"/>
            </p:cNvCxnSpPr>
            <p:nvPr/>
          </p:nvCxnSpPr>
          <p:spPr bwMode="auto">
            <a:xfrm>
              <a:off x="4056" y="3144"/>
              <a:ext cx="0" cy="408"/>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 Box 49"/>
            <p:cNvSpPr txBox="1">
              <a:spLocks noChangeArrowheads="1"/>
            </p:cNvSpPr>
            <p:nvPr/>
          </p:nvSpPr>
          <p:spPr bwMode="auto">
            <a:xfrm>
              <a:off x="3598" y="3182"/>
              <a:ext cx="478"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en-US" sz="1200">
                  <a:latin typeface="Arial" panose="020B0604020202020204" pitchFamily="34" charset="0"/>
                </a:rPr>
                <a:t>attacked</a:t>
              </a:r>
            </a:p>
            <a:p>
              <a:pPr algn="r" eaLnBrk="1" hangingPunct="1"/>
              <a:r>
                <a:rPr lang="en-US" sz="1200">
                  <a:latin typeface="Arial" panose="020B0604020202020204" pitchFamily="34" charset="0"/>
                </a:rPr>
                <a:t>by</a:t>
              </a:r>
            </a:p>
          </p:txBody>
        </p:sp>
        <p:sp>
          <p:nvSpPr>
            <p:cNvPr id="31" name="Text Box 50"/>
            <p:cNvSpPr txBox="1">
              <a:spLocks noChangeArrowheads="1"/>
            </p:cNvSpPr>
            <p:nvPr/>
          </p:nvSpPr>
          <p:spPr bwMode="auto">
            <a:xfrm>
              <a:off x="432" y="3360"/>
              <a:ext cx="520" cy="32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Arial" panose="020B0604020202020204" pitchFamily="34" charset="0"/>
                </a:rPr>
                <a:t>Security</a:t>
              </a:r>
            </a:p>
            <a:p>
              <a:pPr eaLnBrk="1" hangingPunct="1"/>
              <a:r>
                <a:rPr lang="en-US" sz="1400">
                  <a:latin typeface="Arial" panose="020B0604020202020204" pitchFamily="34" charset="0"/>
                </a:rPr>
                <a:t>analyst</a:t>
              </a:r>
            </a:p>
          </p:txBody>
        </p:sp>
        <p:sp>
          <p:nvSpPr>
            <p:cNvPr id="32" name="Text Box 51"/>
            <p:cNvSpPr txBox="1">
              <a:spLocks noChangeArrowheads="1"/>
            </p:cNvSpPr>
            <p:nvPr/>
          </p:nvSpPr>
          <p:spPr bwMode="auto">
            <a:xfrm>
              <a:off x="4656" y="3120"/>
              <a:ext cx="725" cy="32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Arial" panose="020B0604020202020204" pitchFamily="34" charset="0"/>
                </a:rPr>
                <a:t>Vulnerability</a:t>
              </a:r>
            </a:p>
            <a:p>
              <a:pPr eaLnBrk="1" hangingPunct="1"/>
              <a:r>
                <a:rPr lang="en-US" sz="1400">
                  <a:latin typeface="Arial" panose="020B0604020202020204" pitchFamily="34" charset="0"/>
                </a:rPr>
                <a:t>analyst</a:t>
              </a:r>
            </a:p>
          </p:txBody>
        </p:sp>
        <p:grpSp>
          <p:nvGrpSpPr>
            <p:cNvPr id="33" name="Group 52"/>
            <p:cNvGrpSpPr>
              <a:grpSpLocks/>
            </p:cNvGrpSpPr>
            <p:nvPr/>
          </p:nvGrpSpPr>
          <p:grpSpPr bwMode="auto">
            <a:xfrm>
              <a:off x="3360" y="3504"/>
              <a:ext cx="144" cy="288"/>
              <a:chOff x="768" y="3168"/>
              <a:chExt cx="384" cy="768"/>
            </a:xfrm>
          </p:grpSpPr>
          <p:sp>
            <p:nvSpPr>
              <p:cNvPr id="76" name="Line 53"/>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 name="Line 54"/>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Line 55"/>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 name="Line 56"/>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 name="Oval 57"/>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 name="Text Box 58"/>
            <p:cNvSpPr txBox="1">
              <a:spLocks noChangeArrowheads="1"/>
            </p:cNvSpPr>
            <p:nvPr/>
          </p:nvSpPr>
          <p:spPr bwMode="auto">
            <a:xfrm>
              <a:off x="3168" y="3792"/>
              <a:ext cx="526" cy="19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Arial" panose="020B0604020202020204" pitchFamily="34" charset="0"/>
                </a:rPr>
                <a:t>Attacker</a:t>
              </a:r>
            </a:p>
          </p:txBody>
        </p:sp>
        <p:grpSp>
          <p:nvGrpSpPr>
            <p:cNvPr id="35" name="Group 59"/>
            <p:cNvGrpSpPr>
              <a:grpSpLocks/>
            </p:cNvGrpSpPr>
            <p:nvPr/>
          </p:nvGrpSpPr>
          <p:grpSpPr bwMode="auto">
            <a:xfrm>
              <a:off x="3264" y="1680"/>
              <a:ext cx="1029" cy="330"/>
              <a:chOff x="3312" y="1786"/>
              <a:chExt cx="1029" cy="330"/>
            </a:xfrm>
          </p:grpSpPr>
          <p:grpSp>
            <p:nvGrpSpPr>
              <p:cNvPr id="69" name="Group 60"/>
              <p:cNvGrpSpPr>
                <a:grpSpLocks/>
              </p:cNvGrpSpPr>
              <p:nvPr/>
            </p:nvGrpSpPr>
            <p:grpSpPr bwMode="auto">
              <a:xfrm>
                <a:off x="3312" y="1786"/>
                <a:ext cx="144" cy="288"/>
                <a:chOff x="768" y="3168"/>
                <a:chExt cx="384" cy="768"/>
              </a:xfrm>
            </p:grpSpPr>
            <p:sp>
              <p:nvSpPr>
                <p:cNvPr id="71" name="Line 61"/>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Line 62"/>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 name="Line 63"/>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 name="Line 64"/>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5" name="Oval 65"/>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0" name="Text Box 66"/>
              <p:cNvSpPr txBox="1">
                <a:spLocks noChangeArrowheads="1"/>
              </p:cNvSpPr>
              <p:nvPr/>
            </p:nvSpPr>
            <p:spPr bwMode="auto">
              <a:xfrm>
                <a:off x="3504" y="1786"/>
                <a:ext cx="837" cy="33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b="1" dirty="0">
                    <a:latin typeface="Arial" panose="020B0604020202020204" pitchFamily="34" charset="0"/>
                  </a:rPr>
                  <a:t>System </a:t>
                </a:r>
              </a:p>
              <a:p>
                <a:pPr eaLnBrk="1" hangingPunct="1"/>
                <a:r>
                  <a:rPr lang="en-US" sz="1400" b="1" dirty="0">
                    <a:latin typeface="Arial" panose="020B0604020202020204" pitchFamily="34" charset="0"/>
                  </a:rPr>
                  <a:t>administrator</a:t>
                </a:r>
              </a:p>
            </p:txBody>
          </p:sp>
        </p:grpSp>
        <p:sp>
          <p:nvSpPr>
            <p:cNvPr id="36" name="AutoShape 67"/>
            <p:cNvSpPr>
              <a:spLocks noChangeArrowheads="1"/>
            </p:cNvSpPr>
            <p:nvPr/>
          </p:nvSpPr>
          <p:spPr bwMode="auto">
            <a:xfrm>
              <a:off x="3768" y="2160"/>
              <a:ext cx="576" cy="384"/>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Computer</a:t>
              </a:r>
            </a:p>
            <a:p>
              <a:pPr algn="ctr" eaLnBrk="1" hangingPunct="1"/>
              <a:r>
                <a:rPr lang="en-US" sz="1400" b="1" dirty="0">
                  <a:latin typeface="Arial" panose="020B0604020202020204" pitchFamily="34" charset="0"/>
                </a:rPr>
                <a:t>System</a:t>
              </a:r>
            </a:p>
          </p:txBody>
        </p:sp>
        <p:sp>
          <p:nvSpPr>
            <p:cNvPr id="37" name="AutoShape 68"/>
            <p:cNvSpPr>
              <a:spLocks noChangeArrowheads="1"/>
            </p:cNvSpPr>
            <p:nvPr/>
          </p:nvSpPr>
          <p:spPr bwMode="auto">
            <a:xfrm>
              <a:off x="4997" y="2160"/>
              <a:ext cx="576" cy="384"/>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Network</a:t>
              </a:r>
            </a:p>
          </p:txBody>
        </p:sp>
        <p:cxnSp>
          <p:nvCxnSpPr>
            <p:cNvPr id="38" name="AutoShape 69"/>
            <p:cNvCxnSpPr>
              <a:cxnSpLocks noChangeShapeType="1"/>
              <a:stCxn id="7" idx="3"/>
              <a:endCxn id="36" idx="1"/>
            </p:cNvCxnSpPr>
            <p:nvPr/>
          </p:nvCxnSpPr>
          <p:spPr bwMode="auto">
            <a:xfrm>
              <a:off x="3168" y="2352"/>
              <a:ext cx="600" cy="0"/>
            </a:xfrm>
            <a:prstGeom prst="straightConnector1">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70"/>
            <p:cNvCxnSpPr>
              <a:cxnSpLocks noChangeShapeType="1"/>
              <a:stCxn id="36" idx="3"/>
              <a:endCxn id="37" idx="1"/>
            </p:cNvCxnSpPr>
            <p:nvPr/>
          </p:nvCxnSpPr>
          <p:spPr bwMode="auto">
            <a:xfrm>
              <a:off x="4344" y="2352"/>
              <a:ext cx="653" cy="0"/>
            </a:xfrm>
            <a:prstGeom prst="straightConnector1">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 Box 71"/>
            <p:cNvSpPr txBox="1">
              <a:spLocks noChangeArrowheads="1"/>
            </p:cNvSpPr>
            <p:nvPr/>
          </p:nvSpPr>
          <p:spPr bwMode="auto">
            <a:xfrm>
              <a:off x="3120" y="2179"/>
              <a:ext cx="664" cy="17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composed of</a:t>
              </a:r>
            </a:p>
          </p:txBody>
        </p:sp>
        <p:sp>
          <p:nvSpPr>
            <p:cNvPr id="41" name="Text Box 72"/>
            <p:cNvSpPr txBox="1">
              <a:spLocks noChangeArrowheads="1"/>
            </p:cNvSpPr>
            <p:nvPr/>
          </p:nvSpPr>
          <p:spPr bwMode="auto">
            <a:xfrm>
              <a:off x="4333" y="2179"/>
              <a:ext cx="664" cy="17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composed of</a:t>
              </a:r>
            </a:p>
          </p:txBody>
        </p:sp>
        <p:cxnSp>
          <p:nvCxnSpPr>
            <p:cNvPr id="42" name="AutoShape 73"/>
            <p:cNvCxnSpPr>
              <a:cxnSpLocks noChangeShapeType="1"/>
              <a:stCxn id="36" idx="2"/>
              <a:endCxn id="8" idx="0"/>
            </p:cNvCxnSpPr>
            <p:nvPr/>
          </p:nvCxnSpPr>
          <p:spPr bwMode="auto">
            <a:xfrm>
              <a:off x="4056" y="2544"/>
              <a:ext cx="0" cy="36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74"/>
            <p:cNvCxnSpPr>
              <a:cxnSpLocks noChangeShapeType="1"/>
              <a:stCxn id="37" idx="2"/>
              <a:endCxn id="8" idx="3"/>
            </p:cNvCxnSpPr>
            <p:nvPr/>
          </p:nvCxnSpPr>
          <p:spPr bwMode="auto">
            <a:xfrm flipH="1">
              <a:off x="4416" y="2544"/>
              <a:ext cx="869" cy="48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4" name="Group 75"/>
            <p:cNvGrpSpPr>
              <a:grpSpLocks/>
            </p:cNvGrpSpPr>
            <p:nvPr/>
          </p:nvGrpSpPr>
          <p:grpSpPr bwMode="auto">
            <a:xfrm>
              <a:off x="5184" y="1392"/>
              <a:ext cx="144" cy="288"/>
              <a:chOff x="768" y="3168"/>
              <a:chExt cx="384" cy="768"/>
            </a:xfrm>
          </p:grpSpPr>
          <p:sp>
            <p:nvSpPr>
              <p:cNvPr id="64" name="Line 76"/>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 name="Line 77"/>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Line 78"/>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 name="Line 79"/>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 name="Oval 80"/>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5" name="Text Box 81"/>
            <p:cNvSpPr txBox="1">
              <a:spLocks noChangeArrowheads="1"/>
            </p:cNvSpPr>
            <p:nvPr/>
          </p:nvSpPr>
          <p:spPr bwMode="auto">
            <a:xfrm>
              <a:off x="4999" y="1680"/>
              <a:ext cx="837" cy="33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b="1" dirty="0">
                  <a:latin typeface="Arial" panose="020B0604020202020204" pitchFamily="34" charset="0"/>
                </a:rPr>
                <a:t>Network </a:t>
              </a:r>
            </a:p>
            <a:p>
              <a:pPr eaLnBrk="1" hangingPunct="1"/>
              <a:r>
                <a:rPr lang="en-US" sz="1400" b="1" dirty="0">
                  <a:latin typeface="Arial" panose="020B0604020202020204" pitchFamily="34" charset="0"/>
                </a:rPr>
                <a:t>administrator</a:t>
              </a:r>
            </a:p>
          </p:txBody>
        </p:sp>
        <p:sp>
          <p:nvSpPr>
            <p:cNvPr id="46" name="Text Box 82"/>
            <p:cNvSpPr txBox="1">
              <a:spLocks noChangeArrowheads="1"/>
            </p:cNvSpPr>
            <p:nvPr/>
          </p:nvSpPr>
          <p:spPr bwMode="auto">
            <a:xfrm>
              <a:off x="4608" y="2640"/>
              <a:ext cx="720"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sz="1200">
                  <a:latin typeface="Arial" panose="020B0604020202020204" pitchFamily="34" charset="0"/>
                </a:rPr>
                <a:t>may </a:t>
              </a:r>
            </a:p>
            <a:p>
              <a:pPr eaLnBrk="1" hangingPunct="1"/>
              <a:r>
                <a:rPr lang="en-US" sz="1200">
                  <a:latin typeface="Arial" panose="020B0604020202020204" pitchFamily="34" charset="0"/>
                </a:rPr>
                <a:t>     possess</a:t>
              </a:r>
            </a:p>
          </p:txBody>
        </p:sp>
        <p:sp>
          <p:nvSpPr>
            <p:cNvPr id="47" name="Text Box 83"/>
            <p:cNvSpPr txBox="1">
              <a:spLocks noChangeArrowheads="1"/>
            </p:cNvSpPr>
            <p:nvPr/>
          </p:nvSpPr>
          <p:spPr bwMode="auto">
            <a:xfrm>
              <a:off x="2880" y="2640"/>
              <a:ext cx="424"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may  </a:t>
              </a:r>
            </a:p>
            <a:p>
              <a:pPr eaLnBrk="1" hangingPunct="1"/>
              <a:r>
                <a:rPr lang="en-US" sz="1200">
                  <a:latin typeface="Arial" panose="020B0604020202020204" pitchFamily="34" charset="0"/>
                </a:rPr>
                <a:t>contain</a:t>
              </a:r>
            </a:p>
          </p:txBody>
        </p:sp>
        <p:sp>
          <p:nvSpPr>
            <p:cNvPr id="48" name="AutoShape 84"/>
            <p:cNvSpPr>
              <a:spLocks noChangeArrowheads="1"/>
            </p:cNvSpPr>
            <p:nvPr/>
          </p:nvSpPr>
          <p:spPr bwMode="auto">
            <a:xfrm>
              <a:off x="1824" y="3504"/>
              <a:ext cx="720" cy="240"/>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dirty="0">
                  <a:latin typeface="Arial" panose="020B0604020202020204" pitchFamily="34" charset="0"/>
                </a:rPr>
                <a:t>Mitigation</a:t>
              </a:r>
            </a:p>
          </p:txBody>
        </p:sp>
        <p:cxnSp>
          <p:nvCxnSpPr>
            <p:cNvPr id="49" name="AutoShape 85"/>
            <p:cNvCxnSpPr>
              <a:cxnSpLocks noChangeShapeType="1"/>
              <a:stCxn id="8" idx="1"/>
              <a:endCxn id="48" idx="3"/>
            </p:cNvCxnSpPr>
            <p:nvPr/>
          </p:nvCxnSpPr>
          <p:spPr bwMode="auto">
            <a:xfrm flipH="1">
              <a:off x="2544" y="3024"/>
              <a:ext cx="1152" cy="60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86"/>
            <p:cNvCxnSpPr>
              <a:cxnSpLocks noChangeShapeType="1"/>
              <a:stCxn id="9" idx="2"/>
              <a:endCxn id="48" idx="1"/>
            </p:cNvCxnSpPr>
            <p:nvPr/>
          </p:nvCxnSpPr>
          <p:spPr bwMode="auto">
            <a:xfrm>
              <a:off x="456" y="3144"/>
              <a:ext cx="1368" cy="48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87"/>
            <p:cNvSpPr txBox="1">
              <a:spLocks noChangeArrowheads="1"/>
            </p:cNvSpPr>
            <p:nvPr/>
          </p:nvSpPr>
          <p:spPr bwMode="auto">
            <a:xfrm>
              <a:off x="1920" y="2832"/>
              <a:ext cx="584" cy="17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can lead to</a:t>
              </a:r>
            </a:p>
          </p:txBody>
        </p:sp>
        <p:sp>
          <p:nvSpPr>
            <p:cNvPr id="52" name="Text Box 88"/>
            <p:cNvSpPr txBox="1">
              <a:spLocks noChangeArrowheads="1"/>
            </p:cNvSpPr>
            <p:nvPr/>
          </p:nvSpPr>
          <p:spPr bwMode="auto">
            <a:xfrm>
              <a:off x="2592" y="3168"/>
              <a:ext cx="562"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Arial" panose="020B0604020202020204" pitchFamily="34" charset="0"/>
                </a:rPr>
                <a:t>addressed</a:t>
              </a:r>
            </a:p>
            <a:p>
              <a:pPr eaLnBrk="1" hangingPunct="1"/>
              <a:r>
                <a:rPr lang="en-US" sz="1200">
                  <a:latin typeface="Arial" panose="020B0604020202020204" pitchFamily="34" charset="0"/>
                </a:rPr>
                <a:t>by</a:t>
              </a:r>
            </a:p>
          </p:txBody>
        </p:sp>
        <p:grpSp>
          <p:nvGrpSpPr>
            <p:cNvPr id="53" name="Group 89"/>
            <p:cNvGrpSpPr>
              <a:grpSpLocks/>
            </p:cNvGrpSpPr>
            <p:nvPr/>
          </p:nvGrpSpPr>
          <p:grpSpPr bwMode="auto">
            <a:xfrm>
              <a:off x="1584" y="3744"/>
              <a:ext cx="144" cy="288"/>
              <a:chOff x="768" y="3168"/>
              <a:chExt cx="384" cy="768"/>
            </a:xfrm>
          </p:grpSpPr>
          <p:sp>
            <p:nvSpPr>
              <p:cNvPr id="59" name="Line 90"/>
              <p:cNvSpPr>
                <a:spLocks noChangeShapeType="1"/>
              </p:cNvSpPr>
              <p:nvPr/>
            </p:nvSpPr>
            <p:spPr bwMode="auto">
              <a:xfrm>
                <a:off x="960" y="336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 name="Line 91"/>
              <p:cNvSpPr>
                <a:spLocks noChangeShapeType="1"/>
              </p:cNvSpPr>
              <p:nvPr/>
            </p:nvSpPr>
            <p:spPr bwMode="auto">
              <a:xfrm>
                <a:off x="768" y="350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92"/>
              <p:cNvSpPr>
                <a:spLocks noChangeShapeType="1"/>
              </p:cNvSpPr>
              <p:nvPr/>
            </p:nvSpPr>
            <p:spPr bwMode="auto">
              <a:xfrm flipH="1">
                <a:off x="768"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Line 93"/>
              <p:cNvSpPr>
                <a:spLocks noChangeShapeType="1"/>
              </p:cNvSpPr>
              <p:nvPr/>
            </p:nvSpPr>
            <p:spPr bwMode="auto">
              <a:xfrm>
                <a:off x="960" y="3744"/>
                <a:ext cx="19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 name="Oval 94"/>
              <p:cNvSpPr>
                <a:spLocks noChangeArrowheads="1"/>
              </p:cNvSpPr>
              <p:nvPr/>
            </p:nvSpPr>
            <p:spPr bwMode="auto">
              <a:xfrm>
                <a:off x="864" y="3168"/>
                <a:ext cx="192" cy="192"/>
              </a:xfrm>
              <a:prstGeom prst="ellipse">
                <a:avLst/>
              </a:prstGeom>
              <a:solidFill>
                <a:schemeClr val="bg1"/>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4" name="Text Box 95"/>
            <p:cNvSpPr txBox="1">
              <a:spLocks noChangeArrowheads="1"/>
            </p:cNvSpPr>
            <p:nvPr/>
          </p:nvSpPr>
          <p:spPr bwMode="auto">
            <a:xfrm>
              <a:off x="1728" y="3792"/>
              <a:ext cx="1084" cy="19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Arial" panose="020B0604020202020204" pitchFamily="34" charset="0"/>
                </a:rPr>
                <a:t>Security researcher</a:t>
              </a:r>
            </a:p>
          </p:txBody>
        </p:sp>
        <p:sp>
          <p:nvSpPr>
            <p:cNvPr id="55" name="AutoShape 96"/>
            <p:cNvSpPr>
              <a:spLocks noChangeArrowheads="1"/>
            </p:cNvSpPr>
            <p:nvPr/>
          </p:nvSpPr>
          <p:spPr bwMode="auto">
            <a:xfrm>
              <a:off x="4368" y="1296"/>
              <a:ext cx="576" cy="384"/>
            </a:xfrm>
            <a:prstGeom prst="roundRect">
              <a:avLst>
                <a:gd name="adj" fmla="val 16667"/>
              </a:avLst>
            </a:prstGeom>
            <a:solidFill>
              <a:srgbClr val="FFFFCC"/>
            </a:solidFill>
            <a:ln w="127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a:latin typeface="Arial" panose="020B0604020202020204" pitchFamily="34" charset="0"/>
                </a:rPr>
                <a:t>Security</a:t>
              </a:r>
            </a:p>
            <a:p>
              <a:pPr algn="ctr" eaLnBrk="1" hangingPunct="1"/>
              <a:r>
                <a:rPr lang="en-US" sz="1400">
                  <a:latin typeface="Arial" panose="020B0604020202020204" pitchFamily="34" charset="0"/>
                </a:rPr>
                <a:t>policy</a:t>
              </a:r>
            </a:p>
          </p:txBody>
        </p:sp>
        <p:cxnSp>
          <p:nvCxnSpPr>
            <p:cNvPr id="56" name="AutoShape 97"/>
            <p:cNvCxnSpPr>
              <a:cxnSpLocks noChangeShapeType="1"/>
              <a:stCxn id="55" idx="2"/>
              <a:endCxn id="37" idx="0"/>
            </p:cNvCxnSpPr>
            <p:nvPr/>
          </p:nvCxnSpPr>
          <p:spPr bwMode="auto">
            <a:xfrm>
              <a:off x="4656" y="1680"/>
              <a:ext cx="629" cy="48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98"/>
            <p:cNvCxnSpPr>
              <a:cxnSpLocks noChangeShapeType="1"/>
              <a:stCxn id="55" idx="2"/>
              <a:endCxn id="36" idx="0"/>
            </p:cNvCxnSpPr>
            <p:nvPr/>
          </p:nvCxnSpPr>
          <p:spPr bwMode="auto">
            <a:xfrm flipH="1">
              <a:off x="4056" y="1680"/>
              <a:ext cx="600" cy="48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99"/>
            <p:cNvSpPr txBox="1">
              <a:spLocks noChangeArrowheads="1"/>
            </p:cNvSpPr>
            <p:nvPr/>
          </p:nvSpPr>
          <p:spPr bwMode="auto">
            <a:xfrm>
              <a:off x="4464" y="1824"/>
              <a:ext cx="423" cy="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Arial" panose="020B0604020202020204" pitchFamily="34" charset="0"/>
                </a:rPr>
                <a:t>applied</a:t>
              </a:r>
            </a:p>
            <a:p>
              <a:pPr algn="ctr" eaLnBrk="1" hangingPunct="1"/>
              <a:r>
                <a:rPr lang="en-US" sz="1200">
                  <a:latin typeface="Arial" panose="020B0604020202020204" pitchFamily="34" charset="0"/>
                </a:rPr>
                <a:t> to</a:t>
              </a:r>
            </a:p>
          </p:txBody>
        </p:sp>
      </p:grpSp>
      <p:sp>
        <p:nvSpPr>
          <p:cNvPr id="3" name="Rectangle 2"/>
          <p:cNvSpPr/>
          <p:nvPr/>
        </p:nvSpPr>
        <p:spPr>
          <a:xfrm>
            <a:off x="612085" y="6472724"/>
            <a:ext cx="11246126" cy="369332"/>
          </a:xfrm>
          <a:prstGeom prst="rect">
            <a:avLst/>
          </a:prstGeom>
        </p:spPr>
        <p:txBody>
          <a:bodyPr wrap="square">
            <a:spAutoFit/>
          </a:bodyPr>
          <a:lstStyle/>
          <a:p>
            <a:r>
              <a:rPr lang="en-US" b="1" i="1" dirty="0"/>
              <a:t>Mitigation</a:t>
            </a:r>
            <a:r>
              <a:rPr lang="en-US" b="1" dirty="0"/>
              <a:t> means reducing risk of loss from the occurrence of any undesirable event</a:t>
            </a:r>
          </a:p>
        </p:txBody>
      </p:sp>
    </p:spTree>
    <p:extLst>
      <p:ext uri="{BB962C8B-B14F-4D97-AF65-F5344CB8AC3E}">
        <p14:creationId xmlns:p14="http://schemas.microsoft.com/office/powerpoint/2010/main" val="2238438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software quality and reliability</a:t>
            </a:r>
          </a:p>
        </p:txBody>
      </p:sp>
      <p:sp>
        <p:nvSpPr>
          <p:cNvPr id="3" name="Content Placeholder 2"/>
          <p:cNvSpPr>
            <a:spLocks noGrp="1"/>
          </p:cNvSpPr>
          <p:nvPr>
            <p:ph idx="1"/>
          </p:nvPr>
        </p:nvSpPr>
        <p:spPr>
          <a:xfrm>
            <a:off x="518850" y="2232439"/>
            <a:ext cx="11408107" cy="4367144"/>
          </a:xfrm>
        </p:spPr>
        <p:txBody>
          <a:bodyPr>
            <a:noAutofit/>
          </a:bodyPr>
          <a:lstStyle/>
          <a:p>
            <a:r>
              <a:rPr lang="en-US" sz="2400" dirty="0">
                <a:solidFill>
                  <a:schemeClr val="tx1"/>
                </a:solidFill>
                <a:latin typeface="Times New Roman" panose="02020603050405020304" pitchFamily="18" charset="0"/>
                <a:cs typeface="Times New Roman" panose="02020603050405020304" pitchFamily="18" charset="0"/>
              </a:rPr>
              <a:t>Software quality and reliability is concerned with the accidental failure of a program as a result of some theoretically random, unanticipated input, system interaction, or use of incorrect code. These failures are expected to follow some form of probability distribution.</a:t>
            </a:r>
          </a:p>
          <a:p>
            <a:r>
              <a:rPr lang="en-US" sz="2400" dirty="0">
                <a:solidFill>
                  <a:schemeClr val="tx1"/>
                </a:solidFill>
                <a:latin typeface="Times New Roman" panose="02020603050405020304" pitchFamily="18" charset="0"/>
                <a:cs typeface="Times New Roman" panose="02020603050405020304" pitchFamily="18" charset="0"/>
              </a:rPr>
              <a:t>The usual approach to improve software quality is to use some form of structured design and testing to identify and eliminate as many bugs as is reasonably possible from a program. </a:t>
            </a:r>
          </a:p>
          <a:p>
            <a:r>
              <a:rPr lang="en-US" sz="2400" dirty="0">
                <a:solidFill>
                  <a:schemeClr val="tx1"/>
                </a:solidFill>
                <a:latin typeface="Times New Roman" panose="02020603050405020304" pitchFamily="18" charset="0"/>
                <a:cs typeface="Times New Roman" panose="02020603050405020304" pitchFamily="18" charset="0"/>
              </a:rPr>
              <a:t>The testing usually involves variations of likely inputs and common errors, with the intent of minimizing the number of bugs that would be seen in general use. The concern is not the total number of bugs in a program, but how often they are triggered, resulting in program failure.</a:t>
            </a:r>
          </a:p>
        </p:txBody>
      </p:sp>
    </p:spTree>
    <p:extLst>
      <p:ext uri="{BB962C8B-B14F-4D97-AF65-F5344CB8AC3E}">
        <p14:creationId xmlns:p14="http://schemas.microsoft.com/office/powerpoint/2010/main" val="4043271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Software security</a:t>
            </a:r>
            <a:endParaRPr lang="en-US" b="1" dirty="0"/>
          </a:p>
        </p:txBody>
      </p:sp>
      <p:sp>
        <p:nvSpPr>
          <p:cNvPr id="3" name="Content Placeholder 2"/>
          <p:cNvSpPr>
            <a:spLocks noGrp="1"/>
          </p:cNvSpPr>
          <p:nvPr>
            <p:ph idx="1"/>
          </p:nvPr>
        </p:nvSpPr>
        <p:spPr>
          <a:xfrm>
            <a:off x="331304" y="2252870"/>
            <a:ext cx="11569148" cy="4605130"/>
          </a:xfrm>
        </p:spPr>
        <p:txBody>
          <a:bodyPr>
            <a:normAutofit/>
          </a:bodyPr>
          <a:lstStyle/>
          <a:p>
            <a:pPr algn="just"/>
            <a:r>
              <a:rPr lang="en-US" sz="2800" dirty="0">
                <a:solidFill>
                  <a:schemeClr val="tx1"/>
                </a:solidFill>
                <a:latin typeface="Times New Roman" panose="02020603050405020304" pitchFamily="18" charset="0"/>
                <a:cs typeface="Times New Roman" panose="02020603050405020304" pitchFamily="18" charset="0"/>
              </a:rPr>
              <a:t>Software security differs in that the attacker chooses the probability distribution, targeting specific bugs that result in a failure that can be exploited by the attacker. </a:t>
            </a:r>
          </a:p>
          <a:p>
            <a:pPr algn="just"/>
            <a:r>
              <a:rPr lang="en-US" sz="2800" dirty="0">
                <a:solidFill>
                  <a:schemeClr val="tx1"/>
                </a:solidFill>
                <a:latin typeface="Times New Roman" panose="02020603050405020304" pitchFamily="18" charset="0"/>
                <a:cs typeface="Times New Roman" panose="02020603050405020304" pitchFamily="18" charset="0"/>
              </a:rPr>
              <a:t>These bugs may often be </a:t>
            </a:r>
            <a:r>
              <a:rPr lang="en-US" sz="2800" i="1" dirty="0">
                <a:solidFill>
                  <a:schemeClr val="tx1"/>
                </a:solidFill>
                <a:latin typeface="Times New Roman" panose="02020603050405020304" pitchFamily="18" charset="0"/>
                <a:cs typeface="Times New Roman" panose="02020603050405020304" pitchFamily="18" charset="0"/>
              </a:rPr>
              <a:t>triggered by inputs </a:t>
            </a:r>
            <a:r>
              <a:rPr lang="en-US" sz="2800" dirty="0">
                <a:solidFill>
                  <a:schemeClr val="tx1"/>
                </a:solidFill>
                <a:latin typeface="Times New Roman" panose="02020603050405020304" pitchFamily="18" charset="0"/>
                <a:cs typeface="Times New Roman" panose="02020603050405020304" pitchFamily="18" charset="0"/>
              </a:rPr>
              <a:t>that differ dramatically from what is usually expected and hence are unlikely to be identified by common testing approaches. </a:t>
            </a:r>
          </a:p>
          <a:p>
            <a:pPr algn="just"/>
            <a:r>
              <a:rPr lang="en-US" sz="2800" dirty="0">
                <a:solidFill>
                  <a:schemeClr val="tx1"/>
                </a:solidFill>
                <a:latin typeface="Times New Roman" panose="02020603050405020304" pitchFamily="18" charset="0"/>
                <a:cs typeface="Times New Roman" panose="02020603050405020304" pitchFamily="18" charset="0"/>
              </a:rPr>
              <a:t>Writing secure, safe code requires attention to all aspects of how a program executes, the environment it executes in, and the type of data it processes. Nothing can be assumed, and all potential errors must be checked. </a:t>
            </a:r>
          </a:p>
        </p:txBody>
      </p:sp>
    </p:spTree>
    <p:extLst>
      <p:ext uri="{BB962C8B-B14F-4D97-AF65-F5344CB8AC3E}">
        <p14:creationId xmlns:p14="http://schemas.microsoft.com/office/powerpoint/2010/main" val="350475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Defensive or Secure Programming</a:t>
            </a:r>
            <a:endParaRPr lang="en-US" dirty="0"/>
          </a:p>
        </p:txBody>
      </p:sp>
      <p:sp>
        <p:nvSpPr>
          <p:cNvPr id="3" name="Content Placeholder 2"/>
          <p:cNvSpPr>
            <a:spLocks noGrp="1"/>
          </p:cNvSpPr>
          <p:nvPr>
            <p:ph idx="1"/>
          </p:nvPr>
        </p:nvSpPr>
        <p:spPr>
          <a:xfrm>
            <a:off x="320067" y="2364960"/>
            <a:ext cx="11381602" cy="3903317"/>
          </a:xfrm>
        </p:spPr>
        <p:txBody>
          <a:bodyPr>
            <a:normAutofit/>
          </a:bodyPr>
          <a:lstStyle/>
          <a:p>
            <a:pPr algn="just"/>
            <a:r>
              <a:rPr lang="en-US" sz="2800" b="1" i="1" dirty="0">
                <a:solidFill>
                  <a:srgbClr val="FF0000"/>
                </a:solidFill>
                <a:latin typeface="Times New Roman" panose="02020603050405020304" pitchFamily="18" charset="0"/>
                <a:cs typeface="Times New Roman" panose="02020603050405020304" pitchFamily="18" charset="0"/>
              </a:rPr>
              <a:t>Defensive or Secure Programming </a:t>
            </a:r>
            <a:r>
              <a:rPr lang="en-US" sz="2800" dirty="0">
                <a:solidFill>
                  <a:schemeClr val="tx1"/>
                </a:solidFill>
                <a:latin typeface="Times New Roman" panose="02020603050405020304" pitchFamily="18" charset="0"/>
                <a:cs typeface="Times New Roman" panose="02020603050405020304" pitchFamily="18" charset="0"/>
              </a:rPr>
              <a:t>is the process of designing and implementing software so that it continues to function even when under attack. </a:t>
            </a:r>
          </a:p>
          <a:p>
            <a:pPr algn="just"/>
            <a:r>
              <a:rPr lang="en-US" sz="2800" b="1" i="1" dirty="0">
                <a:solidFill>
                  <a:srgbClr val="FF0000"/>
                </a:solidFill>
                <a:latin typeface="Times New Roman" panose="02020603050405020304" pitchFamily="18" charset="0"/>
                <a:cs typeface="Times New Roman" panose="02020603050405020304" pitchFamily="18" charset="0"/>
              </a:rPr>
              <a:t>Software written </a:t>
            </a:r>
            <a:r>
              <a:rPr lang="en-US" sz="2800" dirty="0">
                <a:solidFill>
                  <a:schemeClr val="tx1"/>
                </a:solidFill>
                <a:latin typeface="Times New Roman" panose="02020603050405020304" pitchFamily="18" charset="0"/>
                <a:cs typeface="Times New Roman" panose="02020603050405020304" pitchFamily="18" charset="0"/>
              </a:rPr>
              <a:t>using this process is able to detect wrong conditions resulting from some attack, and to either continue executing safely, or to fail gracefully. </a:t>
            </a:r>
          </a:p>
          <a:p>
            <a:pPr algn="just"/>
            <a:r>
              <a:rPr lang="en-US" sz="2800" dirty="0">
                <a:solidFill>
                  <a:schemeClr val="tx1"/>
                </a:solidFill>
                <a:latin typeface="Times New Roman" panose="02020603050405020304" pitchFamily="18" charset="0"/>
                <a:cs typeface="Times New Roman" panose="02020603050405020304" pitchFamily="18" charset="0"/>
              </a:rPr>
              <a:t>The key rule in</a:t>
            </a:r>
            <a:r>
              <a:rPr lang="en-US" sz="2800" dirty="0">
                <a:latin typeface="Times New Roman" panose="02020603050405020304" pitchFamily="18" charset="0"/>
                <a:cs typeface="Times New Roman" panose="02020603050405020304" pitchFamily="18" charset="0"/>
              </a:rPr>
              <a:t> </a:t>
            </a:r>
            <a:r>
              <a:rPr lang="en-US" sz="2800" b="1" i="1" dirty="0">
                <a:solidFill>
                  <a:srgbClr val="FF0000"/>
                </a:solidFill>
                <a:latin typeface="Times New Roman" panose="02020603050405020304" pitchFamily="18" charset="0"/>
                <a:cs typeface="Times New Roman" panose="02020603050405020304" pitchFamily="18" charset="0"/>
              </a:rPr>
              <a:t>defensive programming </a:t>
            </a:r>
            <a:r>
              <a:rPr lang="en-US" sz="2800" dirty="0">
                <a:solidFill>
                  <a:schemeClr val="tx1"/>
                </a:solidFill>
                <a:latin typeface="Times New Roman" panose="02020603050405020304" pitchFamily="18" charset="0"/>
                <a:cs typeface="Times New Roman" panose="02020603050405020304" pitchFamily="18" charset="0"/>
              </a:rPr>
              <a:t>is to never assume anything, but to check all assumptions and to handle any possible error states.</a:t>
            </a:r>
          </a:p>
        </p:txBody>
      </p:sp>
    </p:spTree>
    <p:extLst>
      <p:ext uri="{BB962C8B-B14F-4D97-AF65-F5344CB8AC3E}">
        <p14:creationId xmlns:p14="http://schemas.microsoft.com/office/powerpoint/2010/main" val="396300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9265" t="14319" r="9265" b="39375"/>
          <a:stretch>
            <a:fillRect/>
          </a:stretch>
        </p:blipFill>
        <p:spPr bwMode="auto">
          <a:xfrm>
            <a:off x="5009321" y="1574615"/>
            <a:ext cx="6648569" cy="5177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extBox 3"/>
          <p:cNvSpPr txBox="1">
            <a:spLocks noChangeArrowheads="1"/>
          </p:cNvSpPr>
          <p:nvPr/>
        </p:nvSpPr>
        <p:spPr bwMode="auto">
          <a:xfrm>
            <a:off x="266817" y="3437155"/>
            <a:ext cx="41456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2400" dirty="0">
                <a:solidFill>
                  <a:schemeClr val="tx1"/>
                </a:solidFill>
                <a:latin typeface="Times New Roman" panose="02020603050405020304" pitchFamily="18" charset="0"/>
                <a:cs typeface="Times New Roman" panose="02020603050405020304" pitchFamily="18" charset="0"/>
              </a:rPr>
              <a:t>Programmers are “constructive”</a:t>
            </a:r>
          </a:p>
        </p:txBody>
      </p:sp>
      <p:sp>
        <p:nvSpPr>
          <p:cNvPr id="12292"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Abstract Program Model</a:t>
            </a:r>
          </a:p>
        </p:txBody>
      </p:sp>
    </p:spTree>
    <p:extLst>
      <p:ext uri="{BB962C8B-B14F-4D97-AF65-F5344CB8AC3E}">
        <p14:creationId xmlns:p14="http://schemas.microsoft.com/office/powerpoint/2010/main" val="4064301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Security by Design</a:t>
            </a:r>
            <a:endParaRPr lang="en-US" dirty="0"/>
          </a:p>
        </p:txBody>
      </p:sp>
      <p:pic>
        <p:nvPicPr>
          <p:cNvPr id="4" name="Picture 3"/>
          <p:cNvPicPr>
            <a:picLocks noChangeAspect="1"/>
          </p:cNvPicPr>
          <p:nvPr/>
        </p:nvPicPr>
        <p:blipFill>
          <a:blip r:embed="rId2" cstate="print"/>
          <a:stretch>
            <a:fillRect/>
          </a:stretch>
        </p:blipFill>
        <p:spPr>
          <a:xfrm>
            <a:off x="1700737" y="2389945"/>
            <a:ext cx="9028761" cy="4090368"/>
          </a:xfrm>
          <a:prstGeom prst="rect">
            <a:avLst/>
          </a:prstGeom>
        </p:spPr>
      </p:pic>
    </p:spTree>
    <p:extLst>
      <p:ext uri="{BB962C8B-B14F-4D97-AF65-F5344CB8AC3E}">
        <p14:creationId xmlns:p14="http://schemas.microsoft.com/office/powerpoint/2010/main" val="3919829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Abuse case process</a:t>
            </a:r>
          </a:p>
        </p:txBody>
      </p:sp>
      <p:sp>
        <p:nvSpPr>
          <p:cNvPr id="3" name="Content Placeholder 2"/>
          <p:cNvSpPr>
            <a:spLocks noGrp="1"/>
          </p:cNvSpPr>
          <p:nvPr>
            <p:ph idx="1"/>
          </p:nvPr>
        </p:nvSpPr>
        <p:spPr>
          <a:xfrm>
            <a:off x="704380" y="2205936"/>
            <a:ext cx="8825659" cy="447316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Input</a:t>
            </a:r>
          </a:p>
          <a:p>
            <a:pPr lvl="1"/>
            <a:r>
              <a:rPr lang="en-US" dirty="0">
                <a:solidFill>
                  <a:schemeClr val="tx1"/>
                </a:solidFill>
                <a:latin typeface="Times New Roman" panose="02020603050405020304" pitchFamily="18" charset="0"/>
                <a:cs typeface="Times New Roman" panose="02020603050405020304" pitchFamily="18" charset="0"/>
              </a:rPr>
              <a:t>– Requirements</a:t>
            </a:r>
          </a:p>
          <a:p>
            <a:pPr lvl="1"/>
            <a:r>
              <a:rPr lang="en-US" dirty="0">
                <a:solidFill>
                  <a:schemeClr val="tx1"/>
                </a:solidFill>
                <a:latin typeface="Times New Roman" panose="02020603050405020304" pitchFamily="18" charset="0"/>
                <a:cs typeface="Times New Roman" panose="02020603050405020304" pitchFamily="18" charset="0"/>
              </a:rPr>
              <a:t>–Use cases</a:t>
            </a:r>
          </a:p>
          <a:p>
            <a:pPr lvl="1"/>
            <a:r>
              <a:rPr lang="en-US" dirty="0">
                <a:solidFill>
                  <a:schemeClr val="tx1"/>
                </a:solidFill>
                <a:latin typeface="Times New Roman" panose="02020603050405020304" pitchFamily="18" charset="0"/>
                <a:cs typeface="Times New Roman" panose="02020603050405020304" pitchFamily="18" charset="0"/>
              </a:rPr>
              <a:t>– Attack patterns</a:t>
            </a:r>
          </a:p>
          <a:p>
            <a:r>
              <a:rPr lang="en-US" b="1" dirty="0">
                <a:solidFill>
                  <a:schemeClr val="tx1"/>
                </a:solidFill>
                <a:latin typeface="Times New Roman" panose="02020603050405020304" pitchFamily="18" charset="0"/>
                <a:cs typeface="Times New Roman" panose="02020603050405020304" pitchFamily="18" charset="0"/>
              </a:rPr>
              <a:t>Activities</a:t>
            </a:r>
          </a:p>
          <a:p>
            <a:pPr lvl="1"/>
            <a:r>
              <a:rPr lang="en-US" dirty="0">
                <a:solidFill>
                  <a:schemeClr val="tx1"/>
                </a:solidFill>
                <a:latin typeface="Times New Roman" panose="02020603050405020304" pitchFamily="18" charset="0"/>
                <a:cs typeface="Times New Roman" panose="02020603050405020304" pitchFamily="18" charset="0"/>
              </a:rPr>
              <a:t>– Identify threats</a:t>
            </a:r>
          </a:p>
          <a:p>
            <a:pPr lvl="1"/>
            <a:r>
              <a:rPr lang="en-US" dirty="0">
                <a:solidFill>
                  <a:schemeClr val="tx1"/>
                </a:solidFill>
                <a:latin typeface="Times New Roman" panose="02020603050405020304" pitchFamily="18" charset="0"/>
                <a:cs typeface="Times New Roman" panose="02020603050405020304" pitchFamily="18" charset="0"/>
              </a:rPr>
              <a:t>– Create anti-requirements and attack model</a:t>
            </a:r>
          </a:p>
          <a:p>
            <a:pPr lvl="1"/>
            <a:r>
              <a:rPr lang="en-US" dirty="0">
                <a:solidFill>
                  <a:schemeClr val="tx1"/>
                </a:solidFill>
                <a:latin typeface="Times New Roman" panose="02020603050405020304" pitchFamily="18" charset="0"/>
                <a:cs typeface="Times New Roman" panose="02020603050405020304" pitchFamily="18" charset="0"/>
              </a:rPr>
              <a:t>– Create misuse and abuse cases</a:t>
            </a:r>
          </a:p>
          <a:p>
            <a:r>
              <a:rPr lang="en-US" b="1" dirty="0">
                <a:solidFill>
                  <a:schemeClr val="tx1"/>
                </a:solidFill>
                <a:latin typeface="Times New Roman" panose="02020603050405020304" pitchFamily="18" charset="0"/>
                <a:cs typeface="Times New Roman" panose="02020603050405020304" pitchFamily="18" charset="0"/>
              </a:rPr>
              <a:t>Output</a:t>
            </a:r>
          </a:p>
          <a:p>
            <a:pPr lvl="1"/>
            <a:r>
              <a:rPr lang="en-US" dirty="0">
                <a:solidFill>
                  <a:schemeClr val="tx1"/>
                </a:solidFill>
                <a:latin typeface="Times New Roman" panose="02020603050405020304" pitchFamily="18" charset="0"/>
                <a:cs typeface="Times New Roman" panose="02020603050405020304" pitchFamily="18" charset="0"/>
              </a:rPr>
              <a:t>– Attack model (threats, attack patterns)</a:t>
            </a:r>
          </a:p>
          <a:p>
            <a:pPr lvl="1"/>
            <a:r>
              <a:rPr lang="en-US" dirty="0">
                <a:solidFill>
                  <a:schemeClr val="tx1"/>
                </a:solidFill>
                <a:latin typeface="Times New Roman" panose="02020603050405020304" pitchFamily="18" charset="0"/>
                <a:cs typeface="Times New Roman" panose="02020603050405020304" pitchFamily="18" charset="0"/>
              </a:rPr>
              <a:t>– Ranked misuse and abuse cases</a:t>
            </a:r>
          </a:p>
          <a:p>
            <a:endParaRPr lang="en-US" dirty="0"/>
          </a:p>
        </p:txBody>
      </p:sp>
    </p:spTree>
    <p:extLst>
      <p:ext uri="{BB962C8B-B14F-4D97-AF65-F5344CB8AC3E}">
        <p14:creationId xmlns:p14="http://schemas.microsoft.com/office/powerpoint/2010/main" val="1245510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Common steps in risk analysis</a:t>
            </a:r>
          </a:p>
        </p:txBody>
      </p:sp>
      <p:sp>
        <p:nvSpPr>
          <p:cNvPr id="3" name="Content Placeholder 2"/>
          <p:cNvSpPr>
            <a:spLocks noGrp="1"/>
          </p:cNvSpPr>
          <p:nvPr>
            <p:ph idx="1"/>
          </p:nvPr>
        </p:nvSpPr>
        <p:spPr>
          <a:xfrm>
            <a:off x="916415" y="2285448"/>
            <a:ext cx="8825659" cy="3416300"/>
          </a:xfrm>
        </p:spPr>
        <p:txBody>
          <a:bodyPr>
            <a:noAutofit/>
          </a:bodyPr>
          <a:lstStyle/>
          <a:p>
            <a:r>
              <a:rPr lang="en-US" sz="2000" dirty="0">
                <a:solidFill>
                  <a:schemeClr val="tx1"/>
                </a:solidFill>
                <a:latin typeface="Times New Roman" panose="02020603050405020304" pitchFamily="18" charset="0"/>
                <a:cs typeface="Times New Roman" panose="02020603050405020304" pitchFamily="18" charset="0"/>
              </a:rPr>
              <a:t>Study system (specs, design docs, code if ready)</a:t>
            </a:r>
          </a:p>
          <a:p>
            <a:r>
              <a:rPr lang="en-US" sz="2000" dirty="0">
                <a:solidFill>
                  <a:schemeClr val="tx1"/>
                </a:solidFill>
                <a:latin typeface="Times New Roman" panose="02020603050405020304" pitchFamily="18" charset="0"/>
                <a:cs typeface="Times New Roman" panose="02020603050405020304" pitchFamily="18" charset="0"/>
              </a:rPr>
              <a:t>Identify threats and attacker types/routes</a:t>
            </a:r>
          </a:p>
          <a:p>
            <a:r>
              <a:rPr lang="en-US" sz="2000" dirty="0">
                <a:solidFill>
                  <a:schemeClr val="tx1"/>
                </a:solidFill>
                <a:latin typeface="Times New Roman" panose="02020603050405020304" pitchFamily="18" charset="0"/>
                <a:cs typeface="Times New Roman" panose="02020603050405020304" pitchFamily="18" charset="0"/>
              </a:rPr>
              <a:t>List possible vulnerabilities in the software</a:t>
            </a:r>
          </a:p>
          <a:p>
            <a:r>
              <a:rPr lang="en-US" sz="2000" dirty="0">
                <a:solidFill>
                  <a:schemeClr val="tx1"/>
                </a:solidFill>
                <a:latin typeface="Times New Roman" panose="02020603050405020304" pitchFamily="18" charset="0"/>
                <a:cs typeface="Times New Roman" panose="02020603050405020304" pitchFamily="18" charset="0"/>
              </a:rPr>
              <a:t>Understand planned security controls (&amp; risks. . . )</a:t>
            </a:r>
          </a:p>
          <a:p>
            <a:r>
              <a:rPr lang="en-US" sz="2000" dirty="0">
                <a:solidFill>
                  <a:schemeClr val="tx1"/>
                </a:solidFill>
                <a:latin typeface="Times New Roman" panose="02020603050405020304" pitchFamily="18" charset="0"/>
                <a:cs typeface="Times New Roman" panose="02020603050405020304" pitchFamily="18" charset="0"/>
              </a:rPr>
              <a:t>Map attack scenarios (routes to exploit)</a:t>
            </a:r>
          </a:p>
          <a:p>
            <a:r>
              <a:rPr lang="en-US" sz="2000" dirty="0">
                <a:solidFill>
                  <a:schemeClr val="tx1"/>
                </a:solidFill>
                <a:latin typeface="Times New Roman" panose="02020603050405020304" pitchFamily="18" charset="0"/>
                <a:cs typeface="Times New Roman" panose="02020603050405020304" pitchFamily="18" charset="0"/>
              </a:rPr>
              <a:t>Perform impact analysis</a:t>
            </a:r>
          </a:p>
          <a:p>
            <a:r>
              <a:rPr lang="en-US" sz="2000" dirty="0">
                <a:solidFill>
                  <a:schemeClr val="tx1"/>
                </a:solidFill>
                <a:latin typeface="Times New Roman" panose="02020603050405020304" pitchFamily="18" charset="0"/>
                <a:cs typeface="Times New Roman" panose="02020603050405020304" pitchFamily="18" charset="0"/>
              </a:rPr>
              <a:t>Using likelihood estimates,</a:t>
            </a:r>
          </a:p>
          <a:p>
            <a:r>
              <a:rPr lang="en-US" sz="2000" dirty="0">
                <a:solidFill>
                  <a:schemeClr val="tx1"/>
                </a:solidFill>
                <a:latin typeface="Times New Roman" panose="02020603050405020304" pitchFamily="18" charset="0"/>
                <a:cs typeface="Times New Roman" panose="02020603050405020304" pitchFamily="18" charset="0"/>
              </a:rPr>
              <a:t>rank risks</a:t>
            </a:r>
          </a:p>
          <a:p>
            <a:r>
              <a:rPr lang="en-US" sz="2000" dirty="0">
                <a:solidFill>
                  <a:schemeClr val="tx1"/>
                </a:solidFill>
                <a:latin typeface="Times New Roman" panose="02020603050405020304" pitchFamily="18" charset="0"/>
                <a:cs typeface="Times New Roman" panose="02020603050405020304" pitchFamily="18" charset="0"/>
              </a:rPr>
              <a:t> Recommend countermeasures in priority/cost order</a:t>
            </a:r>
          </a:p>
          <a:p>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563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Security by Design</a:t>
            </a:r>
          </a:p>
        </p:txBody>
      </p:sp>
      <p:pic>
        <p:nvPicPr>
          <p:cNvPr id="2" name="Picture 1"/>
          <p:cNvPicPr>
            <a:picLocks noChangeAspect="1"/>
          </p:cNvPicPr>
          <p:nvPr/>
        </p:nvPicPr>
        <p:blipFill>
          <a:blip r:embed="rId3" cstate="print"/>
          <a:stretch>
            <a:fillRect/>
          </a:stretch>
        </p:blipFill>
        <p:spPr>
          <a:xfrm>
            <a:off x="523095" y="2471944"/>
            <a:ext cx="9393272" cy="3902352"/>
          </a:xfrm>
          <a:prstGeom prst="rect">
            <a:avLst/>
          </a:prstGeom>
        </p:spPr>
      </p:pic>
    </p:spTree>
    <p:extLst>
      <p:ext uri="{BB962C8B-B14F-4D97-AF65-F5344CB8AC3E}">
        <p14:creationId xmlns:p14="http://schemas.microsoft.com/office/powerpoint/2010/main" val="4147834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Microsoft STRIDE approach</a:t>
            </a:r>
          </a:p>
        </p:txBody>
      </p:sp>
      <p:pic>
        <p:nvPicPr>
          <p:cNvPr id="4" name="Picture 3"/>
          <p:cNvPicPr>
            <a:picLocks noChangeAspect="1"/>
          </p:cNvPicPr>
          <p:nvPr/>
        </p:nvPicPr>
        <p:blipFill>
          <a:blip r:embed="rId2" cstate="print"/>
          <a:stretch>
            <a:fillRect/>
          </a:stretch>
        </p:blipFill>
        <p:spPr>
          <a:xfrm>
            <a:off x="447259" y="2093221"/>
            <a:ext cx="9469107" cy="4764779"/>
          </a:xfrm>
          <a:prstGeom prst="rect">
            <a:avLst/>
          </a:prstGeom>
        </p:spPr>
      </p:pic>
    </p:spTree>
    <p:extLst>
      <p:ext uri="{BB962C8B-B14F-4D97-AF65-F5344CB8AC3E}">
        <p14:creationId xmlns:p14="http://schemas.microsoft.com/office/powerpoint/2010/main" val="1889531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What’s So Different About Security?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5531" y="2736022"/>
            <a:ext cx="11290852" cy="2617858"/>
          </a:xfrm>
        </p:spPr>
        <p:txBody>
          <a:bodyPr>
            <a:normAutofit lnSpcReduction="10000"/>
          </a:bodyPr>
          <a:lstStyle/>
          <a:p>
            <a:r>
              <a:rPr lang="en-US" sz="3200" dirty="0">
                <a:solidFill>
                  <a:schemeClr val="tx1"/>
                </a:solidFill>
                <a:latin typeface="Times New Roman" panose="02020603050405020304" pitchFamily="18" charset="0"/>
                <a:cs typeface="Times New Roman" panose="02020603050405020304" pitchFamily="18" charset="0"/>
              </a:rPr>
              <a:t>“Software security is about making software behave correctly in the presence of a malicious attack.”</a:t>
            </a:r>
          </a:p>
          <a:p>
            <a:r>
              <a:rPr lang="en-US" sz="3200" dirty="0">
                <a:solidFill>
                  <a:schemeClr val="tx1"/>
                </a:solidFill>
                <a:latin typeface="Times New Roman" panose="02020603050405020304" pitchFamily="18" charset="0"/>
                <a:cs typeface="Times New Roman" panose="02020603050405020304" pitchFamily="18" charset="0"/>
              </a:rPr>
              <a:t>“The difference between software safety and software security is therefore the presence of an intelligent challenger determined on breaking the system.”</a:t>
            </a:r>
          </a:p>
          <a:p>
            <a:endParaRPr lang="en-US"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8287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Handling Program Input</a:t>
            </a:r>
          </a:p>
        </p:txBody>
      </p:sp>
      <p:sp>
        <p:nvSpPr>
          <p:cNvPr id="16387" name="Rectangle 3"/>
          <p:cNvSpPr>
            <a:spLocks noGrp="1" noChangeArrowheads="1"/>
          </p:cNvSpPr>
          <p:nvPr>
            <p:ph idx="1"/>
          </p:nvPr>
        </p:nvSpPr>
        <p:spPr>
          <a:xfrm>
            <a:off x="1154954" y="2603500"/>
            <a:ext cx="10440698" cy="34163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Incorrect handling a very common failing</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Input is any source of data from outside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data read from keyboard, file, network</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also execution environment, </a:t>
            </a:r>
            <a:r>
              <a:rPr lang="en-US" altLang="en-US" sz="2400" dirty="0" err="1">
                <a:solidFill>
                  <a:schemeClr val="tx1"/>
                </a:solidFill>
                <a:latin typeface="Times New Roman" panose="02020603050405020304" pitchFamily="18" charset="0"/>
                <a:cs typeface="Times New Roman" panose="02020603050405020304" pitchFamily="18" charset="0"/>
              </a:rPr>
              <a:t>config</a:t>
            </a:r>
            <a:r>
              <a:rPr lang="en-US" altLang="en-US" sz="2400" dirty="0">
                <a:solidFill>
                  <a:schemeClr val="tx1"/>
                </a:solidFill>
                <a:latin typeface="Times New Roman" panose="02020603050405020304" pitchFamily="18" charset="0"/>
                <a:cs typeface="Times New Roman" panose="02020603050405020304" pitchFamily="18" charset="0"/>
              </a:rPr>
              <a:t> data</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Must identify all data sources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And explicitly validate assumptions on size and type of values before use</a:t>
            </a:r>
          </a:p>
        </p:txBody>
      </p:sp>
    </p:spTree>
    <p:extLst>
      <p:ext uri="{BB962C8B-B14F-4D97-AF65-F5344CB8AC3E}">
        <p14:creationId xmlns:p14="http://schemas.microsoft.com/office/powerpoint/2010/main" val="416446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77875" y="788138"/>
            <a:ext cx="8761413" cy="706964"/>
          </a:xfrm>
        </p:spPr>
        <p:txBody>
          <a:bodyPr/>
          <a:lstStyle/>
          <a:p>
            <a:pPr eaLnBrk="1" hangingPunct="1"/>
            <a:r>
              <a:rPr lang="en-US" altLang="en-US" b="1" dirty="0">
                <a:latin typeface="Times New Roman" panose="02020603050405020304" pitchFamily="18" charset="0"/>
                <a:cs typeface="Times New Roman" panose="02020603050405020304" pitchFamily="18" charset="0"/>
              </a:rPr>
              <a:t>Input Size &amp; Buffer Overflow</a:t>
            </a:r>
          </a:p>
        </p:txBody>
      </p:sp>
      <p:sp>
        <p:nvSpPr>
          <p:cNvPr id="18435" name="Rectangle 3"/>
          <p:cNvSpPr>
            <a:spLocks noGrp="1" noChangeArrowheads="1"/>
          </p:cNvSpPr>
          <p:nvPr>
            <p:ph idx="1"/>
          </p:nvPr>
        </p:nvSpPr>
        <p:spPr>
          <a:xfrm>
            <a:off x="417442" y="2299253"/>
            <a:ext cx="12357653" cy="48768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Often have assumptions about buffer size</a:t>
            </a:r>
          </a:p>
          <a:p>
            <a:pPr lvl="1" eaLnBrk="1" hangingPunct="1"/>
            <a:r>
              <a:rPr lang="en-US" altLang="en-US" sz="2400" dirty="0" err="1">
                <a:solidFill>
                  <a:schemeClr val="tx1"/>
                </a:solidFill>
                <a:latin typeface="Times New Roman" panose="02020603050405020304" pitchFamily="18" charset="0"/>
                <a:cs typeface="Times New Roman" panose="02020603050405020304" pitchFamily="18" charset="0"/>
              </a:rPr>
              <a:t>eg</a:t>
            </a:r>
            <a:r>
              <a:rPr lang="en-US" altLang="en-US" sz="2400" dirty="0">
                <a:solidFill>
                  <a:schemeClr val="tx1"/>
                </a:solidFill>
                <a:latin typeface="Times New Roman" panose="02020603050405020304" pitchFamily="18" charset="0"/>
                <a:cs typeface="Times New Roman" panose="02020603050405020304" pitchFamily="18" charset="0"/>
              </a:rPr>
              <a:t>. that user input is only a line of text</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size buffer accordingly (512 B) but fail to verify size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resulting in buffer overflow</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Testing may not identify vulnerability since focus on “normal, expected” inputs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Safe coding treats all input as dangerous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hence must process so as to protect program</a:t>
            </a:r>
          </a:p>
        </p:txBody>
      </p:sp>
    </p:spTree>
    <p:extLst>
      <p:ext uri="{BB962C8B-B14F-4D97-AF65-F5344CB8AC3E}">
        <p14:creationId xmlns:p14="http://schemas.microsoft.com/office/powerpoint/2010/main" val="932149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Interpretation of Input</a:t>
            </a:r>
          </a:p>
        </p:txBody>
      </p:sp>
      <p:sp>
        <p:nvSpPr>
          <p:cNvPr id="20483" name="Rectangle 3"/>
          <p:cNvSpPr>
            <a:spLocks noGrp="1" noChangeArrowheads="1"/>
          </p:cNvSpPr>
          <p:nvPr>
            <p:ph idx="1"/>
          </p:nvPr>
        </p:nvSpPr>
        <p:spPr>
          <a:xfrm>
            <a:off x="987286" y="2352261"/>
            <a:ext cx="10661375" cy="4075043"/>
          </a:xfrm>
        </p:spPr>
        <p:txBody>
          <a:bodyPr>
            <a:normAutofit fontScale="92500" lnSpcReduction="10000"/>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Program input may be binary or text</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binary interpretation depends on encoding and is usually application specific</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text encoded in a character set e.g. ASCII</a:t>
            </a:r>
          </a:p>
          <a:p>
            <a:pPr lvl="1"/>
            <a:r>
              <a:rPr lang="en-US" sz="2400" dirty="0">
                <a:solidFill>
                  <a:schemeClr val="tx1"/>
                </a:solidFill>
                <a:latin typeface="Times New Roman" panose="02020603050405020304" pitchFamily="18" charset="0"/>
                <a:cs typeface="Times New Roman" panose="02020603050405020304" pitchFamily="18" charset="0"/>
              </a:rPr>
              <a:t>When processing binary data, the program assumes some interpretation of the raw binary values as representing integers, floating-point numbers, character strings, or some more complex structured data representation.</a:t>
            </a:r>
            <a:endParaRPr lang="en-US" altLang="en-US" sz="2400" dirty="0">
              <a:solidFill>
                <a:schemeClr val="tx1"/>
              </a:solidFill>
              <a:latin typeface="Times New Roman" panose="02020603050405020304" pitchFamily="18" charset="0"/>
              <a:cs typeface="Times New Roman" panose="02020603050405020304" pitchFamily="18" charset="0"/>
            </a:endParaRP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internationalization has increased variety; also need to validate interpretation before use</a:t>
            </a:r>
          </a:p>
          <a:p>
            <a:pPr lvl="2" eaLnBrk="1" hangingPunct="1"/>
            <a:r>
              <a:rPr lang="en-US" altLang="en-US" sz="2400" dirty="0">
                <a:solidFill>
                  <a:schemeClr val="tx1"/>
                </a:solidFill>
                <a:latin typeface="Times New Roman" panose="02020603050405020304" pitchFamily="18" charset="0"/>
                <a:cs typeface="Times New Roman" panose="02020603050405020304" pitchFamily="18" charset="0"/>
              </a:rPr>
              <a:t>e.g. filename, URL, email address, identifier</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Failure to validate may result in an exploitable vulnerability</a:t>
            </a:r>
          </a:p>
        </p:txBody>
      </p:sp>
    </p:spTree>
    <p:extLst>
      <p:ext uri="{BB962C8B-B14F-4D97-AF65-F5344CB8AC3E}">
        <p14:creationId xmlns:p14="http://schemas.microsoft.com/office/powerpoint/2010/main" val="2011274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Injection Attacks</a:t>
            </a:r>
          </a:p>
        </p:txBody>
      </p:sp>
      <p:sp>
        <p:nvSpPr>
          <p:cNvPr id="22531" name="Rectangle 3"/>
          <p:cNvSpPr>
            <a:spLocks noGrp="1" noChangeArrowheads="1"/>
          </p:cNvSpPr>
          <p:nvPr>
            <p:ph idx="1"/>
          </p:nvPr>
        </p:nvSpPr>
        <p:spPr>
          <a:xfrm>
            <a:off x="238539" y="2470979"/>
            <a:ext cx="11635409" cy="3416300"/>
          </a:xfrm>
        </p:spPr>
        <p:txBody>
          <a:bodyPr>
            <a:no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The term injection attack refers to a wide variety of program flaws related to invalid handling of input data. Specifically, this problem occurs when program input data can accidentally or deliberately influence the flow of execution of the program.</a:t>
            </a:r>
            <a:endParaRPr lang="en-US" altLang="en-US" sz="2400" dirty="0">
              <a:solidFill>
                <a:schemeClr val="tx1"/>
              </a:solidFill>
              <a:latin typeface="Times New Roman" panose="02020603050405020304" pitchFamily="18" charset="0"/>
              <a:cs typeface="Times New Roman" panose="02020603050405020304" pitchFamily="18" charset="0"/>
            </a:endParaRP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Flaws relating to invalid input handling which then influences program execution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often when passed as a parameter to a helper program or other utility or subsystem</a:t>
            </a:r>
          </a:p>
          <a:p>
            <a:pPr lvl="1" eaLnBrk="1" hangingPunct="1"/>
            <a:r>
              <a:rPr lang="en-US" altLang="en-US" sz="2400" i="1" dirty="0">
                <a:solidFill>
                  <a:schemeClr val="tx1"/>
                </a:solidFill>
                <a:latin typeface="Times New Roman" panose="02020603050405020304" pitchFamily="18" charset="0"/>
                <a:cs typeface="Times New Roman" panose="02020603050405020304" pitchFamily="18" charset="0"/>
              </a:rPr>
              <a:t>input data (deliberately) influence the flow of exec</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Most often occurs in scripting languages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encourage reuse of other programs/modules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often seen in web CGI scripts</a:t>
            </a:r>
          </a:p>
        </p:txBody>
      </p:sp>
    </p:spTree>
    <p:extLst>
      <p:ext uri="{BB962C8B-B14F-4D97-AF65-F5344CB8AC3E}">
        <p14:creationId xmlns:p14="http://schemas.microsoft.com/office/powerpoint/2010/main" val="1011714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SQL Injection</a:t>
            </a:r>
          </a:p>
        </p:txBody>
      </p:sp>
      <p:sp>
        <p:nvSpPr>
          <p:cNvPr id="28675" name="Rectangle 3"/>
          <p:cNvSpPr>
            <a:spLocks noGrp="1" noChangeArrowheads="1"/>
          </p:cNvSpPr>
          <p:nvPr>
            <p:ph idx="1"/>
          </p:nvPr>
        </p:nvSpPr>
        <p:spPr>
          <a:xfrm>
            <a:off x="1035328" y="2296583"/>
            <a:ext cx="11317356" cy="2873375"/>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Another widely exploited injection attack</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When input used in SQL query to database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similar to command injection </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SQL meta-characters are the concern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must check and validate input for these</a:t>
            </a:r>
          </a:p>
        </p:txBody>
      </p:sp>
      <p:sp>
        <p:nvSpPr>
          <p:cNvPr id="28678" name="TextBox 5"/>
          <p:cNvSpPr txBox="1">
            <a:spLocks noChangeArrowheads="1"/>
          </p:cNvSpPr>
          <p:nvPr/>
        </p:nvSpPr>
        <p:spPr bwMode="auto">
          <a:xfrm>
            <a:off x="6694006" y="5290609"/>
            <a:ext cx="3084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1400" b="1">
                <a:solidFill>
                  <a:srgbClr val="FF0000"/>
                </a:solidFill>
                <a:latin typeface="Courier New" panose="02070309020205020404" pitchFamily="49" charset="0"/>
                <a:cs typeface="Courier New" panose="02070309020205020404" pitchFamily="49" charset="0"/>
              </a:rPr>
              <a:t>Bob’ drop table customers==</a:t>
            </a:r>
          </a:p>
        </p:txBody>
      </p:sp>
    </p:spTree>
    <p:extLst>
      <p:ext uri="{BB962C8B-B14F-4D97-AF65-F5344CB8AC3E}">
        <p14:creationId xmlns:p14="http://schemas.microsoft.com/office/powerpoint/2010/main" val="2399131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Code Injection</a:t>
            </a:r>
          </a:p>
        </p:txBody>
      </p:sp>
      <p:sp>
        <p:nvSpPr>
          <p:cNvPr id="30723" name="Rectangle 3"/>
          <p:cNvSpPr>
            <a:spLocks noGrp="1" noChangeArrowheads="1"/>
          </p:cNvSpPr>
          <p:nvPr>
            <p:ph idx="1"/>
          </p:nvPr>
        </p:nvSpPr>
        <p:spPr>
          <a:xfrm>
            <a:off x="1724867" y="2415209"/>
            <a:ext cx="8229600" cy="3024188"/>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Further variant</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Input includes code that is then executed</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see PHP remote code injection vulnerability</a:t>
            </a:r>
          </a:p>
          <a:p>
            <a:pPr lvl="2" eaLnBrk="1" hangingPunct="1"/>
            <a:r>
              <a:rPr lang="en-US" altLang="en-US" sz="2400" dirty="0">
                <a:solidFill>
                  <a:schemeClr val="tx1"/>
                </a:solidFill>
                <a:latin typeface="Times New Roman" panose="02020603050405020304" pitchFamily="18" charset="0"/>
                <a:cs typeface="Times New Roman" panose="02020603050405020304" pitchFamily="18" charset="0"/>
              </a:rPr>
              <a:t>variable + global field variables + remote include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this type of attack is widely exploited</a:t>
            </a:r>
          </a:p>
        </p:txBody>
      </p:sp>
    </p:spTree>
    <p:extLst>
      <p:ext uri="{BB962C8B-B14F-4D97-AF65-F5344CB8AC3E}">
        <p14:creationId xmlns:p14="http://schemas.microsoft.com/office/powerpoint/2010/main" val="768904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Cross Site Scripting Attacks</a:t>
            </a:r>
          </a:p>
        </p:txBody>
      </p:sp>
      <p:sp>
        <p:nvSpPr>
          <p:cNvPr id="32771" name="Rectangle 3"/>
          <p:cNvSpPr>
            <a:spLocks noGrp="1" noChangeArrowheads="1"/>
          </p:cNvSpPr>
          <p:nvPr>
            <p:ph idx="1"/>
          </p:nvPr>
        </p:nvSpPr>
        <p:spPr>
          <a:xfrm>
            <a:off x="251791" y="2179983"/>
            <a:ext cx="11940209" cy="4876800"/>
          </a:xfrm>
        </p:spPr>
        <p:txBody>
          <a:bodyPr>
            <a:normAutofit lnSpcReduction="10000"/>
          </a:bodyPr>
          <a:lstStyle/>
          <a:p>
            <a:r>
              <a:rPr lang="en-US" sz="2400" dirty="0">
                <a:solidFill>
                  <a:schemeClr val="tx1"/>
                </a:solidFill>
                <a:latin typeface="Times New Roman" panose="02020603050405020304" pitchFamily="18" charset="0"/>
                <a:cs typeface="Times New Roman" panose="02020603050405020304" pitchFamily="18" charset="0"/>
              </a:rPr>
              <a:t>The term injection attack refers to a wide variety of program flaws related to invalid handling of input data. Specifically, this problem occurs when program input data can accidentally or deliberately influence the flow of execution of the program.</a:t>
            </a:r>
            <a:endParaRPr lang="en-US" altLang="en-US" sz="2400" dirty="0">
              <a:solidFill>
                <a:schemeClr val="tx1"/>
              </a:solidFill>
              <a:latin typeface="Times New Roman" panose="02020603050405020304" pitchFamily="18" charset="0"/>
              <a:cs typeface="Times New Roman" panose="02020603050405020304" pitchFamily="18" charset="0"/>
            </a:endParaRP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Attacks where input from one user is later output to another user</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XSS commonly seen in scripted web apps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with script code included in output to browser</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any supported script, e.g. </a:t>
            </a:r>
            <a:r>
              <a:rPr lang="en-US" altLang="en-US" sz="2400" dirty="0" err="1">
                <a:solidFill>
                  <a:schemeClr val="tx1"/>
                </a:solidFill>
                <a:latin typeface="Times New Roman" panose="02020603050405020304" pitchFamily="18" charset="0"/>
                <a:cs typeface="Times New Roman" panose="02020603050405020304" pitchFamily="18" charset="0"/>
              </a:rPr>
              <a:t>Javascript</a:t>
            </a:r>
            <a:r>
              <a:rPr lang="en-US" altLang="en-US" sz="2400" dirty="0">
                <a:solidFill>
                  <a:schemeClr val="tx1"/>
                </a:solidFill>
                <a:latin typeface="Times New Roman" panose="02020603050405020304" pitchFamily="18" charset="0"/>
                <a:cs typeface="Times New Roman" panose="02020603050405020304" pitchFamily="18" charset="0"/>
              </a:rPr>
              <a:t>, ActiveX</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assumed to come from application on site</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XSS reflection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malicious code supplied to site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subsequently displayed to other users</a:t>
            </a:r>
          </a:p>
        </p:txBody>
      </p:sp>
    </p:spTree>
    <p:extLst>
      <p:ext uri="{BB962C8B-B14F-4D97-AF65-F5344CB8AC3E}">
        <p14:creationId xmlns:p14="http://schemas.microsoft.com/office/powerpoint/2010/main" val="2650161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928870" y="949213"/>
            <a:ext cx="8761413" cy="706964"/>
          </a:xfrm>
        </p:spPr>
        <p:txBody>
          <a:bodyPr/>
          <a:lstStyle/>
          <a:p>
            <a:r>
              <a:rPr lang="en-US" b="1" i="1" dirty="0"/>
              <a:t>XSS Attacks</a:t>
            </a:r>
          </a:p>
        </p:txBody>
      </p:sp>
      <p:pic>
        <p:nvPicPr>
          <p:cNvPr id="34820"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804" y="2465018"/>
            <a:ext cx="4907390" cy="3418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2" descr="How Cross-site Scripting Work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9577" y="2623584"/>
            <a:ext cx="5603590" cy="3544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Box 5"/>
          <p:cNvSpPr txBox="1">
            <a:spLocks noChangeArrowheads="1"/>
          </p:cNvSpPr>
          <p:nvPr/>
        </p:nvSpPr>
        <p:spPr bwMode="auto">
          <a:xfrm>
            <a:off x="478749" y="6077984"/>
            <a:ext cx="101359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sz="2400" dirty="0">
                <a:latin typeface="Times New Roman" panose="02020603050405020304" pitchFamily="18" charset="0"/>
                <a:cs typeface="Times New Roman" panose="02020603050405020304" pitchFamily="18" charset="0"/>
                <a:hlinkClick r:id="rId4"/>
              </a:rPr>
              <a:t>http://msdn.microsoft.com/en-us/library/aa973813.aspx</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466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An XSS Example</a:t>
            </a:r>
          </a:p>
        </p:txBody>
      </p:sp>
      <p:sp>
        <p:nvSpPr>
          <p:cNvPr id="35843" name="Rectangle 3"/>
          <p:cNvSpPr>
            <a:spLocks noGrp="1" noChangeArrowheads="1"/>
          </p:cNvSpPr>
          <p:nvPr>
            <p:ph idx="1"/>
          </p:nvPr>
        </p:nvSpPr>
        <p:spPr>
          <a:xfrm>
            <a:off x="1053548" y="2282687"/>
            <a:ext cx="11138452" cy="3581400"/>
          </a:xfrm>
        </p:spPr>
        <p:txBody>
          <a:bodyPr>
            <a:normAutofit/>
          </a:bodyPr>
          <a:lstStyle/>
          <a:p>
            <a:pPr eaLnBrk="1" hangingPunct="1"/>
            <a:r>
              <a:rPr lang="en-US" altLang="en-US" sz="2400" dirty="0" err="1">
                <a:solidFill>
                  <a:schemeClr val="tx1"/>
                </a:solidFill>
                <a:latin typeface="Times New Roman" panose="02020603050405020304" pitchFamily="18" charset="0"/>
                <a:cs typeface="Times New Roman" panose="02020603050405020304" pitchFamily="18" charset="0"/>
              </a:rPr>
              <a:t>Guestbooks</a:t>
            </a:r>
            <a:r>
              <a:rPr lang="en-US" altLang="en-US" sz="2400" dirty="0">
                <a:solidFill>
                  <a:schemeClr val="tx1"/>
                </a:solidFill>
                <a:latin typeface="Times New Roman" panose="02020603050405020304" pitchFamily="18" charset="0"/>
                <a:cs typeface="Times New Roman" panose="02020603050405020304" pitchFamily="18" charset="0"/>
              </a:rPr>
              <a:t>, wikis, blogs </a:t>
            </a:r>
            <a:r>
              <a:rPr lang="en-US" altLang="en-US" sz="2400" dirty="0" err="1">
                <a:solidFill>
                  <a:schemeClr val="tx1"/>
                </a:solidFill>
                <a:latin typeface="Times New Roman" panose="02020603050405020304" pitchFamily="18" charset="0"/>
                <a:cs typeface="Times New Roman" panose="02020603050405020304" pitchFamily="18" charset="0"/>
              </a:rPr>
              <a:t>etc</a:t>
            </a:r>
            <a:endParaRPr lang="en-US" altLang="en-US" sz="2400" dirty="0">
              <a:solidFill>
                <a:schemeClr val="tx1"/>
              </a:solidFill>
              <a:latin typeface="Times New Roman" panose="02020603050405020304" pitchFamily="18" charset="0"/>
              <a:cs typeface="Times New Roman" panose="02020603050405020304" pitchFamily="18" charset="0"/>
            </a:endParaRP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Where comment includes script code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e.g. to collect cookie details of viewing users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Need to validate data supplied</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including handling various possible encodings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Attacks both input and output handling</a:t>
            </a:r>
          </a:p>
        </p:txBody>
      </p:sp>
    </p:spTree>
    <p:extLst>
      <p:ext uri="{BB962C8B-B14F-4D97-AF65-F5344CB8AC3E}">
        <p14:creationId xmlns:p14="http://schemas.microsoft.com/office/powerpoint/2010/main" val="2737352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b="1" dirty="0"/>
              <a:t>Validating Input Syntax</a:t>
            </a:r>
          </a:p>
        </p:txBody>
      </p:sp>
      <p:sp>
        <p:nvSpPr>
          <p:cNvPr id="37891" name="Rectangle 3"/>
          <p:cNvSpPr>
            <a:spLocks noGrp="1" noChangeArrowheads="1"/>
          </p:cNvSpPr>
          <p:nvPr>
            <p:ph idx="1"/>
          </p:nvPr>
        </p:nvSpPr>
        <p:spPr>
          <a:xfrm>
            <a:off x="1154954" y="2176670"/>
            <a:ext cx="10422835" cy="51054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To ensure input data meets assumptions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e.g. is printable, HTML, email, </a:t>
            </a:r>
            <a:r>
              <a:rPr lang="en-US" altLang="en-US" sz="2400" dirty="0" err="1">
                <a:solidFill>
                  <a:schemeClr val="tx1"/>
                </a:solidFill>
                <a:latin typeface="Times New Roman" panose="02020603050405020304" pitchFamily="18" charset="0"/>
                <a:cs typeface="Times New Roman" panose="02020603050405020304" pitchFamily="18" charset="0"/>
              </a:rPr>
              <a:t>userid</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etc</a:t>
            </a:r>
            <a:endParaRPr lang="en-US" altLang="en-US" sz="2400" dirty="0">
              <a:solidFill>
                <a:schemeClr val="tx1"/>
              </a:solidFill>
              <a:latin typeface="Times New Roman" panose="02020603050405020304" pitchFamily="18" charset="0"/>
              <a:cs typeface="Times New Roman" panose="02020603050405020304" pitchFamily="18" charset="0"/>
            </a:endParaRP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Compare to what is known acceptable</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not to known dangerous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as can miss new problems, bypass methods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Commonly use regular expressions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pattern of characters describe allowable input</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details vary between languages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Bad input either rejected or altered</a:t>
            </a:r>
          </a:p>
        </p:txBody>
      </p:sp>
    </p:spTree>
    <p:extLst>
      <p:ext uri="{BB962C8B-B14F-4D97-AF65-F5344CB8AC3E}">
        <p14:creationId xmlns:p14="http://schemas.microsoft.com/office/powerpoint/2010/main" val="2114372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Validating Numeric Input</a:t>
            </a:r>
          </a:p>
        </p:txBody>
      </p:sp>
      <p:sp>
        <p:nvSpPr>
          <p:cNvPr id="41987" name="Rectangle 3"/>
          <p:cNvSpPr>
            <a:spLocks noGrp="1" noChangeArrowheads="1"/>
          </p:cNvSpPr>
          <p:nvPr>
            <p:ph idx="1"/>
          </p:nvPr>
        </p:nvSpPr>
        <p:spPr>
          <a:xfrm>
            <a:off x="967409" y="2365512"/>
            <a:ext cx="8458200" cy="4800600"/>
          </a:xfrm>
        </p:spPr>
        <p:txBody>
          <a:bodyPr>
            <a:normAutofit/>
          </a:bodyPr>
          <a:lstStyle/>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May have data representing numeric values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Internally stored in fixed sized value</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e.g. 8, 16, 32, 64-bit integers or 32, 64, 96 float</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signed or unsigned</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Must correctly interpret text form and then process consistently</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have issues comparing signed to unsigned </a:t>
            </a:r>
          </a:p>
          <a:p>
            <a:pPr lvl="1" eaLnBrk="1" hangingPunct="1">
              <a:lnSpc>
                <a:spcPct val="90000"/>
              </a:lnSpc>
            </a:pPr>
            <a:r>
              <a:rPr lang="en-US" altLang="en-US" sz="2400" i="1" dirty="0">
                <a:solidFill>
                  <a:schemeClr val="tx1"/>
                </a:solidFill>
                <a:latin typeface="Times New Roman" panose="02020603050405020304" pitchFamily="18" charset="0"/>
                <a:cs typeface="Times New Roman" panose="02020603050405020304" pitchFamily="18" charset="0"/>
              </a:rPr>
              <a:t>e.g. large positive unsigned is negative signed</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could be used to thwart buffer overflow check</a:t>
            </a:r>
          </a:p>
        </p:txBody>
      </p:sp>
    </p:spTree>
    <p:extLst>
      <p:ext uri="{BB962C8B-B14F-4D97-AF65-F5344CB8AC3E}">
        <p14:creationId xmlns:p14="http://schemas.microsoft.com/office/powerpoint/2010/main" val="1151774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Input Fuzzing</a:t>
            </a:r>
          </a:p>
        </p:txBody>
      </p:sp>
      <p:sp>
        <p:nvSpPr>
          <p:cNvPr id="44035" name="Rectangle 3"/>
          <p:cNvSpPr>
            <a:spLocks noGrp="1" noChangeArrowheads="1"/>
          </p:cNvSpPr>
          <p:nvPr>
            <p:ph idx="1"/>
          </p:nvPr>
        </p:nvSpPr>
        <p:spPr>
          <a:xfrm>
            <a:off x="868017" y="2352261"/>
            <a:ext cx="10475844" cy="3902765"/>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Powerful testing method using a large range of randomly generated inputs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to test whether program/function correctly handles abnormal inputs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simple, free of assumptions, cheap</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assists with reliability as well as security</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Can also use templates to generate classes of known problem inputs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could then miss bugs, so use random as well</a:t>
            </a:r>
          </a:p>
        </p:txBody>
      </p:sp>
    </p:spTree>
    <p:extLst>
      <p:ext uri="{BB962C8B-B14F-4D97-AF65-F5344CB8AC3E}">
        <p14:creationId xmlns:p14="http://schemas.microsoft.com/office/powerpoint/2010/main" val="1333989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69233" y="841146"/>
            <a:ext cx="8761413" cy="706964"/>
          </a:xfrm>
        </p:spPr>
        <p:txBody>
          <a:bodyPr/>
          <a:lstStyle/>
          <a:p>
            <a:pPr eaLnBrk="1" hangingPunct="1"/>
            <a:r>
              <a:rPr lang="en-US" altLang="en-US" b="1" dirty="0">
                <a:latin typeface="Times New Roman" panose="02020603050405020304" pitchFamily="18" charset="0"/>
                <a:cs typeface="Times New Roman" panose="02020603050405020304" pitchFamily="18" charset="0"/>
              </a:rPr>
              <a:t>Writing Safe Program Code</a:t>
            </a:r>
          </a:p>
        </p:txBody>
      </p:sp>
      <p:sp>
        <p:nvSpPr>
          <p:cNvPr id="46083" name="Rectangle 3"/>
          <p:cNvSpPr>
            <a:spLocks noGrp="1" noChangeArrowheads="1"/>
          </p:cNvSpPr>
          <p:nvPr>
            <p:ph idx="1"/>
          </p:nvPr>
        </p:nvSpPr>
        <p:spPr>
          <a:xfrm>
            <a:off x="669233" y="2312504"/>
            <a:ext cx="11430001" cy="48006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Next concern is processing of data by some algorithm to solve required problem</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Compiled to machine code or interpreted</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have execution of machine instructions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manipulate data in memory and registers</a:t>
            </a:r>
          </a:p>
          <a:p>
            <a:pPr eaLnBrk="1" hangingPunct="1"/>
            <a:r>
              <a:rPr lang="en-US" altLang="en-US" sz="2400" b="1" i="1" dirty="0">
                <a:solidFill>
                  <a:srgbClr val="0070C0"/>
                </a:solidFill>
                <a:latin typeface="Times New Roman" panose="02020603050405020304" pitchFamily="18" charset="0"/>
                <a:cs typeface="Times New Roman" panose="02020603050405020304" pitchFamily="18" charset="0"/>
              </a:rPr>
              <a:t>Security issues: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correct algorithm implementation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correct machine instructions for algorithm</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valid manipulation of data</a:t>
            </a:r>
          </a:p>
        </p:txBody>
      </p:sp>
    </p:spTree>
    <p:extLst>
      <p:ext uri="{BB962C8B-B14F-4D97-AF65-F5344CB8AC3E}">
        <p14:creationId xmlns:p14="http://schemas.microsoft.com/office/powerpoint/2010/main" val="2890911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en-US" b="1" dirty="0"/>
              <a:t>Correct Algorithm Implementation</a:t>
            </a:r>
          </a:p>
        </p:txBody>
      </p:sp>
      <p:sp>
        <p:nvSpPr>
          <p:cNvPr id="48131" name="Rectangle 3"/>
          <p:cNvSpPr>
            <a:spLocks noGrp="1" noChangeArrowheads="1"/>
          </p:cNvSpPr>
          <p:nvPr>
            <p:ph idx="1"/>
          </p:nvPr>
        </p:nvSpPr>
        <p:spPr>
          <a:xfrm>
            <a:off x="828261" y="2259495"/>
            <a:ext cx="11151704" cy="5029200"/>
          </a:xfrm>
        </p:spPr>
        <p:txBody>
          <a:bodyPr>
            <a:normAutofit/>
          </a:bodyPr>
          <a:lstStyle/>
          <a:p>
            <a:pPr eaLnBrk="1" hangingPunct="1"/>
            <a:r>
              <a:rPr lang="en-US" altLang="en-US" sz="2400" dirty="0" err="1">
                <a:solidFill>
                  <a:schemeClr val="tx1"/>
                </a:solidFill>
                <a:latin typeface="Times New Roman" panose="02020603050405020304" pitchFamily="18" charset="0"/>
                <a:cs typeface="Times New Roman" panose="02020603050405020304" pitchFamily="18" charset="0"/>
              </a:rPr>
              <a:t>Sssue</a:t>
            </a:r>
            <a:r>
              <a:rPr lang="en-US" altLang="en-US" sz="2400" dirty="0">
                <a:solidFill>
                  <a:schemeClr val="tx1"/>
                </a:solidFill>
                <a:latin typeface="Times New Roman" panose="02020603050405020304" pitchFamily="18" charset="0"/>
                <a:cs typeface="Times New Roman" panose="02020603050405020304" pitchFamily="18" charset="0"/>
              </a:rPr>
              <a:t> of good program development to correctly handle all problem variants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c.f. Netscape random number bug</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supposed to be unpredictable, but wasn’t</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When </a:t>
            </a:r>
            <a:r>
              <a:rPr lang="en-US" altLang="en-US" sz="2400" b="1" i="1" dirty="0">
                <a:solidFill>
                  <a:srgbClr val="FF0000"/>
                </a:solidFill>
                <a:latin typeface="Times New Roman" panose="02020603050405020304" pitchFamily="18" charset="0"/>
                <a:cs typeface="Times New Roman" panose="02020603050405020304" pitchFamily="18" charset="0"/>
              </a:rPr>
              <a:t>debug/test code </a:t>
            </a:r>
            <a:r>
              <a:rPr lang="en-US" altLang="en-US" sz="2400" dirty="0">
                <a:solidFill>
                  <a:schemeClr val="tx1"/>
                </a:solidFill>
                <a:latin typeface="Times New Roman" panose="02020603050405020304" pitchFamily="18" charset="0"/>
                <a:cs typeface="Times New Roman" panose="02020603050405020304" pitchFamily="18" charset="0"/>
              </a:rPr>
              <a:t>left in production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used to access data or bypass checks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c.f. Morris Worm exploit of </a:t>
            </a:r>
            <a:r>
              <a:rPr lang="en-US" altLang="en-US" sz="2400" dirty="0" err="1">
                <a:solidFill>
                  <a:schemeClr val="tx1"/>
                </a:solidFill>
                <a:latin typeface="Times New Roman" panose="02020603050405020304" pitchFamily="18" charset="0"/>
                <a:cs typeface="Times New Roman" panose="02020603050405020304" pitchFamily="18" charset="0"/>
              </a:rPr>
              <a:t>sendmail</a:t>
            </a:r>
            <a:endParaRPr lang="en-US" altLang="en-US" sz="2400" dirty="0">
              <a:solidFill>
                <a:schemeClr val="tx1"/>
              </a:solidFill>
              <a:latin typeface="Times New Roman" panose="02020603050405020304" pitchFamily="18" charset="0"/>
              <a:cs typeface="Times New Roman" panose="02020603050405020304" pitchFamily="18" charset="0"/>
            </a:endParaRP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Hence care needed in </a:t>
            </a:r>
            <a:r>
              <a:rPr lang="en-US" altLang="en-US" sz="2400" b="1" i="1" dirty="0">
                <a:solidFill>
                  <a:srgbClr val="FF0000"/>
                </a:solidFill>
                <a:latin typeface="Times New Roman" panose="02020603050405020304" pitchFamily="18" charset="0"/>
                <a:cs typeface="Times New Roman" panose="02020603050405020304" pitchFamily="18" charset="0"/>
              </a:rPr>
              <a:t>design/implement</a:t>
            </a:r>
          </a:p>
        </p:txBody>
      </p:sp>
    </p:spTree>
    <p:extLst>
      <p:ext uri="{BB962C8B-B14F-4D97-AF65-F5344CB8AC3E}">
        <p14:creationId xmlns:p14="http://schemas.microsoft.com/office/powerpoint/2010/main" val="3302242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en-US" b="1" dirty="0"/>
              <a:t>Correct Machine Language</a:t>
            </a:r>
          </a:p>
        </p:txBody>
      </p:sp>
      <p:sp>
        <p:nvSpPr>
          <p:cNvPr id="50179" name="Rectangle 3"/>
          <p:cNvSpPr>
            <a:spLocks noGrp="1" noChangeArrowheads="1"/>
          </p:cNvSpPr>
          <p:nvPr>
            <p:ph idx="1"/>
          </p:nvPr>
        </p:nvSpPr>
        <p:spPr>
          <a:xfrm>
            <a:off x="510208" y="2484783"/>
            <a:ext cx="11681791" cy="48006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Ensure machine instructions correctly implement high-level language code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often ignored by programmers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assume compiler/interpreter is correct</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c.f. Ken Thompson’s paper</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Requires comparing machine code with original source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slow and difficult</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is required for higher Common Criteria EAL’s</a:t>
            </a:r>
          </a:p>
        </p:txBody>
      </p:sp>
    </p:spTree>
    <p:extLst>
      <p:ext uri="{BB962C8B-B14F-4D97-AF65-F5344CB8AC3E}">
        <p14:creationId xmlns:p14="http://schemas.microsoft.com/office/powerpoint/2010/main" val="3052036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Correct Data Interpretation</a:t>
            </a:r>
          </a:p>
        </p:txBody>
      </p:sp>
      <p:sp>
        <p:nvSpPr>
          <p:cNvPr id="52227" name="Rectangle 3"/>
          <p:cNvSpPr>
            <a:spLocks noGrp="1" noChangeArrowheads="1"/>
          </p:cNvSpPr>
          <p:nvPr>
            <p:ph idx="1"/>
          </p:nvPr>
        </p:nvSpPr>
        <p:spPr>
          <a:xfrm>
            <a:off x="828261" y="2259496"/>
            <a:ext cx="12238382" cy="48768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Data stored as bits/bytes in computer</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grouped as words, </a:t>
            </a:r>
            <a:r>
              <a:rPr lang="en-US" altLang="en-US" sz="2400" dirty="0" err="1">
                <a:solidFill>
                  <a:schemeClr val="tx1"/>
                </a:solidFill>
                <a:latin typeface="Times New Roman" panose="02020603050405020304" pitchFamily="18" charset="0"/>
                <a:cs typeface="Times New Roman" panose="02020603050405020304" pitchFamily="18" charset="0"/>
              </a:rPr>
              <a:t>longwords</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etc</a:t>
            </a:r>
            <a:endParaRPr lang="en-US" altLang="en-US" sz="2400" dirty="0">
              <a:solidFill>
                <a:schemeClr val="tx1"/>
              </a:solidFill>
              <a:latin typeface="Times New Roman" panose="02020603050405020304" pitchFamily="18" charset="0"/>
              <a:cs typeface="Times New Roman" panose="02020603050405020304" pitchFamily="18" charset="0"/>
            </a:endParaRP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interpretation depends on machine instruction</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Languages provide different capabilities for restricting/validating data use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strongly typed languages more limited, safer</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others more liberal, flexible, less safe e.g. C</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Strongly typed languages are safer</a:t>
            </a:r>
          </a:p>
        </p:txBody>
      </p:sp>
    </p:spTree>
    <p:extLst>
      <p:ext uri="{BB962C8B-B14F-4D97-AF65-F5344CB8AC3E}">
        <p14:creationId xmlns:p14="http://schemas.microsoft.com/office/powerpoint/2010/main" val="958058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Correct Use of Memory</a:t>
            </a:r>
          </a:p>
        </p:txBody>
      </p:sp>
      <p:sp>
        <p:nvSpPr>
          <p:cNvPr id="54275" name="Rectangle 3"/>
          <p:cNvSpPr>
            <a:spLocks noGrp="1" noChangeArrowheads="1"/>
          </p:cNvSpPr>
          <p:nvPr>
            <p:ph idx="1"/>
          </p:nvPr>
        </p:nvSpPr>
        <p:spPr>
          <a:xfrm>
            <a:off x="1048936" y="2272747"/>
            <a:ext cx="10639481" cy="48768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Issue of dynamic memory allocation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used to manipulate unknown amounts of data</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allocated when needed, released when done</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Memory leak occurs if incorrectly released</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Many older languages have no explicit support for dynamic memory allocation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rather use standard library functions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programmer ensures correct allocation/release</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Modern languages handle automatically</a:t>
            </a:r>
          </a:p>
        </p:txBody>
      </p:sp>
    </p:spTree>
    <p:extLst>
      <p:ext uri="{BB962C8B-B14F-4D97-AF65-F5344CB8AC3E}">
        <p14:creationId xmlns:p14="http://schemas.microsoft.com/office/powerpoint/2010/main" val="1093582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49356" y="622371"/>
            <a:ext cx="11900453" cy="1322387"/>
          </a:xfrm>
        </p:spPr>
        <p:txBody>
          <a:bodyPr/>
          <a:lstStyle/>
          <a:p>
            <a:pPr eaLnBrk="1" hangingPunct="1"/>
            <a:r>
              <a:rPr lang="en-US" altLang="en-US" b="1" dirty="0">
                <a:latin typeface="Times New Roman" panose="02020603050405020304" pitchFamily="18" charset="0"/>
                <a:cs typeface="Times New Roman" panose="02020603050405020304" pitchFamily="18" charset="0"/>
              </a:rPr>
              <a:t>Race Conditions in Shared Memory </a:t>
            </a:r>
          </a:p>
        </p:txBody>
      </p:sp>
      <p:sp>
        <p:nvSpPr>
          <p:cNvPr id="56323" name="Rectangle 3"/>
          <p:cNvSpPr>
            <a:spLocks noGrp="1" noChangeArrowheads="1"/>
          </p:cNvSpPr>
          <p:nvPr>
            <p:ph idx="1"/>
          </p:nvPr>
        </p:nvSpPr>
        <p:spPr>
          <a:xfrm>
            <a:off x="1166192" y="2362200"/>
            <a:ext cx="8382000" cy="3349487"/>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When multiple threads/processes access shared data / memory</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Unless access synchronized can get corruption or loss of changes due to overlapping accesses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So use suitable synchronization primitives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correct choice &amp; sequence may not be obvious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Have issue of access deadlock</a:t>
            </a:r>
          </a:p>
        </p:txBody>
      </p:sp>
    </p:spTree>
    <p:extLst>
      <p:ext uri="{BB962C8B-B14F-4D97-AF65-F5344CB8AC3E}">
        <p14:creationId xmlns:p14="http://schemas.microsoft.com/office/powerpoint/2010/main" val="2586346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Interacting with O/S</a:t>
            </a:r>
          </a:p>
        </p:txBody>
      </p:sp>
      <p:sp>
        <p:nvSpPr>
          <p:cNvPr id="58371" name="Rectangle 3"/>
          <p:cNvSpPr>
            <a:spLocks noGrp="1" noChangeArrowheads="1"/>
          </p:cNvSpPr>
          <p:nvPr>
            <p:ph idx="1"/>
          </p:nvPr>
        </p:nvSpPr>
        <p:spPr>
          <a:xfrm>
            <a:off x="974034" y="2431774"/>
            <a:ext cx="10581861" cy="47244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Programs execute on systems under O/S</a:t>
            </a:r>
          </a:p>
          <a:p>
            <a:pPr lvl="1" eaLnBrk="1" hangingPunct="1"/>
            <a:r>
              <a:rPr lang="en-US" altLang="en-US" sz="2400" dirty="0">
                <a:latin typeface="Times New Roman" panose="02020603050405020304" pitchFamily="18" charset="0"/>
                <a:cs typeface="Times New Roman" panose="02020603050405020304" pitchFamily="18" charset="0"/>
              </a:rPr>
              <a:t>mediates and shares access to resources</a:t>
            </a:r>
          </a:p>
          <a:p>
            <a:pPr lvl="1" eaLnBrk="1" hangingPunct="1"/>
            <a:r>
              <a:rPr lang="en-US" altLang="en-US" sz="2400" dirty="0">
                <a:latin typeface="Times New Roman" panose="02020603050405020304" pitchFamily="18" charset="0"/>
                <a:cs typeface="Times New Roman" panose="02020603050405020304" pitchFamily="18" charset="0"/>
              </a:rPr>
              <a:t>constructs execution environment</a:t>
            </a:r>
          </a:p>
          <a:p>
            <a:pPr lvl="1" eaLnBrk="1" hangingPunct="1"/>
            <a:r>
              <a:rPr lang="en-US" altLang="en-US" sz="2400" dirty="0">
                <a:latin typeface="Times New Roman" panose="02020603050405020304" pitchFamily="18" charset="0"/>
                <a:cs typeface="Times New Roman" panose="02020603050405020304" pitchFamily="18" charset="0"/>
              </a:rPr>
              <a:t>with environment variables and arguments</a:t>
            </a:r>
          </a:p>
          <a:p>
            <a:pPr eaLnBrk="1" hangingPunct="1"/>
            <a:r>
              <a:rPr lang="en-US" altLang="en-US" sz="2400" dirty="0">
                <a:latin typeface="Times New Roman" panose="02020603050405020304" pitchFamily="18" charset="0"/>
                <a:cs typeface="Times New Roman" panose="02020603050405020304" pitchFamily="18" charset="0"/>
              </a:rPr>
              <a:t>Systems have multiple users</a:t>
            </a:r>
          </a:p>
          <a:p>
            <a:pPr lvl="1" eaLnBrk="1" hangingPunct="1"/>
            <a:r>
              <a:rPr lang="en-US" altLang="en-US" sz="2400" dirty="0">
                <a:latin typeface="Times New Roman" panose="02020603050405020304" pitchFamily="18" charset="0"/>
                <a:cs typeface="Times New Roman" panose="02020603050405020304" pitchFamily="18" charset="0"/>
              </a:rPr>
              <a:t>with access permissions on resources / data</a:t>
            </a:r>
          </a:p>
          <a:p>
            <a:pPr eaLnBrk="1" hangingPunct="1"/>
            <a:r>
              <a:rPr lang="en-US" altLang="en-US" sz="2400" dirty="0">
                <a:latin typeface="Times New Roman" panose="02020603050405020304" pitchFamily="18" charset="0"/>
                <a:cs typeface="Times New Roman" panose="02020603050405020304" pitchFamily="18" charset="0"/>
              </a:rPr>
              <a:t>Programs may access shared resources</a:t>
            </a:r>
          </a:p>
          <a:p>
            <a:pPr lvl="1" eaLnBrk="1" hangingPunct="1"/>
            <a:r>
              <a:rPr lang="en-US" altLang="en-US" sz="2400" dirty="0">
                <a:latin typeface="Times New Roman" panose="02020603050405020304" pitchFamily="18" charset="0"/>
                <a:cs typeface="Times New Roman" panose="02020603050405020304" pitchFamily="18" charset="0"/>
              </a:rPr>
              <a:t>e.g. files</a:t>
            </a:r>
          </a:p>
        </p:txBody>
      </p:sp>
    </p:spTree>
    <p:extLst>
      <p:ext uri="{BB962C8B-B14F-4D97-AF65-F5344CB8AC3E}">
        <p14:creationId xmlns:p14="http://schemas.microsoft.com/office/powerpoint/2010/main" val="280157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722243" y="589723"/>
            <a:ext cx="8229600" cy="1139825"/>
          </a:xfrm>
        </p:spPr>
        <p:txBody>
          <a:bodyPr/>
          <a:lstStyle/>
          <a:p>
            <a:pPr eaLnBrk="1" hangingPunct="1"/>
            <a:r>
              <a:rPr lang="en-US" altLang="en-US" b="1" dirty="0">
                <a:latin typeface="Times New Roman" panose="02020603050405020304" pitchFamily="18" charset="0"/>
                <a:cs typeface="Times New Roman" panose="02020603050405020304" pitchFamily="18" charset="0"/>
              </a:rPr>
              <a:t>Example Vulnerable Scripts</a:t>
            </a:r>
          </a:p>
        </p:txBody>
      </p:sp>
      <p:sp>
        <p:nvSpPr>
          <p:cNvPr id="62467" name="Rectangle 3"/>
          <p:cNvSpPr>
            <a:spLocks noGrp="1" noChangeArrowheads="1"/>
          </p:cNvSpPr>
          <p:nvPr>
            <p:ph idx="1"/>
          </p:nvPr>
        </p:nvSpPr>
        <p:spPr>
          <a:xfrm>
            <a:off x="407503" y="2138363"/>
            <a:ext cx="10326757" cy="23622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Using PATH or IFS environment variables</a:t>
            </a:r>
          </a:p>
          <a:p>
            <a:pPr eaLnBrk="1" hangingPunct="1"/>
            <a:r>
              <a:rPr lang="en-US" altLang="en-US" sz="2400" dirty="0">
                <a:latin typeface="Times New Roman" panose="02020603050405020304" pitchFamily="18" charset="0"/>
                <a:cs typeface="Times New Roman" panose="02020603050405020304" pitchFamily="18" charset="0"/>
              </a:rPr>
              <a:t>Cause script to execute attackers program</a:t>
            </a:r>
          </a:p>
          <a:p>
            <a:pPr eaLnBrk="1" hangingPunct="1"/>
            <a:r>
              <a:rPr lang="en-US" altLang="en-US" sz="2400" dirty="0">
                <a:latin typeface="Times New Roman" panose="02020603050405020304" pitchFamily="18" charset="0"/>
                <a:cs typeface="Times New Roman" panose="02020603050405020304" pitchFamily="18" charset="0"/>
              </a:rPr>
              <a:t>With privileges granted to script</a:t>
            </a:r>
          </a:p>
          <a:p>
            <a:pPr eaLnBrk="1" hangingPunct="1"/>
            <a:r>
              <a:rPr lang="en-US" altLang="en-US" sz="2400" dirty="0">
                <a:latin typeface="Times New Roman" panose="02020603050405020304" pitchFamily="18" charset="0"/>
                <a:cs typeface="Times New Roman" panose="02020603050405020304" pitchFamily="18" charset="0"/>
              </a:rPr>
              <a:t>Almost impossible to prevent in some form</a:t>
            </a:r>
          </a:p>
        </p:txBody>
      </p:sp>
      <p:sp>
        <p:nvSpPr>
          <p:cNvPr id="62469" name="TextBox 4"/>
          <p:cNvSpPr txBox="1">
            <a:spLocks noChangeArrowheads="1"/>
          </p:cNvSpPr>
          <p:nvPr/>
        </p:nvSpPr>
        <p:spPr bwMode="auto">
          <a:xfrm>
            <a:off x="6412190" y="4130675"/>
            <a:ext cx="2878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r>
              <a:rPr lang="en-US" altLang="en-US" sz="1800" b="1" dirty="0">
                <a:solidFill>
                  <a:srgbClr val="FF0000"/>
                </a:solidFill>
                <a:latin typeface="Arial" panose="020B0604020202020204" pitchFamily="34" charset="0"/>
                <a:cs typeface="Arial" panose="020B0604020202020204" pitchFamily="34" charset="0"/>
              </a:rPr>
              <a:t>Which </a:t>
            </a:r>
            <a:r>
              <a:rPr lang="en-US" altLang="en-US" sz="1800" b="1" dirty="0" err="1">
                <a:solidFill>
                  <a:srgbClr val="FF0000"/>
                </a:solidFill>
                <a:latin typeface="Courier New" panose="02070309020205020404" pitchFamily="49" charset="0"/>
                <a:cs typeface="Courier New" panose="02070309020205020404" pitchFamily="49" charset="0"/>
              </a:rPr>
              <a:t>grep</a:t>
            </a:r>
            <a:r>
              <a:rPr lang="en-US" altLang="en-US" sz="1800" b="1" dirty="0">
                <a:solidFill>
                  <a:srgbClr val="FF0000"/>
                </a:solidFill>
                <a:latin typeface="Arial" panose="020B0604020202020204" pitchFamily="34" charset="0"/>
                <a:cs typeface="Arial" panose="020B0604020202020204" pitchFamily="34" charset="0"/>
              </a:rPr>
              <a:t>, which </a:t>
            </a:r>
            <a:r>
              <a:rPr lang="en-US" altLang="en-US" sz="1800" b="1" dirty="0" err="1">
                <a:solidFill>
                  <a:srgbClr val="FF0000"/>
                </a:solidFill>
                <a:latin typeface="Courier New" panose="02070309020205020404" pitchFamily="49" charset="0"/>
                <a:cs typeface="Courier New" panose="02070309020205020404" pitchFamily="49" charset="0"/>
              </a:rPr>
              <a:t>sed</a:t>
            </a:r>
            <a:r>
              <a:rPr lang="en-US" altLang="en-US" sz="1800" b="1"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8662831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732183" y="622370"/>
            <a:ext cx="8686800" cy="1139825"/>
          </a:xfrm>
        </p:spPr>
        <p:txBody>
          <a:bodyPr/>
          <a:lstStyle/>
          <a:p>
            <a:pPr eaLnBrk="1" hangingPunct="1"/>
            <a:r>
              <a:rPr lang="en-US" altLang="en-US" b="1" dirty="0">
                <a:latin typeface="Times New Roman" panose="02020603050405020304" pitchFamily="18" charset="0"/>
                <a:cs typeface="Times New Roman" panose="02020603050405020304" pitchFamily="18" charset="0"/>
              </a:rPr>
              <a:t>Vulnerable Compiled Programs</a:t>
            </a:r>
          </a:p>
        </p:txBody>
      </p:sp>
      <p:sp>
        <p:nvSpPr>
          <p:cNvPr id="64515" name="Rectangle 3"/>
          <p:cNvSpPr>
            <a:spLocks noGrp="1" noChangeArrowheads="1"/>
          </p:cNvSpPr>
          <p:nvPr>
            <p:ph idx="1"/>
          </p:nvPr>
        </p:nvSpPr>
        <p:spPr>
          <a:xfrm>
            <a:off x="412833" y="2550491"/>
            <a:ext cx="11209324" cy="3416300"/>
          </a:xfrm>
        </p:spPr>
        <p:txBody>
          <a:bodyPr>
            <a:no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If invoke other programs can be vulnerable to PATH variable manipulation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must reset to “safe” values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If dynamically linked may be vulnerable to manipulation of LD_LIBRARY_PATH</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used to locate suitable dynamic library</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must either statically link privileged programs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or prevent use of this variable</a:t>
            </a:r>
          </a:p>
        </p:txBody>
      </p:sp>
    </p:spTree>
    <p:extLst>
      <p:ext uri="{BB962C8B-B14F-4D97-AF65-F5344CB8AC3E}">
        <p14:creationId xmlns:p14="http://schemas.microsoft.com/office/powerpoint/2010/main" val="396861289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Use of Least Privilege</a:t>
            </a:r>
          </a:p>
        </p:txBody>
      </p:sp>
      <p:sp>
        <p:nvSpPr>
          <p:cNvPr id="66563" name="Rectangle 3"/>
          <p:cNvSpPr>
            <a:spLocks noGrp="1" noChangeArrowheads="1"/>
          </p:cNvSpPr>
          <p:nvPr>
            <p:ph idx="1"/>
          </p:nvPr>
        </p:nvSpPr>
        <p:spPr>
          <a:xfrm>
            <a:off x="651370" y="2299253"/>
            <a:ext cx="10029881" cy="50292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Exploit of flaws may give attacker greater privileges - privilege escalation</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Hence run programs with least privilege needed to complete their function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determine suitable user and group to use</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whether grant extra user or group privileges</a:t>
            </a:r>
          </a:p>
          <a:p>
            <a:pPr lvl="2" eaLnBrk="1" hangingPunct="1"/>
            <a:r>
              <a:rPr lang="en-US" altLang="en-US" sz="2400" dirty="0">
                <a:solidFill>
                  <a:schemeClr val="tx1"/>
                </a:solidFill>
                <a:latin typeface="Times New Roman" panose="02020603050405020304" pitchFamily="18" charset="0"/>
                <a:cs typeface="Times New Roman" panose="02020603050405020304" pitchFamily="18" charset="0"/>
              </a:rPr>
              <a:t>latter preferred and safer, may not be sufficient</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ensure can only modify files/</a:t>
            </a:r>
            <a:r>
              <a:rPr lang="en-US" altLang="en-US" sz="2400" dirty="0" err="1">
                <a:solidFill>
                  <a:schemeClr val="tx1"/>
                </a:solidFill>
                <a:latin typeface="Times New Roman" panose="02020603050405020304" pitchFamily="18" charset="0"/>
                <a:cs typeface="Times New Roman" panose="02020603050405020304" pitchFamily="18" charset="0"/>
              </a:rPr>
              <a:t>dirs</a:t>
            </a:r>
            <a:r>
              <a:rPr lang="en-US" altLang="en-US" sz="2400" dirty="0">
                <a:solidFill>
                  <a:schemeClr val="tx1"/>
                </a:solidFill>
                <a:latin typeface="Times New Roman" panose="02020603050405020304" pitchFamily="18" charset="0"/>
                <a:cs typeface="Times New Roman" panose="02020603050405020304" pitchFamily="18" charset="0"/>
              </a:rPr>
              <a:t> needed</a:t>
            </a:r>
          </a:p>
          <a:p>
            <a:pPr lvl="2" eaLnBrk="1" hangingPunct="1"/>
            <a:r>
              <a:rPr lang="en-US" altLang="en-US" sz="2400" dirty="0">
                <a:solidFill>
                  <a:schemeClr val="tx1"/>
                </a:solidFill>
                <a:latin typeface="Times New Roman" panose="02020603050405020304" pitchFamily="18" charset="0"/>
                <a:cs typeface="Times New Roman" panose="02020603050405020304" pitchFamily="18" charset="0"/>
              </a:rPr>
              <a:t>otherwise compromise results in greater damage</a:t>
            </a:r>
          </a:p>
          <a:p>
            <a:pPr lvl="2" eaLnBrk="1" hangingPunct="1"/>
            <a:r>
              <a:rPr lang="en-US" altLang="en-US" sz="2400" dirty="0">
                <a:solidFill>
                  <a:schemeClr val="tx1"/>
                </a:solidFill>
                <a:latin typeface="Times New Roman" panose="02020603050405020304" pitchFamily="18" charset="0"/>
                <a:cs typeface="Times New Roman" panose="02020603050405020304" pitchFamily="18" charset="0"/>
              </a:rPr>
              <a:t>recheck these when moved or upgraded</a:t>
            </a:r>
          </a:p>
        </p:txBody>
      </p:sp>
    </p:spTree>
    <p:extLst>
      <p:ext uri="{BB962C8B-B14F-4D97-AF65-F5344CB8AC3E}">
        <p14:creationId xmlns:p14="http://schemas.microsoft.com/office/powerpoint/2010/main" val="19830374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Root/Admin Programs</a:t>
            </a:r>
          </a:p>
        </p:txBody>
      </p:sp>
      <p:sp>
        <p:nvSpPr>
          <p:cNvPr id="68611" name="Rectangle 3"/>
          <p:cNvSpPr>
            <a:spLocks noGrp="1" noChangeArrowheads="1"/>
          </p:cNvSpPr>
          <p:nvPr>
            <p:ph idx="1"/>
          </p:nvPr>
        </p:nvSpPr>
        <p:spPr>
          <a:xfrm>
            <a:off x="437322" y="2458279"/>
            <a:ext cx="11330609" cy="4876800"/>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programs with root / administrator privileges a major target of attackers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since provide highest levels of system access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are needed to manage access to protected system resources, e.g. network server ports</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often privilege only needed at start</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can then run as normal user</a:t>
            </a:r>
          </a:p>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good design partitions complex programs in smaller modules with needed privileges</a:t>
            </a:r>
          </a:p>
        </p:txBody>
      </p:sp>
    </p:spTree>
    <p:extLst>
      <p:ext uri="{BB962C8B-B14F-4D97-AF65-F5344CB8AC3E}">
        <p14:creationId xmlns:p14="http://schemas.microsoft.com/office/powerpoint/2010/main" val="271403138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74034" y="986920"/>
            <a:ext cx="10184295" cy="706964"/>
          </a:xfrm>
        </p:spPr>
        <p:txBody>
          <a:bodyPr/>
          <a:lstStyle/>
          <a:p>
            <a:pPr eaLnBrk="1" hangingPunct="1"/>
            <a:r>
              <a:rPr lang="en-US" altLang="en-US" b="1" dirty="0">
                <a:latin typeface="Times New Roman" panose="02020603050405020304" pitchFamily="18" charset="0"/>
                <a:cs typeface="Times New Roman" panose="02020603050405020304" pitchFamily="18" charset="0"/>
              </a:rPr>
              <a:t>System Calls and Standard Library Functions</a:t>
            </a:r>
          </a:p>
        </p:txBody>
      </p:sp>
      <p:sp>
        <p:nvSpPr>
          <p:cNvPr id="70659" name="Rectangle 3"/>
          <p:cNvSpPr>
            <a:spLocks noGrp="1" noChangeArrowheads="1"/>
          </p:cNvSpPr>
          <p:nvPr>
            <p:ph idx="1"/>
          </p:nvPr>
        </p:nvSpPr>
        <p:spPr>
          <a:xfrm>
            <a:off x="974034" y="2531166"/>
            <a:ext cx="10184295" cy="4454525"/>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programs use system calls and standard library functions for common operations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and make assumptions about their operation</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if incorrect behavior is not what is expected</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may be a result of system optimizing access to shared resources</a:t>
            </a:r>
          </a:p>
          <a:p>
            <a:pPr lvl="2" eaLnBrk="1" hangingPunct="1"/>
            <a:r>
              <a:rPr lang="en-US" altLang="en-US" sz="2400" dirty="0">
                <a:solidFill>
                  <a:schemeClr val="tx1"/>
                </a:solidFill>
                <a:latin typeface="Times New Roman" panose="02020603050405020304" pitchFamily="18" charset="0"/>
                <a:cs typeface="Times New Roman" panose="02020603050405020304" pitchFamily="18" charset="0"/>
              </a:rPr>
              <a:t>by buffering, re-sequencing, modifying requests</a:t>
            </a:r>
          </a:p>
          <a:p>
            <a:pPr lvl="1" eaLnBrk="1" hangingPunct="1"/>
            <a:r>
              <a:rPr lang="en-US" altLang="en-US" sz="2400" dirty="0">
                <a:solidFill>
                  <a:schemeClr val="tx1"/>
                </a:solidFill>
                <a:latin typeface="Times New Roman" panose="02020603050405020304" pitchFamily="18" charset="0"/>
                <a:cs typeface="Times New Roman" panose="02020603050405020304" pitchFamily="18" charset="0"/>
              </a:rPr>
              <a:t>can conflict with program goals</a:t>
            </a:r>
          </a:p>
        </p:txBody>
      </p:sp>
    </p:spTree>
    <p:extLst>
      <p:ext uri="{BB962C8B-B14F-4D97-AF65-F5344CB8AC3E}">
        <p14:creationId xmlns:p14="http://schemas.microsoft.com/office/powerpoint/2010/main" val="104534824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Secure File Shredder</a:t>
            </a:r>
          </a:p>
        </p:txBody>
      </p:sp>
    </p:spTree>
    <p:extLst>
      <p:ext uri="{BB962C8B-B14F-4D97-AF65-F5344CB8AC3E}">
        <p14:creationId xmlns:p14="http://schemas.microsoft.com/office/powerpoint/2010/main" val="118677196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Race Conditions</a:t>
            </a:r>
          </a:p>
        </p:txBody>
      </p:sp>
      <p:sp>
        <p:nvSpPr>
          <p:cNvPr id="74755" name="Rectangle 3"/>
          <p:cNvSpPr>
            <a:spLocks noGrp="1" noChangeArrowheads="1"/>
          </p:cNvSpPr>
          <p:nvPr>
            <p:ph idx="1"/>
          </p:nvPr>
        </p:nvSpPr>
        <p:spPr>
          <a:xfrm>
            <a:off x="1040295" y="2219739"/>
            <a:ext cx="10899913" cy="4953000"/>
          </a:xfrm>
        </p:spPr>
        <p:txBody>
          <a:bodyPr>
            <a:normAutofit/>
          </a:bodyPr>
          <a:lstStyle/>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Programs may access shared resources</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e.g. mailbox file, CGI data file</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Need suitable synchronization mechanisms</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e.g. lock on shared file</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Alternatives</a:t>
            </a:r>
          </a:p>
          <a:p>
            <a:pPr lvl="1" eaLnBrk="1" hangingPunct="1">
              <a:lnSpc>
                <a:spcPct val="90000"/>
              </a:lnSpc>
            </a:pPr>
            <a:r>
              <a:rPr lang="en-US" altLang="en-US" sz="2400" dirty="0" err="1">
                <a:solidFill>
                  <a:schemeClr val="tx1"/>
                </a:solidFill>
                <a:latin typeface="Times New Roman" panose="02020603050405020304" pitchFamily="18" charset="0"/>
                <a:cs typeface="Times New Roman" panose="02020603050405020304" pitchFamily="18" charset="0"/>
              </a:rPr>
              <a:t>lockfile</a:t>
            </a:r>
            <a:r>
              <a:rPr lang="en-US" altLang="en-US" sz="2400" dirty="0">
                <a:solidFill>
                  <a:schemeClr val="tx1"/>
                </a:solidFill>
                <a:latin typeface="Times New Roman" panose="02020603050405020304" pitchFamily="18" charset="0"/>
                <a:cs typeface="Times New Roman" panose="02020603050405020304" pitchFamily="18" charset="0"/>
              </a:rPr>
              <a:t> - create/check, advisory, atomic</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advisory file lock - e.g. flock</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mandatory file lock - e.g. </a:t>
            </a:r>
            <a:r>
              <a:rPr lang="en-US" altLang="en-US" sz="2400" dirty="0" err="1">
                <a:solidFill>
                  <a:schemeClr val="tx1"/>
                </a:solidFill>
                <a:latin typeface="Times New Roman" panose="02020603050405020304" pitchFamily="18" charset="0"/>
                <a:cs typeface="Times New Roman" panose="02020603050405020304" pitchFamily="18" charset="0"/>
              </a:rPr>
              <a:t>fcntl</a:t>
            </a:r>
            <a:r>
              <a:rPr lang="en-US" altLang="en-US" sz="2400" dirty="0">
                <a:solidFill>
                  <a:schemeClr val="tx1"/>
                </a:solidFill>
                <a:latin typeface="Times New Roman" panose="02020603050405020304" pitchFamily="18" charset="0"/>
                <a:cs typeface="Times New Roman" panose="02020603050405020304" pitchFamily="18" charset="0"/>
              </a:rPr>
              <a:t>, need release</a:t>
            </a:r>
          </a:p>
          <a:p>
            <a:pPr lvl="2"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later mechanisms vary between O/S</a:t>
            </a:r>
          </a:p>
          <a:p>
            <a:pPr lvl="2"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have subtle complexities in use</a:t>
            </a:r>
          </a:p>
        </p:txBody>
      </p:sp>
    </p:spTree>
    <p:extLst>
      <p:ext uri="{BB962C8B-B14F-4D97-AF65-F5344CB8AC3E}">
        <p14:creationId xmlns:p14="http://schemas.microsoft.com/office/powerpoint/2010/main" val="22738449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Safe Temporary Files</a:t>
            </a:r>
          </a:p>
        </p:txBody>
      </p:sp>
      <p:sp>
        <p:nvSpPr>
          <p:cNvPr id="76803" name="Rectangle 3"/>
          <p:cNvSpPr>
            <a:spLocks noGrp="1" noChangeArrowheads="1"/>
          </p:cNvSpPr>
          <p:nvPr>
            <p:ph idx="1"/>
          </p:nvPr>
        </p:nvSpPr>
        <p:spPr>
          <a:xfrm>
            <a:off x="278296" y="2451651"/>
            <a:ext cx="12059478" cy="4860235"/>
          </a:xfrm>
        </p:spPr>
        <p:txBody>
          <a:bodyPr>
            <a:normAutofit/>
          </a:bodyPr>
          <a:lstStyle/>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Many programs use temporary files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Often in common, shared system area</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Must be unique, not accessed by others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Commonly create name using process ID</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unique, but predictable</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attacker might guess and attempt to create own between program checking and creating</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Secure temp files need random names</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some older functions unsafe</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must need correct permissions on file/</a:t>
            </a:r>
            <a:r>
              <a:rPr lang="en-US" altLang="en-US" sz="2400" dirty="0" err="1">
                <a:solidFill>
                  <a:schemeClr val="tx1"/>
                </a:solidFill>
                <a:latin typeface="Times New Roman" panose="02020603050405020304" pitchFamily="18" charset="0"/>
                <a:cs typeface="Times New Roman" panose="02020603050405020304" pitchFamily="18" charset="0"/>
              </a:rPr>
              <a:t>dir</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4852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Other Program Interaction</a:t>
            </a:r>
          </a:p>
        </p:txBody>
      </p:sp>
      <p:sp>
        <p:nvSpPr>
          <p:cNvPr id="78851" name="Rectangle 3"/>
          <p:cNvSpPr>
            <a:spLocks noGrp="1" noChangeArrowheads="1"/>
          </p:cNvSpPr>
          <p:nvPr>
            <p:ph idx="1"/>
          </p:nvPr>
        </p:nvSpPr>
        <p:spPr>
          <a:xfrm>
            <a:off x="1154953" y="2418522"/>
            <a:ext cx="10056385" cy="4876800"/>
          </a:xfrm>
        </p:spPr>
        <p:txBody>
          <a:bodyPr>
            <a:normAutofit/>
          </a:bodyPr>
          <a:lstStyle/>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may use services of other programs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must identify/verify assumptions on data</a:t>
            </a:r>
          </a:p>
          <a:p>
            <a:pPr eaLnBrk="1" hangingPunct="1">
              <a:lnSpc>
                <a:spcPct val="90000"/>
              </a:lnSpc>
            </a:pPr>
            <a:r>
              <a:rPr lang="en-US" altLang="en-US" sz="2400" dirty="0" err="1">
                <a:solidFill>
                  <a:schemeClr val="tx1"/>
                </a:solidFill>
                <a:latin typeface="Times New Roman" panose="02020603050405020304" pitchFamily="18" charset="0"/>
                <a:cs typeface="Times New Roman" panose="02020603050405020304" pitchFamily="18" charset="0"/>
              </a:rPr>
              <a:t>esp</a:t>
            </a:r>
            <a:r>
              <a:rPr lang="en-US" altLang="en-US" sz="2400" dirty="0">
                <a:solidFill>
                  <a:schemeClr val="tx1"/>
                </a:solidFill>
                <a:latin typeface="Times New Roman" panose="02020603050405020304" pitchFamily="18" charset="0"/>
                <a:cs typeface="Times New Roman" panose="02020603050405020304" pitchFamily="18" charset="0"/>
              </a:rPr>
              <a:t> older user programs </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now used within web interfaces</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must ensure safe usage of these programs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issue of data confidentiality / integrity</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within same system use pipe / temp file</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across net use </a:t>
            </a:r>
            <a:r>
              <a:rPr lang="en-US" altLang="en-US" sz="2400" dirty="0" err="1">
                <a:solidFill>
                  <a:schemeClr val="tx1"/>
                </a:solidFill>
                <a:latin typeface="Times New Roman" panose="02020603050405020304" pitchFamily="18" charset="0"/>
                <a:cs typeface="Times New Roman" panose="02020603050405020304" pitchFamily="18" charset="0"/>
              </a:rPr>
              <a:t>IPSec</a:t>
            </a:r>
            <a:r>
              <a:rPr lang="en-US" altLang="en-US" sz="2400" dirty="0">
                <a:solidFill>
                  <a:schemeClr val="tx1"/>
                </a:solidFill>
                <a:latin typeface="Times New Roman" panose="02020603050405020304" pitchFamily="18" charset="0"/>
                <a:cs typeface="Times New Roman" panose="02020603050405020304" pitchFamily="18" charset="0"/>
              </a:rPr>
              <a:t>, TLS/SSL, SSH </a:t>
            </a:r>
            <a:r>
              <a:rPr lang="en-US" altLang="en-US" sz="2400" dirty="0" err="1">
                <a:solidFill>
                  <a:schemeClr val="tx1"/>
                </a:solidFill>
                <a:latin typeface="Times New Roman" panose="02020603050405020304" pitchFamily="18" charset="0"/>
                <a:cs typeface="Times New Roman" panose="02020603050405020304" pitchFamily="18" charset="0"/>
              </a:rPr>
              <a:t>etc</a:t>
            </a:r>
            <a:endParaRPr lang="en-US" altLang="en-US" sz="2400" dirty="0">
              <a:solidFill>
                <a:schemeClr val="tx1"/>
              </a:solidFill>
              <a:latin typeface="Times New Roman" panose="02020603050405020304" pitchFamily="18" charset="0"/>
              <a:cs typeface="Times New Roman" panose="02020603050405020304" pitchFamily="18" charset="0"/>
            </a:endParaRP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also detect / handle exceptions / errors</a:t>
            </a:r>
          </a:p>
        </p:txBody>
      </p:sp>
    </p:spTree>
    <p:extLst>
      <p:ext uri="{BB962C8B-B14F-4D97-AF65-F5344CB8AC3E}">
        <p14:creationId xmlns:p14="http://schemas.microsoft.com/office/powerpoint/2010/main" val="81100587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en-US" b="1" dirty="0"/>
              <a:t>Handling Program Output</a:t>
            </a:r>
          </a:p>
        </p:txBody>
      </p:sp>
      <p:sp>
        <p:nvSpPr>
          <p:cNvPr id="80899" name="Rectangle 3"/>
          <p:cNvSpPr>
            <a:spLocks noGrp="1" noChangeArrowheads="1"/>
          </p:cNvSpPr>
          <p:nvPr>
            <p:ph idx="1"/>
          </p:nvPr>
        </p:nvSpPr>
        <p:spPr>
          <a:xfrm>
            <a:off x="1154954" y="2378766"/>
            <a:ext cx="8458200" cy="4876800"/>
          </a:xfrm>
        </p:spPr>
        <p:txBody>
          <a:bodyPr/>
          <a:lstStyle/>
          <a:p>
            <a:pPr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Final concern is program output</a:t>
            </a:r>
          </a:p>
          <a:p>
            <a:pPr lvl="1"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stored for future use, sent over net, displayed</a:t>
            </a:r>
          </a:p>
          <a:p>
            <a:pPr lvl="1"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may be binary or text</a:t>
            </a:r>
          </a:p>
          <a:p>
            <a:pPr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Conforms to expected form / interpretation</a:t>
            </a:r>
          </a:p>
          <a:p>
            <a:pPr lvl="1"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assumption of common origin, </a:t>
            </a:r>
          </a:p>
          <a:p>
            <a:pPr lvl="1"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c.f. XSS, VT100 escape </a:t>
            </a:r>
            <a:r>
              <a:rPr lang="en-US" altLang="en-US" sz="2400" b="1" dirty="0" err="1">
                <a:solidFill>
                  <a:schemeClr val="tx1"/>
                </a:solidFill>
                <a:latin typeface="Times New Roman" panose="02020603050405020304" pitchFamily="18" charset="0"/>
                <a:cs typeface="Times New Roman" panose="02020603050405020304" pitchFamily="18" charset="0"/>
              </a:rPr>
              <a:t>seqs</a:t>
            </a:r>
            <a:r>
              <a:rPr lang="en-US" altLang="en-US" sz="2400" b="1" dirty="0">
                <a:solidFill>
                  <a:schemeClr val="tx1"/>
                </a:solidFill>
                <a:latin typeface="Times New Roman" panose="02020603050405020304" pitchFamily="18" charset="0"/>
                <a:cs typeface="Times New Roman" panose="02020603050405020304" pitchFamily="18" charset="0"/>
              </a:rPr>
              <a:t>, X terminal hijack</a:t>
            </a:r>
          </a:p>
          <a:p>
            <a:pPr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Uses expected character set</a:t>
            </a:r>
          </a:p>
          <a:p>
            <a:pPr eaLnBrk="1" hangingPunct="1">
              <a:lnSpc>
                <a:spcPct val="90000"/>
              </a:lnSpc>
            </a:pPr>
            <a:r>
              <a:rPr lang="en-US" altLang="en-US" sz="2400" b="1" dirty="0">
                <a:solidFill>
                  <a:schemeClr val="tx1"/>
                </a:solidFill>
                <a:latin typeface="Times New Roman" panose="02020603050405020304" pitchFamily="18" charset="0"/>
                <a:cs typeface="Times New Roman" panose="02020603050405020304" pitchFamily="18" charset="0"/>
              </a:rPr>
              <a:t>Target not program but output display device</a:t>
            </a:r>
          </a:p>
          <a:p>
            <a:pPr lvl="1" eaLnBrk="1" hangingPunct="1">
              <a:lnSpc>
                <a:spcPct val="90000"/>
              </a:lnSpc>
            </a:pPr>
            <a:endParaRPr lang="en-US" altLang="en-US" dirty="0"/>
          </a:p>
        </p:txBody>
      </p:sp>
      <p:sp>
        <p:nvSpPr>
          <p:cNvPr id="80900" name="Rectangle 4"/>
          <p:cNvSpPr>
            <a:spLocks noChangeArrowheads="1"/>
          </p:cNvSpPr>
          <p:nvPr/>
        </p:nvSpPr>
        <p:spPr bwMode="auto">
          <a:xfrm>
            <a:off x="3170238" y="5915026"/>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0000"/>
              <a:buChar char="•"/>
              <a:defRPr sz="2800">
                <a:solidFill>
                  <a:srgbClr val="000066"/>
                </a:solidFill>
                <a:latin typeface="Trebuchet MS" panose="020B0603020202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Trebuchet MS" panose="020B0603020202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3pPr>
            <a:lvl4pPr marL="1600200" indent="-228600">
              <a:spcBef>
                <a:spcPct val="20000"/>
              </a:spcBef>
              <a:buSzPct val="80000"/>
              <a:buChar char="–"/>
              <a:defRPr sz="2000">
                <a:solidFill>
                  <a:srgbClr val="000066"/>
                </a:solidFill>
                <a:latin typeface="Trebuchet MS" panose="020B0603020202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chemeClr val="tx1"/>
                </a:solidFill>
                <a:latin typeface="Lucida Sans" panose="020B0602030504020204" pitchFamily="34" charset="0"/>
                <a:cs typeface="Lucida Sans Unicode" panose="020B0602030504020204" pitchFamily="34" charset="0"/>
              </a:defRPr>
            </a:lvl9pPr>
          </a:lstStyle>
          <a:p>
            <a:pPr eaLnBrk="1" hangingPunct="1">
              <a:spcBef>
                <a:spcPct val="0"/>
              </a:spcBef>
              <a:buSzTx/>
              <a:buFontTx/>
              <a:buNone/>
            </a:pPr>
            <a:endParaRPr lang="en-US" altLang="en-US" sz="18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9199677"/>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Summary</a:t>
            </a:r>
            <a:endParaRPr lang="en-AU" altLang="en-US" b="1" dirty="0">
              <a:latin typeface="Times New Roman" panose="02020603050405020304" pitchFamily="18" charset="0"/>
              <a:cs typeface="Times New Roman" panose="02020603050405020304" pitchFamily="18" charset="0"/>
            </a:endParaRPr>
          </a:p>
        </p:txBody>
      </p:sp>
      <p:sp>
        <p:nvSpPr>
          <p:cNvPr id="82947" name="Rectangle 3"/>
          <p:cNvSpPr>
            <a:spLocks noGrp="1" noChangeArrowheads="1"/>
          </p:cNvSpPr>
          <p:nvPr>
            <p:ph idx="1"/>
          </p:nvPr>
        </p:nvSpPr>
        <p:spPr>
          <a:xfrm>
            <a:off x="1154954" y="2524538"/>
            <a:ext cx="8229600" cy="4724400"/>
          </a:xfrm>
        </p:spPr>
        <p:txBody>
          <a:bodyPr>
            <a:normAutofit/>
          </a:bodyPr>
          <a:lstStyle/>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Discussed software security issues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Handling program input safely</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size, interpretation, injection, XSS, fuzzing</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Writing safe program code</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algorithm, machine language, data, memory</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Interacting with O/S and other programs</a:t>
            </a:r>
          </a:p>
          <a:p>
            <a:pPr lvl="1"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ENV, least privilege, </a:t>
            </a:r>
            <a:r>
              <a:rPr lang="en-US" altLang="en-US" sz="2400" dirty="0" err="1">
                <a:solidFill>
                  <a:schemeClr val="tx1"/>
                </a:solidFill>
                <a:latin typeface="Times New Roman" panose="02020603050405020304" pitchFamily="18" charset="0"/>
                <a:cs typeface="Times New Roman" panose="02020603050405020304" pitchFamily="18" charset="0"/>
              </a:rPr>
              <a:t>syscalls</a:t>
            </a:r>
            <a:r>
              <a:rPr lang="en-US" altLang="en-US" sz="2400" dirty="0">
                <a:solidFill>
                  <a:schemeClr val="tx1"/>
                </a:solidFill>
                <a:latin typeface="Times New Roman" panose="02020603050405020304" pitchFamily="18" charset="0"/>
                <a:cs typeface="Times New Roman" panose="02020603050405020304" pitchFamily="18" charset="0"/>
              </a:rPr>
              <a:t> / </a:t>
            </a:r>
            <a:r>
              <a:rPr lang="en-US" altLang="en-US" sz="2400" dirty="0" err="1">
                <a:solidFill>
                  <a:schemeClr val="tx1"/>
                </a:solidFill>
                <a:latin typeface="Times New Roman" panose="02020603050405020304" pitchFamily="18" charset="0"/>
                <a:cs typeface="Times New Roman" panose="02020603050405020304" pitchFamily="18" charset="0"/>
              </a:rPr>
              <a:t>std</a:t>
            </a:r>
            <a:r>
              <a:rPr lang="en-US" altLang="en-US" sz="2400" dirty="0">
                <a:solidFill>
                  <a:schemeClr val="tx1"/>
                </a:solidFill>
                <a:latin typeface="Times New Roman" panose="02020603050405020304" pitchFamily="18" charset="0"/>
                <a:cs typeface="Times New Roman" panose="02020603050405020304" pitchFamily="18" charset="0"/>
              </a:rPr>
              <a:t> libs, file lock, temp files, other programs</a:t>
            </a:r>
          </a:p>
          <a:p>
            <a:pPr eaLnBrk="1" hangingPunct="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Handling program output</a:t>
            </a:r>
            <a:endParaRPr lang="en-AU"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4092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4954" y="1184366"/>
            <a:ext cx="8825659" cy="4835434"/>
          </a:xfrm>
        </p:spPr>
        <p:txBody>
          <a:bodyPr>
            <a:normAutofit/>
          </a:bodyPr>
          <a:lstStyle/>
          <a:p>
            <a:pPr algn="ctr"/>
            <a:endParaRPr lang="en-US" sz="3600" dirty="0"/>
          </a:p>
          <a:p>
            <a:pPr algn="ctr"/>
            <a:endParaRPr lang="en-US" sz="3600" dirty="0"/>
          </a:p>
          <a:p>
            <a:pPr algn="ctr"/>
            <a:endParaRPr lang="en-US" sz="3600" dirty="0"/>
          </a:p>
          <a:p>
            <a:pPr marL="0" indent="0" algn="ctr">
              <a:buNone/>
            </a:pPr>
            <a:r>
              <a:rPr lang="en-US" sz="9800" dirty="0">
                <a:solidFill>
                  <a:schemeClr val="tx1">
                    <a:lumMod val="95000"/>
                    <a:lumOff val="5000"/>
                  </a:schemeClr>
                </a:solidFill>
                <a:latin typeface="Times New Roman" pitchFamily="18" charset="0"/>
                <a:cs typeface="Times New Roman" pitchFamily="18" charset="0"/>
              </a:rPr>
              <a:t>Q &amp; A</a:t>
            </a:r>
          </a:p>
        </p:txBody>
      </p:sp>
      <p:sp>
        <p:nvSpPr>
          <p:cNvPr id="6" name="Slide Number Placeholder 5"/>
          <p:cNvSpPr>
            <a:spLocks noGrp="1"/>
          </p:cNvSpPr>
          <p:nvPr>
            <p:ph type="sldNum" sz="quarter" idx="12"/>
          </p:nvPr>
        </p:nvSpPr>
        <p:spPr/>
        <p:txBody>
          <a:bodyPr/>
          <a:lstStyle/>
          <a:p>
            <a:fld id="{8E9ED8F5-F0EE-4F30-BF79-1CB5FF8C36DA}" type="slidenum">
              <a:rPr lang="en-US" smtClean="0"/>
              <a:pPr/>
              <a:t>46</a:t>
            </a:fld>
            <a:endParaRPr lang="en-US"/>
          </a:p>
        </p:txBody>
      </p:sp>
    </p:spTree>
    <p:extLst>
      <p:ext uri="{BB962C8B-B14F-4D97-AF65-F5344CB8AC3E}">
        <p14:creationId xmlns:p14="http://schemas.microsoft.com/office/powerpoint/2010/main" val="16701787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620</TotalTime>
  <Words>11518</Words>
  <Application>Microsoft Office PowerPoint</Application>
  <PresentationFormat>Widescreen</PresentationFormat>
  <Paragraphs>430</Paragraphs>
  <Slides>46</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Calibri</vt:lpstr>
      <vt:lpstr>Century Gothic</vt:lpstr>
      <vt:lpstr>Courier</vt:lpstr>
      <vt:lpstr>Courier New</vt:lpstr>
      <vt:lpstr>Times</vt:lpstr>
      <vt:lpstr>Times New Roman</vt:lpstr>
      <vt:lpstr>Wingdings 3</vt:lpstr>
      <vt:lpstr>Ion Boardroom</vt:lpstr>
      <vt:lpstr>      Secure Coding</vt:lpstr>
      <vt:lpstr>Today’s Lecture</vt:lpstr>
      <vt:lpstr>Software Security</vt:lpstr>
      <vt:lpstr>Types of software defects </vt:lpstr>
      <vt:lpstr>Software Security Concept</vt:lpstr>
      <vt:lpstr>software quality and reliability</vt:lpstr>
      <vt:lpstr>Software security</vt:lpstr>
      <vt:lpstr>Defensive or Secure Programming</vt:lpstr>
      <vt:lpstr>Abstract Program Model</vt:lpstr>
      <vt:lpstr>Security by Design</vt:lpstr>
      <vt:lpstr>Abuse case process</vt:lpstr>
      <vt:lpstr>Common steps in risk analysis</vt:lpstr>
      <vt:lpstr>Security by Design</vt:lpstr>
      <vt:lpstr>Microsoft STRIDE approach</vt:lpstr>
      <vt:lpstr>What’s So Different About Security?</vt:lpstr>
      <vt:lpstr>Handling Program Input</vt:lpstr>
      <vt:lpstr>Input Size &amp; Buffer Overflow</vt:lpstr>
      <vt:lpstr>Interpretation of Input</vt:lpstr>
      <vt:lpstr>Injection Attacks</vt:lpstr>
      <vt:lpstr>SQL Injection</vt:lpstr>
      <vt:lpstr>Code Injection</vt:lpstr>
      <vt:lpstr>Cross Site Scripting Attacks</vt:lpstr>
      <vt:lpstr>XSS Attacks</vt:lpstr>
      <vt:lpstr>An XSS Example</vt:lpstr>
      <vt:lpstr>Validating Input Syntax</vt:lpstr>
      <vt:lpstr>Validating Numeric Input</vt:lpstr>
      <vt:lpstr>Input Fuzzing</vt:lpstr>
      <vt:lpstr>Writing Safe Program Code</vt:lpstr>
      <vt:lpstr>Correct Algorithm Implementation</vt:lpstr>
      <vt:lpstr>Correct Machine Language</vt:lpstr>
      <vt:lpstr>Correct Data Interpretation</vt:lpstr>
      <vt:lpstr>Correct Use of Memory</vt:lpstr>
      <vt:lpstr>Race Conditions in Shared Memory </vt:lpstr>
      <vt:lpstr>Interacting with O/S</vt:lpstr>
      <vt:lpstr>Example Vulnerable Scripts</vt:lpstr>
      <vt:lpstr>Vulnerable Compiled Programs</vt:lpstr>
      <vt:lpstr>Use of Least Privilege</vt:lpstr>
      <vt:lpstr>Root/Admin Programs</vt:lpstr>
      <vt:lpstr>System Calls and Standard Library Functions</vt:lpstr>
      <vt:lpstr>Secure File Shredder</vt:lpstr>
      <vt:lpstr>Race Conditions</vt:lpstr>
      <vt:lpstr>Safe Temporary Files</vt:lpstr>
      <vt:lpstr>Other Program Interaction</vt:lpstr>
      <vt:lpstr>Handling Program Output</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dc:title>
  <dc:creator>Lenovo U430p</dc:creator>
  <cp:lastModifiedBy>Mahek Kausar</cp:lastModifiedBy>
  <cp:revision>82</cp:revision>
  <dcterms:created xsi:type="dcterms:W3CDTF">2018-08-11T08:22:24Z</dcterms:created>
  <dcterms:modified xsi:type="dcterms:W3CDTF">2026-06-01T08:08:09Z</dcterms:modified>
</cp:coreProperties>
</file>