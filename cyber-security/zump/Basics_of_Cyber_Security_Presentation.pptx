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276" r:id="rId2"/>
    <p:sldId id="277" r:id="rId3"/>
    <p:sldId id="297" r:id="rId4"/>
    <p:sldId id="298" r:id="rId5"/>
    <p:sldId id="299" r:id="rId6"/>
    <p:sldId id="307" r:id="rId7"/>
    <p:sldId id="308" r:id="rId8"/>
    <p:sldId id="300" r:id="rId9"/>
    <p:sldId id="301" r:id="rId10"/>
    <p:sldId id="302" r:id="rId11"/>
    <p:sldId id="303" r:id="rId12"/>
    <p:sldId id="256" r:id="rId13"/>
    <p:sldId id="257" r:id="rId14"/>
    <p:sldId id="258" r:id="rId15"/>
    <p:sldId id="259" r:id="rId16"/>
    <p:sldId id="260" r:id="rId17"/>
    <p:sldId id="261" r:id="rId18"/>
    <p:sldId id="262" r:id="rId19"/>
    <p:sldId id="295" r:id="rId20"/>
    <p:sldId id="263" r:id="rId21"/>
    <p:sldId id="304" r:id="rId22"/>
    <p:sldId id="305" r:id="rId23"/>
    <p:sldId id="265" r:id="rId24"/>
    <p:sldId id="266" r:id="rId25"/>
    <p:sldId id="267" r:id="rId26"/>
    <p:sldId id="309" r:id="rId27"/>
    <p:sldId id="310" r:id="rId28"/>
    <p:sldId id="311" r:id="rId29"/>
    <p:sldId id="312" r:id="rId30"/>
    <p:sldId id="313" r:id="rId31"/>
    <p:sldId id="314" r:id="rId32"/>
    <p:sldId id="315" r:id="rId33"/>
    <p:sldId id="274" r:id="rId34"/>
    <p:sldId id="275"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116" autoAdjust="0"/>
  </p:normalViewPr>
  <p:slideViewPr>
    <p:cSldViewPr snapToGrid="0" snapToObjects="1">
      <p:cViewPr varScale="1">
        <p:scale>
          <a:sx n="94" d="100"/>
          <a:sy n="94" d="100"/>
        </p:scale>
        <p:origin x="206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325D-236B-4F03-BA94-913479B19245}" type="datetimeFigureOut">
              <a:rPr lang="en-US" smtClean="0"/>
              <a:t>2/25/26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890B9C-8593-45BF-B5DF-D540ED82BD20}" type="slidenum">
              <a:rPr lang="en-US" smtClean="0"/>
              <a:t>‹#›</a:t>
            </a:fld>
            <a:endParaRPr lang="en-US"/>
          </a:p>
        </p:txBody>
      </p:sp>
    </p:spTree>
    <p:extLst>
      <p:ext uri="{BB962C8B-B14F-4D97-AF65-F5344CB8AC3E}">
        <p14:creationId xmlns:p14="http://schemas.microsoft.com/office/powerpoint/2010/main" val="2883715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CSC374 Information Security</a:t>
            </a:r>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E026A4D-5053-4FDB-93C4-872D09897126}" type="slidenum">
              <a:rPr lang="en-US" smtClean="0"/>
              <a:pPr/>
              <a:t>3</a:t>
            </a:fld>
            <a:endParaRPr lang="en-US"/>
          </a:p>
        </p:txBody>
      </p:sp>
    </p:spTree>
    <p:extLst>
      <p:ext uri="{BB962C8B-B14F-4D97-AF65-F5344CB8AC3E}">
        <p14:creationId xmlns:p14="http://schemas.microsoft.com/office/powerpoint/2010/main" val="2880253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you hire a civil engineer who doesn’t know earthquake safety?”</a:t>
            </a:r>
          </a:p>
          <a:p>
            <a:r>
              <a:rPr lang="en-US" dirty="0"/>
              <a:t>Then say:</a:t>
            </a:r>
          </a:p>
          <a:p>
            <a:r>
              <a:rPr lang="en-US" dirty="0"/>
              <a:t>Every software system can be attacked.</a:t>
            </a:r>
          </a:p>
          <a:p>
            <a:r>
              <a:rPr lang="en-US" dirty="0"/>
              <a:t>If you don’t understand security, your system can be hacked.</a:t>
            </a:r>
          </a:p>
          <a:p>
            <a:r>
              <a:rPr lang="en-US" dirty="0"/>
              <a:t>A programmer who ignores security writes </a:t>
            </a:r>
            <a:r>
              <a:rPr lang="en-US" b="1" dirty="0"/>
              <a:t>incomplete software</a:t>
            </a:r>
            <a:r>
              <a:rPr lang="en-US" dirty="0"/>
              <a:t>.</a:t>
            </a:r>
          </a:p>
          <a:p>
            <a:r>
              <a:rPr lang="en-US" dirty="0"/>
              <a:t>Why do hackers still succeed if companies spend millions?”</a:t>
            </a:r>
          </a:p>
          <a:p>
            <a:r>
              <a:rPr lang="en-US" dirty="0"/>
              <a:t>Because:</a:t>
            </a:r>
          </a:p>
          <a:p>
            <a:r>
              <a:rPr lang="en-US" dirty="0"/>
              <a:t>Weak passwords</a:t>
            </a:r>
          </a:p>
          <a:p>
            <a:r>
              <a:rPr lang="en-US" dirty="0"/>
              <a:t>Unpatched software</a:t>
            </a:r>
          </a:p>
          <a:p>
            <a:r>
              <a:rPr lang="en-US" dirty="0"/>
              <a:t>Misconfigured servers</a:t>
            </a:r>
          </a:p>
          <a:p>
            <a:r>
              <a:rPr lang="en-US" dirty="0"/>
              <a:t>Human mistakes</a:t>
            </a:r>
          </a:p>
          <a:p>
            <a:r>
              <a:rPr lang="en-US" b="1" dirty="0"/>
              <a:t>🔹 Simple Analogy:</a:t>
            </a:r>
          </a:p>
          <a:p>
            <a:r>
              <a:rPr lang="en-US" dirty="0"/>
              <a:t>A house with:</a:t>
            </a:r>
          </a:p>
          <a:p>
            <a:r>
              <a:rPr lang="en-US" dirty="0"/>
              <a:t>Strong walls</a:t>
            </a:r>
          </a:p>
          <a:p>
            <a:r>
              <a:rPr lang="en-US" dirty="0"/>
              <a:t>But unlocked door</a:t>
            </a:r>
          </a:p>
          <a:p>
            <a:r>
              <a:rPr lang="en-US" dirty="0"/>
              <a:t>👉 That’s a vulnerable system.</a:t>
            </a:r>
          </a:p>
          <a:p>
            <a:r>
              <a:rPr lang="en-US" dirty="0"/>
              <a:t>Tell them:</a:t>
            </a:r>
          </a:p>
          <a:p>
            <a:r>
              <a:rPr lang="en-US" dirty="0"/>
              <a:t>“Most attacks exploit mistakes, not magic.”</a:t>
            </a:r>
          </a:p>
          <a:p>
            <a:r>
              <a:rPr lang="en-US" dirty="0"/>
              <a:t>Security affects:</a:t>
            </a:r>
          </a:p>
          <a:p>
            <a:r>
              <a:rPr lang="en-US" dirty="0"/>
              <a:t>National security</a:t>
            </a:r>
          </a:p>
          <a:p>
            <a:r>
              <a:rPr lang="en-US" dirty="0"/>
              <a:t>Elections</a:t>
            </a:r>
          </a:p>
          <a:p>
            <a:r>
              <a:rPr lang="en-US" dirty="0"/>
              <a:t>Military systems</a:t>
            </a:r>
          </a:p>
          <a:p>
            <a:r>
              <a:rPr lang="en-US" dirty="0"/>
              <a:t>Citizen data privacy</a:t>
            </a:r>
          </a:p>
          <a:p>
            <a:r>
              <a:rPr lang="en-US" dirty="0"/>
              <a:t>International relations</a:t>
            </a:r>
          </a:p>
          <a:p>
            <a:r>
              <a:rPr lang="en-US" b="1" dirty="0"/>
              <a:t>🔹 Real Examples:</a:t>
            </a:r>
          </a:p>
          <a:p>
            <a:r>
              <a:rPr lang="en-US" dirty="0"/>
              <a:t>Election hacking</a:t>
            </a:r>
          </a:p>
          <a:p>
            <a:r>
              <a:rPr lang="en-US" dirty="0"/>
              <a:t>Cyber warfare</a:t>
            </a:r>
          </a:p>
          <a:p>
            <a:r>
              <a:rPr lang="en-US" dirty="0"/>
              <a:t>Data privacy laws</a:t>
            </a:r>
          </a:p>
          <a:p>
            <a:r>
              <a:rPr lang="en-US" dirty="0"/>
              <a:t>Social media misinformation</a:t>
            </a:r>
          </a:p>
          <a:p>
            <a:r>
              <a:rPr lang="en-US" dirty="0"/>
              <a:t>Tell them:</a:t>
            </a:r>
          </a:p>
          <a:p>
            <a:r>
              <a:rPr lang="en-US" dirty="0"/>
              <a:t>“Cyber security is not only technical — it is about power and control.”</a:t>
            </a:r>
          </a:p>
          <a:p>
            <a:endParaRPr lang="en-US" dirty="0"/>
          </a:p>
        </p:txBody>
      </p:sp>
      <p:sp>
        <p:nvSpPr>
          <p:cNvPr id="4" name="Header Placeholder 3"/>
          <p:cNvSpPr>
            <a:spLocks noGrp="1"/>
          </p:cNvSpPr>
          <p:nvPr>
            <p:ph type="hdr" sz="quarter" idx="10"/>
          </p:nvPr>
        </p:nvSpPr>
        <p:spPr/>
        <p:txBody>
          <a:bodyPr/>
          <a:lstStyle/>
          <a:p>
            <a:r>
              <a:rPr lang="en-US"/>
              <a:t>CSC374 Information Security</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4</a:t>
            </a:fld>
            <a:endParaRPr lang="en-US"/>
          </a:p>
        </p:txBody>
      </p:sp>
    </p:spTree>
    <p:extLst>
      <p:ext uri="{BB962C8B-B14F-4D97-AF65-F5344CB8AC3E}">
        <p14:creationId xmlns:p14="http://schemas.microsoft.com/office/powerpoint/2010/main" val="2146352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CSC374 Information Security</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5</a:t>
            </a:fld>
            <a:endParaRPr lang="en-US"/>
          </a:p>
        </p:txBody>
      </p:sp>
    </p:spTree>
    <p:extLst>
      <p:ext uri="{BB962C8B-B14F-4D97-AF65-F5344CB8AC3E}">
        <p14:creationId xmlns:p14="http://schemas.microsoft.com/office/powerpoint/2010/main" val="270257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E69A3-95E9-FC59-64D7-6B8EB6BAA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95048-4771-C4F2-2D74-251130F8A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EB2B8-2E99-C376-0D14-FD7F30293C46}"/>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50CA6FC4-1392-1EDB-56AF-E1FA43E1F1F6}"/>
              </a:ext>
            </a:extLst>
          </p:cNvPr>
          <p:cNvSpPr>
            <a:spLocks noGrp="1"/>
          </p:cNvSpPr>
          <p:nvPr>
            <p:ph type="hdr" sz="quarter" idx="10"/>
          </p:nvPr>
        </p:nvSpPr>
        <p:spPr/>
        <p:txBody>
          <a:bodyPr/>
          <a:lstStyle/>
          <a:p>
            <a:r>
              <a:rPr lang="en-US"/>
              <a:t>CSC374 Information Security</a:t>
            </a:r>
          </a:p>
        </p:txBody>
      </p:sp>
      <p:sp>
        <p:nvSpPr>
          <p:cNvPr id="5" name="Footer Placeholder 4">
            <a:extLst>
              <a:ext uri="{FF2B5EF4-FFF2-40B4-BE49-F238E27FC236}">
                <a16:creationId xmlns:a16="http://schemas.microsoft.com/office/drawing/2014/main" id="{0F85A5CB-070F-B02C-25F9-D0BE09FE8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277C7A-75ED-B7E2-FD3F-38D8492A9692}"/>
              </a:ext>
            </a:extLst>
          </p:cNvPr>
          <p:cNvSpPr>
            <a:spLocks noGrp="1"/>
          </p:cNvSpPr>
          <p:nvPr>
            <p:ph type="sldNum" sz="quarter" idx="12"/>
          </p:nvPr>
        </p:nvSpPr>
        <p:spPr/>
        <p:txBody>
          <a:bodyPr/>
          <a:lstStyle/>
          <a:p>
            <a:fld id="{DE026A4D-5053-4FDB-93C4-872D09897126}" type="slidenum">
              <a:rPr lang="en-US" smtClean="0"/>
              <a:pPr/>
              <a:t>6</a:t>
            </a:fld>
            <a:endParaRPr lang="en-US"/>
          </a:p>
        </p:txBody>
      </p:sp>
    </p:spTree>
    <p:extLst>
      <p:ext uri="{BB962C8B-B14F-4D97-AF65-F5344CB8AC3E}">
        <p14:creationId xmlns:p14="http://schemas.microsoft.com/office/powerpoint/2010/main" val="1495448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C14D21-4B17-4018-A3F4-E48F5CA44414}" type="slidenum">
              <a:rPr lang="en-GB"/>
              <a:pPr/>
              <a:t>8</a:t>
            </a:fld>
            <a:endParaRPr lang="en-GB"/>
          </a:p>
        </p:txBody>
      </p:sp>
      <p:sp>
        <p:nvSpPr>
          <p:cNvPr id="73731"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ea typeface="Lucida Sans Unicode" panose="020B0602030504020204" pitchFamily="34" charset="0"/>
              <a:cs typeface="Lucida Sans Unicode" panose="020B0602030504020204" pitchFamily="34" charset="0"/>
            </a:endParaRPr>
          </a:p>
        </p:txBody>
      </p:sp>
      <p:sp>
        <p:nvSpPr>
          <p:cNvPr id="73732" name="Text Box 2"/>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ea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547912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D81D8A-84B5-49F9-A7CF-BBA0D27D3871}" type="slidenum">
              <a:rPr lang="en-GB"/>
              <a:pPr/>
              <a:t>9</a:t>
            </a:fld>
            <a:endParaRPr lang="en-GB"/>
          </a:p>
        </p:txBody>
      </p:sp>
      <p:sp>
        <p:nvSpPr>
          <p:cNvPr id="80899"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ea typeface="Lucida Sans Unicode" panose="020B0602030504020204" pitchFamily="34" charset="0"/>
              <a:cs typeface="Lucida Sans Unicode" panose="020B0602030504020204" pitchFamily="34" charset="0"/>
            </a:endParaRPr>
          </a:p>
        </p:txBody>
      </p:sp>
      <p:sp>
        <p:nvSpPr>
          <p:cNvPr id="80900" name="Text Box 2"/>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338"/>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t>Security is not just about installing antivirus software. A strong organization protects its buildings, its people, its operations, its communications, its networks, and its data. If one layer fails, other layers still protect the system. This is called layered security or defense in depth.”</a:t>
            </a:r>
          </a:p>
          <a:p>
            <a:pPr eaLnBrk="1" hangingPunct="1">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ea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2659307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B7AEC4-68D1-46DB-B08A-B8EA3F5D6F81}" type="slidenum">
              <a:rPr lang="en-GB"/>
              <a:pPr/>
              <a:t>10</a:t>
            </a:fld>
            <a:endParaRPr lang="en-GB"/>
          </a:p>
        </p:txBody>
      </p:sp>
      <p:sp>
        <p:nvSpPr>
          <p:cNvPr id="81923"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ea typeface="Lucida Sans Unicode" panose="020B0602030504020204" pitchFamily="34" charset="0"/>
              <a:cs typeface="Lucida Sans Unicode" panose="020B0602030504020204" pitchFamily="34" charset="0"/>
            </a:endParaRPr>
          </a:p>
        </p:txBody>
      </p:sp>
      <p:sp>
        <p:nvSpPr>
          <p:cNvPr id="81924" name="Text Box 2"/>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ea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253818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Ensuring that information is accessible </a:t>
            </a:r>
            <a:r>
              <a:rPr lang="en-US" b="1" dirty="0"/>
              <a:t>only to authorized users</a:t>
            </a:r>
            <a:r>
              <a:rPr lang="en-US" dirty="0"/>
              <a:t>.</a:t>
            </a:r>
          </a:p>
          <a:p>
            <a:r>
              <a:rPr lang="en-US" b="1" dirty="0"/>
              <a:t>🔎 Goal:</a:t>
            </a:r>
          </a:p>
          <a:p>
            <a:r>
              <a:rPr lang="en-US" dirty="0"/>
              <a:t>Prevent unauthorized disclosure of data.</a:t>
            </a:r>
          </a:p>
          <a:p>
            <a:r>
              <a:rPr lang="en-US" b="1" dirty="0"/>
              <a:t>🛠 How it is achieved:</a:t>
            </a:r>
          </a:p>
          <a:p>
            <a:r>
              <a:rPr lang="en-US" dirty="0"/>
              <a:t>Encryption</a:t>
            </a:r>
          </a:p>
          <a:p>
            <a:r>
              <a:rPr lang="en-US" dirty="0"/>
              <a:t>Passwords</a:t>
            </a:r>
          </a:p>
          <a:p>
            <a:r>
              <a:rPr lang="en-US" dirty="0"/>
              <a:t>Multi-Factor Authentication (MFA)</a:t>
            </a:r>
          </a:p>
          <a:p>
            <a:r>
              <a:rPr lang="en-US" dirty="0"/>
              <a:t>Access control policies</a:t>
            </a:r>
          </a:p>
          <a:p>
            <a:r>
              <a:rPr lang="en-US" dirty="0"/>
              <a:t>Role-based access control (RBAC)</a:t>
            </a:r>
          </a:p>
          <a:p>
            <a:r>
              <a:rPr lang="en-US" b="1" dirty="0"/>
              <a:t>🎓 Example for Students:</a:t>
            </a:r>
          </a:p>
          <a:p>
            <a:r>
              <a:rPr lang="en-US" dirty="0"/>
              <a:t>Student grades should only be seen by the student and authorized faculty.</a:t>
            </a:r>
          </a:p>
          <a:p>
            <a:r>
              <a:rPr lang="en-US" dirty="0"/>
              <a:t>Bank account details should not be accessible to strangers.</a:t>
            </a:r>
          </a:p>
          <a:p>
            <a:r>
              <a:rPr lang="en-US" dirty="0"/>
              <a:t>If confidentiality is broken → </a:t>
            </a:r>
            <a:r>
              <a:rPr lang="en-US" b="1" dirty="0"/>
              <a:t>Data breach</a:t>
            </a:r>
            <a:endParaRPr lang="en-US" dirty="0"/>
          </a:p>
          <a:p>
            <a:endParaRPr lang="en-US" dirty="0"/>
          </a:p>
        </p:txBody>
      </p:sp>
      <p:sp>
        <p:nvSpPr>
          <p:cNvPr id="4" name="Slide Number Placeholder 3"/>
          <p:cNvSpPr>
            <a:spLocks noGrp="1"/>
          </p:cNvSpPr>
          <p:nvPr>
            <p:ph type="sldNum" sz="quarter" idx="5"/>
          </p:nvPr>
        </p:nvSpPr>
        <p:spPr/>
        <p:txBody>
          <a:bodyPr/>
          <a:lstStyle/>
          <a:p>
            <a:fld id="{0F890B9C-8593-45BF-B5DF-D540ED82BD20}" type="slidenum">
              <a:rPr lang="en-US" smtClean="0"/>
              <a:t>15</a:t>
            </a:fld>
            <a:endParaRPr lang="en-US"/>
          </a:p>
        </p:txBody>
      </p:sp>
    </p:spTree>
    <p:extLst>
      <p:ext uri="{BB962C8B-B14F-4D97-AF65-F5344CB8AC3E}">
        <p14:creationId xmlns:p14="http://schemas.microsoft.com/office/powerpoint/2010/main" val="462535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Ensuring that data is </a:t>
            </a:r>
            <a:r>
              <a:rPr lang="en-US" b="1" dirty="0"/>
              <a:t>accurate, complete, and not altered</a:t>
            </a:r>
            <a:r>
              <a:rPr lang="en-US" dirty="0"/>
              <a:t> without authorization.</a:t>
            </a:r>
          </a:p>
          <a:p>
            <a:r>
              <a:rPr lang="en-US" b="1" dirty="0"/>
              <a:t>🔎 Goal:</a:t>
            </a:r>
          </a:p>
          <a:p>
            <a:r>
              <a:rPr lang="en-US" dirty="0"/>
              <a:t>Prevent unauthorized modification.</a:t>
            </a:r>
          </a:p>
          <a:p>
            <a:r>
              <a:rPr lang="en-US" b="1" dirty="0"/>
              <a:t>🛠 How it is achieved:</a:t>
            </a:r>
          </a:p>
          <a:p>
            <a:r>
              <a:rPr lang="en-US" dirty="0"/>
              <a:t>Hash functions</a:t>
            </a:r>
          </a:p>
          <a:p>
            <a:r>
              <a:rPr lang="en-US" dirty="0"/>
              <a:t>Digital signatures</a:t>
            </a:r>
          </a:p>
          <a:p>
            <a:r>
              <a:rPr lang="en-US" dirty="0"/>
              <a:t>Checksums</a:t>
            </a:r>
          </a:p>
          <a:p>
            <a:r>
              <a:rPr lang="en-US" dirty="0"/>
              <a:t>Version control</a:t>
            </a:r>
          </a:p>
          <a:p>
            <a:r>
              <a:rPr lang="en-US" dirty="0"/>
              <a:t>Database constraints</a:t>
            </a:r>
          </a:p>
          <a:p>
            <a:r>
              <a:rPr lang="en-US" b="1" dirty="0"/>
              <a:t>🎓 Example:</a:t>
            </a:r>
          </a:p>
          <a:p>
            <a:r>
              <a:rPr lang="en-US" dirty="0"/>
              <a:t>Exam marks should not be changed by unauthorized users.</a:t>
            </a:r>
          </a:p>
          <a:p>
            <a:r>
              <a:rPr lang="en-US" dirty="0"/>
              <a:t>Financial records must not be modified illegally.</a:t>
            </a:r>
          </a:p>
          <a:p>
            <a:r>
              <a:rPr lang="en-US" dirty="0"/>
              <a:t>If integrity is broken → </a:t>
            </a:r>
            <a:r>
              <a:rPr lang="en-US" b="1" dirty="0"/>
              <a:t>Data tampering</a:t>
            </a:r>
            <a:endParaRPr lang="en-US" dirty="0"/>
          </a:p>
          <a:p>
            <a:endParaRPr lang="en-US" dirty="0"/>
          </a:p>
        </p:txBody>
      </p:sp>
      <p:sp>
        <p:nvSpPr>
          <p:cNvPr id="4" name="Slide Number Placeholder 3"/>
          <p:cNvSpPr>
            <a:spLocks noGrp="1"/>
          </p:cNvSpPr>
          <p:nvPr>
            <p:ph type="sldNum" sz="quarter" idx="5"/>
          </p:nvPr>
        </p:nvSpPr>
        <p:spPr/>
        <p:txBody>
          <a:bodyPr/>
          <a:lstStyle/>
          <a:p>
            <a:fld id="{0F890B9C-8593-45BF-B5DF-D540ED82BD20}" type="slidenum">
              <a:rPr lang="en-US" smtClean="0"/>
              <a:t>17</a:t>
            </a:fld>
            <a:endParaRPr lang="en-US"/>
          </a:p>
        </p:txBody>
      </p:sp>
    </p:spTree>
    <p:extLst>
      <p:ext uri="{BB962C8B-B14F-4D97-AF65-F5344CB8AC3E}">
        <p14:creationId xmlns:p14="http://schemas.microsoft.com/office/powerpoint/2010/main" val="149565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Ensuring that systems and data are </a:t>
            </a:r>
            <a:r>
              <a:rPr lang="en-US" b="1" dirty="0"/>
              <a:t>available when needed</a:t>
            </a:r>
            <a:r>
              <a:rPr lang="en-US" dirty="0"/>
              <a:t>.</a:t>
            </a:r>
          </a:p>
          <a:p>
            <a:r>
              <a:rPr lang="en-US" b="1" dirty="0"/>
              <a:t>🔎 Goal:</a:t>
            </a:r>
          </a:p>
          <a:p>
            <a:r>
              <a:rPr lang="en-US" dirty="0"/>
              <a:t>Prevent service disruption.</a:t>
            </a:r>
          </a:p>
          <a:p>
            <a:r>
              <a:rPr lang="en-US" b="1" dirty="0"/>
              <a:t>🛠 How it is achieved:</a:t>
            </a:r>
          </a:p>
          <a:p>
            <a:r>
              <a:rPr lang="en-US" dirty="0"/>
              <a:t>Backup systems</a:t>
            </a:r>
          </a:p>
          <a:p>
            <a:r>
              <a:rPr lang="en-US" dirty="0"/>
              <a:t>Redundant servers</a:t>
            </a:r>
          </a:p>
          <a:p>
            <a:r>
              <a:rPr lang="en-US" dirty="0"/>
              <a:t>Load balancing</a:t>
            </a:r>
          </a:p>
          <a:p>
            <a:r>
              <a:rPr lang="en-US" dirty="0"/>
              <a:t>Disaster recovery plans</a:t>
            </a:r>
          </a:p>
          <a:p>
            <a:r>
              <a:rPr lang="en-US" dirty="0"/>
              <a:t>Protection against DDoS attacks</a:t>
            </a:r>
          </a:p>
          <a:p>
            <a:r>
              <a:rPr lang="en-US" b="1" dirty="0"/>
              <a:t>🎓 Example:</a:t>
            </a:r>
          </a:p>
          <a:p>
            <a:r>
              <a:rPr lang="en-US" dirty="0"/>
              <a:t>University portal should work during result day.</a:t>
            </a:r>
          </a:p>
          <a:p>
            <a:r>
              <a:rPr lang="en-US" dirty="0"/>
              <a:t>ATM machines must be operational.</a:t>
            </a:r>
          </a:p>
          <a:p>
            <a:r>
              <a:rPr lang="en-US" dirty="0"/>
              <a:t>If availability is broken → </a:t>
            </a:r>
            <a:r>
              <a:rPr lang="en-US" b="1" dirty="0"/>
              <a:t>Denial of Service</a:t>
            </a:r>
            <a:endParaRPr lang="en-US" dirty="0"/>
          </a:p>
          <a:p>
            <a:endParaRPr lang="en-US" dirty="0"/>
          </a:p>
        </p:txBody>
      </p:sp>
      <p:sp>
        <p:nvSpPr>
          <p:cNvPr id="4" name="Slide Number Placeholder 3"/>
          <p:cNvSpPr>
            <a:spLocks noGrp="1"/>
          </p:cNvSpPr>
          <p:nvPr>
            <p:ph type="sldNum" sz="quarter" idx="5"/>
          </p:nvPr>
        </p:nvSpPr>
        <p:spPr/>
        <p:txBody>
          <a:bodyPr/>
          <a:lstStyle/>
          <a:p>
            <a:fld id="{0F890B9C-8593-45BF-B5DF-D540ED82BD20}" type="slidenum">
              <a:rPr lang="en-US" smtClean="0"/>
              <a:t>18</a:t>
            </a:fld>
            <a:endParaRPr lang="en-US"/>
          </a:p>
        </p:txBody>
      </p:sp>
    </p:spTree>
    <p:extLst>
      <p:ext uri="{BB962C8B-B14F-4D97-AF65-F5344CB8AC3E}">
        <p14:creationId xmlns:p14="http://schemas.microsoft.com/office/powerpoint/2010/main" val="3532913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890221-565E-42CC-AB45-C13CDA41B24A}" type="slidenum">
              <a:rPr lang="en-GB"/>
              <a:pPr/>
              <a:t>19</a:t>
            </a:fld>
            <a:endParaRPr lang="en-GB"/>
          </a:p>
        </p:txBody>
      </p:sp>
      <p:sp>
        <p:nvSpPr>
          <p:cNvPr id="89091"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ea typeface="Lucida Sans Unicode" panose="020B0602030504020204" pitchFamily="34" charset="0"/>
              <a:cs typeface="Lucida Sans Unicode" panose="020B0602030504020204" pitchFamily="34" charset="0"/>
            </a:endParaRPr>
          </a:p>
        </p:txBody>
      </p:sp>
      <p:sp>
        <p:nvSpPr>
          <p:cNvPr id="89092" name="Text Box 2"/>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ea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519236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threat that causes harm </a:t>
            </a:r>
            <a:r>
              <a:rPr lang="en-US" b="1" dirty="0"/>
              <a:t>without intent</a:t>
            </a:r>
            <a:r>
              <a:rPr lang="en-US" dirty="0"/>
              <a:t>.</a:t>
            </a:r>
          </a:p>
          <a:p>
            <a:r>
              <a:rPr lang="en-US" dirty="0"/>
              <a:t>There is no deliberate plan to damage the system.</a:t>
            </a:r>
          </a:p>
          <a:p>
            <a:r>
              <a:rPr lang="en-US" b="1" dirty="0"/>
              <a:t>🎯 Examples:</a:t>
            </a:r>
          </a:p>
          <a:p>
            <a:r>
              <a:rPr lang="en-US" dirty="0"/>
              <a:t>Power failure</a:t>
            </a:r>
          </a:p>
          <a:p>
            <a:r>
              <a:rPr lang="en-US" dirty="0"/>
              <a:t>Natural disasters (flood, earthquake)</a:t>
            </a:r>
          </a:p>
          <a:p>
            <a:r>
              <a:rPr lang="en-US" dirty="0"/>
              <a:t>Employee accidentally deleting important files</a:t>
            </a:r>
          </a:p>
          <a:p>
            <a:r>
              <a:rPr lang="en-US" dirty="0"/>
              <a:t>Hardware failure</a:t>
            </a:r>
          </a:p>
          <a:p>
            <a:r>
              <a:rPr lang="en-US" dirty="0"/>
              <a:t>These are accidental or environmental threats.</a:t>
            </a:r>
          </a:p>
          <a:p>
            <a:endParaRPr lang="en-US" dirty="0"/>
          </a:p>
        </p:txBody>
      </p:sp>
      <p:sp>
        <p:nvSpPr>
          <p:cNvPr id="4" name="Slide Number Placeholder 3"/>
          <p:cNvSpPr>
            <a:spLocks noGrp="1"/>
          </p:cNvSpPr>
          <p:nvPr>
            <p:ph type="sldNum" sz="quarter" idx="5"/>
          </p:nvPr>
        </p:nvSpPr>
        <p:spPr/>
        <p:txBody>
          <a:bodyPr/>
          <a:lstStyle/>
          <a:p>
            <a:fld id="{0F890B9C-8593-45BF-B5DF-D540ED82BD20}" type="slidenum">
              <a:rPr lang="en-US" smtClean="0"/>
              <a:t>21</a:t>
            </a:fld>
            <a:endParaRPr lang="en-US"/>
          </a:p>
        </p:txBody>
      </p:sp>
    </p:spTree>
    <p:extLst>
      <p:ext uri="{BB962C8B-B14F-4D97-AF65-F5344CB8AC3E}">
        <p14:creationId xmlns:p14="http://schemas.microsoft.com/office/powerpoint/2010/main" val="1212781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eak</a:t>
            </a:r>
            <a:r>
              <a:rPr lang="en-US" dirty="0"/>
              <a:t> password → Vulnerability</a:t>
            </a:r>
            <a:br>
              <a:rPr lang="en-US" dirty="0"/>
            </a:br>
            <a:r>
              <a:rPr lang="en-US" dirty="0"/>
              <a:t>2️⃣ Outdated software → Vulnerability</a:t>
            </a:r>
            <a:br>
              <a:rPr lang="en-US" dirty="0"/>
            </a:br>
            <a:r>
              <a:rPr lang="en-US" dirty="0"/>
              <a:t>3️⃣ Misconfigured firewall → Vulnerability</a:t>
            </a:r>
            <a:br>
              <a:rPr lang="en-US" dirty="0"/>
            </a:br>
            <a:r>
              <a:rPr lang="en-US" dirty="0"/>
              <a:t>4️⃣ No data backup → Vulnerability</a:t>
            </a:r>
          </a:p>
        </p:txBody>
      </p:sp>
      <p:sp>
        <p:nvSpPr>
          <p:cNvPr id="4" name="Slide Number Placeholder 3"/>
          <p:cNvSpPr>
            <a:spLocks noGrp="1"/>
          </p:cNvSpPr>
          <p:nvPr>
            <p:ph type="sldNum" sz="quarter" idx="5"/>
          </p:nvPr>
        </p:nvSpPr>
        <p:spPr/>
        <p:txBody>
          <a:bodyPr/>
          <a:lstStyle/>
          <a:p>
            <a:fld id="{0F890B9C-8593-45BF-B5DF-D540ED82BD20}" type="slidenum">
              <a:rPr lang="en-US" smtClean="0"/>
              <a:t>22</a:t>
            </a:fld>
            <a:endParaRPr lang="en-US"/>
          </a:p>
        </p:txBody>
      </p:sp>
    </p:spTree>
    <p:extLst>
      <p:ext uri="{BB962C8B-B14F-4D97-AF65-F5344CB8AC3E}">
        <p14:creationId xmlns:p14="http://schemas.microsoft.com/office/powerpoint/2010/main" val="5545410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5242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328272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21178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4005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626774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92610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9791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8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06583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031533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127628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68454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02850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80875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91697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584198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072725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2/25/26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045287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br>
              <a:rPr lang="en-US" dirty="0"/>
            </a:br>
            <a:br>
              <a:rPr lang="en-US" dirty="0"/>
            </a:br>
            <a:br>
              <a:rPr lang="en-US" dirty="0"/>
            </a:br>
            <a:br>
              <a:rPr lang="en-US" dirty="0"/>
            </a:br>
            <a:r>
              <a:rPr lang="en-US" sz="3300" dirty="0"/>
              <a:t>Cyber Security</a:t>
            </a:r>
            <a:br>
              <a:rPr lang="en-US" sz="3300" dirty="0"/>
            </a:br>
            <a:r>
              <a:rPr lang="en-US" sz="3300" dirty="0"/>
              <a:t>					Week-1		</a:t>
            </a:r>
            <a:br>
              <a:rPr lang="en-US" sz="3300" dirty="0"/>
            </a:br>
            <a:r>
              <a:rPr lang="en-US" sz="3300" dirty="0"/>
              <a:t>											</a:t>
            </a:r>
            <a:r>
              <a:rPr lang="en-US" sz="2100" dirty="0"/>
              <a:t>Semester- Spring 2026</a:t>
            </a:r>
          </a:p>
        </p:txBody>
      </p:sp>
      <p:sp>
        <p:nvSpPr>
          <p:cNvPr id="5" name="Footer Placeholder 4"/>
          <p:cNvSpPr>
            <a:spLocks noGrp="1"/>
          </p:cNvSpPr>
          <p:nvPr>
            <p:ph type="ftr" sz="quarter" idx="11"/>
          </p:nvPr>
        </p:nvSpPr>
        <p:spPr/>
        <p:txBody>
          <a:bodyPr/>
          <a:lstStyle/>
          <a:p>
            <a:r>
              <a:rPr lang="en-US"/>
              <a:t>Lahore Garrison University</a:t>
            </a:r>
          </a:p>
        </p:txBody>
      </p:sp>
      <p:sp>
        <p:nvSpPr>
          <p:cNvPr id="7" name="Slide Number Placeholder 6">
            <a:extLst>
              <a:ext uri="{FF2B5EF4-FFF2-40B4-BE49-F238E27FC236}">
                <a16:creationId xmlns:a16="http://schemas.microsoft.com/office/drawing/2014/main" id="{155B861C-24A8-47D2-986E-4811821069D8}"/>
              </a:ext>
            </a:extLst>
          </p:cNvPr>
          <p:cNvSpPr>
            <a:spLocks noGrp="1"/>
          </p:cNvSpPr>
          <p:nvPr>
            <p:ph type="sldNum" sz="quarter" idx="12"/>
          </p:nvPr>
        </p:nvSpPr>
        <p:spPr/>
        <p:txBody>
          <a:bodyPr/>
          <a:lstStyle/>
          <a:p>
            <a:fld id="{8E9ED8F5-F0EE-4F30-BF79-1CB5FF8C36DA}" type="slidenum">
              <a:rPr lang="en-US" smtClean="0"/>
              <a:pPr/>
              <a:t>1</a:t>
            </a:fld>
            <a:endParaRPr lang="en-US"/>
          </a:p>
        </p:txBody>
      </p:sp>
      <p:sp>
        <p:nvSpPr>
          <p:cNvPr id="8" name="Subtitle 7">
            <a:extLst>
              <a:ext uri="{FF2B5EF4-FFF2-40B4-BE49-F238E27FC236}">
                <a16:creationId xmlns:a16="http://schemas.microsoft.com/office/drawing/2014/main" id="{8AA016B3-E720-91F6-8AAF-3EB5FA0501E2}"/>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2690098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itchFamily="18" charset="0"/>
                <a:cs typeface="Times New Roman" pitchFamily="18" charset="0"/>
              </a:rPr>
              <a:t>Instructor Contact Details		</a:t>
            </a:r>
          </a:p>
        </p:txBody>
      </p:sp>
      <p:sp>
        <p:nvSpPr>
          <p:cNvPr id="6" name="Slide Number Placeholder 5"/>
          <p:cNvSpPr>
            <a:spLocks noGrp="1"/>
          </p:cNvSpPr>
          <p:nvPr>
            <p:ph type="sldNum" sz="quarter" idx="12"/>
          </p:nvPr>
        </p:nvSpPr>
        <p:spPr/>
        <p:txBody>
          <a:bodyPr/>
          <a:lstStyle/>
          <a:p>
            <a:fld id="{8E9ED8F5-F0EE-4F30-BF79-1CB5FF8C36DA}" type="slidenum">
              <a:rPr lang="en-US" smtClean="0"/>
              <a:pPr/>
              <a:t>2</a:t>
            </a:fld>
            <a:endParaRPr lang="en-US"/>
          </a:p>
        </p:txBody>
      </p:sp>
      <p:sp>
        <p:nvSpPr>
          <p:cNvPr id="8" name="Content Placeholder 2">
            <a:extLst>
              <a:ext uri="{FF2B5EF4-FFF2-40B4-BE49-F238E27FC236}">
                <a16:creationId xmlns:a16="http://schemas.microsoft.com/office/drawing/2014/main" id="{1B0DBE77-A541-4490-AAED-3BD2FDE53F15}"/>
              </a:ext>
            </a:extLst>
          </p:cNvPr>
          <p:cNvSpPr>
            <a:spLocks noGrp="1"/>
          </p:cNvSpPr>
          <p:nvPr/>
        </p:nvSpPr>
        <p:spPr>
          <a:xfrm>
            <a:off x="596456" y="2716418"/>
            <a:ext cx="8015232" cy="2562225"/>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sz="1650" dirty="0">
                <a:solidFill>
                  <a:schemeClr val="tx1">
                    <a:lumMod val="95000"/>
                    <a:lumOff val="5000"/>
                  </a:schemeClr>
                </a:solidFill>
                <a:latin typeface="Times New Roman" pitchFamily="18" charset="0"/>
                <a:ea typeface="Tahoma" pitchFamily="34" charset="0"/>
                <a:cs typeface="Times New Roman" pitchFamily="18" charset="0"/>
              </a:rPr>
              <a:t>Name: Muhammad Bilal Khan	</a:t>
            </a:r>
          </a:p>
          <a:p>
            <a:r>
              <a:rPr lang="en-US" sz="1650" dirty="0">
                <a:solidFill>
                  <a:schemeClr val="tx1">
                    <a:lumMod val="95000"/>
                    <a:lumOff val="5000"/>
                  </a:schemeClr>
                </a:solidFill>
                <a:latin typeface="Times New Roman" pitchFamily="18" charset="0"/>
                <a:ea typeface="Tahoma" pitchFamily="34" charset="0"/>
                <a:cs typeface="Times New Roman" pitchFamily="18" charset="0"/>
              </a:rPr>
              <a:t>Course Instructor:  Cyber Security</a:t>
            </a:r>
          </a:p>
          <a:p>
            <a:r>
              <a:rPr lang="en-US" sz="1650" dirty="0">
                <a:solidFill>
                  <a:schemeClr val="tx1">
                    <a:lumMod val="95000"/>
                    <a:lumOff val="5000"/>
                  </a:schemeClr>
                </a:solidFill>
                <a:latin typeface="Times New Roman" pitchFamily="18" charset="0"/>
                <a:ea typeface="Tahoma" pitchFamily="34" charset="0"/>
                <a:cs typeface="Times New Roman" pitchFamily="18" charset="0"/>
              </a:rPr>
              <a:t>Credit Hours: 3</a:t>
            </a:r>
          </a:p>
          <a:p>
            <a:r>
              <a:rPr lang="en-US" sz="1650" dirty="0">
                <a:solidFill>
                  <a:schemeClr val="tx1">
                    <a:lumMod val="95000"/>
                    <a:lumOff val="5000"/>
                  </a:schemeClr>
                </a:solidFill>
                <a:latin typeface="Times New Roman" pitchFamily="18" charset="0"/>
                <a:ea typeface="Tahoma" pitchFamily="34" charset="0"/>
                <a:cs typeface="Times New Roman" pitchFamily="18" charset="0"/>
              </a:rPr>
              <a:t>Designation : Senior Lecturer</a:t>
            </a:r>
          </a:p>
          <a:p>
            <a:r>
              <a:rPr lang="en-US" sz="1650" dirty="0">
                <a:solidFill>
                  <a:schemeClr val="tx1">
                    <a:lumMod val="95000"/>
                    <a:lumOff val="5000"/>
                  </a:schemeClr>
                </a:solidFill>
                <a:latin typeface="Times New Roman" pitchFamily="18" charset="0"/>
                <a:ea typeface="Tahoma" pitchFamily="34" charset="0"/>
                <a:cs typeface="Times New Roman" pitchFamily="18" charset="0"/>
              </a:rPr>
              <a:t>Office Location: Cabin 38, Gym Building</a:t>
            </a:r>
          </a:p>
          <a:p>
            <a:r>
              <a:rPr lang="en-US" sz="1650" dirty="0">
                <a:solidFill>
                  <a:schemeClr val="tx1">
                    <a:lumMod val="95000"/>
                    <a:lumOff val="5000"/>
                  </a:schemeClr>
                </a:solidFill>
                <a:latin typeface="Times New Roman" pitchFamily="18" charset="0"/>
                <a:ea typeface="Tahoma" pitchFamily="34" charset="0"/>
                <a:cs typeface="Times New Roman" pitchFamily="18" charset="0"/>
              </a:rPr>
              <a:t>Email: </a:t>
            </a:r>
            <a:r>
              <a:rPr lang="en-US" sz="1650" dirty="0" err="1">
                <a:solidFill>
                  <a:schemeClr val="tx1">
                    <a:lumMod val="95000"/>
                    <a:lumOff val="5000"/>
                  </a:schemeClr>
                </a:solidFill>
                <a:latin typeface="Times New Roman" pitchFamily="18" charset="0"/>
                <a:ea typeface="Tahoma" pitchFamily="34" charset="0"/>
                <a:cs typeface="Times New Roman" pitchFamily="18" charset="0"/>
              </a:rPr>
              <a:t>Muhammad.bilalkhan@ucp.edu.pk</a:t>
            </a:r>
            <a:endParaRPr lang="en-US" sz="1650" dirty="0">
              <a:solidFill>
                <a:schemeClr val="tx1">
                  <a:lumMod val="95000"/>
                  <a:lumOff val="5000"/>
                </a:schemeClr>
              </a:solidFill>
              <a:latin typeface="Times New Roman" pitchFamily="18" charset="0"/>
              <a:ea typeface="Tahoma" pitchFamily="34" charset="0"/>
              <a:cs typeface="Times New Roman" pitchFamily="18" charset="0"/>
            </a:endParaRPr>
          </a:p>
          <a:p>
            <a:r>
              <a:rPr lang="en-US" sz="1650" dirty="0">
                <a:solidFill>
                  <a:schemeClr val="tx1">
                    <a:lumMod val="95000"/>
                    <a:lumOff val="5000"/>
                  </a:schemeClr>
                </a:solidFill>
                <a:latin typeface="Times New Roman" pitchFamily="18" charset="0"/>
                <a:ea typeface="Tahoma" pitchFamily="34" charset="0"/>
                <a:cs typeface="Times New Roman" pitchFamily="18" charset="0"/>
              </a:rPr>
              <a:t>Visiting Hours: TBA</a:t>
            </a:r>
          </a:p>
        </p:txBody>
      </p:sp>
    </p:spTree>
    <p:extLst>
      <p:ext uri="{BB962C8B-B14F-4D97-AF65-F5344CB8AC3E}">
        <p14:creationId xmlns:p14="http://schemas.microsoft.com/office/powerpoint/2010/main" val="173895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itchFamily="18" charset="0"/>
                <a:cs typeface="Times New Roman" pitchFamily="18" charset="0"/>
              </a:rPr>
              <a:t>Course Objectives</a:t>
            </a:r>
          </a:p>
        </p:txBody>
      </p:sp>
      <p:sp>
        <p:nvSpPr>
          <p:cNvPr id="3" name="Content Placeholder 2"/>
          <p:cNvSpPr>
            <a:spLocks noGrp="1"/>
          </p:cNvSpPr>
          <p:nvPr>
            <p:ph idx="1"/>
          </p:nvPr>
        </p:nvSpPr>
        <p:spPr>
          <a:xfrm>
            <a:off x="342900" y="2640330"/>
            <a:ext cx="8356963" cy="2731770"/>
          </a:xfrm>
        </p:spPr>
        <p:txBody>
          <a:bodyPr>
            <a:noAutofit/>
          </a:bodyPr>
          <a:lstStyle/>
          <a:p>
            <a:endParaRPr lang="en-US" sz="2700" dirty="0">
              <a:latin typeface="Times New Roman" panose="02020603050405020304" pitchFamily="18" charset="0"/>
            </a:endParaRPr>
          </a:p>
          <a:p>
            <a:pPr marL="0" indent="0" algn="just">
              <a:buNone/>
            </a:pPr>
            <a:r>
              <a:rPr lang="en-US" dirty="0">
                <a:solidFill>
                  <a:srgbClr val="000000"/>
                </a:solidFill>
                <a:latin typeface="Times New Roman" panose="02020603050405020304" pitchFamily="18" charset="0"/>
              </a:rPr>
              <a:t>This course offers an introduction to key cybersecurity concepts, focusing on common threats, vulnerabilities, and risks across web applications, networks, software, and mobile platforms. Students will learn essential terminology and concepts in the cybersecurity field, while also gaining the ability to identify various types of malwares and understand their impact on computers and networks. This course provides a strong foundation for understanding cybersecurity fundamentals.. </a:t>
            </a:r>
          </a:p>
          <a:p>
            <a:pPr>
              <a:buFont typeface="Wingdings" panose="05000000000000000000" pitchFamily="2" charset="2"/>
              <a:buChar char="§"/>
            </a:pPr>
            <a:endParaRPr lang="en-US" dirty="0">
              <a:solidFill>
                <a:srgbClr val="000000"/>
              </a:solidFill>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8E9ED8F5-F0EE-4F30-BF79-1CB5FF8C36DA}" type="slidenum">
              <a:rPr lang="en-US" smtClean="0"/>
              <a:pPr/>
              <a:t>3</a:t>
            </a:fld>
            <a:endParaRPr lang="en-US"/>
          </a:p>
        </p:txBody>
      </p:sp>
    </p:spTree>
    <p:extLst>
      <p:ext uri="{BB962C8B-B14F-4D97-AF65-F5344CB8AC3E}">
        <p14:creationId xmlns:p14="http://schemas.microsoft.com/office/powerpoint/2010/main" val="921881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itchFamily="18" charset="0"/>
                <a:cs typeface="Times New Roman" pitchFamily="18" charset="0"/>
              </a:rPr>
              <a:t>Security Motivation Factors</a:t>
            </a:r>
          </a:p>
        </p:txBody>
      </p:sp>
      <p:sp>
        <p:nvSpPr>
          <p:cNvPr id="3" name="Content Placeholder 2"/>
          <p:cNvSpPr>
            <a:spLocks noGrp="1"/>
          </p:cNvSpPr>
          <p:nvPr>
            <p:ph idx="1"/>
          </p:nvPr>
        </p:nvSpPr>
        <p:spPr>
          <a:xfrm>
            <a:off x="499655" y="2809875"/>
            <a:ext cx="8239397" cy="2562225"/>
          </a:xfrm>
        </p:spPr>
        <p:txBody>
          <a:bodyPr>
            <a:normAutofit/>
          </a:bodyPr>
          <a:lstStyle/>
          <a:p>
            <a:pPr>
              <a:lnSpc>
                <a:spcPct val="150000"/>
              </a:lnSpc>
            </a:pPr>
            <a:r>
              <a:rPr lang="en-US" sz="1650" dirty="0">
                <a:solidFill>
                  <a:schemeClr val="tx1">
                    <a:lumMod val="95000"/>
                    <a:lumOff val="5000"/>
                  </a:schemeClr>
                </a:solidFill>
                <a:latin typeface="Times New Roman" pitchFamily="18" charset="0"/>
                <a:cs typeface="Times New Roman" pitchFamily="18" charset="0"/>
              </a:rPr>
              <a:t>Three important motives of students to support security at organization level are:</a:t>
            </a:r>
          </a:p>
          <a:p>
            <a:pPr marL="874395" indent="-257175">
              <a:lnSpc>
                <a:spcPct val="150000"/>
              </a:lnSpc>
              <a:buClr>
                <a:srgbClr val="E48312"/>
              </a:buClr>
              <a:buFont typeface="Wingdings" panose="05000000000000000000" pitchFamily="2" charset="2"/>
              <a:buChar char="§"/>
            </a:pPr>
            <a:r>
              <a:rPr lang="en-US" sz="1650" dirty="0">
                <a:solidFill>
                  <a:srgbClr val="000000">
                    <a:lumMod val="95000"/>
                    <a:lumOff val="5000"/>
                  </a:srgbClr>
                </a:solidFill>
                <a:latin typeface="Times New Roman" pitchFamily="18" charset="0"/>
                <a:cs typeface="Times New Roman" pitchFamily="18" charset="0"/>
              </a:rPr>
              <a:t>You can not be an IT expert without knowing IT security</a:t>
            </a:r>
            <a:endParaRPr lang="en-US" sz="1650" dirty="0">
              <a:solidFill>
                <a:schemeClr val="tx1">
                  <a:lumMod val="95000"/>
                  <a:lumOff val="5000"/>
                </a:schemeClr>
              </a:solidFill>
              <a:latin typeface="Times New Roman" pitchFamily="18" charset="0"/>
              <a:cs typeface="Times New Roman" pitchFamily="18" charset="0"/>
            </a:endParaRPr>
          </a:p>
          <a:p>
            <a:pPr marL="874395" indent="-257175">
              <a:lnSpc>
                <a:spcPct val="150000"/>
              </a:lnSpc>
              <a:buFont typeface="Wingdings" panose="05000000000000000000" pitchFamily="2" charset="2"/>
              <a:buChar char="§"/>
            </a:pPr>
            <a:r>
              <a:rPr lang="en-US" sz="1650" dirty="0">
                <a:solidFill>
                  <a:schemeClr val="tx1">
                    <a:lumMod val="95000"/>
                    <a:lumOff val="5000"/>
                  </a:schemeClr>
                </a:solidFill>
                <a:latin typeface="Times New Roman" pitchFamily="18" charset="0"/>
                <a:cs typeface="Times New Roman" pitchFamily="18" charset="0"/>
              </a:rPr>
              <a:t> vulnerable IT systems</a:t>
            </a:r>
          </a:p>
          <a:p>
            <a:pPr marL="874395" indent="-257175">
              <a:lnSpc>
                <a:spcPct val="150000"/>
              </a:lnSpc>
              <a:buFont typeface="Wingdings" panose="05000000000000000000" pitchFamily="2" charset="2"/>
              <a:buChar char="§"/>
            </a:pPr>
            <a:r>
              <a:rPr lang="en-US" sz="1650" dirty="0">
                <a:solidFill>
                  <a:schemeClr val="tx1">
                    <a:lumMod val="95000"/>
                    <a:lumOff val="5000"/>
                  </a:schemeClr>
                </a:solidFill>
                <a:latin typeface="Times New Roman" pitchFamily="18" charset="0"/>
                <a:cs typeface="Times New Roman" pitchFamily="18" charset="0"/>
              </a:rPr>
              <a:t>“Security by design” is a requirement</a:t>
            </a:r>
          </a:p>
          <a:p>
            <a:pPr marL="874395" indent="-257175">
              <a:lnSpc>
                <a:spcPct val="150000"/>
              </a:lnSpc>
              <a:buFont typeface="Wingdings" panose="05000000000000000000" pitchFamily="2" charset="2"/>
              <a:buChar char="§"/>
            </a:pPr>
            <a:r>
              <a:rPr lang="en-US" sz="1650" dirty="0">
                <a:solidFill>
                  <a:schemeClr val="tx1">
                    <a:lumMod val="95000"/>
                    <a:lumOff val="5000"/>
                  </a:schemeClr>
                </a:solidFill>
                <a:latin typeface="Times New Roman" pitchFamily="18" charset="0"/>
                <a:cs typeface="Times New Roman" pitchFamily="18" charset="0"/>
              </a:rPr>
              <a:t>Information security is a political issue</a:t>
            </a:r>
          </a:p>
        </p:txBody>
      </p:sp>
      <p:sp>
        <p:nvSpPr>
          <p:cNvPr id="6" name="Slide Number Placeholder 5"/>
          <p:cNvSpPr>
            <a:spLocks noGrp="1"/>
          </p:cNvSpPr>
          <p:nvPr>
            <p:ph type="sldNum" sz="quarter" idx="12"/>
          </p:nvPr>
        </p:nvSpPr>
        <p:spPr/>
        <p:txBody>
          <a:bodyPr/>
          <a:lstStyle/>
          <a:p>
            <a:fld id="{8E9ED8F5-F0EE-4F30-BF79-1CB5FF8C36DA}" type="slidenum">
              <a:rPr lang="en-US" smtClean="0"/>
              <a:pPr/>
              <a:t>4</a:t>
            </a:fld>
            <a:endParaRPr lang="en-US"/>
          </a:p>
        </p:txBody>
      </p:sp>
    </p:spTree>
    <p:extLst>
      <p:ext uri="{BB962C8B-B14F-4D97-AF65-F5344CB8AC3E}">
        <p14:creationId xmlns:p14="http://schemas.microsoft.com/office/powerpoint/2010/main" val="591280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itchFamily="18" charset="0"/>
                <a:cs typeface="Times New Roman" pitchFamily="18" charset="0"/>
              </a:rPr>
              <a:t>Introduction to Cyber Security</a:t>
            </a:r>
          </a:p>
        </p:txBody>
      </p:sp>
      <p:sp>
        <p:nvSpPr>
          <p:cNvPr id="3" name="Content Placeholder 2"/>
          <p:cNvSpPr>
            <a:spLocks noGrp="1"/>
          </p:cNvSpPr>
          <p:nvPr>
            <p:ph idx="1"/>
          </p:nvPr>
        </p:nvSpPr>
        <p:spPr>
          <a:xfrm>
            <a:off x="866216" y="2809875"/>
            <a:ext cx="7794459" cy="2562225"/>
          </a:xfrm>
        </p:spPr>
        <p:txBody>
          <a:bodyPr>
            <a:normAutofit/>
          </a:bodyPr>
          <a:lstStyle/>
          <a:p>
            <a:pPr algn="just">
              <a:lnSpc>
                <a:spcPct val="150000"/>
              </a:lnSpc>
              <a:spcBef>
                <a:spcPts val="0"/>
              </a:spcBef>
              <a:buNone/>
            </a:pPr>
            <a:r>
              <a:rPr lang="en-US" sz="1650" dirty="0">
                <a:solidFill>
                  <a:schemeClr val="tx1">
                    <a:lumMod val="95000"/>
                    <a:lumOff val="5000"/>
                  </a:schemeClr>
                </a:solidFill>
                <a:latin typeface="Times New Roman" pitchFamily="18" charset="0"/>
                <a:cs typeface="Times New Roman" pitchFamily="18" charset="0"/>
              </a:rPr>
              <a:t>“</a:t>
            </a:r>
            <a:r>
              <a:rPr lang="en-US" i="1" dirty="0">
                <a:solidFill>
                  <a:schemeClr val="tx1"/>
                </a:solidFill>
                <a:latin typeface="Times New Roman" pitchFamily="18" charset="0"/>
                <a:cs typeface="Times New Roman" pitchFamily="18" charset="0"/>
              </a:rPr>
              <a:t>Cyber security refers to the protection of information systems (hardware, software and associated infrastructure), the data on them, and the services they provide, from </a:t>
            </a:r>
            <a:r>
              <a:rPr lang="en-US" i="1" dirty="0" err="1">
                <a:solidFill>
                  <a:schemeClr val="tx1"/>
                </a:solidFill>
                <a:latin typeface="Times New Roman" pitchFamily="18" charset="0"/>
                <a:cs typeface="Times New Roman" pitchFamily="18" charset="0"/>
              </a:rPr>
              <a:t>unauthorised</a:t>
            </a:r>
            <a:r>
              <a:rPr lang="en-US" i="1" dirty="0">
                <a:solidFill>
                  <a:schemeClr val="tx1"/>
                </a:solidFill>
                <a:latin typeface="Times New Roman" pitchFamily="18" charset="0"/>
                <a:cs typeface="Times New Roman" pitchFamily="18" charset="0"/>
              </a:rPr>
              <a:t> access, harm or misuse. This includes harm caused intentionally by the operator of the system, or accidentally, as a result of failing to follow security procedures.” -</a:t>
            </a:r>
            <a:r>
              <a:rPr lang="en-US" dirty="0">
                <a:solidFill>
                  <a:schemeClr val="tx1"/>
                </a:solidFill>
                <a:latin typeface="Times New Roman" pitchFamily="18" charset="0"/>
                <a:cs typeface="Times New Roman" pitchFamily="18" charset="0"/>
              </a:rPr>
              <a:t> UK National Cyber Security Strategy</a:t>
            </a:r>
          </a:p>
          <a:p>
            <a:pPr algn="ctr">
              <a:lnSpc>
                <a:spcPct val="150000"/>
              </a:lnSpc>
              <a:spcBef>
                <a:spcPts val="0"/>
              </a:spcBef>
              <a:buNone/>
            </a:pPr>
            <a:r>
              <a:rPr lang="en-GB" i="1" dirty="0">
                <a:solidFill>
                  <a:schemeClr val="tx1"/>
                </a:solidFill>
                <a:latin typeface="Times New Roman" pitchFamily="18" charset="0"/>
                <a:cs typeface="Times New Roman" pitchFamily="18" charset="0"/>
              </a:rPr>
              <a:t> </a:t>
            </a:r>
            <a:endParaRPr lang="en-US" dirty="0">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8E9ED8F5-F0EE-4F30-BF79-1CB5FF8C36DA}" type="slidenum">
              <a:rPr lang="en-US" smtClean="0"/>
              <a:pPr/>
              <a:t>5</a:t>
            </a:fld>
            <a:endParaRPr lang="en-US"/>
          </a:p>
        </p:txBody>
      </p:sp>
    </p:spTree>
    <p:extLst>
      <p:ext uri="{BB962C8B-B14F-4D97-AF65-F5344CB8AC3E}">
        <p14:creationId xmlns:p14="http://schemas.microsoft.com/office/powerpoint/2010/main" val="3421964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5BF5-D350-FED6-69CF-67FDA26BD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8B88C-A52F-5EC3-7778-F17F6BB99CEA}"/>
              </a:ext>
            </a:extLst>
          </p:cNvPr>
          <p:cNvSpPr>
            <a:spLocks noGrp="1"/>
          </p:cNvSpPr>
          <p:nvPr>
            <p:ph type="title"/>
          </p:nvPr>
        </p:nvSpPr>
        <p:spPr/>
        <p:txBody>
          <a:bodyPr/>
          <a:lstStyle/>
          <a:p>
            <a:pPr algn="ctr"/>
            <a:r>
              <a:rPr lang="en-US" b="1" dirty="0">
                <a:latin typeface="Times New Roman" pitchFamily="18" charset="0"/>
                <a:cs typeface="Times New Roman" pitchFamily="18" charset="0"/>
              </a:rPr>
              <a:t>Introduction to Cyber Security</a:t>
            </a:r>
          </a:p>
        </p:txBody>
      </p:sp>
      <p:sp>
        <p:nvSpPr>
          <p:cNvPr id="3" name="Content Placeholder 2">
            <a:extLst>
              <a:ext uri="{FF2B5EF4-FFF2-40B4-BE49-F238E27FC236}">
                <a16:creationId xmlns:a16="http://schemas.microsoft.com/office/drawing/2014/main" id="{C0AA226C-572B-8352-34E1-51FE8590B900}"/>
              </a:ext>
            </a:extLst>
          </p:cNvPr>
          <p:cNvSpPr>
            <a:spLocks noGrp="1"/>
          </p:cNvSpPr>
          <p:nvPr>
            <p:ph idx="1"/>
          </p:nvPr>
        </p:nvSpPr>
        <p:spPr>
          <a:xfrm>
            <a:off x="866216" y="2809875"/>
            <a:ext cx="7794459" cy="2562225"/>
          </a:xfrm>
        </p:spPr>
        <p:txBody>
          <a:bodyPr>
            <a:normAutofit fontScale="25000" lnSpcReduction="20000"/>
          </a:bodyPr>
          <a:lstStyle/>
          <a:p>
            <a:pPr algn="just">
              <a:lnSpc>
                <a:spcPct val="150000"/>
              </a:lnSpc>
              <a:spcBef>
                <a:spcPts val="0"/>
              </a:spcBef>
              <a:buNone/>
            </a:pPr>
            <a:r>
              <a:rPr lang="en-US" sz="3700" dirty="0">
                <a:solidFill>
                  <a:schemeClr val="tx1">
                    <a:lumMod val="95000"/>
                    <a:lumOff val="5000"/>
                  </a:schemeClr>
                </a:solidFill>
                <a:latin typeface="Times New Roman" pitchFamily="18" charset="0"/>
                <a:cs typeface="Times New Roman" pitchFamily="18" charset="0"/>
              </a:rPr>
              <a:t>“</a:t>
            </a:r>
            <a:r>
              <a:rPr lang="en-US" sz="4800" dirty="0"/>
              <a:t>Cyber Security focuses specifically on protecting </a:t>
            </a:r>
            <a:r>
              <a:rPr lang="en-US" sz="4800" b="1" dirty="0"/>
              <a:t>digital systems, networks, and cyberspace</a:t>
            </a:r>
            <a:r>
              <a:rPr lang="en-US" sz="4800" dirty="0"/>
              <a:t> from cyber attacks</a:t>
            </a:r>
            <a:r>
              <a:rPr lang="en-US" sz="4800" i="1" dirty="0">
                <a:solidFill>
                  <a:schemeClr val="tx1"/>
                </a:solidFill>
                <a:latin typeface="Times New Roman" pitchFamily="18" charset="0"/>
                <a:cs typeface="Times New Roman" pitchFamily="18" charset="0"/>
              </a:rPr>
              <a:t>.”</a:t>
            </a:r>
          </a:p>
          <a:p>
            <a:pPr marL="0" indent="0">
              <a:buNone/>
            </a:pPr>
            <a:r>
              <a:rPr lang="en-US" sz="4800" dirty="0"/>
              <a:t>It protects:</a:t>
            </a:r>
          </a:p>
          <a:p>
            <a:r>
              <a:rPr lang="en-US" sz="4400" dirty="0"/>
              <a:t>Networks</a:t>
            </a:r>
          </a:p>
          <a:p>
            <a:r>
              <a:rPr lang="en-US" sz="4400" dirty="0"/>
              <a:t>Computers</a:t>
            </a:r>
          </a:p>
          <a:p>
            <a:r>
              <a:rPr lang="en-US" sz="4400" dirty="0"/>
              <a:t>Servers</a:t>
            </a:r>
          </a:p>
          <a:p>
            <a:r>
              <a:rPr lang="en-US" sz="4400" dirty="0"/>
              <a:t>Cloud systems</a:t>
            </a:r>
          </a:p>
          <a:p>
            <a:r>
              <a:rPr lang="en-US" sz="4400" dirty="0"/>
              <a:t>IoT devices</a:t>
            </a:r>
          </a:p>
          <a:p>
            <a:r>
              <a:rPr lang="en-US" sz="4400" dirty="0"/>
              <a:t>Applications</a:t>
            </a:r>
          </a:p>
          <a:p>
            <a:pPr algn="just">
              <a:lnSpc>
                <a:spcPct val="150000"/>
              </a:lnSpc>
              <a:spcBef>
                <a:spcPts val="0"/>
              </a:spcBef>
              <a:buNone/>
            </a:pPr>
            <a:endParaRPr lang="en-US" sz="3700" dirty="0">
              <a:solidFill>
                <a:schemeClr val="tx1"/>
              </a:solidFill>
              <a:latin typeface="Times New Roman" pitchFamily="18" charset="0"/>
              <a:cs typeface="Times New Roman" pitchFamily="18" charset="0"/>
            </a:endParaRPr>
          </a:p>
          <a:p>
            <a:pPr algn="ctr">
              <a:lnSpc>
                <a:spcPct val="150000"/>
              </a:lnSpc>
              <a:spcBef>
                <a:spcPts val="0"/>
              </a:spcBef>
              <a:buNone/>
            </a:pPr>
            <a:r>
              <a:rPr lang="en-GB" i="1" dirty="0">
                <a:solidFill>
                  <a:schemeClr val="tx1"/>
                </a:solidFill>
                <a:latin typeface="Times New Roman" pitchFamily="18" charset="0"/>
                <a:cs typeface="Times New Roman" pitchFamily="18" charset="0"/>
              </a:rPr>
              <a:t> </a:t>
            </a:r>
            <a:endParaRPr lang="en-US"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C12CBEB5-D0D4-DB9A-77A8-F0ABF469EEE0}"/>
              </a:ext>
            </a:extLst>
          </p:cNvPr>
          <p:cNvSpPr>
            <a:spLocks noGrp="1"/>
          </p:cNvSpPr>
          <p:nvPr>
            <p:ph type="sldNum" sz="quarter" idx="12"/>
          </p:nvPr>
        </p:nvSpPr>
        <p:spPr/>
        <p:txBody>
          <a:bodyPr/>
          <a:lstStyle/>
          <a:p>
            <a:fld id="{8E9ED8F5-F0EE-4F30-BF79-1CB5FF8C36DA}" type="slidenum">
              <a:rPr lang="en-US" smtClean="0"/>
              <a:pPr/>
              <a:t>6</a:t>
            </a:fld>
            <a:endParaRPr lang="en-US"/>
          </a:p>
        </p:txBody>
      </p:sp>
    </p:spTree>
    <p:extLst>
      <p:ext uri="{BB962C8B-B14F-4D97-AF65-F5344CB8AC3E}">
        <p14:creationId xmlns:p14="http://schemas.microsoft.com/office/powerpoint/2010/main" val="65325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7F887-9E01-9724-69F8-08A5DED581D8}"/>
              </a:ext>
            </a:extLst>
          </p:cNvPr>
          <p:cNvSpPr>
            <a:spLocks noGrp="1"/>
          </p:cNvSpPr>
          <p:nvPr>
            <p:ph type="title"/>
          </p:nvPr>
        </p:nvSpPr>
        <p:spPr/>
        <p:txBody>
          <a:bodyPr/>
          <a:lstStyle/>
          <a:p>
            <a:r>
              <a:rPr lang="en-US" dirty="0"/>
              <a:t>Importance of Cyber Security</a:t>
            </a:r>
          </a:p>
        </p:txBody>
      </p:sp>
      <p:sp>
        <p:nvSpPr>
          <p:cNvPr id="3" name="Content Placeholder 2">
            <a:extLst>
              <a:ext uri="{FF2B5EF4-FFF2-40B4-BE49-F238E27FC236}">
                <a16:creationId xmlns:a16="http://schemas.microsoft.com/office/drawing/2014/main" id="{3AE3A9B7-4AF8-49CC-F971-EC9B24086BEE}"/>
              </a:ext>
            </a:extLst>
          </p:cNvPr>
          <p:cNvSpPr>
            <a:spLocks noGrp="1"/>
          </p:cNvSpPr>
          <p:nvPr>
            <p:ph idx="1"/>
          </p:nvPr>
        </p:nvSpPr>
        <p:spPr>
          <a:xfrm>
            <a:off x="865970" y="3356428"/>
            <a:ext cx="6853589" cy="1734457"/>
          </a:xfrm>
        </p:spPr>
        <p:txBody>
          <a:bodyPr/>
          <a:lstStyle/>
          <a:p>
            <a:pPr marL="0" indent="0" algn="ctr">
              <a:buNone/>
            </a:pPr>
            <a:r>
              <a:rPr lang="en-US" dirty="0"/>
              <a:t>Cyber security is essential for ensuring the confidentiality, integrity, and availability of digital assets, protecting critical infrastructure, maintaining economic stability, and enabling trustworthy digital transformation.</a:t>
            </a:r>
          </a:p>
        </p:txBody>
      </p:sp>
    </p:spTree>
    <p:extLst>
      <p:ext uri="{BB962C8B-B14F-4D97-AF65-F5344CB8AC3E}">
        <p14:creationId xmlns:p14="http://schemas.microsoft.com/office/powerpoint/2010/main" val="268316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p:txBody>
          <a:bodyPr>
            <a:normAutofit fontScale="90000"/>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r>
              <a:rPr lang="en-GB" b="1" dirty="0">
                <a:latin typeface="Times New Roman" pitchFamily="18" charset="0"/>
                <a:cs typeface="Times New Roman" pitchFamily="18" charset="0"/>
              </a:rPr>
              <a:t>The History of Information Security</a:t>
            </a:r>
          </a:p>
        </p:txBody>
      </p:sp>
      <p:sp>
        <p:nvSpPr>
          <p:cNvPr id="13315" name="Rectangle 2"/>
          <p:cNvSpPr>
            <a:spLocks noGrp="1" noChangeArrowheads="1"/>
          </p:cNvSpPr>
          <p:nvPr>
            <p:ph idx="1"/>
          </p:nvPr>
        </p:nvSpPr>
        <p:spPr>
          <a:xfrm>
            <a:off x="595032" y="2809875"/>
            <a:ext cx="6890428" cy="2948828"/>
          </a:xfrm>
        </p:spPr>
        <p:txBody>
          <a:bodyPr rtlCol="0">
            <a:normAutofit/>
          </a:bodyPr>
          <a:lstStyle/>
          <a:p>
            <a:pPr marL="271463" indent="-257175">
              <a:spcBef>
                <a:spcPts val="469"/>
              </a:spcBef>
              <a:tabLst>
                <a:tab pos="681038" algn="l"/>
                <a:tab pos="1366838" algn="l"/>
                <a:tab pos="2052638" algn="l"/>
                <a:tab pos="2738438" algn="l"/>
                <a:tab pos="3424238" algn="l"/>
                <a:tab pos="4110038" algn="l"/>
                <a:tab pos="4795838" algn="l"/>
                <a:tab pos="5481638" algn="l"/>
                <a:tab pos="6167438" algn="l"/>
                <a:tab pos="6853238" algn="l"/>
                <a:tab pos="7539038" algn="l"/>
              </a:tabLst>
              <a:defRPr/>
            </a:pPr>
            <a:r>
              <a:rPr lang="en-GB" dirty="0">
                <a:solidFill>
                  <a:schemeClr val="tx1"/>
                </a:solidFill>
                <a:latin typeface="Times New Roman" pitchFamily="18" charset="0"/>
                <a:cs typeface="Times New Roman" pitchFamily="18" charset="0"/>
              </a:rPr>
              <a:t>Began immediately following development first mainframes</a:t>
            </a:r>
          </a:p>
          <a:p>
            <a:pPr marL="494348" lvl="1" indent="-257175">
              <a:spcBef>
                <a:spcPts val="469"/>
              </a:spcBef>
              <a:tabLst>
                <a:tab pos="681038" algn="l"/>
                <a:tab pos="1366838" algn="l"/>
                <a:tab pos="2052638" algn="l"/>
                <a:tab pos="2738438" algn="l"/>
                <a:tab pos="3424238" algn="l"/>
                <a:tab pos="4110038" algn="l"/>
                <a:tab pos="4795838" algn="l"/>
                <a:tab pos="5481638" algn="l"/>
                <a:tab pos="6167438" algn="l"/>
                <a:tab pos="6853238" algn="l"/>
                <a:tab pos="7539038" algn="l"/>
              </a:tabLst>
              <a:defRPr/>
            </a:pPr>
            <a:r>
              <a:rPr lang="en-GB" sz="1800" dirty="0">
                <a:solidFill>
                  <a:schemeClr val="tx1"/>
                </a:solidFill>
                <a:latin typeface="Times New Roman" pitchFamily="18" charset="0"/>
                <a:cs typeface="Times New Roman" pitchFamily="18" charset="0"/>
              </a:rPr>
              <a:t>Developed for code-breaking computations </a:t>
            </a:r>
          </a:p>
          <a:p>
            <a:pPr marL="494348" lvl="1" indent="-257175">
              <a:spcBef>
                <a:spcPts val="469"/>
              </a:spcBef>
              <a:tabLst>
                <a:tab pos="681038" algn="l"/>
                <a:tab pos="1366838" algn="l"/>
                <a:tab pos="2052638" algn="l"/>
                <a:tab pos="2738438" algn="l"/>
                <a:tab pos="3424238" algn="l"/>
                <a:tab pos="4110038" algn="l"/>
                <a:tab pos="4795838" algn="l"/>
                <a:tab pos="5481638" algn="l"/>
                <a:tab pos="6167438" algn="l"/>
                <a:tab pos="6853238" algn="l"/>
                <a:tab pos="7539038" algn="l"/>
              </a:tabLst>
              <a:defRPr/>
            </a:pPr>
            <a:r>
              <a:rPr lang="en-GB" sz="1800" dirty="0">
                <a:solidFill>
                  <a:schemeClr val="tx1"/>
                </a:solidFill>
                <a:latin typeface="Times New Roman" pitchFamily="18" charset="0"/>
                <a:cs typeface="Times New Roman" pitchFamily="18" charset="0"/>
              </a:rPr>
              <a:t>During World War II </a:t>
            </a:r>
          </a:p>
          <a:p>
            <a:pPr marL="553641" lvl="1" indent="-239316">
              <a:spcBef>
                <a:spcPts val="469"/>
              </a:spcBef>
              <a:tabLst>
                <a:tab pos="681038" algn="l"/>
                <a:tab pos="1366838" algn="l"/>
                <a:tab pos="2052638" algn="l"/>
                <a:tab pos="2738438" algn="l"/>
                <a:tab pos="3424238" algn="l"/>
                <a:tab pos="4110038" algn="l"/>
                <a:tab pos="4795838" algn="l"/>
                <a:tab pos="5481638" algn="l"/>
                <a:tab pos="6167438" algn="l"/>
                <a:tab pos="6853238" algn="l"/>
                <a:tab pos="7539038" algn="l"/>
              </a:tabLst>
              <a:defRPr/>
            </a:pPr>
            <a:r>
              <a:rPr lang="en-GB" sz="1800" dirty="0">
                <a:solidFill>
                  <a:schemeClr val="tx1"/>
                </a:solidFill>
                <a:latin typeface="Times New Roman" pitchFamily="18" charset="0"/>
                <a:cs typeface="Times New Roman" pitchFamily="18" charset="0"/>
              </a:rPr>
              <a:t>Multiple levels of security were implemented</a:t>
            </a:r>
          </a:p>
          <a:p>
            <a:pPr marL="253604" indent="-239316">
              <a:spcBef>
                <a:spcPts val="469"/>
              </a:spcBef>
              <a:tabLst>
                <a:tab pos="681038" algn="l"/>
                <a:tab pos="1366838" algn="l"/>
                <a:tab pos="2052638" algn="l"/>
                <a:tab pos="2738438" algn="l"/>
                <a:tab pos="3424238" algn="l"/>
                <a:tab pos="4110038" algn="l"/>
                <a:tab pos="4795838" algn="l"/>
                <a:tab pos="5481638" algn="l"/>
                <a:tab pos="6167438" algn="l"/>
                <a:tab pos="6853238" algn="l"/>
                <a:tab pos="7539038" algn="l"/>
              </a:tabLst>
              <a:defRPr/>
            </a:pPr>
            <a:r>
              <a:rPr lang="en-GB" dirty="0">
                <a:solidFill>
                  <a:schemeClr val="tx1"/>
                </a:solidFill>
                <a:latin typeface="Times New Roman" pitchFamily="18" charset="0"/>
                <a:cs typeface="Times New Roman" pitchFamily="18" charset="0"/>
              </a:rPr>
              <a:t>Physical controls </a:t>
            </a:r>
          </a:p>
          <a:p>
            <a:pPr marL="476489" lvl="1" indent="-239316">
              <a:spcBef>
                <a:spcPts val="469"/>
              </a:spcBef>
              <a:tabLst>
                <a:tab pos="681038" algn="l"/>
                <a:tab pos="1366838" algn="l"/>
                <a:tab pos="2052638" algn="l"/>
                <a:tab pos="2738438" algn="l"/>
                <a:tab pos="3424238" algn="l"/>
                <a:tab pos="4110038" algn="l"/>
                <a:tab pos="4795838" algn="l"/>
                <a:tab pos="5481638" algn="l"/>
                <a:tab pos="6167438" algn="l"/>
                <a:tab pos="6853238" algn="l"/>
                <a:tab pos="7539038" algn="l"/>
              </a:tabLst>
              <a:defRPr/>
            </a:pPr>
            <a:r>
              <a:rPr lang="en-GB" sz="1800" dirty="0">
                <a:solidFill>
                  <a:schemeClr val="tx1"/>
                </a:solidFill>
                <a:latin typeface="Times New Roman" pitchFamily="18" charset="0"/>
                <a:cs typeface="Times New Roman" pitchFamily="18" charset="0"/>
              </a:rPr>
              <a:t>Defending against physical theft, espionage, and sabotage</a:t>
            </a:r>
          </a:p>
        </p:txBody>
      </p:sp>
      <p:sp>
        <p:nvSpPr>
          <p:cNvPr id="23556"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GB" dirty="0">
              <a:solidFill>
                <a:schemeClr val="bg1"/>
              </a:solidFill>
              <a:cs typeface="Arial" panose="020B0604020202020204" pitchFamily="34" charset="0"/>
            </a:endParaRPr>
          </a:p>
          <a:p>
            <a:pPr eaLnBrk="1" hangingPunct="1"/>
            <a:fld id="{CE6EE7B7-7DB4-4B30-B213-85DC6D4822B4}" type="slidenum">
              <a:rPr lang="en-GB" smtClean="0">
                <a:solidFill>
                  <a:schemeClr val="bg1"/>
                </a:solidFill>
                <a:cs typeface="Arial" panose="020B0604020202020204" pitchFamily="34" charset="0"/>
              </a:rPr>
              <a:pPr eaLnBrk="1" hangingPunct="1"/>
              <a:t>8</a:t>
            </a:fld>
            <a:endParaRPr lang="en-GB" dirty="0">
              <a:solidFill>
                <a:schemeClr val="bg1"/>
              </a:solidFill>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p:txBody>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r>
              <a:rPr lang="en-GB" b="1" dirty="0">
                <a:latin typeface="Times New Roman" pitchFamily="18" charset="0"/>
                <a:cs typeface="Times New Roman" pitchFamily="18" charset="0"/>
              </a:rPr>
              <a:t>What is Security?</a:t>
            </a:r>
          </a:p>
        </p:txBody>
      </p:sp>
      <p:sp>
        <p:nvSpPr>
          <p:cNvPr id="31747" name="Rectangle 2"/>
          <p:cNvSpPr>
            <a:spLocks noGrp="1" noChangeArrowheads="1"/>
          </p:cNvSpPr>
          <p:nvPr>
            <p:ph idx="1"/>
          </p:nvPr>
        </p:nvSpPr>
        <p:spPr>
          <a:xfrm>
            <a:off x="493060" y="2618255"/>
            <a:ext cx="6619244" cy="2562225"/>
          </a:xfrm>
        </p:spPr>
        <p:txBody>
          <a:bodyPr>
            <a:normAutofit lnSpcReduction="10000"/>
          </a:bodyPr>
          <a:lstStyle/>
          <a:p>
            <a:pPr>
              <a:spcBef>
                <a:spcPts val="469"/>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“The quality or state of being secure—to be free from danger”  </a:t>
            </a:r>
          </a:p>
          <a:p>
            <a:pPr>
              <a:spcBef>
                <a:spcPts val="469"/>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A successful organization should have multiple layers of security in place: </a:t>
            </a:r>
          </a:p>
          <a:p>
            <a:pPr lvl="1">
              <a:spcBef>
                <a:spcPts val="431"/>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Physical security</a:t>
            </a:r>
          </a:p>
          <a:p>
            <a:pPr lvl="1">
              <a:spcBef>
                <a:spcPts val="431"/>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Personal security </a:t>
            </a:r>
          </a:p>
          <a:p>
            <a:pPr lvl="1">
              <a:spcBef>
                <a:spcPts val="431"/>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Operations security </a:t>
            </a:r>
          </a:p>
          <a:p>
            <a:pPr lvl="1">
              <a:spcBef>
                <a:spcPts val="431"/>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Communications security </a:t>
            </a:r>
          </a:p>
          <a:p>
            <a:pPr lvl="1">
              <a:spcBef>
                <a:spcPts val="431"/>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Network security</a:t>
            </a:r>
          </a:p>
          <a:p>
            <a:pPr lvl="1">
              <a:spcBef>
                <a:spcPts val="431"/>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GB" sz="1650" dirty="0">
                <a:solidFill>
                  <a:schemeClr val="tx1"/>
                </a:solidFill>
                <a:latin typeface="Times New Roman" pitchFamily="18" charset="0"/>
                <a:cs typeface="Times New Roman" pitchFamily="18" charset="0"/>
              </a:rPr>
              <a:t>Information security</a:t>
            </a:r>
          </a:p>
        </p:txBody>
      </p:sp>
      <p:sp>
        <p:nvSpPr>
          <p:cNvPr id="31748"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6E0583-AC4B-40FB-976A-1316E5A62E68}" type="slidenum">
              <a:rPr lang="en-GB">
                <a:solidFill>
                  <a:schemeClr val="bg1"/>
                </a:solidFill>
                <a:cs typeface="Arial" panose="020B0604020202020204" pitchFamily="34" charset="0"/>
              </a:rPr>
              <a:pPr eaLnBrk="1" hangingPunct="1"/>
              <a:t>9</a:t>
            </a:fld>
            <a:endParaRPr lang="en-GB">
              <a:solidFill>
                <a:schemeClr val="bg1"/>
              </a:solidFill>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p:txBody>
          <a:bodyPr/>
          <a:lstStyle/>
          <a:p>
            <a:pPr algn="ctr">
              <a:defRPr/>
            </a:pPr>
            <a:r>
              <a:rPr lang="en-GB" b="1" dirty="0">
                <a:latin typeface="Times New Roman" pitchFamily="18" charset="0"/>
                <a:cs typeface="Times New Roman" pitchFamily="18" charset="0"/>
              </a:rPr>
              <a:t>What is Security? (cont’d.)</a:t>
            </a:r>
            <a:r>
              <a:rPr lang="ar-SA" b="1" dirty="0">
                <a:latin typeface="Times New Roman" pitchFamily="18" charset="0"/>
                <a:cs typeface="Times New Roman" pitchFamily="18" charset="0"/>
              </a:rPr>
              <a:t>‏</a:t>
            </a:r>
            <a:endParaRPr lang="en-GB" b="1" dirty="0">
              <a:latin typeface="Times New Roman" pitchFamily="18" charset="0"/>
              <a:cs typeface="Times New Roman" pitchFamily="18" charset="0"/>
            </a:endParaRPr>
          </a:p>
        </p:txBody>
      </p:sp>
      <p:sp>
        <p:nvSpPr>
          <p:cNvPr id="32771" name="Rectangle 2"/>
          <p:cNvSpPr>
            <a:spLocks noGrp="1" noChangeArrowheads="1"/>
          </p:cNvSpPr>
          <p:nvPr>
            <p:ph idx="1"/>
          </p:nvPr>
        </p:nvSpPr>
        <p:spPr>
          <a:xfrm>
            <a:off x="453839" y="2809875"/>
            <a:ext cx="8148917" cy="2562225"/>
          </a:xfrm>
        </p:spPr>
        <p:txBody>
          <a:bodyPr>
            <a:normAutofit/>
          </a:bodyPr>
          <a:lstStyle/>
          <a:p>
            <a:pPr eaLnBrk="1" hangingPunct="1"/>
            <a:r>
              <a:rPr lang="en-GB" dirty="0">
                <a:solidFill>
                  <a:schemeClr val="tx1"/>
                </a:solidFill>
                <a:latin typeface="Times New Roman" pitchFamily="18" charset="0"/>
                <a:cs typeface="Times New Roman" pitchFamily="18" charset="0"/>
              </a:rPr>
              <a:t>The protection of information and its critical elements, including systems and hardware that use, store, and transmit that information </a:t>
            </a:r>
          </a:p>
          <a:p>
            <a:pPr eaLnBrk="1" hangingPunct="1"/>
            <a:r>
              <a:rPr lang="en-GB" dirty="0">
                <a:solidFill>
                  <a:schemeClr val="tx1"/>
                </a:solidFill>
                <a:latin typeface="Times New Roman" pitchFamily="18" charset="0"/>
                <a:cs typeface="Times New Roman" pitchFamily="18" charset="0"/>
              </a:rPr>
              <a:t>Necessary tools: policy, awareness, training, education, technology</a:t>
            </a:r>
          </a:p>
          <a:p>
            <a:pPr eaLnBrk="1" hangingPunct="1"/>
            <a:r>
              <a:rPr lang="en-GB" dirty="0">
                <a:solidFill>
                  <a:schemeClr val="tx1"/>
                </a:solidFill>
                <a:latin typeface="Times New Roman" pitchFamily="18" charset="0"/>
                <a:cs typeface="Times New Roman" pitchFamily="18" charset="0"/>
              </a:rPr>
              <a:t>C.I.A. triangle</a:t>
            </a:r>
          </a:p>
          <a:p>
            <a:pPr lvl="1" eaLnBrk="1" hangingPunct="1"/>
            <a:r>
              <a:rPr lang="en-GB" sz="1800" dirty="0">
                <a:solidFill>
                  <a:schemeClr val="tx1"/>
                </a:solidFill>
                <a:latin typeface="Times New Roman" pitchFamily="18" charset="0"/>
                <a:cs typeface="Times New Roman" pitchFamily="18" charset="0"/>
              </a:rPr>
              <a:t>Was standard based on confidentiality, integrity, and availability</a:t>
            </a:r>
          </a:p>
          <a:p>
            <a:pPr lvl="1" eaLnBrk="1" hangingPunct="1"/>
            <a:r>
              <a:rPr lang="en-GB" sz="1800" dirty="0">
                <a:solidFill>
                  <a:schemeClr val="tx1"/>
                </a:solidFill>
                <a:latin typeface="Times New Roman" pitchFamily="18" charset="0"/>
                <a:cs typeface="Times New Roman" pitchFamily="18" charset="0"/>
              </a:rPr>
              <a:t>Now expanded into list of critical characteristics of information</a:t>
            </a:r>
          </a:p>
        </p:txBody>
      </p:sp>
      <p:sp>
        <p:nvSpPr>
          <p:cNvPr id="32772"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DA34B9-1A51-4AD9-A66C-8767EAF7D899}" type="slidenum">
              <a:rPr lang="en-GB">
                <a:solidFill>
                  <a:srgbClr val="FFFFFF"/>
                </a:solidFill>
              </a:rPr>
              <a:pPr eaLnBrk="1" hangingPunct="1"/>
              <a:t>10</a:t>
            </a:fld>
            <a:endParaRPr lang="en-GB">
              <a:solidFill>
                <a:srgbClr val="FFFFFF"/>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54680" y="1638168"/>
            <a:ext cx="2388620" cy="461665"/>
          </a:xfrm>
          <a:prstGeom prst="rect">
            <a:avLst/>
          </a:prstGeom>
        </p:spPr>
        <p:txBody>
          <a:bodyPr vert="horz" wrap="square" lIns="0" tIns="0" rIns="0" bIns="0" rtlCol="0" anchor="ctr">
            <a:spAutoFit/>
          </a:bodyPr>
          <a:lstStyle/>
          <a:p>
            <a:pPr marL="8645"/>
            <a:r>
              <a:rPr lang="en-US" sz="3000" b="1" spc="160" dirty="0">
                <a:latin typeface="Times New Roman" pitchFamily="18" charset="0"/>
                <a:cs typeface="Times New Roman" pitchFamily="18" charset="0"/>
              </a:rPr>
              <a:t>Motivation</a:t>
            </a:r>
            <a:endParaRPr sz="3000" b="1" spc="-65" dirty="0">
              <a:latin typeface="Times New Roman" pitchFamily="18" charset="0"/>
              <a:cs typeface="Times New Roman" pitchFamily="18" charset="0"/>
            </a:endParaRPr>
          </a:p>
        </p:txBody>
      </p:sp>
      <p:sp>
        <p:nvSpPr>
          <p:cNvPr id="13" name="Slide Number Placeholder 12"/>
          <p:cNvSpPr>
            <a:spLocks noGrp="1"/>
          </p:cNvSpPr>
          <p:nvPr>
            <p:ph type="sldNum" sz="quarter" idx="12"/>
          </p:nvPr>
        </p:nvSpPr>
        <p:spPr/>
        <p:txBody>
          <a:bodyPr/>
          <a:lstStyle/>
          <a:p>
            <a:fld id="{8E9ED8F5-F0EE-4F30-BF79-1CB5FF8C36DA}" type="slidenum">
              <a:rPr lang="en-US" smtClean="0"/>
              <a:pPr/>
              <a:t>11</a:t>
            </a:fld>
            <a:endParaRPr lang="en-US"/>
          </a:p>
        </p:txBody>
      </p:sp>
      <p:sp>
        <p:nvSpPr>
          <p:cNvPr id="3" name="object 3"/>
          <p:cNvSpPr/>
          <p:nvPr/>
        </p:nvSpPr>
        <p:spPr>
          <a:xfrm>
            <a:off x="1654444" y="2884075"/>
            <a:ext cx="202514" cy="135170"/>
          </a:xfrm>
          <a:prstGeom prst="rect">
            <a:avLst/>
          </a:prstGeom>
          <a:blipFill>
            <a:blip r:embed="rId2" cstate="print"/>
            <a:stretch>
              <a:fillRect/>
            </a:stretch>
          </a:blipFill>
        </p:spPr>
        <p:txBody>
          <a:bodyPr wrap="square" lIns="0" tIns="0" rIns="0" bIns="0" rtlCol="0"/>
          <a:lstStyle/>
          <a:p>
            <a:endParaRPr sz="1226"/>
          </a:p>
        </p:txBody>
      </p:sp>
      <p:sp>
        <p:nvSpPr>
          <p:cNvPr id="4" name="object 4"/>
          <p:cNvSpPr txBox="1"/>
          <p:nvPr/>
        </p:nvSpPr>
        <p:spPr>
          <a:xfrm>
            <a:off x="1954929" y="2798810"/>
            <a:ext cx="4812847" cy="267124"/>
          </a:xfrm>
          <a:prstGeom prst="rect">
            <a:avLst/>
          </a:prstGeom>
        </p:spPr>
        <p:txBody>
          <a:bodyPr vert="horz" wrap="square" lIns="0" tIns="0" rIns="0" bIns="0" rtlCol="0">
            <a:spAutoFit/>
          </a:bodyPr>
          <a:lstStyle/>
          <a:p>
            <a:pPr marL="8645"/>
            <a:r>
              <a:rPr sz="1736" spc="-14" dirty="0">
                <a:latin typeface="Arial"/>
                <a:cs typeface="Arial"/>
              </a:rPr>
              <a:t>People have </a:t>
            </a:r>
            <a:r>
              <a:rPr sz="1736" spc="-11" dirty="0">
                <a:latin typeface="Arial"/>
                <a:cs typeface="Arial"/>
              </a:rPr>
              <a:t>always </a:t>
            </a:r>
            <a:r>
              <a:rPr sz="1736" spc="4" dirty="0">
                <a:latin typeface="Arial"/>
                <a:cs typeface="Arial"/>
              </a:rPr>
              <a:t>tried </a:t>
            </a:r>
            <a:r>
              <a:rPr sz="1736" dirty="0">
                <a:latin typeface="Arial"/>
                <a:cs typeface="Arial"/>
              </a:rPr>
              <a:t>to protect their</a:t>
            </a:r>
            <a:r>
              <a:rPr sz="1736" spc="34" dirty="0">
                <a:latin typeface="Arial"/>
                <a:cs typeface="Arial"/>
              </a:rPr>
              <a:t> </a:t>
            </a:r>
            <a:r>
              <a:rPr sz="1736" spc="11" dirty="0">
                <a:latin typeface="Arial"/>
                <a:cs typeface="Arial"/>
              </a:rPr>
              <a:t>property</a:t>
            </a:r>
            <a:endParaRPr sz="1736" dirty="0">
              <a:latin typeface="Arial"/>
              <a:cs typeface="Arial"/>
            </a:endParaRPr>
          </a:p>
        </p:txBody>
      </p:sp>
      <p:sp>
        <p:nvSpPr>
          <p:cNvPr id="5" name="object 5"/>
          <p:cNvSpPr/>
          <p:nvPr/>
        </p:nvSpPr>
        <p:spPr>
          <a:xfrm>
            <a:off x="1678303" y="3318174"/>
            <a:ext cx="1807642" cy="1320367"/>
          </a:xfrm>
          <a:prstGeom prst="rect">
            <a:avLst/>
          </a:prstGeom>
          <a:blipFill>
            <a:blip r:embed="rId3" cstate="print"/>
            <a:stretch>
              <a:fillRect/>
            </a:stretch>
          </a:blipFill>
        </p:spPr>
        <p:txBody>
          <a:bodyPr wrap="square" lIns="0" tIns="0" rIns="0" bIns="0" rtlCol="0"/>
          <a:lstStyle/>
          <a:p>
            <a:endParaRPr sz="1226"/>
          </a:p>
        </p:txBody>
      </p:sp>
      <p:sp>
        <p:nvSpPr>
          <p:cNvPr id="6" name="object 6"/>
          <p:cNvSpPr/>
          <p:nvPr/>
        </p:nvSpPr>
        <p:spPr>
          <a:xfrm>
            <a:off x="3547598" y="3317189"/>
            <a:ext cx="1761800" cy="1321352"/>
          </a:xfrm>
          <a:prstGeom prst="rect">
            <a:avLst/>
          </a:prstGeom>
          <a:blipFill>
            <a:blip r:embed="rId4" cstate="print"/>
            <a:stretch>
              <a:fillRect/>
            </a:stretch>
          </a:blipFill>
        </p:spPr>
        <p:txBody>
          <a:bodyPr wrap="square" lIns="0" tIns="0" rIns="0" bIns="0" rtlCol="0"/>
          <a:lstStyle/>
          <a:p>
            <a:endParaRPr sz="1226"/>
          </a:p>
        </p:txBody>
      </p:sp>
      <p:sp>
        <p:nvSpPr>
          <p:cNvPr id="7" name="object 7"/>
          <p:cNvSpPr/>
          <p:nvPr/>
        </p:nvSpPr>
        <p:spPr>
          <a:xfrm>
            <a:off x="5370213" y="3317189"/>
            <a:ext cx="879409" cy="1321352"/>
          </a:xfrm>
          <a:prstGeom prst="rect">
            <a:avLst/>
          </a:prstGeom>
          <a:blipFill>
            <a:blip r:embed="rId5" cstate="print"/>
            <a:stretch>
              <a:fillRect/>
            </a:stretch>
          </a:blipFill>
        </p:spPr>
        <p:txBody>
          <a:bodyPr wrap="square" lIns="0" tIns="0" rIns="0" bIns="0" rtlCol="0"/>
          <a:lstStyle/>
          <a:p>
            <a:endParaRPr sz="1226"/>
          </a:p>
        </p:txBody>
      </p:sp>
      <p:sp>
        <p:nvSpPr>
          <p:cNvPr id="8" name="object 8"/>
          <p:cNvSpPr/>
          <p:nvPr/>
        </p:nvSpPr>
        <p:spPr>
          <a:xfrm>
            <a:off x="6312123" y="3317189"/>
            <a:ext cx="1022423" cy="1321352"/>
          </a:xfrm>
          <a:prstGeom prst="rect">
            <a:avLst/>
          </a:prstGeom>
          <a:blipFill>
            <a:blip r:embed="rId6" cstate="print"/>
            <a:stretch>
              <a:fillRect/>
            </a:stretch>
          </a:blipFill>
        </p:spPr>
        <p:txBody>
          <a:bodyPr wrap="square" lIns="0" tIns="0" rIns="0" bIns="0" rtlCol="0"/>
          <a:lstStyle/>
          <a:p>
            <a:endParaRPr sz="1226"/>
          </a:p>
        </p:txBody>
      </p:sp>
      <p:sp>
        <p:nvSpPr>
          <p:cNvPr id="9" name="object 9"/>
          <p:cNvSpPr/>
          <p:nvPr/>
        </p:nvSpPr>
        <p:spPr>
          <a:xfrm>
            <a:off x="1678303" y="4682869"/>
            <a:ext cx="1841865" cy="1219157"/>
          </a:xfrm>
          <a:prstGeom prst="rect">
            <a:avLst/>
          </a:prstGeom>
          <a:blipFill>
            <a:blip r:embed="rId7" cstate="print"/>
            <a:stretch>
              <a:fillRect/>
            </a:stretch>
          </a:blipFill>
        </p:spPr>
        <p:txBody>
          <a:bodyPr wrap="square" lIns="0" tIns="0" rIns="0" bIns="0" rtlCol="0"/>
          <a:lstStyle/>
          <a:p>
            <a:endParaRPr sz="1226"/>
          </a:p>
        </p:txBody>
      </p:sp>
      <p:sp>
        <p:nvSpPr>
          <p:cNvPr id="10" name="object 10"/>
          <p:cNvSpPr/>
          <p:nvPr/>
        </p:nvSpPr>
        <p:spPr>
          <a:xfrm>
            <a:off x="3584944" y="4683346"/>
            <a:ext cx="1704452" cy="1218680"/>
          </a:xfrm>
          <a:prstGeom prst="rect">
            <a:avLst/>
          </a:prstGeom>
          <a:blipFill>
            <a:blip r:embed="rId8" cstate="print"/>
            <a:stretch>
              <a:fillRect/>
            </a:stretch>
          </a:blipFill>
        </p:spPr>
        <p:txBody>
          <a:bodyPr wrap="square" lIns="0" tIns="0" rIns="0" bIns="0" rtlCol="0"/>
          <a:lstStyle/>
          <a:p>
            <a:endParaRPr sz="1226"/>
          </a:p>
        </p:txBody>
      </p:sp>
      <p:sp>
        <p:nvSpPr>
          <p:cNvPr id="11" name="object 11"/>
          <p:cNvSpPr/>
          <p:nvPr/>
        </p:nvSpPr>
        <p:spPr>
          <a:xfrm>
            <a:off x="5351541" y="4682869"/>
            <a:ext cx="1982366" cy="1219157"/>
          </a:xfrm>
          <a:prstGeom prst="rect">
            <a:avLst/>
          </a:prstGeom>
          <a:blipFill>
            <a:blip r:embed="rId9" cstate="print"/>
            <a:stretch>
              <a:fillRect/>
            </a:stretch>
          </a:blipFill>
        </p:spPr>
        <p:txBody>
          <a:bodyPr wrap="square" lIns="0" tIns="0" rIns="0" bIns="0" rtlCol="0"/>
          <a:lstStyle/>
          <a:p>
            <a:endParaRPr sz="1226"/>
          </a:p>
        </p:txBody>
      </p:sp>
    </p:spTree>
    <p:extLst>
      <p:ext uri="{BB962C8B-B14F-4D97-AF65-F5344CB8AC3E}">
        <p14:creationId xmlns:p14="http://schemas.microsoft.com/office/powerpoint/2010/main" val="2098537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Basics of Information Security</a:t>
            </a:r>
          </a:p>
        </p:txBody>
      </p:sp>
      <p:sp>
        <p:nvSpPr>
          <p:cNvPr id="3" name="Content Placeholder 2"/>
          <p:cNvSpPr>
            <a:spLocks noGrp="1"/>
          </p:cNvSpPr>
          <p:nvPr>
            <p:ph idx="1"/>
          </p:nvPr>
        </p:nvSpPr>
        <p:spPr/>
        <p:txBody>
          <a:bodyPr/>
          <a:lstStyle/>
          <a:p>
            <a:r>
              <a:t>CIA Model</a:t>
            </a:r>
          </a:p>
          <a:p>
            <a:r>
              <a:t>Basic Terminologies</a:t>
            </a:r>
          </a:p>
          <a:p>
            <a:r>
              <a:t>Security Attacks, Mechanisms &amp; Services</a:t>
            </a:r>
          </a:p>
          <a:p>
            <a:r>
              <a:t>Models for Network Security</a:t>
            </a:r>
          </a:p>
        </p:txBody>
      </p:sp>
    </p:spTree>
    <p:extLst>
      <p:ext uri="{BB962C8B-B14F-4D97-AF65-F5344CB8AC3E}">
        <p14:creationId xmlns:p14="http://schemas.microsoft.com/office/powerpoint/2010/main" val="3021553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Information Security?</a:t>
            </a:r>
          </a:p>
        </p:txBody>
      </p:sp>
      <p:sp>
        <p:nvSpPr>
          <p:cNvPr id="3" name="Content Placeholder 2"/>
          <p:cNvSpPr>
            <a:spLocks noGrp="1"/>
          </p:cNvSpPr>
          <p:nvPr>
            <p:ph idx="1"/>
          </p:nvPr>
        </p:nvSpPr>
        <p:spPr/>
        <p:txBody>
          <a:bodyPr/>
          <a:lstStyle/>
          <a:p>
            <a:r>
              <a:rPr dirty="0"/>
              <a:t>Protection from unauthorized access</a:t>
            </a:r>
          </a:p>
          <a:p>
            <a:r>
              <a:rPr dirty="0"/>
              <a:t>Protection against disclosure, modification, destruction</a:t>
            </a:r>
          </a:p>
          <a:p>
            <a:r>
              <a:rPr dirty="0"/>
              <a:t>Applies to data at rest, in transit, and in 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Goals of Information Security</a:t>
            </a:r>
          </a:p>
        </p:txBody>
      </p:sp>
      <p:sp>
        <p:nvSpPr>
          <p:cNvPr id="3" name="Content Placeholder 2"/>
          <p:cNvSpPr>
            <a:spLocks noGrp="1"/>
          </p:cNvSpPr>
          <p:nvPr>
            <p:ph idx="1"/>
          </p:nvPr>
        </p:nvSpPr>
        <p:spPr/>
        <p:txBody>
          <a:bodyPr/>
          <a:lstStyle/>
          <a:p>
            <a:r>
              <a:rPr dirty="0"/>
              <a:t>Protect organizational assets</a:t>
            </a:r>
          </a:p>
          <a:p>
            <a:r>
              <a:rPr dirty="0"/>
              <a:t>Maintain trust</a:t>
            </a:r>
          </a:p>
          <a:p>
            <a:r>
              <a:rPr dirty="0"/>
              <a:t> Prevent cyber attacks</a:t>
            </a:r>
          </a:p>
          <a:p>
            <a:r>
              <a:rPr dirty="0"/>
              <a:t>Ensure business continuity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CIA Triad Overview</a:t>
            </a:r>
          </a:p>
        </p:txBody>
      </p:sp>
      <p:sp>
        <p:nvSpPr>
          <p:cNvPr id="3" name="Content Placeholder 2"/>
          <p:cNvSpPr>
            <a:spLocks noGrp="1"/>
          </p:cNvSpPr>
          <p:nvPr>
            <p:ph idx="1"/>
          </p:nvPr>
        </p:nvSpPr>
        <p:spPr/>
        <p:txBody>
          <a:bodyPr/>
          <a:lstStyle/>
          <a:p>
            <a:r>
              <a:rPr dirty="0"/>
              <a:t>Confidentiality</a:t>
            </a:r>
          </a:p>
          <a:p>
            <a:r>
              <a:rPr dirty="0"/>
              <a:t>Integrity</a:t>
            </a:r>
          </a:p>
          <a:p>
            <a:r>
              <a:rPr dirty="0"/>
              <a:t> Availability</a:t>
            </a:r>
          </a:p>
        </p:txBody>
      </p:sp>
      <p:pic>
        <p:nvPicPr>
          <p:cNvPr id="4" name="Picture 3">
            <a:extLst>
              <a:ext uri="{FF2B5EF4-FFF2-40B4-BE49-F238E27FC236}">
                <a16:creationId xmlns:a16="http://schemas.microsoft.com/office/drawing/2014/main" id="{4CB3ECA3-11A5-CA53-68E6-607791DD132E}"/>
              </a:ext>
            </a:extLst>
          </p:cNvPr>
          <p:cNvPicPr>
            <a:picLocks noChangeAspect="1"/>
          </p:cNvPicPr>
          <p:nvPr/>
        </p:nvPicPr>
        <p:blipFill>
          <a:blip r:embed="rId3"/>
          <a:stretch>
            <a:fillRect/>
          </a:stretch>
        </p:blipFill>
        <p:spPr>
          <a:xfrm>
            <a:off x="4037012" y="3429000"/>
            <a:ext cx="4407790" cy="25788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Confidentiality</a:t>
            </a:r>
          </a:p>
        </p:txBody>
      </p:sp>
      <p:sp>
        <p:nvSpPr>
          <p:cNvPr id="3" name="Content Placeholder 2"/>
          <p:cNvSpPr>
            <a:spLocks noGrp="1"/>
          </p:cNvSpPr>
          <p:nvPr>
            <p:ph idx="1"/>
          </p:nvPr>
        </p:nvSpPr>
        <p:spPr/>
        <p:txBody>
          <a:bodyPr/>
          <a:lstStyle/>
          <a:p>
            <a:r>
              <a:rPr dirty="0"/>
              <a:t>Accessible only to authorized users</a:t>
            </a:r>
          </a:p>
          <a:p>
            <a:r>
              <a:rPr dirty="0"/>
              <a:t>Methods:</a:t>
            </a:r>
          </a:p>
          <a:p>
            <a:pPr lvl="1"/>
            <a:r>
              <a:rPr dirty="0"/>
              <a:t>Encryption</a:t>
            </a:r>
          </a:p>
          <a:p>
            <a:pPr lvl="1"/>
            <a:r>
              <a:rPr dirty="0"/>
              <a:t>Passwords</a:t>
            </a:r>
          </a:p>
          <a:p>
            <a:pPr lvl="1"/>
            <a:r>
              <a:rPr dirty="0"/>
              <a:t>Access control</a:t>
            </a:r>
          </a:p>
          <a:p>
            <a:pPr lvl="1"/>
            <a:r>
              <a:rPr dirty="0"/>
              <a:t>Two-factor authentication</a:t>
            </a:r>
          </a:p>
        </p:txBody>
      </p:sp>
      <p:pic>
        <p:nvPicPr>
          <p:cNvPr id="4" name="Picture 3">
            <a:extLst>
              <a:ext uri="{FF2B5EF4-FFF2-40B4-BE49-F238E27FC236}">
                <a16:creationId xmlns:a16="http://schemas.microsoft.com/office/drawing/2014/main" id="{B8C558E3-2C64-8CBB-DA9C-CC0F2B1BD6B0}"/>
              </a:ext>
            </a:extLst>
          </p:cNvPr>
          <p:cNvPicPr>
            <a:picLocks noChangeAspect="1"/>
          </p:cNvPicPr>
          <p:nvPr/>
        </p:nvPicPr>
        <p:blipFill>
          <a:blip r:embed="rId2"/>
          <a:stretch>
            <a:fillRect/>
          </a:stretch>
        </p:blipFill>
        <p:spPr>
          <a:xfrm>
            <a:off x="4658280" y="3429000"/>
            <a:ext cx="3621338" cy="27129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Integrity</a:t>
            </a:r>
          </a:p>
        </p:txBody>
      </p:sp>
      <p:sp>
        <p:nvSpPr>
          <p:cNvPr id="3" name="Content Placeholder 2"/>
          <p:cNvSpPr>
            <a:spLocks noGrp="1"/>
          </p:cNvSpPr>
          <p:nvPr>
            <p:ph idx="1"/>
          </p:nvPr>
        </p:nvSpPr>
        <p:spPr/>
        <p:txBody>
          <a:bodyPr/>
          <a:lstStyle/>
          <a:p>
            <a:r>
              <a:rPr dirty="0"/>
              <a:t>Ensures accuracy and consistency</a:t>
            </a:r>
          </a:p>
          <a:p>
            <a:r>
              <a:rPr dirty="0"/>
              <a:t>Methods:</a:t>
            </a:r>
          </a:p>
          <a:p>
            <a:pPr lvl="1"/>
            <a:r>
              <a:rPr dirty="0"/>
              <a:t>Hash functions</a:t>
            </a:r>
          </a:p>
          <a:p>
            <a:pPr lvl="1"/>
            <a:r>
              <a:rPr dirty="0"/>
              <a:t>Digital signatures</a:t>
            </a:r>
          </a:p>
          <a:p>
            <a:pPr lvl="1"/>
            <a:r>
              <a:rPr dirty="0"/>
              <a:t>Checksums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Availability</a:t>
            </a:r>
          </a:p>
        </p:txBody>
      </p:sp>
      <p:sp>
        <p:nvSpPr>
          <p:cNvPr id="3" name="Content Placeholder 2"/>
          <p:cNvSpPr>
            <a:spLocks noGrp="1"/>
          </p:cNvSpPr>
          <p:nvPr>
            <p:ph idx="1"/>
          </p:nvPr>
        </p:nvSpPr>
        <p:spPr/>
        <p:txBody>
          <a:bodyPr/>
          <a:lstStyle/>
          <a:p>
            <a:r>
              <a:rPr dirty="0"/>
              <a:t>Ensures systems are available when needed</a:t>
            </a:r>
          </a:p>
          <a:p>
            <a:r>
              <a:rPr dirty="0"/>
              <a:t>Methods:</a:t>
            </a:r>
          </a:p>
          <a:p>
            <a:pPr lvl="1"/>
            <a:r>
              <a:rPr dirty="0"/>
              <a:t>Backups</a:t>
            </a:r>
          </a:p>
          <a:p>
            <a:pPr lvl="1"/>
            <a:r>
              <a:rPr dirty="0"/>
              <a:t>Redundancy</a:t>
            </a:r>
          </a:p>
          <a:p>
            <a:pPr lvl="1"/>
            <a:r>
              <a:rPr dirty="0"/>
              <a:t>Disaster recovery</a:t>
            </a:r>
          </a:p>
        </p:txBody>
      </p:sp>
      <p:pic>
        <p:nvPicPr>
          <p:cNvPr id="4" name="Picture 3">
            <a:extLst>
              <a:ext uri="{FF2B5EF4-FFF2-40B4-BE49-F238E27FC236}">
                <a16:creationId xmlns:a16="http://schemas.microsoft.com/office/drawing/2014/main" id="{B59542A3-4FF3-77E5-69EE-23DCC8892056}"/>
              </a:ext>
            </a:extLst>
          </p:cNvPr>
          <p:cNvPicPr>
            <a:picLocks noChangeAspect="1"/>
          </p:cNvPicPr>
          <p:nvPr/>
        </p:nvPicPr>
        <p:blipFill>
          <a:blip r:embed="rId3"/>
          <a:stretch>
            <a:fillRect/>
          </a:stretch>
        </p:blipFill>
        <p:spPr>
          <a:xfrm>
            <a:off x="4689711" y="3428999"/>
            <a:ext cx="4090771" cy="33774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p:txBody>
          <a:bodyPr/>
          <a:lstStyle/>
          <a:p>
            <a:pPr>
              <a:defRPr/>
            </a:pPr>
            <a:r>
              <a:rPr lang="en-GB" b="1" dirty="0"/>
              <a:t>Components of an Information System</a:t>
            </a:r>
          </a:p>
        </p:txBody>
      </p:sp>
      <p:sp>
        <p:nvSpPr>
          <p:cNvPr id="39939" name="Rectangle 2"/>
          <p:cNvSpPr>
            <a:spLocks noGrp="1" noChangeArrowheads="1"/>
          </p:cNvSpPr>
          <p:nvPr>
            <p:ph idx="1"/>
          </p:nvPr>
        </p:nvSpPr>
        <p:spPr>
          <a:xfrm>
            <a:off x="866216" y="2664279"/>
            <a:ext cx="7646413" cy="2707822"/>
          </a:xfrm>
        </p:spPr>
        <p:txBody>
          <a:bodyPr>
            <a:noAutofit/>
          </a:bodyPr>
          <a:lstStyle/>
          <a:p>
            <a:pPr eaLnBrk="1" hangingPunct="1"/>
            <a:r>
              <a:rPr lang="en-GB" dirty="0">
                <a:solidFill>
                  <a:schemeClr val="tx1"/>
                </a:solidFill>
                <a:latin typeface="Arial" pitchFamily="34" charset="0"/>
                <a:cs typeface="Arial" pitchFamily="34" charset="0"/>
              </a:rPr>
              <a:t>Information system (IS) is entire set of components necessary to use information as a resource in the organization </a:t>
            </a:r>
          </a:p>
          <a:p>
            <a:pPr lvl="1" eaLnBrk="1" hangingPunct="1"/>
            <a:r>
              <a:rPr lang="en-GB" sz="1800" dirty="0">
                <a:solidFill>
                  <a:schemeClr val="tx1"/>
                </a:solidFill>
                <a:latin typeface="Arial" pitchFamily="34" charset="0"/>
                <a:cs typeface="Arial" pitchFamily="34" charset="0"/>
              </a:rPr>
              <a:t>Software</a:t>
            </a:r>
          </a:p>
          <a:p>
            <a:pPr lvl="1" eaLnBrk="1" hangingPunct="1"/>
            <a:r>
              <a:rPr lang="en-GB" sz="1800" dirty="0">
                <a:solidFill>
                  <a:schemeClr val="tx1"/>
                </a:solidFill>
                <a:latin typeface="Arial" pitchFamily="34" charset="0"/>
                <a:cs typeface="Arial" pitchFamily="34" charset="0"/>
              </a:rPr>
              <a:t>Hardware</a:t>
            </a:r>
          </a:p>
          <a:p>
            <a:pPr lvl="1" eaLnBrk="1" hangingPunct="1"/>
            <a:r>
              <a:rPr lang="en-GB" sz="1800" dirty="0">
                <a:solidFill>
                  <a:schemeClr val="tx1"/>
                </a:solidFill>
                <a:latin typeface="Arial" pitchFamily="34" charset="0"/>
                <a:cs typeface="Arial" pitchFamily="34" charset="0"/>
              </a:rPr>
              <a:t>Data</a:t>
            </a:r>
          </a:p>
          <a:p>
            <a:pPr lvl="1" eaLnBrk="1" hangingPunct="1"/>
            <a:r>
              <a:rPr lang="en-GB" sz="1800" dirty="0">
                <a:solidFill>
                  <a:schemeClr val="tx1"/>
                </a:solidFill>
                <a:latin typeface="Arial" pitchFamily="34" charset="0"/>
                <a:cs typeface="Arial" pitchFamily="34" charset="0"/>
              </a:rPr>
              <a:t>People</a:t>
            </a:r>
          </a:p>
          <a:p>
            <a:pPr lvl="1" eaLnBrk="1" hangingPunct="1"/>
            <a:r>
              <a:rPr lang="en-GB" sz="1800" dirty="0">
                <a:solidFill>
                  <a:schemeClr val="tx1"/>
                </a:solidFill>
                <a:latin typeface="Arial" pitchFamily="34" charset="0"/>
                <a:cs typeface="Arial" pitchFamily="34" charset="0"/>
              </a:rPr>
              <a:t>Procedures</a:t>
            </a:r>
          </a:p>
          <a:p>
            <a:pPr lvl="1" eaLnBrk="1" hangingPunct="1"/>
            <a:r>
              <a:rPr lang="en-GB" sz="1800" dirty="0">
                <a:solidFill>
                  <a:schemeClr val="tx1"/>
                </a:solidFill>
                <a:latin typeface="Arial" pitchFamily="34" charset="0"/>
                <a:cs typeface="Arial" pitchFamily="34" charset="0"/>
              </a:rPr>
              <a:t>Networks</a:t>
            </a:r>
          </a:p>
        </p:txBody>
      </p:sp>
      <p:sp>
        <p:nvSpPr>
          <p:cNvPr id="39940"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DFA535-5B59-4952-AAA2-44FFD83657C6}" type="slidenum">
              <a:rPr lang="en-GB">
                <a:solidFill>
                  <a:srgbClr val="FFFFFF"/>
                </a:solidFill>
              </a:rPr>
              <a:pPr eaLnBrk="1" hangingPunct="1"/>
              <a:t>19</a:t>
            </a:fld>
            <a:endParaRPr lang="en-GB">
              <a:solidFill>
                <a:srgbClr val="FFFFFF"/>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Terminologies (Part 1)</a:t>
            </a:r>
          </a:p>
        </p:txBody>
      </p:sp>
      <p:sp>
        <p:nvSpPr>
          <p:cNvPr id="3" name="Content Placeholder 2"/>
          <p:cNvSpPr>
            <a:spLocks noGrp="1"/>
          </p:cNvSpPr>
          <p:nvPr>
            <p:ph idx="1"/>
          </p:nvPr>
        </p:nvSpPr>
        <p:spPr/>
        <p:txBody>
          <a:bodyPr/>
          <a:lstStyle/>
          <a:p>
            <a:r>
              <a:rPr dirty="0"/>
              <a:t>A</a:t>
            </a:r>
            <a:r>
              <a:rPr lang="en-US" dirty="0"/>
              <a:t>ttack</a:t>
            </a:r>
            <a:endParaRPr dirty="0"/>
          </a:p>
          <a:p>
            <a:r>
              <a:rPr dirty="0"/>
              <a:t>Threat</a:t>
            </a:r>
          </a:p>
          <a:p>
            <a:r>
              <a:rPr dirty="0"/>
              <a:t>Vulnerability</a:t>
            </a:r>
          </a:p>
          <a:p>
            <a:r>
              <a:rPr lang="en-US" dirty="0"/>
              <a:t>Malware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913" y="1324080"/>
            <a:ext cx="1247839" cy="984885"/>
          </a:xfrm>
          <a:prstGeom prst="rect">
            <a:avLst/>
          </a:prstGeom>
        </p:spPr>
        <p:txBody>
          <a:bodyPr vert="horz" wrap="square" lIns="0" tIns="0" rIns="0" bIns="0" rtlCol="0" anchor="ctr">
            <a:spAutoFit/>
          </a:bodyPr>
          <a:lstStyle/>
          <a:p>
            <a:pPr marL="8645"/>
            <a:r>
              <a:rPr b="1" spc="167" dirty="0"/>
              <a:t>T</a:t>
            </a:r>
            <a:r>
              <a:rPr b="1" spc="-62" dirty="0"/>
              <a:t>h</a:t>
            </a:r>
            <a:r>
              <a:rPr b="1" spc="102" dirty="0"/>
              <a:t>r</a:t>
            </a:r>
            <a:r>
              <a:rPr b="1" spc="-89" dirty="0"/>
              <a:t>e</a:t>
            </a:r>
            <a:r>
              <a:rPr b="1" spc="14" dirty="0"/>
              <a:t>a</a:t>
            </a:r>
            <a:r>
              <a:rPr b="1" spc="27" dirty="0"/>
              <a:t>t</a:t>
            </a:r>
            <a:r>
              <a:rPr b="1" spc="-92" dirty="0"/>
              <a:t>s</a:t>
            </a:r>
          </a:p>
        </p:txBody>
      </p:sp>
      <p:sp>
        <p:nvSpPr>
          <p:cNvPr id="3" name="object 3"/>
          <p:cNvSpPr/>
          <p:nvPr/>
        </p:nvSpPr>
        <p:spPr>
          <a:xfrm>
            <a:off x="190377" y="2979810"/>
            <a:ext cx="202514" cy="135170"/>
          </a:xfrm>
          <a:prstGeom prst="rect">
            <a:avLst/>
          </a:prstGeom>
          <a:blipFill>
            <a:blip r:embed="rId3" cstate="print"/>
            <a:stretch>
              <a:fillRect/>
            </a:stretch>
          </a:blipFill>
        </p:spPr>
        <p:txBody>
          <a:bodyPr wrap="square" lIns="0" tIns="0" rIns="0" bIns="0" rtlCol="0"/>
          <a:lstStyle/>
          <a:p>
            <a:endParaRPr sz="1226"/>
          </a:p>
        </p:txBody>
      </p:sp>
      <p:sp>
        <p:nvSpPr>
          <p:cNvPr id="4" name="object 4"/>
          <p:cNvSpPr/>
          <p:nvPr/>
        </p:nvSpPr>
        <p:spPr>
          <a:xfrm>
            <a:off x="190377" y="3325246"/>
            <a:ext cx="202514" cy="135170"/>
          </a:xfrm>
          <a:prstGeom prst="rect">
            <a:avLst/>
          </a:prstGeom>
          <a:blipFill>
            <a:blip r:embed="rId3" cstate="print"/>
            <a:stretch>
              <a:fillRect/>
            </a:stretch>
          </a:blipFill>
        </p:spPr>
        <p:txBody>
          <a:bodyPr wrap="square" lIns="0" tIns="0" rIns="0" bIns="0" rtlCol="0"/>
          <a:lstStyle/>
          <a:p>
            <a:endParaRPr sz="1226"/>
          </a:p>
        </p:txBody>
      </p:sp>
      <p:sp>
        <p:nvSpPr>
          <p:cNvPr id="5" name="object 5"/>
          <p:cNvSpPr/>
          <p:nvPr/>
        </p:nvSpPr>
        <p:spPr>
          <a:xfrm>
            <a:off x="536851" y="3715585"/>
            <a:ext cx="152333" cy="101678"/>
          </a:xfrm>
          <a:prstGeom prst="rect">
            <a:avLst/>
          </a:prstGeom>
          <a:blipFill>
            <a:blip r:embed="rId4" cstate="print"/>
            <a:stretch>
              <a:fillRect/>
            </a:stretch>
          </a:blipFill>
        </p:spPr>
        <p:txBody>
          <a:bodyPr wrap="square" lIns="0" tIns="0" rIns="0" bIns="0" rtlCol="0"/>
          <a:lstStyle/>
          <a:p>
            <a:endParaRPr sz="1226"/>
          </a:p>
        </p:txBody>
      </p:sp>
      <p:sp>
        <p:nvSpPr>
          <p:cNvPr id="6" name="object 6"/>
          <p:cNvSpPr/>
          <p:nvPr/>
        </p:nvSpPr>
        <p:spPr>
          <a:xfrm>
            <a:off x="536851" y="4017452"/>
            <a:ext cx="152333" cy="101678"/>
          </a:xfrm>
          <a:prstGeom prst="rect">
            <a:avLst/>
          </a:prstGeom>
          <a:blipFill>
            <a:blip r:embed="rId4" cstate="print"/>
            <a:stretch>
              <a:fillRect/>
            </a:stretch>
          </a:blipFill>
        </p:spPr>
        <p:txBody>
          <a:bodyPr wrap="square" lIns="0" tIns="0" rIns="0" bIns="0" rtlCol="0"/>
          <a:lstStyle/>
          <a:p>
            <a:endParaRPr sz="1226"/>
          </a:p>
        </p:txBody>
      </p:sp>
      <p:sp>
        <p:nvSpPr>
          <p:cNvPr id="7" name="object 7"/>
          <p:cNvSpPr txBox="1"/>
          <p:nvPr/>
        </p:nvSpPr>
        <p:spPr>
          <a:xfrm>
            <a:off x="506274" y="2862946"/>
            <a:ext cx="4931276" cy="1395254"/>
          </a:xfrm>
          <a:prstGeom prst="rect">
            <a:avLst/>
          </a:prstGeom>
        </p:spPr>
        <p:txBody>
          <a:bodyPr vert="horz" wrap="square" lIns="0" tIns="0" rIns="0" bIns="0" rtlCol="0">
            <a:spAutoFit/>
          </a:bodyPr>
          <a:lstStyle/>
          <a:p>
            <a:pPr marL="8645" marR="3458">
              <a:lnSpc>
                <a:spcPct val="130600"/>
              </a:lnSpc>
            </a:pPr>
            <a:r>
              <a:rPr sz="1736" spc="4" dirty="0">
                <a:latin typeface="Arial"/>
                <a:cs typeface="Arial"/>
              </a:rPr>
              <a:t>A </a:t>
            </a:r>
            <a:r>
              <a:rPr sz="1736" i="1" dirty="0">
                <a:latin typeface="Arial"/>
                <a:cs typeface="Arial"/>
              </a:rPr>
              <a:t>threat </a:t>
            </a:r>
            <a:r>
              <a:rPr sz="1736" dirty="0">
                <a:latin typeface="Arial"/>
                <a:cs typeface="Arial"/>
              </a:rPr>
              <a:t>is </a:t>
            </a:r>
            <a:r>
              <a:rPr sz="1736" spc="4" dirty="0">
                <a:latin typeface="Arial"/>
                <a:cs typeface="Arial"/>
              </a:rPr>
              <a:t>a person or an </a:t>
            </a:r>
            <a:r>
              <a:rPr sz="1736" dirty="0">
                <a:latin typeface="Arial"/>
                <a:cs typeface="Arial"/>
              </a:rPr>
              <a:t>entity that </a:t>
            </a:r>
            <a:r>
              <a:rPr sz="1736" spc="4" dirty="0">
                <a:latin typeface="Arial"/>
                <a:cs typeface="Arial"/>
              </a:rPr>
              <a:t>can </a:t>
            </a:r>
            <a:r>
              <a:rPr sz="1736" spc="14" dirty="0">
                <a:latin typeface="Arial"/>
                <a:cs typeface="Arial"/>
              </a:rPr>
              <a:t>harm </a:t>
            </a:r>
            <a:r>
              <a:rPr sz="1736" spc="-7" dirty="0">
                <a:latin typeface="Arial"/>
                <a:cs typeface="Arial"/>
              </a:rPr>
              <a:t>you  </a:t>
            </a:r>
            <a:r>
              <a:rPr sz="1736" spc="4" dirty="0">
                <a:latin typeface="Arial"/>
                <a:cs typeface="Arial"/>
              </a:rPr>
              <a:t>A </a:t>
            </a:r>
            <a:r>
              <a:rPr sz="1736" dirty="0">
                <a:latin typeface="Arial"/>
                <a:cs typeface="Arial"/>
              </a:rPr>
              <a:t>threat </a:t>
            </a:r>
            <a:r>
              <a:rPr sz="1736" spc="4" dirty="0">
                <a:latin typeface="Arial"/>
                <a:cs typeface="Arial"/>
              </a:rPr>
              <a:t>can be </a:t>
            </a:r>
            <a:r>
              <a:rPr sz="1736" dirty="0">
                <a:latin typeface="Arial"/>
                <a:cs typeface="Arial"/>
              </a:rPr>
              <a:t>malicious </a:t>
            </a:r>
            <a:r>
              <a:rPr sz="1736" spc="4" dirty="0">
                <a:latin typeface="Arial"/>
                <a:cs typeface="Arial"/>
              </a:rPr>
              <a:t>or</a:t>
            </a:r>
            <a:r>
              <a:rPr sz="1736" spc="-11" dirty="0">
                <a:latin typeface="Arial"/>
                <a:cs typeface="Arial"/>
              </a:rPr>
              <a:t> </a:t>
            </a:r>
            <a:r>
              <a:rPr sz="1736" dirty="0">
                <a:latin typeface="Arial"/>
                <a:cs typeface="Arial"/>
              </a:rPr>
              <a:t>malignant</a:t>
            </a:r>
          </a:p>
          <a:p>
            <a:pPr marL="303868">
              <a:spcBef>
                <a:spcPts val="725"/>
              </a:spcBef>
            </a:pPr>
            <a:r>
              <a:rPr sz="1736" dirty="0">
                <a:latin typeface="Arial"/>
                <a:cs typeface="Arial"/>
              </a:rPr>
              <a:t>Malicious: intending to </a:t>
            </a:r>
            <a:r>
              <a:rPr sz="1736" spc="20" dirty="0">
                <a:latin typeface="Arial"/>
                <a:cs typeface="Arial"/>
              </a:rPr>
              <a:t>hurt</a:t>
            </a:r>
            <a:r>
              <a:rPr sz="1736" spc="92" dirty="0">
                <a:latin typeface="Arial"/>
                <a:cs typeface="Arial"/>
              </a:rPr>
              <a:t> </a:t>
            </a:r>
            <a:r>
              <a:rPr sz="1736" spc="-7" dirty="0">
                <a:latin typeface="Arial"/>
                <a:cs typeface="Arial"/>
              </a:rPr>
              <a:t>you</a:t>
            </a:r>
            <a:endParaRPr sz="1736" dirty="0">
              <a:latin typeface="Arial"/>
              <a:cs typeface="Arial"/>
            </a:endParaRPr>
          </a:p>
          <a:p>
            <a:pPr marL="304301">
              <a:spcBef>
                <a:spcPts val="293"/>
              </a:spcBef>
            </a:pPr>
            <a:r>
              <a:rPr sz="1736" dirty="0">
                <a:latin typeface="Arial"/>
                <a:cs typeface="Arial"/>
              </a:rPr>
              <a:t>Malignant: </a:t>
            </a:r>
            <a:r>
              <a:rPr sz="1950" spc="7" dirty="0">
                <a:latin typeface="Arial"/>
                <a:cs typeface="Arial"/>
              </a:rPr>
              <a:t>harmful</a:t>
            </a:r>
            <a:r>
              <a:rPr sz="1736" spc="7" dirty="0">
                <a:latin typeface="Arial"/>
                <a:cs typeface="Arial"/>
              </a:rPr>
              <a:t>, </a:t>
            </a:r>
            <a:r>
              <a:rPr sz="1736" spc="-7" dirty="0">
                <a:latin typeface="Arial"/>
                <a:cs typeface="Arial"/>
              </a:rPr>
              <a:t>but </a:t>
            </a:r>
            <a:r>
              <a:rPr sz="1736" spc="4" dirty="0">
                <a:latin typeface="Arial"/>
                <a:cs typeface="Arial"/>
              </a:rPr>
              <a:t>no </a:t>
            </a:r>
            <a:r>
              <a:rPr sz="1736" dirty="0">
                <a:latin typeface="Arial"/>
                <a:cs typeface="Arial"/>
              </a:rPr>
              <a:t>intent to </a:t>
            </a:r>
            <a:r>
              <a:rPr sz="1736" spc="20" dirty="0">
                <a:latin typeface="Arial"/>
                <a:cs typeface="Arial"/>
              </a:rPr>
              <a:t>hurt</a:t>
            </a:r>
            <a:r>
              <a:rPr sz="1736" spc="89" dirty="0">
                <a:latin typeface="Arial"/>
                <a:cs typeface="Arial"/>
              </a:rPr>
              <a:t> </a:t>
            </a:r>
            <a:r>
              <a:rPr sz="1736" spc="-7" dirty="0">
                <a:latin typeface="Arial"/>
                <a:cs typeface="Arial"/>
              </a:rPr>
              <a:t>you</a:t>
            </a:r>
            <a:endParaRPr sz="1736" dirty="0">
              <a:latin typeface="Arial"/>
              <a:cs typeface="Arial"/>
            </a:endParaRPr>
          </a:p>
        </p:txBody>
      </p:sp>
      <p:pic>
        <p:nvPicPr>
          <p:cNvPr id="10" name="Picture 9">
            <a:extLst>
              <a:ext uri="{FF2B5EF4-FFF2-40B4-BE49-F238E27FC236}">
                <a16:creationId xmlns:a16="http://schemas.microsoft.com/office/drawing/2014/main" id="{CF12F664-3E6F-4DD0-8601-5DA8405833D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2069" y="3582890"/>
            <a:ext cx="4021931" cy="2257425"/>
          </a:xfrm>
          <a:prstGeom prst="rect">
            <a:avLst/>
          </a:prstGeom>
        </p:spPr>
      </p:pic>
      <p:sp>
        <p:nvSpPr>
          <p:cNvPr id="12" name="Slide Number Placeholder 11">
            <a:extLst>
              <a:ext uri="{FF2B5EF4-FFF2-40B4-BE49-F238E27FC236}">
                <a16:creationId xmlns:a16="http://schemas.microsoft.com/office/drawing/2014/main" id="{52892C02-4B75-40CA-AFEE-E6B36DC183D5}"/>
              </a:ext>
            </a:extLst>
          </p:cNvPr>
          <p:cNvSpPr>
            <a:spLocks noGrp="1"/>
          </p:cNvSpPr>
          <p:nvPr>
            <p:ph type="sldNum" sz="quarter" idx="12"/>
          </p:nvPr>
        </p:nvSpPr>
        <p:spPr/>
        <p:txBody>
          <a:bodyPr/>
          <a:lstStyle/>
          <a:p>
            <a:fld id="{8E9ED8F5-F0EE-4F30-BF79-1CB5FF8C36DA}" type="slidenum">
              <a:rPr lang="en-US" smtClean="0"/>
              <a:pPr/>
              <a:t>21</a:t>
            </a:fld>
            <a:endParaRPr lang="en-US"/>
          </a:p>
        </p:txBody>
      </p:sp>
    </p:spTree>
    <p:extLst>
      <p:ext uri="{BB962C8B-B14F-4D97-AF65-F5344CB8AC3E}">
        <p14:creationId xmlns:p14="http://schemas.microsoft.com/office/powerpoint/2010/main" val="3413703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76375" y="1231612"/>
            <a:ext cx="2968942" cy="492443"/>
          </a:xfrm>
          <a:prstGeom prst="rect">
            <a:avLst/>
          </a:prstGeom>
        </p:spPr>
        <p:txBody>
          <a:bodyPr vert="horz" wrap="square" lIns="0" tIns="0" rIns="0" bIns="0" rtlCol="0" anchor="ctr">
            <a:spAutoFit/>
          </a:bodyPr>
          <a:lstStyle/>
          <a:p>
            <a:pPr marL="8645"/>
            <a:r>
              <a:rPr b="1" spc="-44" dirty="0"/>
              <a:t>Vulnerabilities</a:t>
            </a:r>
          </a:p>
        </p:txBody>
      </p:sp>
      <p:sp>
        <p:nvSpPr>
          <p:cNvPr id="3" name="object 3"/>
          <p:cNvSpPr/>
          <p:nvPr/>
        </p:nvSpPr>
        <p:spPr>
          <a:xfrm>
            <a:off x="544835" y="3184593"/>
            <a:ext cx="202514" cy="135170"/>
          </a:xfrm>
          <a:prstGeom prst="rect">
            <a:avLst/>
          </a:prstGeom>
          <a:blipFill>
            <a:blip r:embed="rId3" cstate="print"/>
            <a:stretch>
              <a:fillRect/>
            </a:stretch>
          </a:blipFill>
        </p:spPr>
        <p:txBody>
          <a:bodyPr wrap="square" lIns="0" tIns="0" rIns="0" bIns="0" rtlCol="0"/>
          <a:lstStyle/>
          <a:p>
            <a:endParaRPr sz="1226"/>
          </a:p>
        </p:txBody>
      </p:sp>
      <p:sp>
        <p:nvSpPr>
          <p:cNvPr id="4" name="object 4"/>
          <p:cNvSpPr txBox="1"/>
          <p:nvPr/>
        </p:nvSpPr>
        <p:spPr>
          <a:xfrm>
            <a:off x="856923" y="3117135"/>
            <a:ext cx="7637200" cy="256480"/>
          </a:xfrm>
          <a:prstGeom prst="rect">
            <a:avLst/>
          </a:prstGeom>
        </p:spPr>
        <p:txBody>
          <a:bodyPr vert="horz" wrap="square" lIns="0" tIns="0" rIns="0" bIns="0" rtlCol="0">
            <a:spAutoFit/>
          </a:bodyPr>
          <a:lstStyle/>
          <a:p>
            <a:pPr marL="8645" marR="3458">
              <a:lnSpc>
                <a:spcPts val="1994"/>
              </a:lnSpc>
            </a:pPr>
            <a:r>
              <a:rPr sz="1950" spc="4" dirty="0">
                <a:latin typeface="Arial"/>
                <a:cs typeface="Arial"/>
              </a:rPr>
              <a:t>A </a:t>
            </a:r>
            <a:r>
              <a:rPr sz="1950" i="1" dirty="0">
                <a:latin typeface="Arial"/>
                <a:cs typeface="Arial"/>
              </a:rPr>
              <a:t>vulnerability </a:t>
            </a:r>
            <a:r>
              <a:rPr sz="1950" dirty="0">
                <a:latin typeface="Arial"/>
                <a:cs typeface="Arial"/>
              </a:rPr>
              <a:t>is </a:t>
            </a:r>
            <a:r>
              <a:rPr sz="1950" spc="4" dirty="0">
                <a:latin typeface="Arial"/>
                <a:cs typeface="Arial"/>
              </a:rPr>
              <a:t>a </a:t>
            </a:r>
            <a:r>
              <a:rPr sz="1950" dirty="0">
                <a:latin typeface="Arial"/>
                <a:cs typeface="Arial"/>
              </a:rPr>
              <a:t>weakness that </a:t>
            </a:r>
            <a:r>
              <a:rPr sz="1950" spc="-4" dirty="0">
                <a:latin typeface="Arial"/>
                <a:cs typeface="Arial"/>
              </a:rPr>
              <a:t>allows </a:t>
            </a:r>
            <a:r>
              <a:rPr sz="1950" spc="4" dirty="0">
                <a:latin typeface="Arial"/>
                <a:cs typeface="Arial"/>
              </a:rPr>
              <a:t>a </a:t>
            </a:r>
            <a:r>
              <a:rPr sz="1950" dirty="0">
                <a:latin typeface="Arial"/>
                <a:cs typeface="Arial"/>
              </a:rPr>
              <a:t>threat to  </a:t>
            </a:r>
            <a:r>
              <a:rPr sz="1950" spc="-7" dirty="0">
                <a:latin typeface="Arial"/>
                <a:cs typeface="Arial"/>
              </a:rPr>
              <a:t>exploit</a:t>
            </a:r>
            <a:r>
              <a:rPr sz="1950" spc="-55" dirty="0">
                <a:latin typeface="Arial"/>
                <a:cs typeface="Arial"/>
              </a:rPr>
              <a:t> </a:t>
            </a:r>
            <a:r>
              <a:rPr sz="1950" spc="-7" dirty="0">
                <a:latin typeface="Arial"/>
                <a:cs typeface="Arial"/>
              </a:rPr>
              <a:t>you</a:t>
            </a:r>
            <a:endParaRPr sz="1950" dirty="0">
              <a:latin typeface="Arial"/>
              <a:cs typeface="Arial"/>
            </a:endParaRPr>
          </a:p>
        </p:txBody>
      </p:sp>
      <p:pic>
        <p:nvPicPr>
          <p:cNvPr id="7" name="Picture 6">
            <a:extLst>
              <a:ext uri="{FF2B5EF4-FFF2-40B4-BE49-F238E27FC236}">
                <a16:creationId xmlns:a16="http://schemas.microsoft.com/office/drawing/2014/main" id="{F810C7AE-E135-40B4-B4C6-C5C2F85178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60846" y="3532462"/>
            <a:ext cx="4051241" cy="2278823"/>
          </a:xfrm>
          <a:prstGeom prst="rect">
            <a:avLst/>
          </a:prstGeom>
        </p:spPr>
      </p:pic>
      <p:sp>
        <p:nvSpPr>
          <p:cNvPr id="9" name="Slide Number Placeholder 8">
            <a:extLst>
              <a:ext uri="{FF2B5EF4-FFF2-40B4-BE49-F238E27FC236}">
                <a16:creationId xmlns:a16="http://schemas.microsoft.com/office/drawing/2014/main" id="{060077D7-B95B-4CA5-861E-5823A0344FFC}"/>
              </a:ext>
            </a:extLst>
          </p:cNvPr>
          <p:cNvSpPr>
            <a:spLocks noGrp="1"/>
          </p:cNvSpPr>
          <p:nvPr>
            <p:ph type="sldNum" sz="quarter" idx="12"/>
          </p:nvPr>
        </p:nvSpPr>
        <p:spPr/>
        <p:txBody>
          <a:bodyPr/>
          <a:lstStyle/>
          <a:p>
            <a:fld id="{8E9ED8F5-F0EE-4F30-BF79-1CB5FF8C36DA}" type="slidenum">
              <a:rPr lang="en-US" smtClean="0"/>
              <a:pPr/>
              <a:t>22</a:t>
            </a:fld>
            <a:endParaRPr lang="en-US"/>
          </a:p>
        </p:txBody>
      </p:sp>
    </p:spTree>
    <p:extLst>
      <p:ext uri="{BB962C8B-B14F-4D97-AF65-F5344CB8AC3E}">
        <p14:creationId xmlns:p14="http://schemas.microsoft.com/office/powerpoint/2010/main" val="3001109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Security Attacks</a:t>
            </a:r>
          </a:p>
        </p:txBody>
      </p:sp>
      <p:sp>
        <p:nvSpPr>
          <p:cNvPr id="3" name="Content Placeholder 2"/>
          <p:cNvSpPr>
            <a:spLocks noGrp="1"/>
          </p:cNvSpPr>
          <p:nvPr>
            <p:ph idx="1"/>
          </p:nvPr>
        </p:nvSpPr>
        <p:spPr/>
        <p:txBody>
          <a:bodyPr/>
          <a:lstStyle/>
          <a:p>
            <a:r>
              <a:t>• Passive Attacks</a:t>
            </a:r>
          </a:p>
          <a:p>
            <a:r>
              <a:t>• Active Attacks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Passive Attacks</a:t>
            </a:r>
          </a:p>
        </p:txBody>
      </p:sp>
      <p:sp>
        <p:nvSpPr>
          <p:cNvPr id="3" name="Content Placeholder 2"/>
          <p:cNvSpPr>
            <a:spLocks noGrp="1"/>
          </p:cNvSpPr>
          <p:nvPr>
            <p:ph idx="1"/>
          </p:nvPr>
        </p:nvSpPr>
        <p:spPr/>
        <p:txBody>
          <a:bodyPr/>
          <a:lstStyle/>
          <a:p>
            <a:r>
              <a:rPr dirty="0"/>
              <a:t>No data alteration</a:t>
            </a:r>
          </a:p>
          <a:p>
            <a:r>
              <a:rPr dirty="0"/>
              <a:t>Eavesdropping</a:t>
            </a:r>
          </a:p>
          <a:p>
            <a:r>
              <a:rPr dirty="0"/>
              <a:t>Traffic analysis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Active Attacks</a:t>
            </a:r>
          </a:p>
        </p:txBody>
      </p:sp>
      <p:sp>
        <p:nvSpPr>
          <p:cNvPr id="3" name="Content Placeholder 2"/>
          <p:cNvSpPr>
            <a:spLocks noGrp="1"/>
          </p:cNvSpPr>
          <p:nvPr>
            <p:ph idx="1"/>
          </p:nvPr>
        </p:nvSpPr>
        <p:spPr/>
        <p:txBody>
          <a:bodyPr/>
          <a:lstStyle/>
          <a:p>
            <a:r>
              <a:rPr dirty="0"/>
              <a:t>Data modification</a:t>
            </a:r>
          </a:p>
          <a:p>
            <a:r>
              <a:rPr dirty="0"/>
              <a:t>Masquerade</a:t>
            </a:r>
          </a:p>
          <a:p>
            <a:r>
              <a:rPr dirty="0"/>
              <a:t>Replay</a:t>
            </a:r>
          </a:p>
          <a:p>
            <a:r>
              <a:rPr dirty="0"/>
              <a:t>Denial of Service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13B92-4D3C-2391-4159-EA1465C1CECB}"/>
              </a:ext>
            </a:extLst>
          </p:cNvPr>
          <p:cNvSpPr>
            <a:spLocks noGrp="1"/>
          </p:cNvSpPr>
          <p:nvPr>
            <p:ph type="title"/>
          </p:nvPr>
        </p:nvSpPr>
        <p:spPr/>
        <p:txBody>
          <a:bodyPr/>
          <a:lstStyle/>
          <a:p>
            <a:r>
              <a:rPr lang="en-US" dirty="0"/>
              <a:t>Malware</a:t>
            </a:r>
          </a:p>
        </p:txBody>
      </p:sp>
      <p:sp>
        <p:nvSpPr>
          <p:cNvPr id="3" name="Content Placeholder 2">
            <a:extLst>
              <a:ext uri="{FF2B5EF4-FFF2-40B4-BE49-F238E27FC236}">
                <a16:creationId xmlns:a16="http://schemas.microsoft.com/office/drawing/2014/main" id="{754ABE34-7CF0-9F4C-B796-6C53A7378134}"/>
              </a:ext>
            </a:extLst>
          </p:cNvPr>
          <p:cNvSpPr>
            <a:spLocks noGrp="1"/>
          </p:cNvSpPr>
          <p:nvPr>
            <p:ph idx="1"/>
          </p:nvPr>
        </p:nvSpPr>
        <p:spPr/>
        <p:txBody>
          <a:bodyPr/>
          <a:lstStyle/>
          <a:p>
            <a:pPr algn="just"/>
            <a:r>
              <a:rPr lang="en-US" b="1" dirty="0"/>
              <a:t>Malware</a:t>
            </a:r>
            <a:r>
              <a:rPr lang="en-US" dirty="0"/>
              <a:t> (short for </a:t>
            </a:r>
            <a:r>
              <a:rPr lang="en-US" i="1" dirty="0"/>
              <a:t>malicious software</a:t>
            </a:r>
            <a:r>
              <a:rPr lang="en-US" dirty="0"/>
              <a:t>) is any software intentionally designed to infiltrate, damage, disrupt, or gain unauthorized access to computer systems, networks, or data.</a:t>
            </a:r>
          </a:p>
          <a:p>
            <a:pPr algn="just"/>
            <a:r>
              <a:rPr lang="en-US" dirty="0"/>
              <a:t>It is one of the primary threats addressed in Cyber Security.</a:t>
            </a:r>
          </a:p>
          <a:p>
            <a:endParaRPr lang="en-US" dirty="0"/>
          </a:p>
        </p:txBody>
      </p:sp>
    </p:spTree>
    <p:extLst>
      <p:ext uri="{BB962C8B-B14F-4D97-AF65-F5344CB8AC3E}">
        <p14:creationId xmlns:p14="http://schemas.microsoft.com/office/powerpoint/2010/main" val="693823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829C4-F2C2-B02F-20EF-26791B4DD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A88BB-77C6-A441-2734-145D5168E707}"/>
              </a:ext>
            </a:extLst>
          </p:cNvPr>
          <p:cNvSpPr>
            <a:spLocks noGrp="1"/>
          </p:cNvSpPr>
          <p:nvPr>
            <p:ph type="title"/>
          </p:nvPr>
        </p:nvSpPr>
        <p:spPr/>
        <p:txBody>
          <a:bodyPr/>
          <a:lstStyle/>
          <a:p>
            <a:r>
              <a:rPr lang="en-US" dirty="0"/>
              <a:t>Malware</a:t>
            </a:r>
          </a:p>
        </p:txBody>
      </p:sp>
      <p:sp>
        <p:nvSpPr>
          <p:cNvPr id="3" name="Content Placeholder 2">
            <a:extLst>
              <a:ext uri="{FF2B5EF4-FFF2-40B4-BE49-F238E27FC236}">
                <a16:creationId xmlns:a16="http://schemas.microsoft.com/office/drawing/2014/main" id="{9244A250-F00F-2C3C-6F1B-880A7F48DCB5}"/>
              </a:ext>
            </a:extLst>
          </p:cNvPr>
          <p:cNvSpPr>
            <a:spLocks noGrp="1"/>
          </p:cNvSpPr>
          <p:nvPr>
            <p:ph idx="1"/>
          </p:nvPr>
        </p:nvSpPr>
        <p:spPr/>
        <p:txBody>
          <a:bodyPr/>
          <a:lstStyle/>
          <a:p>
            <a:pPr marL="0" indent="0">
              <a:buNone/>
            </a:pPr>
            <a:r>
              <a:rPr lang="en-US" dirty="0"/>
              <a:t>Malware can:</a:t>
            </a:r>
          </a:p>
          <a:p>
            <a:pPr marL="0" indent="0">
              <a:buNone/>
            </a:pPr>
            <a:endParaRPr lang="en-US" dirty="0"/>
          </a:p>
          <a:p>
            <a:pPr lvl="1"/>
            <a:r>
              <a:rPr lang="en-US" dirty="0"/>
              <a:t>Steal sensitive information</a:t>
            </a:r>
          </a:p>
          <a:p>
            <a:pPr lvl="1"/>
            <a:r>
              <a:rPr lang="en-US" dirty="0"/>
              <a:t>Encrypt files for ransom</a:t>
            </a:r>
          </a:p>
          <a:p>
            <a:pPr lvl="1"/>
            <a:r>
              <a:rPr lang="en-US" dirty="0"/>
              <a:t>Spy on users</a:t>
            </a:r>
          </a:p>
          <a:p>
            <a:pPr lvl="1"/>
            <a:r>
              <a:rPr lang="en-US" dirty="0"/>
              <a:t>Disrupt operations</a:t>
            </a:r>
          </a:p>
          <a:p>
            <a:pPr lvl="1"/>
            <a:r>
              <a:rPr lang="en-US" dirty="0"/>
              <a:t>Take control of entire networks</a:t>
            </a:r>
          </a:p>
          <a:p>
            <a:endParaRPr lang="en-US" dirty="0"/>
          </a:p>
        </p:txBody>
      </p:sp>
    </p:spTree>
    <p:extLst>
      <p:ext uri="{BB962C8B-B14F-4D97-AF65-F5344CB8AC3E}">
        <p14:creationId xmlns:p14="http://schemas.microsoft.com/office/powerpoint/2010/main" val="2403205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83729-60E8-6DB6-88C6-3E2A35C23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658AD-5CD1-9728-82BB-7860F830D78F}"/>
              </a:ext>
            </a:extLst>
          </p:cNvPr>
          <p:cNvSpPr>
            <a:spLocks noGrp="1"/>
          </p:cNvSpPr>
          <p:nvPr>
            <p:ph type="title"/>
          </p:nvPr>
        </p:nvSpPr>
        <p:spPr/>
        <p:txBody>
          <a:bodyPr/>
          <a:lstStyle/>
          <a:p>
            <a:r>
              <a:rPr lang="en-US" dirty="0"/>
              <a:t>Types of Malware</a:t>
            </a:r>
          </a:p>
        </p:txBody>
      </p:sp>
      <p:sp>
        <p:nvSpPr>
          <p:cNvPr id="3" name="Content Placeholder 2">
            <a:extLst>
              <a:ext uri="{FF2B5EF4-FFF2-40B4-BE49-F238E27FC236}">
                <a16:creationId xmlns:a16="http://schemas.microsoft.com/office/drawing/2014/main" id="{9A0C0582-5FAC-96DC-2789-8AED42876FE4}"/>
              </a:ext>
            </a:extLst>
          </p:cNvPr>
          <p:cNvSpPr>
            <a:spLocks noGrp="1"/>
          </p:cNvSpPr>
          <p:nvPr>
            <p:ph idx="1"/>
          </p:nvPr>
        </p:nvSpPr>
        <p:spPr/>
        <p:txBody>
          <a:bodyPr/>
          <a:lstStyle/>
          <a:p>
            <a:pPr marL="0" indent="0">
              <a:buNone/>
            </a:pPr>
            <a:r>
              <a:rPr lang="en-US" b="1" dirty="0"/>
              <a:t>Virus</a:t>
            </a:r>
          </a:p>
          <a:p>
            <a:r>
              <a:rPr lang="en-US" dirty="0"/>
              <a:t>Attaches to legitimate files</a:t>
            </a:r>
          </a:p>
          <a:p>
            <a:r>
              <a:rPr lang="en-US" dirty="0"/>
              <a:t>Spreads when the infected file runs</a:t>
            </a:r>
          </a:p>
          <a:p>
            <a:r>
              <a:rPr lang="en-US" dirty="0"/>
              <a:t>Requires human action</a:t>
            </a:r>
          </a:p>
          <a:p>
            <a:pPr marL="0" indent="0">
              <a:buNone/>
            </a:pPr>
            <a:r>
              <a:rPr lang="en-US" b="1" dirty="0"/>
              <a:t>Worm</a:t>
            </a:r>
          </a:p>
          <a:p>
            <a:r>
              <a:rPr lang="en-US" dirty="0"/>
              <a:t>Self-replicating</a:t>
            </a:r>
          </a:p>
          <a:p>
            <a:r>
              <a:rPr lang="en-US" dirty="0"/>
              <a:t>Spreads automatically across networks</a:t>
            </a:r>
          </a:p>
          <a:p>
            <a:r>
              <a:rPr lang="en-US" dirty="0"/>
              <a:t>Does not require user interaction</a:t>
            </a:r>
          </a:p>
          <a:p>
            <a:endParaRPr lang="en-US" dirty="0"/>
          </a:p>
        </p:txBody>
      </p:sp>
    </p:spTree>
    <p:extLst>
      <p:ext uri="{BB962C8B-B14F-4D97-AF65-F5344CB8AC3E}">
        <p14:creationId xmlns:p14="http://schemas.microsoft.com/office/powerpoint/2010/main" val="3507678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99EDA-4EE3-9F7C-3A46-D19C7E252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0F236-CDFF-A9A7-7C12-6FE3E106CE6E}"/>
              </a:ext>
            </a:extLst>
          </p:cNvPr>
          <p:cNvSpPr>
            <a:spLocks noGrp="1"/>
          </p:cNvSpPr>
          <p:nvPr>
            <p:ph type="title"/>
          </p:nvPr>
        </p:nvSpPr>
        <p:spPr/>
        <p:txBody>
          <a:bodyPr/>
          <a:lstStyle/>
          <a:p>
            <a:r>
              <a:rPr lang="en-US" dirty="0"/>
              <a:t>Types of Malware</a:t>
            </a:r>
          </a:p>
        </p:txBody>
      </p:sp>
      <p:sp>
        <p:nvSpPr>
          <p:cNvPr id="3" name="Content Placeholder 2">
            <a:extLst>
              <a:ext uri="{FF2B5EF4-FFF2-40B4-BE49-F238E27FC236}">
                <a16:creationId xmlns:a16="http://schemas.microsoft.com/office/drawing/2014/main" id="{240FB830-A27E-1FF8-0AF5-2FFEEDB95719}"/>
              </a:ext>
            </a:extLst>
          </p:cNvPr>
          <p:cNvSpPr>
            <a:spLocks noGrp="1"/>
          </p:cNvSpPr>
          <p:nvPr>
            <p:ph idx="1"/>
          </p:nvPr>
        </p:nvSpPr>
        <p:spPr/>
        <p:txBody>
          <a:bodyPr/>
          <a:lstStyle/>
          <a:p>
            <a:pPr marL="0" indent="0">
              <a:buNone/>
            </a:pPr>
            <a:r>
              <a:rPr lang="en-US" b="1" dirty="0"/>
              <a:t>Trojan Horse</a:t>
            </a:r>
          </a:p>
          <a:p>
            <a:r>
              <a:rPr lang="en-US" dirty="0"/>
              <a:t>Disguised as legitimate software</a:t>
            </a:r>
          </a:p>
          <a:p>
            <a:r>
              <a:rPr lang="en-US" dirty="0"/>
              <a:t>Creates backdoors for attackers</a:t>
            </a:r>
          </a:p>
          <a:p>
            <a:pPr marL="0" indent="0">
              <a:buNone/>
            </a:pPr>
            <a:r>
              <a:rPr lang="en-US" b="1" dirty="0"/>
              <a:t>Ransomware</a:t>
            </a:r>
          </a:p>
          <a:p>
            <a:r>
              <a:rPr lang="en-US" dirty="0"/>
              <a:t>Encrypts files</a:t>
            </a:r>
          </a:p>
          <a:p>
            <a:r>
              <a:rPr lang="en-US" dirty="0"/>
              <a:t>Demands payment for decryption</a:t>
            </a:r>
          </a:p>
        </p:txBody>
      </p:sp>
    </p:spTree>
    <p:extLst>
      <p:ext uri="{BB962C8B-B14F-4D97-AF65-F5344CB8AC3E}">
        <p14:creationId xmlns:p14="http://schemas.microsoft.com/office/powerpoint/2010/main" val="727985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AA91-4CA5-F734-3ECB-B348A4581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E3312-3F57-047A-1515-1CF97204C163}"/>
              </a:ext>
            </a:extLst>
          </p:cNvPr>
          <p:cNvSpPr>
            <a:spLocks noGrp="1"/>
          </p:cNvSpPr>
          <p:nvPr>
            <p:ph type="title"/>
          </p:nvPr>
        </p:nvSpPr>
        <p:spPr/>
        <p:txBody>
          <a:bodyPr/>
          <a:lstStyle/>
          <a:p>
            <a:r>
              <a:rPr lang="en-US" dirty="0"/>
              <a:t>Types of Malware</a:t>
            </a:r>
          </a:p>
        </p:txBody>
      </p:sp>
      <p:sp>
        <p:nvSpPr>
          <p:cNvPr id="3" name="Content Placeholder 2">
            <a:extLst>
              <a:ext uri="{FF2B5EF4-FFF2-40B4-BE49-F238E27FC236}">
                <a16:creationId xmlns:a16="http://schemas.microsoft.com/office/drawing/2014/main" id="{23636FC8-F68C-58C1-462D-F4F3C407AD69}"/>
              </a:ext>
            </a:extLst>
          </p:cNvPr>
          <p:cNvSpPr>
            <a:spLocks noGrp="1"/>
          </p:cNvSpPr>
          <p:nvPr>
            <p:ph idx="1"/>
          </p:nvPr>
        </p:nvSpPr>
        <p:spPr/>
        <p:txBody>
          <a:bodyPr>
            <a:normAutofit lnSpcReduction="10000"/>
          </a:bodyPr>
          <a:lstStyle/>
          <a:p>
            <a:pPr marL="0" indent="0">
              <a:buNone/>
            </a:pPr>
            <a:r>
              <a:rPr lang="en-US" b="1" dirty="0"/>
              <a:t>Spyware</a:t>
            </a:r>
          </a:p>
          <a:p>
            <a:r>
              <a:rPr lang="en-US" dirty="0"/>
              <a:t>Monitors user activity</a:t>
            </a:r>
          </a:p>
          <a:p>
            <a:r>
              <a:rPr lang="en-US" dirty="0"/>
              <a:t>Steals passwords and financial data</a:t>
            </a:r>
          </a:p>
          <a:p>
            <a:pPr marL="0" indent="0">
              <a:buNone/>
            </a:pPr>
            <a:r>
              <a:rPr lang="en-US" b="1" dirty="0"/>
              <a:t>Adware</a:t>
            </a:r>
          </a:p>
          <a:p>
            <a:r>
              <a:rPr lang="en-US" dirty="0"/>
              <a:t>Displays unwanted advertisements</a:t>
            </a:r>
          </a:p>
          <a:p>
            <a:r>
              <a:rPr lang="en-US" dirty="0"/>
              <a:t>May track user behavior</a:t>
            </a:r>
          </a:p>
          <a:p>
            <a:pPr marL="0" indent="0">
              <a:buNone/>
            </a:pPr>
            <a:r>
              <a:rPr lang="en-US" b="1" dirty="0"/>
              <a:t>Rootkit</a:t>
            </a:r>
          </a:p>
          <a:p>
            <a:r>
              <a:rPr lang="en-US" dirty="0"/>
              <a:t>Hides malicious activity</a:t>
            </a:r>
          </a:p>
          <a:p>
            <a:r>
              <a:rPr lang="en-US" dirty="0"/>
              <a:t>Provides stealth access to attackers</a:t>
            </a:r>
          </a:p>
        </p:txBody>
      </p:sp>
    </p:spTree>
    <p:extLst>
      <p:ext uri="{BB962C8B-B14F-4D97-AF65-F5344CB8AC3E}">
        <p14:creationId xmlns:p14="http://schemas.microsoft.com/office/powerpoint/2010/main" val="3275875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3A59D-CA6B-5905-ABC3-5928C70DC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EEE26-62BB-6906-9EC3-D619DECC2264}"/>
              </a:ext>
            </a:extLst>
          </p:cNvPr>
          <p:cNvSpPr>
            <a:spLocks noGrp="1"/>
          </p:cNvSpPr>
          <p:nvPr>
            <p:ph type="title"/>
          </p:nvPr>
        </p:nvSpPr>
        <p:spPr/>
        <p:txBody>
          <a:bodyPr/>
          <a:lstStyle/>
          <a:p>
            <a:r>
              <a:rPr lang="en-US" dirty="0"/>
              <a:t>How Malware Spread</a:t>
            </a:r>
          </a:p>
        </p:txBody>
      </p:sp>
      <p:sp>
        <p:nvSpPr>
          <p:cNvPr id="3" name="Content Placeholder 2">
            <a:extLst>
              <a:ext uri="{FF2B5EF4-FFF2-40B4-BE49-F238E27FC236}">
                <a16:creationId xmlns:a16="http://schemas.microsoft.com/office/drawing/2014/main" id="{502BE2FC-5895-0AA2-F003-38239D0FB794}"/>
              </a:ext>
            </a:extLst>
          </p:cNvPr>
          <p:cNvSpPr>
            <a:spLocks noGrp="1"/>
          </p:cNvSpPr>
          <p:nvPr>
            <p:ph idx="1"/>
          </p:nvPr>
        </p:nvSpPr>
        <p:spPr/>
        <p:txBody>
          <a:bodyPr>
            <a:normAutofit/>
          </a:bodyPr>
          <a:lstStyle/>
          <a:p>
            <a:r>
              <a:rPr lang="en-US" dirty="0"/>
              <a:t>Phishing emails</a:t>
            </a:r>
          </a:p>
          <a:p>
            <a:r>
              <a:rPr lang="en-US" dirty="0"/>
              <a:t>Infected USB drives</a:t>
            </a:r>
          </a:p>
          <a:p>
            <a:r>
              <a:rPr lang="en-US" dirty="0"/>
              <a:t>Malicious websites</a:t>
            </a:r>
          </a:p>
          <a:p>
            <a:r>
              <a:rPr lang="en-US" dirty="0"/>
              <a:t>Software vulnerabilities</a:t>
            </a:r>
          </a:p>
          <a:p>
            <a:r>
              <a:rPr lang="en-US" dirty="0"/>
              <a:t>Drive-by downloads</a:t>
            </a:r>
          </a:p>
        </p:txBody>
      </p:sp>
    </p:spTree>
    <p:extLst>
      <p:ext uri="{BB962C8B-B14F-4D97-AF65-F5344CB8AC3E}">
        <p14:creationId xmlns:p14="http://schemas.microsoft.com/office/powerpoint/2010/main" val="3256794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331-FC4E-0E5A-039B-269D29608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4B5EE-B57F-EC02-F4FD-C6AD4DF86B98}"/>
              </a:ext>
            </a:extLst>
          </p:cNvPr>
          <p:cNvSpPr>
            <a:spLocks noGrp="1"/>
          </p:cNvSpPr>
          <p:nvPr>
            <p:ph type="title"/>
          </p:nvPr>
        </p:nvSpPr>
        <p:spPr/>
        <p:txBody>
          <a:bodyPr/>
          <a:lstStyle/>
          <a:p>
            <a:r>
              <a:rPr lang="en-US" dirty="0"/>
              <a:t>Protection Mechanism</a:t>
            </a:r>
          </a:p>
        </p:txBody>
      </p:sp>
      <p:sp>
        <p:nvSpPr>
          <p:cNvPr id="3" name="Content Placeholder 2">
            <a:extLst>
              <a:ext uri="{FF2B5EF4-FFF2-40B4-BE49-F238E27FC236}">
                <a16:creationId xmlns:a16="http://schemas.microsoft.com/office/drawing/2014/main" id="{32603704-2439-4141-702A-0E4810B028F3}"/>
              </a:ext>
            </a:extLst>
          </p:cNvPr>
          <p:cNvSpPr>
            <a:spLocks noGrp="1"/>
          </p:cNvSpPr>
          <p:nvPr>
            <p:ph idx="1"/>
          </p:nvPr>
        </p:nvSpPr>
        <p:spPr/>
        <p:txBody>
          <a:bodyPr>
            <a:normAutofit/>
          </a:bodyPr>
          <a:lstStyle/>
          <a:p>
            <a:r>
              <a:rPr lang="en-US" dirty="0"/>
              <a:t>Antivirus and Endpoint Detection &amp; Response(EDR)</a:t>
            </a:r>
          </a:p>
          <a:p>
            <a:r>
              <a:rPr lang="en-US" dirty="0"/>
              <a:t>Firewalls</a:t>
            </a:r>
          </a:p>
          <a:p>
            <a:r>
              <a:rPr lang="en-US" dirty="0"/>
              <a:t>Intrusion Detection Systems (IDS)</a:t>
            </a:r>
          </a:p>
          <a:p>
            <a:r>
              <a:rPr lang="en-US" dirty="0"/>
              <a:t>Regular patching </a:t>
            </a:r>
          </a:p>
          <a:p>
            <a:r>
              <a:rPr lang="en-US" dirty="0"/>
              <a:t>Secure coding practices</a:t>
            </a:r>
          </a:p>
          <a:p>
            <a:r>
              <a:rPr lang="en-US" dirty="0"/>
              <a:t>AI-based anomaly detection</a:t>
            </a:r>
          </a:p>
        </p:txBody>
      </p:sp>
    </p:spTree>
    <p:extLst>
      <p:ext uri="{BB962C8B-B14F-4D97-AF65-F5344CB8AC3E}">
        <p14:creationId xmlns:p14="http://schemas.microsoft.com/office/powerpoint/2010/main" val="4252080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rPr dirty="0"/>
              <a:t> CIA is foundation</a:t>
            </a:r>
          </a:p>
          <a:p>
            <a:r>
              <a:rPr dirty="0"/>
              <a:t> Understand threats &amp; vulnerabilities</a:t>
            </a:r>
          </a:p>
          <a:p>
            <a:r>
              <a:rPr dirty="0"/>
              <a:t>Services protect communication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a:t>
            </a:r>
            <a:endParaRPr dirty="0"/>
          </a:p>
        </p:txBody>
      </p:sp>
      <p:sp>
        <p:nvSpPr>
          <p:cNvPr id="3" name="Content Placeholder 2"/>
          <p:cNvSpPr>
            <a:spLocks noGrp="1"/>
          </p:cNvSpPr>
          <p:nvPr>
            <p:ph idx="1"/>
          </p:nvPr>
        </p:nvSpPr>
        <p:spPr/>
        <p:txBody>
          <a:bodyPr/>
          <a:lstStyle/>
          <a:p>
            <a:r>
              <a:rPr lang="en-US" dirty="0"/>
              <a:t>Slides prepared by Ms. </a:t>
            </a:r>
            <a:r>
              <a:rPr lang="en-US" dirty="0" err="1"/>
              <a:t>Mahek</a:t>
            </a:r>
            <a:r>
              <a:rPr lang="en-US" dirty="0"/>
              <a:t> </a:t>
            </a:r>
            <a:r>
              <a:rPr lang="en-US" dirty="0" err="1"/>
              <a:t>Kausar</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419</TotalTime>
  <Words>1430</Words>
  <Application>Microsoft Macintosh PowerPoint</Application>
  <PresentationFormat>On-screen Show (4:3)</PresentationFormat>
  <Paragraphs>294</Paragraphs>
  <Slides>34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Century Gothic</vt:lpstr>
      <vt:lpstr>Times New Roman</vt:lpstr>
      <vt:lpstr>Wingdings</vt:lpstr>
      <vt:lpstr>Wingdings 3</vt:lpstr>
      <vt:lpstr>Ion Boardroom</vt:lpstr>
      <vt:lpstr>      Cyber Security      Week-1              Semester- Spring 2026</vt:lpstr>
      <vt:lpstr>Instructor Contact Details  </vt:lpstr>
      <vt:lpstr>Course Objectives</vt:lpstr>
      <vt:lpstr>Security Motivation Factors</vt:lpstr>
      <vt:lpstr>Introduction to Cyber Security</vt:lpstr>
      <vt:lpstr>Introduction to Cyber Security</vt:lpstr>
      <vt:lpstr>Importance of Cyber Security</vt:lpstr>
      <vt:lpstr>The History of Information Security</vt:lpstr>
      <vt:lpstr>What is Security?</vt:lpstr>
      <vt:lpstr>What is Security? (cont’d.)‏</vt:lpstr>
      <vt:lpstr>Motivation</vt:lpstr>
      <vt:lpstr>Basics of Information Security</vt:lpstr>
      <vt:lpstr>What is Information Security?</vt:lpstr>
      <vt:lpstr>Goals of Information Security</vt:lpstr>
      <vt:lpstr>CIA Triad Overview</vt:lpstr>
      <vt:lpstr>Confidentiality</vt:lpstr>
      <vt:lpstr>Integrity</vt:lpstr>
      <vt:lpstr>Availability</vt:lpstr>
      <vt:lpstr>Components of an Information System</vt:lpstr>
      <vt:lpstr>Basic Terminologies (Part 1)</vt:lpstr>
      <vt:lpstr>Threats</vt:lpstr>
      <vt:lpstr>Vulnerabilities</vt:lpstr>
      <vt:lpstr>Types of Security Attacks</vt:lpstr>
      <vt:lpstr>Passive Attacks</vt:lpstr>
      <vt:lpstr>Active Attacks</vt:lpstr>
      <vt:lpstr>Malware</vt:lpstr>
      <vt:lpstr>Malware</vt:lpstr>
      <vt:lpstr>Types of Malware</vt:lpstr>
      <vt:lpstr>Types of Malware</vt:lpstr>
      <vt:lpstr>Types of Malware</vt:lpstr>
      <vt:lpstr>How Malware Spread</vt:lpstr>
      <vt:lpstr>Protection Mechanism</vt:lpstr>
      <vt:lpstr>Summary</vt:lpstr>
      <vt:lpstr>Acknowledgement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CS-Cyber Security      Week-1  Lecture-1            Semester- Spring 2026</dc:title>
  <dc:subject/>
  <dc:creator>Mahek Kausar</dc:creator>
  <cp:keywords/>
  <dc:description>generated using python-pptx</dc:description>
  <cp:lastModifiedBy>Muhammad Bilal Khan</cp:lastModifiedBy>
  <cp:revision>25</cp:revision>
  <dcterms:created xsi:type="dcterms:W3CDTF">2013-01-27T09:14:16Z</dcterms:created>
  <dcterms:modified xsi:type="dcterms:W3CDTF">2026-02-25T04:42:01Z</dcterms:modified>
  <cp:category/>
</cp:coreProperties>
</file>