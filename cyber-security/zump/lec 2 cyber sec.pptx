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6" r:id="rId2"/>
    <p:sldId id="294" r:id="rId3"/>
    <p:sldId id="316" r:id="rId4"/>
    <p:sldId id="317" r:id="rId5"/>
    <p:sldId id="318" r:id="rId6"/>
    <p:sldId id="319" r:id="rId7"/>
    <p:sldId id="332" r:id="rId8"/>
    <p:sldId id="333" r:id="rId9"/>
    <p:sldId id="334" r:id="rId10"/>
    <p:sldId id="335" r:id="rId11"/>
    <p:sldId id="320" r:id="rId12"/>
    <p:sldId id="321" r:id="rId13"/>
    <p:sldId id="330" r:id="rId14"/>
    <p:sldId id="322" r:id="rId15"/>
    <p:sldId id="323" r:id="rId16"/>
    <p:sldId id="329" r:id="rId17"/>
    <p:sldId id="324" r:id="rId18"/>
    <p:sldId id="325" r:id="rId19"/>
    <p:sldId id="331" r:id="rId20"/>
    <p:sldId id="326" r:id="rId21"/>
    <p:sldId id="327" r:id="rId22"/>
    <p:sldId id="328" r:id="rId23"/>
    <p:sldId id="336" r:id="rId24"/>
    <p:sldId id="27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5061" autoAdjust="0"/>
  </p:normalViewPr>
  <p:slideViewPr>
    <p:cSldViewPr snapToGrid="0" snapToObjects="1">
      <p:cViewPr varScale="1">
        <p:scale>
          <a:sx n="95" d="100"/>
          <a:sy n="95" d="100"/>
        </p:scale>
        <p:origin x="212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325D-236B-4F03-BA94-913479B19245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0B9C-8593-45BF-B5DF-D540ED82B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2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7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7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1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8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2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4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7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9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CS-</a:t>
            </a:r>
            <a:r>
              <a:rPr lang="en-US" sz="3300" dirty="0"/>
              <a:t>Cyber Security</a:t>
            </a:r>
            <a:br>
              <a:rPr lang="en-US" sz="3300" dirty="0"/>
            </a:br>
            <a:r>
              <a:rPr lang="en-US" sz="3300" dirty="0"/>
              <a:t>					Week-2		Lecture-2</a:t>
            </a:r>
            <a:br>
              <a:rPr lang="en-US" sz="3300" dirty="0"/>
            </a:br>
            <a:r>
              <a:rPr lang="en-US" sz="3300" dirty="0"/>
              <a:t>											</a:t>
            </a:r>
            <a:r>
              <a:rPr lang="en-US" sz="2100" dirty="0"/>
              <a:t>Semester- Spring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" y="925013"/>
            <a:ext cx="1428750" cy="14287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B861C-24A8-47D2-986E-48118210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9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 to Computer System Threats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computer system threat</a:t>
            </a:r>
            <a:r>
              <a:rPr lang="en-US" sz="2000" dirty="0"/>
              <a:t> is any potential danger that can exploit vulnerabilities in a system and compromise its </a:t>
            </a:r>
            <a:r>
              <a:rPr lang="en-US" sz="2000" b="1" dirty="0"/>
              <a:t>confidentiality, integrity, or availability (CIA triad)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Computer threats target:</a:t>
            </a:r>
          </a:p>
          <a:p>
            <a:pPr lvl="1"/>
            <a:r>
              <a:rPr lang="en-US" sz="1800" dirty="0"/>
              <a:t>Hardware</a:t>
            </a:r>
          </a:p>
          <a:p>
            <a:pPr lvl="1"/>
            <a:r>
              <a:rPr lang="en-US" sz="1800" dirty="0"/>
              <a:t>Software</a:t>
            </a:r>
          </a:p>
          <a:p>
            <a:pPr lvl="1"/>
            <a:r>
              <a:rPr lang="en-US" sz="1800" dirty="0"/>
              <a:t>Networks</a:t>
            </a:r>
          </a:p>
          <a:p>
            <a:pPr lvl="1"/>
            <a:r>
              <a:rPr lang="en-US" sz="1800" dirty="0"/>
              <a:t>Data</a:t>
            </a:r>
          </a:p>
          <a:p>
            <a:pPr lvl="1"/>
            <a:r>
              <a:rPr lang="en-US" sz="1800" dirty="0"/>
              <a:t>Users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F171C-D51C-4674-FDD0-6195013C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638" y="3727227"/>
            <a:ext cx="3659529" cy="244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7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3BA6-E16C-54AC-BA2D-DB67B18A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07EB-1F95-FFE8-0547-C79432A8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What is a Threat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2EC1-622A-E78D-69F1-094AAD79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threat</a:t>
            </a:r>
            <a:r>
              <a:rPr lang="en-US" sz="2000" dirty="0"/>
              <a:t> is a possible event that can cause harm to a computer system or organization.</a:t>
            </a:r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r>
              <a:rPr lang="en-US" sz="2000" dirty="0"/>
              <a:t>A hacker attempting to steal passwords</a:t>
            </a:r>
          </a:p>
          <a:p>
            <a:r>
              <a:rPr lang="en-US" sz="2000" dirty="0"/>
              <a:t>A virus corrupting files</a:t>
            </a:r>
          </a:p>
          <a:p>
            <a:r>
              <a:rPr lang="en-US" sz="2000" dirty="0"/>
              <a:t>A power failure damaging hardware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54CF-CC44-BF5E-E13E-530C2642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9E1B1-FD5A-7573-9C5A-8F2D3326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D66E9-CFBB-90FF-3EDF-055B5F88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79" y="4196617"/>
            <a:ext cx="27527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B640-4CCF-F07B-0595-1482400F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CE7E-F461-A1D5-FBBF-30CC7400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Relationship Between Threat, Vulnerability, and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299E-F448-466D-A1CC-A97114D8D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b="1" dirty="0"/>
              <a:t>Vulnerability</a:t>
            </a:r>
            <a:r>
              <a:rPr lang="en-US" sz="2000" dirty="0"/>
              <a:t> → Weakness in a system</a:t>
            </a:r>
          </a:p>
          <a:p>
            <a:r>
              <a:rPr lang="en-US" sz="2000" b="1" dirty="0"/>
              <a:t>Threat</a:t>
            </a:r>
            <a:r>
              <a:rPr lang="en-US" sz="2000" dirty="0"/>
              <a:t> → Potential danger</a:t>
            </a:r>
          </a:p>
          <a:p>
            <a:r>
              <a:rPr lang="en-US" sz="2000" b="1" dirty="0"/>
              <a:t>Attack</a:t>
            </a:r>
            <a:r>
              <a:rPr lang="en-US" sz="2000" dirty="0"/>
              <a:t> → Actual exploitation of vulnerability</a:t>
            </a:r>
          </a:p>
          <a:p>
            <a:r>
              <a:rPr lang="en-US" sz="2000" dirty="0"/>
              <a:t>Example:</a:t>
            </a:r>
            <a:br>
              <a:rPr lang="en-US" sz="2000" dirty="0"/>
            </a:br>
            <a:r>
              <a:rPr lang="en-US" sz="2000" dirty="0"/>
              <a:t>If a system has weak passwords (vulnerability), a hacker (threat) may perform brute-force login attempts (attack).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BFB47-346C-103E-F727-556573E6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36B23-7199-F801-8501-99BA0ABB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727AB-79D5-C238-8863-3907FAE8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974" y="4860095"/>
            <a:ext cx="2762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3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C631-63A8-F281-30EA-7EC694F6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D732-F37B-4E92-47A6-E74226FC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Computer System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BE4D-491B-0FC7-34A1-89A6897A2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b="1" dirty="0"/>
              <a:t>Internal Threats (Insider Threats)</a:t>
            </a:r>
          </a:p>
          <a:p>
            <a:pPr lvl="1"/>
            <a:r>
              <a:rPr lang="en-US" sz="1800" dirty="0"/>
              <a:t>These originate from within the organization.</a:t>
            </a:r>
          </a:p>
          <a:p>
            <a:r>
              <a:rPr lang="en-US" sz="2000" b="1" dirty="0"/>
              <a:t>Sources:</a:t>
            </a:r>
          </a:p>
          <a:p>
            <a:pPr lvl="1"/>
            <a:r>
              <a:rPr lang="en-US" sz="1800" dirty="0"/>
              <a:t>Employees</a:t>
            </a:r>
          </a:p>
          <a:p>
            <a:pPr lvl="1"/>
            <a:r>
              <a:rPr lang="en-US" sz="1800" dirty="0"/>
              <a:t>Administrators</a:t>
            </a:r>
          </a:p>
          <a:p>
            <a:pPr lvl="1"/>
            <a:r>
              <a:rPr lang="en-US" sz="1800" dirty="0"/>
              <a:t>Contractors</a:t>
            </a:r>
          </a:p>
          <a:p>
            <a:pPr lvl="1"/>
            <a:r>
              <a:rPr lang="en-US" sz="1800" dirty="0"/>
              <a:t>Business partners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0A406-F985-52E9-D4E5-EDF169AA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5251-8E35-6EB6-57AC-A90634FF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2AC38-2CD9-8A08-CEFF-CD899EC7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89DE-FDF1-66C0-0607-E08163A8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Computer System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99DB-70D5-1B76-E4FC-6C95FDB9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b="1" dirty="0"/>
              <a:t>Types:</a:t>
            </a:r>
          </a:p>
          <a:p>
            <a:pPr marL="0" indent="0">
              <a:buNone/>
            </a:pPr>
            <a:endParaRPr lang="en-US" sz="2000" b="1" dirty="0"/>
          </a:p>
          <a:p>
            <a:pPr lvl="1"/>
            <a:r>
              <a:rPr lang="en-US" sz="1800" b="1" dirty="0"/>
              <a:t>Malicious Insider</a:t>
            </a:r>
            <a:r>
              <a:rPr lang="en-US" sz="1800" dirty="0"/>
              <a:t> – Intentionally steals or damages data.</a:t>
            </a:r>
          </a:p>
          <a:p>
            <a:pPr lvl="1"/>
            <a:r>
              <a:rPr lang="en-US" sz="1800" b="1" dirty="0"/>
              <a:t>Negligent Insider</a:t>
            </a:r>
            <a:r>
              <a:rPr lang="en-US" sz="1800" dirty="0"/>
              <a:t> – Accidentally exposes information.</a:t>
            </a:r>
          </a:p>
          <a:p>
            <a:pPr lvl="1"/>
            <a:r>
              <a:rPr lang="en-US" sz="1800" b="1" dirty="0"/>
              <a:t>Compromised Insider</a:t>
            </a:r>
            <a:r>
              <a:rPr lang="en-US" sz="1800" dirty="0"/>
              <a:t> – Account taken over by attacker.</a:t>
            </a:r>
          </a:p>
          <a:p>
            <a:pPr marL="402336" lvl="1" indent="0">
              <a:buNone/>
            </a:pPr>
            <a:endParaRPr lang="en-US" sz="1800" dirty="0"/>
          </a:p>
          <a:p>
            <a:r>
              <a:rPr lang="en-US" sz="2000" b="1" dirty="0"/>
              <a:t>Example:</a:t>
            </a:r>
          </a:p>
          <a:p>
            <a:pPr lvl="1"/>
            <a:r>
              <a:rPr lang="en-US" sz="1800" dirty="0"/>
              <a:t>An employee copying confidential data to a USB drive.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0DD44-7EBC-6801-D917-030A417A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EBB8F-9F9B-4464-7D01-0ABDC438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8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B598-69BB-C114-9C39-8678FDEE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1BF6-A0CA-AA3A-4469-852F37CB1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ABC University has a centralized server that stores:</a:t>
            </a:r>
          </a:p>
          <a:p>
            <a:pPr lvl="1"/>
            <a:r>
              <a:rPr lang="en-US" dirty="0"/>
              <a:t>Student records</a:t>
            </a:r>
          </a:p>
          <a:p>
            <a:pPr lvl="1"/>
            <a:r>
              <a:rPr lang="en-US" dirty="0"/>
              <a:t>Exam results</a:t>
            </a:r>
          </a:p>
          <a:p>
            <a:pPr lvl="1"/>
            <a:r>
              <a:rPr lang="en-US" dirty="0"/>
              <a:t>Payroll data</a:t>
            </a:r>
          </a:p>
          <a:p>
            <a:pPr lvl="1"/>
            <a:r>
              <a:rPr lang="en-US" dirty="0"/>
              <a:t>Research documents</a:t>
            </a:r>
          </a:p>
          <a:p>
            <a:pPr marL="0" indent="0" algn="just">
              <a:buNone/>
            </a:pPr>
            <a:r>
              <a:rPr lang="en-US" dirty="0"/>
              <a:t>Mr. Ali is a senior </a:t>
            </a:r>
            <a:r>
              <a:rPr lang="en-US" b="1" dirty="0"/>
              <a:t>system administrator</a:t>
            </a:r>
            <a:r>
              <a:rPr lang="en-US" dirty="0"/>
              <a:t> who has full access to the database. Recently, the university management announced budget cuts, and Mr. Ali feels unfairly treated after being denied a promotion.</a:t>
            </a:r>
          </a:p>
          <a:p>
            <a:pPr marL="0" indent="0">
              <a:buNone/>
            </a:pPr>
            <a:r>
              <a:rPr lang="en-US" dirty="0"/>
              <a:t>Two weeks later:</a:t>
            </a:r>
          </a:p>
          <a:p>
            <a:pPr lvl="1"/>
            <a:r>
              <a:rPr lang="en-US" dirty="0"/>
              <a:t>Some student grades are mysteriously modified.</a:t>
            </a:r>
          </a:p>
          <a:p>
            <a:pPr lvl="1"/>
            <a:r>
              <a:rPr lang="en-US" dirty="0"/>
              <a:t>Payroll data is leaked online.</a:t>
            </a:r>
          </a:p>
          <a:p>
            <a:pPr lvl="1"/>
            <a:r>
              <a:rPr lang="en-US" dirty="0"/>
              <a:t>Logs show access from Mr. Ali’s admin account at unusual hours.</a:t>
            </a:r>
          </a:p>
        </p:txBody>
      </p:sp>
    </p:spTree>
    <p:extLst>
      <p:ext uri="{BB962C8B-B14F-4D97-AF65-F5344CB8AC3E}">
        <p14:creationId xmlns:p14="http://schemas.microsoft.com/office/powerpoint/2010/main" val="1380368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FB7F-3AD9-FB23-0AA8-51F19A16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1EA9-447E-110E-258F-26D42A6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3C8D-6DE4-22DD-5FAB-29218D45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Identify the Threat</a:t>
            </a:r>
          </a:p>
          <a:p>
            <a:pPr lvl="1"/>
            <a:r>
              <a:rPr lang="en-US" dirty="0"/>
              <a:t>What type of threat is this?</a:t>
            </a:r>
          </a:p>
          <a:p>
            <a:pPr lvl="1"/>
            <a:r>
              <a:rPr lang="en-US" dirty="0"/>
              <a:t>Is this malicious, negligent, or compromised insider?</a:t>
            </a:r>
          </a:p>
          <a:p>
            <a:pPr lvl="1"/>
            <a:r>
              <a:rPr lang="en-US" dirty="0"/>
              <a:t>What vulnerabilities might have enabled this?</a:t>
            </a:r>
          </a:p>
          <a:p>
            <a:pPr marL="0" indent="0">
              <a:buNone/>
            </a:pPr>
            <a:r>
              <a:rPr lang="en-US" b="1" dirty="0"/>
              <a:t>Identify:</a:t>
            </a:r>
          </a:p>
          <a:p>
            <a:pPr lvl="1"/>
            <a:r>
              <a:rPr lang="en-US" b="1" dirty="0"/>
              <a:t>Asset</a:t>
            </a:r>
            <a:r>
              <a:rPr lang="en-US" dirty="0"/>
              <a:t> → What is being protected?</a:t>
            </a:r>
          </a:p>
          <a:p>
            <a:pPr lvl="1"/>
            <a:r>
              <a:rPr lang="en-US" b="1" dirty="0"/>
              <a:t>Threat Actor</a:t>
            </a:r>
            <a:r>
              <a:rPr lang="en-US" dirty="0"/>
              <a:t> → Who caused the incident?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 → Academic, financial, reputational damage?</a:t>
            </a:r>
          </a:p>
          <a:p>
            <a:pPr lvl="1"/>
            <a:r>
              <a:rPr lang="en-US" b="1" dirty="0"/>
              <a:t>Likelihood</a:t>
            </a:r>
            <a:r>
              <a:rPr lang="en-US" dirty="0"/>
              <a:t> → High / Medium / Low?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4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DBFA-D639-4158-0AE1-B9B026BC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56CE-12D5-E585-3136-AEC7B10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C0F9-2899-E95C-E3E4-75E17119D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Students must propose controls such as:</a:t>
            </a:r>
          </a:p>
          <a:p>
            <a:pPr lvl="1"/>
            <a:r>
              <a:rPr lang="en-US" dirty="0"/>
              <a:t>Role-Based Access Control (RBAC)</a:t>
            </a:r>
          </a:p>
          <a:p>
            <a:pPr lvl="1"/>
            <a:r>
              <a:rPr lang="en-US" dirty="0"/>
              <a:t>Least Privilege Principle</a:t>
            </a:r>
          </a:p>
          <a:p>
            <a:pPr lvl="1"/>
            <a:r>
              <a:rPr lang="en-US" dirty="0"/>
              <a:t>Multi-Factor Authentication (MFA)</a:t>
            </a:r>
          </a:p>
          <a:p>
            <a:pPr lvl="1"/>
            <a:r>
              <a:rPr lang="en-US" dirty="0"/>
              <a:t>Log monitoring and SIEM systems</a:t>
            </a:r>
          </a:p>
          <a:p>
            <a:pPr lvl="1"/>
            <a:r>
              <a:rPr lang="en-US" dirty="0"/>
              <a:t>Separation of duties</a:t>
            </a:r>
          </a:p>
          <a:p>
            <a:pPr lvl="1"/>
            <a:r>
              <a:rPr lang="en-US" dirty="0"/>
              <a:t>Regular audits</a:t>
            </a:r>
          </a:p>
          <a:p>
            <a:pPr marL="40233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26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75F3-FFE9-0B31-F77A-7C4E884C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6450-0C21-3432-6A96-7966580E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AE1354-23E9-2224-A73D-1FFC6684CA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382" y="3792835"/>
            <a:ext cx="59256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could this incident be detected earlier?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administrators have unlimited access?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insider threat differ from external hacking?</a:t>
            </a:r>
          </a:p>
        </p:txBody>
      </p:sp>
    </p:spTree>
    <p:extLst>
      <p:ext uri="{BB962C8B-B14F-4D97-AF65-F5344CB8AC3E}">
        <p14:creationId xmlns:p14="http://schemas.microsoft.com/office/powerpoint/2010/main" val="317687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0492-9E81-5337-BD70-432FE340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9233-12B6-C82C-3C9F-A519FA80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Computer System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E5F44-ED3B-519D-8572-5D69F3E1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/>
              <a:t>External Threats</a:t>
            </a:r>
          </a:p>
          <a:p>
            <a:pPr lvl="1"/>
            <a:r>
              <a:rPr lang="en-US" sz="1800" dirty="0"/>
              <a:t>These originate outside the organization.</a:t>
            </a:r>
          </a:p>
          <a:p>
            <a:r>
              <a:rPr lang="en-US" sz="2000" b="1" dirty="0"/>
              <a:t>Sources:</a:t>
            </a:r>
          </a:p>
          <a:p>
            <a:pPr lvl="1"/>
            <a:r>
              <a:rPr lang="en-US" sz="1800" dirty="0"/>
              <a:t>Hackers</a:t>
            </a:r>
          </a:p>
          <a:p>
            <a:pPr lvl="1"/>
            <a:r>
              <a:rPr lang="en-US" sz="1800" dirty="0"/>
              <a:t>Cybercriminal groups</a:t>
            </a:r>
          </a:p>
          <a:p>
            <a:pPr lvl="1"/>
            <a:r>
              <a:rPr lang="en-US" sz="1800" dirty="0"/>
              <a:t>Hacktivists</a:t>
            </a:r>
          </a:p>
          <a:p>
            <a:pPr lvl="1"/>
            <a:r>
              <a:rPr lang="en-US" sz="1800" dirty="0"/>
              <a:t>Nation-state actors</a:t>
            </a:r>
          </a:p>
          <a:p>
            <a:r>
              <a:rPr lang="en-US" sz="2000" b="1" dirty="0"/>
              <a:t>Example: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/>
              <a:t>WannaCry</a:t>
            </a:r>
            <a:r>
              <a:rPr lang="en-US" sz="1800" dirty="0"/>
              <a:t> attack spread globally and encrypted hospital and corporate systems.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7BC5D-21F1-2F44-D61A-9542594B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FBF12-FE1E-BDBA-39C5-47F710B6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53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680A-438E-D57D-3C39-F982A85F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E8B8C-D1EC-ACB2-0430-C443E0F5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4AF5F-B157-7283-1136-535549CC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DB5EAE-B8ED-D5B5-AF6C-19DB3379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7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7F5E-5C97-F5CE-CF0B-D7174371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C87D-F9DA-3B05-C554-3414B509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Attack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3EA0-3B4B-F3D9-20AF-CF1698C0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attack vector</a:t>
            </a:r>
            <a:r>
              <a:rPr lang="en-US" sz="2000" dirty="0"/>
              <a:t> is the path or method used by an attacker to gain unauthorized access.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sz="1800" b="1" dirty="0"/>
              <a:t>Common Attack Vectors:</a:t>
            </a:r>
          </a:p>
          <a:p>
            <a:pPr lvl="1"/>
            <a:r>
              <a:rPr lang="en-US" sz="1800" b="1" dirty="0"/>
              <a:t>Phishing Emails</a:t>
            </a:r>
            <a:endParaRPr lang="en-US" sz="1800" dirty="0"/>
          </a:p>
          <a:p>
            <a:pPr lvl="1"/>
            <a:r>
              <a:rPr lang="en-US" sz="1800" b="1" dirty="0"/>
              <a:t>Malicious Attachments</a:t>
            </a:r>
            <a:endParaRPr lang="en-US" sz="1800" dirty="0"/>
          </a:p>
          <a:p>
            <a:pPr lvl="1"/>
            <a:r>
              <a:rPr lang="en-US" sz="1800" b="1" dirty="0"/>
              <a:t>Infected Websites</a:t>
            </a:r>
            <a:endParaRPr lang="en-US" sz="1800" dirty="0"/>
          </a:p>
          <a:p>
            <a:pPr lvl="1"/>
            <a:r>
              <a:rPr lang="en-US" sz="1800" b="1" dirty="0"/>
              <a:t>Weak Passwords</a:t>
            </a:r>
            <a:endParaRPr lang="en-US" sz="1800" dirty="0"/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E3B66-35AE-1AF5-09BE-1A495B26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D67D-651A-B70E-8CE3-2223147F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151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DB0A-C3D8-DF9F-1F6E-AFC80ED6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0586-7687-C868-63B2-5A1F145F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Attack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113A8-6632-71E3-5742-6996F05F9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dirty="0"/>
              <a:t>Common Attack Vectors</a:t>
            </a:r>
          </a:p>
          <a:p>
            <a:pPr lvl="1"/>
            <a:r>
              <a:rPr lang="en-US" b="1" dirty="0"/>
              <a:t>Unpatched Software</a:t>
            </a:r>
            <a:endParaRPr lang="en-US" dirty="0"/>
          </a:p>
          <a:p>
            <a:pPr lvl="1"/>
            <a:r>
              <a:rPr lang="en-US" b="1" dirty="0"/>
              <a:t>Open Network Ports</a:t>
            </a:r>
            <a:endParaRPr lang="en-US" dirty="0"/>
          </a:p>
          <a:p>
            <a:pPr lvl="1"/>
            <a:r>
              <a:rPr lang="en-US" b="1" dirty="0"/>
              <a:t>USB Devices</a:t>
            </a:r>
            <a:endParaRPr lang="en-US" dirty="0"/>
          </a:p>
          <a:p>
            <a:pPr lvl="1"/>
            <a:r>
              <a:rPr lang="en-US" b="1" dirty="0"/>
              <a:t>Remote Desktop Exploitation</a:t>
            </a:r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SolarWinds supply chain attack</a:t>
            </a:r>
            <a:r>
              <a:rPr lang="en-US" dirty="0"/>
              <a:t> used a software update as an attack vector to compromise organizations.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739BD-D195-8359-897F-379318D5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AF86-F29B-D086-62DA-62C64115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805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FBC4-046C-E421-FCB1-C810B4FA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70C9-7F8D-2B44-DC71-1C2062EF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34A6-33EC-021F-2E33-0666A8CB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 Malware</a:t>
            </a:r>
          </a:p>
          <a:p>
            <a:pPr lvl="1"/>
            <a:r>
              <a:rPr lang="en-US" sz="1800" dirty="0"/>
              <a:t>Virus</a:t>
            </a:r>
          </a:p>
          <a:p>
            <a:pPr lvl="1"/>
            <a:r>
              <a:rPr lang="en-US" sz="1800" dirty="0"/>
              <a:t>Worm</a:t>
            </a:r>
          </a:p>
          <a:p>
            <a:pPr lvl="1"/>
            <a:r>
              <a:rPr lang="en-US" sz="1800" dirty="0"/>
              <a:t>Trojan</a:t>
            </a:r>
          </a:p>
          <a:p>
            <a:pPr lvl="1"/>
            <a:r>
              <a:rPr lang="en-US" sz="1800" dirty="0"/>
              <a:t>Spyware</a:t>
            </a:r>
          </a:p>
          <a:p>
            <a:pPr lvl="1"/>
            <a:r>
              <a:rPr lang="en-US" sz="1800" dirty="0"/>
              <a:t>Ransomware</a:t>
            </a:r>
          </a:p>
          <a:p>
            <a:pPr marL="0" indent="0">
              <a:buNone/>
            </a:pPr>
            <a:r>
              <a:rPr lang="en-US" sz="2000" b="1" dirty="0"/>
              <a:t>2. Phishing</a:t>
            </a:r>
          </a:p>
          <a:p>
            <a:pPr lvl="1"/>
            <a:r>
              <a:rPr lang="en-US" sz="1800" dirty="0"/>
              <a:t>Fraudulent communication pretending to be legitimate.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F57EE-B456-51F3-E6BD-8FF15A6D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C1149-4263-9AE3-1FD8-5247C642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04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9AFE-4574-6E11-874B-9ECB8A39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492A-2780-E40C-C1EA-201DCDA6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B33F0-6A48-B099-4BA3-BB8E461A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0C1D0-51D6-3772-233C-1E6D11AD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A18061-3376-87C0-94C6-C9C54B7C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8" y="0"/>
            <a:ext cx="915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56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6B6A-EC65-8F3D-2F68-87D6A9B9F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800F-41ED-6F4E-768A-9332B88F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FBC2-58E1-0BB6-FA0E-40B62CFD0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3. Ransomware</a:t>
            </a:r>
          </a:p>
          <a:p>
            <a:pPr lvl="1"/>
            <a:r>
              <a:rPr lang="en-US" sz="1800" dirty="0"/>
              <a:t>Encrypts files and demands payment.</a:t>
            </a:r>
          </a:p>
          <a:p>
            <a:pPr marL="0" indent="0">
              <a:buNone/>
            </a:pPr>
            <a:r>
              <a:rPr lang="en-US" sz="2000" b="1" dirty="0"/>
              <a:t>4. Password Attacks</a:t>
            </a:r>
          </a:p>
          <a:p>
            <a:pPr lvl="1"/>
            <a:r>
              <a:rPr lang="en-US" sz="1800" dirty="0"/>
              <a:t>Brute force</a:t>
            </a:r>
          </a:p>
          <a:p>
            <a:pPr lvl="1"/>
            <a:r>
              <a:rPr lang="en-US" sz="1800" dirty="0"/>
              <a:t>Dictionary attacks</a:t>
            </a:r>
          </a:p>
          <a:p>
            <a:pPr lvl="1"/>
            <a:r>
              <a:rPr lang="en-US" sz="1800" dirty="0"/>
              <a:t>Credential stuffing</a:t>
            </a:r>
          </a:p>
          <a:p>
            <a:pPr marL="0" indent="0">
              <a:buNone/>
            </a:pPr>
            <a:r>
              <a:rPr lang="en-US" sz="2000" b="1" dirty="0"/>
              <a:t>5. Man-in-the-Middle (MITM)</a:t>
            </a:r>
          </a:p>
          <a:p>
            <a:pPr lvl="1"/>
            <a:r>
              <a:rPr lang="en-US" sz="1800" dirty="0"/>
              <a:t>Intercepting communication between two parties.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632E9-0445-8B6E-00F9-6F94455A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A9590-D4E1-05FB-0826-94EFE42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0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A2EA-4745-2699-BED4-8C9F69CB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9A37-E9F9-9019-C02A-55E31322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9550-9F58-DEA1-C250-F318C963B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6. Zero-Day Exploits</a:t>
            </a:r>
          </a:p>
          <a:p>
            <a:pPr lvl="1"/>
            <a:r>
              <a:rPr lang="en-US" sz="1800" dirty="0"/>
              <a:t>Attacks exploiting unknown vulnerabilities.</a:t>
            </a:r>
          </a:p>
          <a:p>
            <a:pPr marL="0" indent="0">
              <a:buNone/>
            </a:pPr>
            <a:r>
              <a:rPr lang="en-US" sz="2000" b="1" dirty="0"/>
              <a:t>7. Botnets</a:t>
            </a:r>
          </a:p>
          <a:p>
            <a:pPr lvl="1"/>
            <a:r>
              <a:rPr lang="en-US" sz="1800" dirty="0"/>
              <a:t>Compromised devices controlled remotely.</a:t>
            </a:r>
          </a:p>
          <a:p>
            <a:pPr lvl="1"/>
            <a:r>
              <a:rPr lang="en-US" sz="1800" dirty="0"/>
              <a:t>Example:</a:t>
            </a:r>
            <a:br>
              <a:rPr lang="en-US" sz="1800" dirty="0"/>
            </a:br>
            <a:r>
              <a:rPr lang="en-US" sz="1800" dirty="0"/>
              <a:t>The </a:t>
            </a:r>
            <a:r>
              <a:rPr lang="en-US" sz="1800" b="1" dirty="0"/>
              <a:t>Mirai botnet attack</a:t>
            </a:r>
            <a:r>
              <a:rPr lang="en-US" sz="1800" dirty="0"/>
              <a:t> used IoT devices to launch large-scale DDoS attacks.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245CD-2D59-0989-2E45-029B1F76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D984-2163-3430-E804-58F6738B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20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21A9C-55B8-EB93-0BD3-5086DCFE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55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1A39-DF0F-0C2F-2912-C8DE3761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C860-5D2D-08F0-B3F6-0E408E139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Service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C7A9-654D-776D-226D-8C214C16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Service attacks target system availability and performance.</a:t>
            </a:r>
          </a:p>
          <a:p>
            <a:pPr marL="0" indent="0">
              <a:buNone/>
            </a:pPr>
            <a:r>
              <a:rPr lang="en-US" sz="2000" b="1" dirty="0"/>
              <a:t>A. Denial-of-Service (DoS)</a:t>
            </a:r>
          </a:p>
          <a:p>
            <a:pPr lvl="1"/>
            <a:r>
              <a:rPr lang="en-US" sz="1800" dirty="0"/>
              <a:t>Overwhelms a system with traffic to make it unavailable.</a:t>
            </a:r>
          </a:p>
          <a:p>
            <a:pPr marL="0" indent="0">
              <a:buNone/>
            </a:pPr>
            <a:r>
              <a:rPr lang="en-US" sz="2000" b="1" dirty="0"/>
              <a:t>B. Distributed Denial-of-Service (DDoS)</a:t>
            </a:r>
          </a:p>
          <a:p>
            <a:pPr lvl="1"/>
            <a:r>
              <a:rPr lang="en-US" sz="1800" dirty="0"/>
              <a:t>Multiple compromised systems attack a single target.</a:t>
            </a:r>
          </a:p>
          <a:p>
            <a:pPr marL="0" indent="0">
              <a:buNone/>
            </a:pPr>
            <a:r>
              <a:rPr lang="en-US" sz="2000" b="1" dirty="0"/>
              <a:t>C. Resource Exhaustion</a:t>
            </a:r>
          </a:p>
          <a:p>
            <a:pPr lvl="1"/>
            <a:r>
              <a:rPr lang="en-US" sz="1800" dirty="0"/>
              <a:t>Consumes CPU, memory, or bandwidth.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F69A2-8CEE-509E-BD6E-B39C1C09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3891C-6CF1-3F0B-072A-B7782981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9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6D78-89BF-E0C7-6700-5FB7D5DC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9C25-5EBE-9826-1099-80DF4970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Service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203F2-34F8-6D28-ED93-8ED3155BA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D. DNS Amplification Attacks</a:t>
            </a:r>
          </a:p>
          <a:p>
            <a:pPr lvl="1"/>
            <a:r>
              <a:rPr lang="en-US" sz="1800" dirty="0"/>
              <a:t>Abuses DNS servers to flood victims with traffic.</a:t>
            </a:r>
          </a:p>
          <a:p>
            <a:r>
              <a:rPr lang="en-US" sz="2000" b="1" dirty="0"/>
              <a:t>Impact of Service Attacks:</a:t>
            </a:r>
          </a:p>
          <a:p>
            <a:pPr lvl="1"/>
            <a:r>
              <a:rPr lang="en-US" sz="1800" dirty="0"/>
              <a:t>Website downtime</a:t>
            </a:r>
          </a:p>
          <a:p>
            <a:pPr lvl="1"/>
            <a:r>
              <a:rPr lang="en-US" sz="1800" dirty="0"/>
              <a:t>Financial loss</a:t>
            </a:r>
          </a:p>
          <a:p>
            <a:pPr lvl="1"/>
            <a:r>
              <a:rPr lang="en-US" sz="1800" dirty="0"/>
              <a:t>Customer dissatisfaction</a:t>
            </a:r>
          </a:p>
          <a:p>
            <a:pPr lvl="1"/>
            <a:r>
              <a:rPr lang="en-US" sz="1800" dirty="0"/>
              <a:t>Business interruption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EF0B8-CA49-502A-B725-0EC73018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63862-3812-710C-FD4C-056DB7BA2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086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B4D1-B288-10A4-5A37-2A03CA869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AC59-397E-36B7-CBA1-4FD461C6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0EDB1-D0ED-007D-642D-5313D85E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4AF0-0EDB-4B7A-DF94-8FD4948C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039954-FA93-3BA0-FB9B-E63620FD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3" y="2893671"/>
            <a:ext cx="7808859" cy="30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81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prepared by Ms. </a:t>
            </a:r>
            <a:r>
              <a:rPr lang="en-US" dirty="0" err="1"/>
              <a:t>Mahek</a:t>
            </a:r>
            <a:r>
              <a:rPr lang="en-US" dirty="0"/>
              <a:t> </a:t>
            </a:r>
            <a:r>
              <a:rPr lang="en-US" dirty="0" err="1"/>
              <a:t>Kausar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456</TotalTime>
  <Words>829</Words>
  <Application>Microsoft Macintosh PowerPoint</Application>
  <PresentationFormat>On-screen Show (4:3)</PresentationFormat>
  <Paragraphs>175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      CS-Cyber Security      Week-2  Lecture-2            Semester- Spring 2026</vt:lpstr>
      <vt:lpstr>Introduction to Computer System Threats </vt:lpstr>
      <vt:lpstr>What is a Threat</vt:lpstr>
      <vt:lpstr>Relationship Between Threat, Vulnerability, and Attack</vt:lpstr>
      <vt:lpstr>Types of Computer System Threats</vt:lpstr>
      <vt:lpstr>Types of Computer System Threats</vt:lpstr>
      <vt:lpstr>Case Study</vt:lpstr>
      <vt:lpstr>Case Study</vt:lpstr>
      <vt:lpstr>Case Study</vt:lpstr>
      <vt:lpstr>Case Study</vt:lpstr>
      <vt:lpstr>Types of Computer System Threats</vt:lpstr>
      <vt:lpstr>PowerPoint Presentation</vt:lpstr>
      <vt:lpstr>Attack Vectors</vt:lpstr>
      <vt:lpstr>Attack Vectors</vt:lpstr>
      <vt:lpstr>Common Cyber Threats</vt:lpstr>
      <vt:lpstr>Common Cyber Threats</vt:lpstr>
      <vt:lpstr>Common Cyber Threats</vt:lpstr>
      <vt:lpstr>Common Cyber Threats</vt:lpstr>
      <vt:lpstr>PowerPoint Presentation</vt:lpstr>
      <vt:lpstr>Service Attacks</vt:lpstr>
      <vt:lpstr>Service Attacks</vt:lpstr>
      <vt:lpstr>Summary</vt:lpstr>
      <vt:lpstr>Acknowledgement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CS-Cyber Security      Week-2  Lecture-2            Semester- Spring 2026</dc:title>
  <dc:subject/>
  <dc:creator>Mahek Kausar</dc:creator>
  <cp:keywords/>
  <dc:description>generated using python-pptx</dc:description>
  <cp:lastModifiedBy>Muhammad Bilal Khan </cp:lastModifiedBy>
  <cp:revision>45</cp:revision>
  <dcterms:created xsi:type="dcterms:W3CDTF">2013-01-27T09:14:16Z</dcterms:created>
  <dcterms:modified xsi:type="dcterms:W3CDTF">2026-03-04T04:35:48Z</dcterms:modified>
  <cp:category/>
</cp:coreProperties>
</file>