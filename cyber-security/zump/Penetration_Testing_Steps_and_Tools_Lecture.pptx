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3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-15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27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Ethical, authorized testing only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23960" y="66202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Penetration Testing Lecture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05840"/>
            <a:ext cx="5577840" cy="5577840"/>
          </a:xfrm>
          <a:prstGeom prst="arc">
            <a:avLst/>
          </a:prstGeom>
          <a:solidFill>
            <a:srgbClr val="1E293B">
              <a:alpha val="90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937760" cy="4937760"/>
          </a:xfrm>
          <a:prstGeom prst="arc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Penetration Testing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19933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BFE"/>
                </a:solidFill>
              </a:rPr>
              <a:t>Steps, Tools &amp; Professional Methodology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146304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880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A complete cybersecurity lecture for ethical, authorized security testing.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3822192"/>
            <a:ext cx="2880360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941064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Scope → Test → Report → Fix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6263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For lab environments and approved company systems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What you should understand by the end of this lecture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08760"/>
            <a:ext cx="9144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55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Define penetration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Understand what a pentest is and what it is not.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08760"/>
            <a:ext cx="9144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55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Follow a professional methodology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Move from permission and scope to testing, reporting, fixing, and retesting.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70332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70332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9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Use tools responsibly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Know where tools like Nmap, Burp Suite, ZAP, Wireshark, and Nessus fit.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70332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9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Write useful reports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4206240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Explain technical risk in a way managers and developers can act 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Penetration Testing?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Legally testing security controls before real attackers abuse weaknesses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166360" cy="3886200"/>
          </a:xfrm>
          <a:prstGeom prst="roundRect">
            <a:avLst>
              <a:gd name="adj" fmla="val 329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Core idea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“Can an attacker break in, how far can they go, what business impact exists, and how do we fix it?”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526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 pentest is a controlled security assessment with documented authorization, scope, evidence, and remediation advice.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800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63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Pentest focuses on risk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4389120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Security weaknesses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Business impact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Clear fixes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2788920"/>
            <a:ext cx="4800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788920"/>
            <a:ext cx="9144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935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Pentest is not random hacking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4389120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No unauthorized access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No destructive testing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No hidden backdoors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160520"/>
            <a:ext cx="4800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9144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3068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Pentest should improve security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663440"/>
            <a:ext cx="4389120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Report findings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Support remediation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Retest fixes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and Legal Rules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difference between security testing and illegal activity is authorization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91440" cy="4160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Only test approved targets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154680" cy="3593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Your own lab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Your own systems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Company systems with written approval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training platforms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417320"/>
            <a:ext cx="91440" cy="4160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Never test without permission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154680" cy="3593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Random websites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Public IP ranges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School or office networks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Third-party SaaS tools outside scope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66760" y="1417320"/>
            <a:ext cx="306324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417320"/>
            <a:ext cx="91440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63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Always protect data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0" y="1920240"/>
            <a:ext cx="2651760" cy="3593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Use test accounts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Avoid real data exposure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Mask evidence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Follow reporting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of Engagement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pentest starts with clear boundaries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52627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defines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Allowed targets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app.example.com, test API, lab subnet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 of scope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Systems not allowed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 database deletion, third-party platforms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window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testing is allowed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Weekends or approved maintenance window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Allowed tools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Tool limits and safe usage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Scanner rate limits, no DoS testing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Emergency contact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to call if issue occurs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manager or system owner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 format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findings are delivered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PDF/PPT/Word report with evidence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Penetration Tests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amount of information given to the tester changes the style of testing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3383280" cy="37947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91440" cy="3794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55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Black Box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297180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Little or no internal information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Tester acts like an external attacker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Useful for external exposure testing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Can miss deep internal issues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83280" cy="37947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508760"/>
            <a:ext cx="91440" cy="3794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55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Gray Box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297180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Limited information provided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Often includes normal user account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Good for web/API access control testing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Balanced and realistic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383280" cy="37947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508760"/>
            <a:ext cx="91440" cy="3794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55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White Box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297180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Full details provided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Architecture, code, accounts, diagrams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Best for deep technical coverage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Often finds more issues faster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Pentest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simple flow you can use for almost every engagement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86206" y="2194560"/>
            <a:ext cx="1493085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6005" y="2187330"/>
            <a:ext cx="1493085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7173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8925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Discover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6946" y="2200940"/>
            <a:ext cx="1493085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9985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01737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6762" y="2240280"/>
            <a:ext cx="1493085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2798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04550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Analyze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5030" y="2204342"/>
            <a:ext cx="1493085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5610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07362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Validate Safely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33519" y="2194560"/>
            <a:ext cx="1493085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08423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10175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46059" y="2225608"/>
            <a:ext cx="1493085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1235" y="23134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2987" y="2404872"/>
            <a:ext cx="9261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 &amp; Retest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4440" y="3794760"/>
            <a:ext cx="9738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Professional pentesting is not just running tools. The real value is controlled testing, useful evidence, clear risk explanation, and practical remediation.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920240" y="480060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94690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38CA"/>
                </a:solidFill>
              </a:rPr>
              <a:t>Permission → Scope → Recon → Scan → Analyze → Validate → Report → Fix → Retest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Planning and Pre-Engagement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most important phase because it protects the client and tester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Questions to answer before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4846320" cy="3867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What is the target?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Who owns the system?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What is allowed and not allowed?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Can testing cause downtime?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Are test accounts available?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Who receives the report?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166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91440" cy="443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72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Required deliverables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754880" cy="3867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Signed authorization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Scope document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Rules of engagement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Testing schedule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Emergency contact list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Data handling agreement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Information Gathering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Collect information before testing deeper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25780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Passive reconnaissance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4846320" cy="3685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Public website information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DNS and certificate records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Public code repositories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Search engine results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Technology hints from public pages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1663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91440" cy="4251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72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Active reconnaissance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754880" cy="3685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Port scanning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Service detection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Web crawling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Directory discovery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API endpoint mapping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Passive = observe public information. Active = interact with approved targets.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3: Scanning and Enumeration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Identify live hosts, open ports, services, versions, and exposed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25880"/>
          <a:ext cx="5577840" cy="4251961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to find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ports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Shows services reachable by users or attackers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 versions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Helps identify outdated or vulnerable software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panels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expose sensitive management interfaces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TLS settings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reduce encryption security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Public file shares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expose sensitive files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APIs and endpoints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reveal authorization and data exposure risks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20840" y="1417320"/>
            <a:ext cx="44348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1691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 lab example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0" y="2148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-O 192.168.56.0/24</a:t>
            </a:r>
            <a:endParaRPr lang="en-US" sz="1250" dirty="0"/>
          </a:p>
        </p:txBody>
      </p:sp>
      <p:sp>
        <p:nvSpPr>
          <p:cNvPr id="7" name="Text 8"/>
          <p:cNvSpPr/>
          <p:nvPr/>
        </p:nvSpPr>
        <p:spPr>
          <a:xfrm>
            <a:off x="704088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only on your own lab or approved network.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3703320"/>
            <a:ext cx="44348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3703320"/>
            <a:ext cx="91440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3849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Important caution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49440" y="4206240"/>
            <a:ext cx="40233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Scanning public networks without permission can be illegal and disruptive.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4: Vulnerability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Turn raw scan results into real, verified security risk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Questions to ask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4846320" cy="3867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Is this issue real?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Is the software actually vulnerable?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Is the vulnerable feature enabled?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Can an attacker reach it?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What is the business impact?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How should it be fixed?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166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91440" cy="4434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72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Useful sources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754880" cy="3867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Vendor security advisories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CVE and NVD databases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OWASP Top 10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OWASP Web Security Testing Guide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Internal hardening baselines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Patch and release notes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5: Safe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Prove the issue carefully without damaging systems or exposing real data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6766560" cy="42062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Possible issue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 validation example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access control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a test user can view another test user’s record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password policy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weak password is accepted in a test account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 upload issue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harmless text file, not malware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Exposed admin panel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Screenshot login page, do not brute-force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Sensitive data leak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limited masked evidence only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3258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18120" y="1325880"/>
            <a:ext cx="91440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1472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Avoid unsafe actions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46720" y="1828800"/>
            <a:ext cx="3108960" cy="363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Deleting files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Dumping full databases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Installing backdoors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Crashing services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Testing outside scope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Using real malware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6: Post-Exploitation Impact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 ethical testing, this means understanding impact—not causing harm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10469880" cy="1417320"/>
          </a:xfrm>
          <a:prstGeom prst="roundRect">
            <a:avLst>
              <a:gd name="adj" fmla="val 838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82880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2400E"/>
                </a:solidFill>
              </a:rPr>
              <a:t>Post-exploitation should answer: “What could an attacker do if this weakness were abused?”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37560"/>
            <a:ext cx="91440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83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Data access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2103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What records could be viewed or changed?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566160" y="33375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337560"/>
            <a:ext cx="91440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3483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Privilege escalation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3840480"/>
            <a:ext cx="2103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Could a user become admin?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33375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337560"/>
            <a:ext cx="9144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483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Lateral movement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2103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Could one server lead to another?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144000" y="33375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3337560"/>
            <a:ext cx="91440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3483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Business impact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72600" y="3840480"/>
            <a:ext cx="2103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Could operations, privacy, or compliance be affected?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7: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good report is clear for managers and useful for technical teams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74720" cy="43891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Report structure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063240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Executive summary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Scope and methodology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Risk rating summary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Detailed findings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Evidence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Remediation steps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Retest plan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474720" cy="43891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325880"/>
            <a:ext cx="91440" cy="4389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Each finding needs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063240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Title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Severity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Affected asset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Description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Impact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Evidence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Recommendation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2971800" cy="438912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325880"/>
            <a:ext cx="91440" cy="4389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472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Good evidence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1828800"/>
            <a:ext cx="2560320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Screenshots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Masked data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Timestamps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Steps to reproduce safely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Expected vs actual result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Finding Format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a repeatable structure so developers can fix issues faster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033272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600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Finding: Broken Access Control in Trip Details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95554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475569"/>
                </a:solidFill>
              </a:rPr>
              <a:t>Severity: </a:t>
            </a:r>
            <a:r>
              <a:rPr lang="en-US" sz="1320" dirty="0">
                <a:solidFill>
                  <a:srgbClr val="475569"/>
                </a:solidFill>
              </a:rPr>
              <a:t>High
</a:t>
            </a:r>
            <a:r>
              <a:rPr lang="en-US" sz="1320" b="1" dirty="0">
                <a:solidFill>
                  <a:srgbClr val="475569"/>
                </a:solidFill>
              </a:rPr>
              <a:t>Affected Endpoint: </a:t>
            </a:r>
            <a:r>
              <a:rPr lang="en-US" sz="1320" dirty="0">
                <a:solidFill>
                  <a:srgbClr val="475569"/>
                </a:solidFill>
              </a:rPr>
              <a:t>GET /api/trips/{tripId}
</a:t>
            </a:r>
            <a:r>
              <a:rPr lang="en-US" sz="1320" b="1" dirty="0">
                <a:solidFill>
                  <a:srgbClr val="475569"/>
                </a:solidFill>
              </a:rPr>
              <a:t>Description: </a:t>
            </a:r>
            <a:r>
              <a:rPr lang="en-US" sz="1320" dirty="0">
                <a:solidFill>
                  <a:srgbClr val="475569"/>
                </a:solidFill>
              </a:rPr>
              <a:t>A normal user can access another user’s trip record by changing the tripId value.
</a:t>
            </a:r>
            <a:r>
              <a:rPr lang="en-US" sz="1320" b="1" dirty="0">
                <a:solidFill>
                  <a:srgbClr val="475569"/>
                </a:solidFill>
              </a:rPr>
              <a:t>Impact: </a:t>
            </a:r>
            <a:r>
              <a:rPr lang="en-US" sz="1320" dirty="0">
                <a:solidFill>
                  <a:srgbClr val="475569"/>
                </a:solidFill>
              </a:rPr>
              <a:t>Private trip information could be exposed.
</a:t>
            </a:r>
            <a:r>
              <a:rPr lang="en-US" sz="1320" b="1" dirty="0">
                <a:solidFill>
                  <a:srgbClr val="475569"/>
                </a:solidFill>
              </a:rPr>
              <a:t>Recommendation: </a:t>
            </a:r>
            <a:r>
              <a:rPr lang="en-US" sz="1320" dirty="0">
                <a:solidFill>
                  <a:srgbClr val="475569"/>
                </a:solidFill>
              </a:rPr>
              <a:t>Enforce server-side authorization and verify record ownership on every request.
</a:t>
            </a:r>
            <a:r>
              <a:rPr lang="en-US" sz="1320" b="1" dirty="0">
                <a:solidFill>
                  <a:srgbClr val="475569"/>
                </a:solidFill>
              </a:rPr>
              <a:t>Retest: </a:t>
            </a:r>
            <a:r>
              <a:rPr lang="en-US" sz="1320" dirty="0">
                <a:solidFill>
                  <a:srgbClr val="475569"/>
                </a:solidFill>
              </a:rPr>
              <a:t>User A should receive 403 Forbidden when requesting User B’s trip.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Categories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Tools support the process, but they do not replace judgment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475488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tools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use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systems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Kali Linux, Parrot OS, Ubuntu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 environment and toolset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testing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Nmap, Wireshark, Netcat, OpenVAS, Nessus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Ports, packets, services, vulnerability scanning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 testing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Burp Suite, OWASP ZAP, Nikto, ffuf, curl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 app mapping and manual testing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API testing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Postman, Insomnia, Burp Suite, ZAP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Endpoint testing and request analysis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Cloud/container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Prowler, ScoutSuite, Trivy, kube-bench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Cloud, container, and Kubernetes checks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Dradis, Faraday, Word, Jira/Azure DevOps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Findings, evidence, remediation tracking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Application Testing Topics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OWASP-style thinking for web applications and portals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Authentication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Login, MFA, password reset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25880"/>
            <a:ext cx="91440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472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Authorization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User roles and object access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325880"/>
            <a:ext cx="9144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472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Session management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18288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Cookies, tokens, logout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83280"/>
            <a:ext cx="9144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29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Input validation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SQLi, XSS, injection risks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4389120" y="33832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383280"/>
            <a:ext cx="9144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529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File upload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17720" y="38862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File type, storage, execution risk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8092440" y="3383280"/>
            <a:ext cx="33375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3383280"/>
            <a:ext cx="9144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29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Configuration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21040" y="3886200"/>
            <a:ext cx="29260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</a:rPr>
              <a:t>CORS, headers, debug mode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Core principle: never trust only the frontend. Security checks must happen on the server side.</a:t>
            </a:r>
            <a:endParaRPr lang="en-US" sz="13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Pentesting Topics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Modern web and mobile apps depend heavily on APIs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48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Common API issues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4846320" cy="3913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Broken object-level authorization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Missing authentication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No rate limiting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Excessive data exposure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Weak token handling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Insecure CORS settings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91440" cy="4480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72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API testing checklist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754880" cy="3913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Check auth on every endpoint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Test user-to-user data access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Verify role permissions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Check token expiry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Review error messages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Confirm logs capture security events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Pentesting Topics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Identify exposure, weak services, and segmentation problems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251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defensive action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Exposed RDP/SSH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Brute-force and exploit attempts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Restrict to VPN, MFA, allowlists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Old SMB/protocols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Lateral movement risk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 legacy versions and patch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credentials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Easy compromise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defaults and audit accounts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Flat network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system can reach many others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 networks and limit access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patches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Known vulnerabilities remain open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Patch operating systems and apps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Severity Rating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Prioritize fixes based on likelihood and business impact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1234440" y="1325880"/>
            <a:ext cx="9738360" cy="7315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72768"/>
            <a:ext cx="928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38CA"/>
                </a:solidFill>
              </a:rPr>
              <a:t>Risk = Likelihood × Impact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1874520" cy="4114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420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Critical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54680" y="250545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Full system compromise, major data breach, ransomware-level risk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1005840" y="3063240"/>
            <a:ext cx="1874520" cy="4114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18211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314553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Major data exposure or privilege escalation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1005840" y="3703320"/>
            <a:ext cx="1874520" cy="4114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82219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378561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Limited access or issue that can be chained with others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187452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46227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44256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Minor weakness or small information leak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005840" y="4983480"/>
            <a:ext cx="1874520" cy="4114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10235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Informational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54680" y="506577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Best-practice improvement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Lab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Build safe skills in a controlled environment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Recommended lab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2057400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148840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2563EB"/>
                </a:solidFill>
              </a:rPr>
              <a:t>Kali Linux VM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097280" y="2587752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679192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75569"/>
                </a:solidFill>
              </a:rPr>
              <a:t>Vulnerable Web App VM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1097280" y="3118104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209544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75569"/>
                </a:solidFill>
              </a:rPr>
              <a:t>Windows Test VM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1097280" y="3648456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739896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75569"/>
                </a:solidFill>
              </a:rPr>
              <a:t>Ubuntu Server VM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97280" y="4178808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4270248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75569"/>
                </a:solidFill>
              </a:rPr>
              <a:t>Optional Active Directory Lab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400800" y="1325880"/>
            <a:ext cx="48006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325880"/>
            <a:ext cx="91440" cy="4480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472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Safe practice targets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29400" y="1828800"/>
            <a:ext cx="4389120" cy="3913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475569"/>
                </a:solidFill>
              </a:rPr>
              <a:t>Intentionally vulnerable apps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475569"/>
                </a:solidFill>
              </a:rPr>
              <a:t>CTF and academy labs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475569"/>
                </a:solidFill>
              </a:rPr>
              <a:t>Local test web apps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475569"/>
                </a:solidFill>
              </a:rPr>
              <a:t>Your own test servers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475569"/>
                </a:solidFill>
              </a:rPr>
              <a:t>Training platforms designed for practice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Beginner Learning Path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simple five-month roadmap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874520" cy="4160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737360"/>
            <a:ext cx="1545336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Month 1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1417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Networking, Linux, HTTP, DNS, TCP/UDP, ports, firewalls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1874520" cy="4160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737360"/>
            <a:ext cx="1545336" cy="420624"/>
          </a:xfrm>
          <a:prstGeom prst="roundRect">
            <a:avLst>
              <a:gd name="adj" fmla="val 2173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745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Month 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1417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OWASP Top 10, authentication, authorization, file upload, API basics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349240" y="1508760"/>
            <a:ext cx="1874520" cy="4160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13832" y="1737360"/>
            <a:ext cx="1545336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8745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Month 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577840" y="2514600"/>
            <a:ext cx="1417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Nmap, Wireshark, Burp Suite, ZAP, Postman, Nessus/OpenVAS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589520" y="1508760"/>
            <a:ext cx="1874520" cy="4160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54112" y="1737360"/>
            <a:ext cx="1545336" cy="420624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8745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Month 4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818120" y="2514600"/>
            <a:ext cx="1417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Finding writeups, evidence, business impact, remediation, retesting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829800" y="1508760"/>
            <a:ext cx="1874520" cy="4160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1737360"/>
            <a:ext cx="1545336" cy="420624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18745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Month 5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0058400" y="2514600"/>
            <a:ext cx="1417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Active Directory, cloud, containers, SIEM, incident response basics</a:t>
            </a:r>
            <a:endParaRPr lang="en-US" sz="10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Pentest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this checklist to stay organized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91440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Before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063240" cy="3776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Permission received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Scope confirmed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Testing window confirmed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Emergency contact confirmed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Tools approved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Data handling agreed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325880"/>
            <a:ext cx="91440" cy="4343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During testing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063240" cy="3776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Identify assets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Scan allowed systems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Map web/API endpoints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Validate safely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Record evidence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Avoid destructive testing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2971800" cy="43434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325880"/>
            <a:ext cx="91440" cy="4343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472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After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1828800"/>
            <a:ext cx="2560320" cy="3776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Write report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Prioritize risks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Deliver findings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Support fixes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475569"/>
                </a:solidFill>
              </a:rPr>
              <a:t>Retest fixes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Full Pentest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From approval to retest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16052" y="1618488"/>
            <a:ext cx="1292733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Permission received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18513" y="1696425"/>
            <a:ext cx="1292733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6821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98573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Scope confirmed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683" y="1659636"/>
            <a:ext cx="1292733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9282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1034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Recon performed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53885" y="1645920"/>
            <a:ext cx="1292733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1743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3495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Safe scan completed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5896" y="1654107"/>
            <a:ext cx="1292733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4204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5956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Web/API mapped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15943" y="1645920"/>
            <a:ext cx="1292733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6665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8417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Issue validated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15560" y="1659636"/>
            <a:ext cx="1292733" cy="9144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9126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10878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Report delivered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18021" y="1645920"/>
            <a:ext cx="1292733" cy="9144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11587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13339" y="1856232"/>
            <a:ext cx="72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 retested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" y="3337560"/>
            <a:ext cx="1028700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611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Example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3950208"/>
            <a:ext cx="9738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 tester discovers that User A can view User B’s invoice by changing an ID. The tester proves it using test data only, reports it as broken access control, the developer adds server-side ownership checks, and the retest confirms 403 Forbidden.</a:t>
            </a:r>
            <a:endParaRPr lang="en-US" sz="13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What to remember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0332720" cy="100584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19072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Permission → Scope → Recon → Scan → Analyze → Validate → Report → Fix → Retest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91440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Pentesting is professional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2926080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Authorization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Planning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Evidence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Clear reporting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78892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788920"/>
            <a:ext cx="91440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Tools are only support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3440" y="3291840"/>
            <a:ext cx="2926080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Manual thinking matters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Validate safely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Avoid damage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788920"/>
            <a:ext cx="91440" cy="2377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The goal is improvement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2926080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Fix weaknesses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Reduce risk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Retest results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Frameworks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professional standards and trusted security resources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347472"/>
            <a:ext cx="1920240" cy="347472"/>
          </a:xfrm>
          <a:prstGeom prst="roundRect">
            <a:avLst>
              <a:gd name="adj" fmla="val 2894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12096" y="448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66534"/>
                </a:solidFill>
              </a:rPr>
              <a:t>AUTHORIZED ONLY</a:t>
            </a:r>
            <a:endParaRPr lang="en-US" sz="83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07040" cy="34747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Resource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NIST SP 800-115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guide to information security testing and assessment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OWASP Web Security Testing Guide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Structured web application and API testing guidance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OWASP Top 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high-risk web application security categories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Penetration Testing Execution Standard phases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Kali Linux Documentation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Tooling and security testing environment reference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3492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Suggested links: nist.gov, owasp.org, pentest-standard.org, kali.org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2034</Words>
  <Application>Microsoft Office PowerPoint</Application>
  <PresentationFormat>Widescreen</PresentationFormat>
  <Paragraphs>498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 Curves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Penetration Testing: Steps &amp; Tools</dc:title>
  <dc:subject>Ethical Penetration Testing Lecture</dc:subject>
  <dc:creator>OpenAI</dc:creator>
  <cp:lastModifiedBy>Mahek Kausar</cp:lastModifiedBy>
  <cp:revision>5</cp:revision>
  <dcterms:created xsi:type="dcterms:W3CDTF">2026-05-12T19:28:05Z</dcterms:created>
  <dcterms:modified xsi:type="dcterms:W3CDTF">2026-05-13T06:22:40Z</dcterms:modified>
</cp:coreProperties>
</file>