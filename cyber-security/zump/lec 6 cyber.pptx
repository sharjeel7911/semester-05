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57" r:id="rId5"/>
    <p:sldId id="267" r:id="rId6"/>
    <p:sldId id="268" r:id="rId7"/>
    <p:sldId id="269" r:id="rId8"/>
    <p:sldId id="270" r:id="rId9"/>
    <p:sldId id="271" r:id="rId10"/>
    <p:sldId id="258" r:id="rId11"/>
    <p:sldId id="272" r:id="rId12"/>
    <p:sldId id="273" r:id="rId13"/>
    <p:sldId id="259" r:id="rId14"/>
    <p:sldId id="274" r:id="rId15"/>
    <p:sldId id="260" r:id="rId16"/>
    <p:sldId id="261" r:id="rId17"/>
    <p:sldId id="262" r:id="rId18"/>
    <p:sldId id="275" r:id="rId19"/>
    <p:sldId id="276" r:id="rId20"/>
    <p:sldId id="277" r:id="rId21"/>
    <p:sldId id="263" r:id="rId22"/>
    <p:sldId id="264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0"/>
  </p:normalViewPr>
  <p:slideViewPr>
    <p:cSldViewPr snapToGrid="0" snapToObjects="1">
      <p:cViewPr varScale="1">
        <p:scale>
          <a:sx n="109" d="100"/>
          <a:sy n="109" d="100"/>
        </p:scale>
        <p:origin x="17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Defenses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0" y="1295400"/>
            <a:ext cx="8229600" cy="4525963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pPr algn="just"/>
            <a:r>
              <a:rPr lang="en-US" dirty="0"/>
              <a:t>Network defenses are </a:t>
            </a:r>
            <a:r>
              <a:rPr lang="en-US" b="1" dirty="0"/>
              <a:t>security mechanisms and strategies</a:t>
            </a:r>
            <a:r>
              <a:rPr lang="en-US" dirty="0"/>
              <a:t> used to protect a computer network from unauthorized access, misuse, attacks, and data breaches.</a:t>
            </a:r>
          </a:p>
          <a:p>
            <a:pPr algn="just"/>
            <a:r>
              <a:rPr lang="en-US" dirty="0"/>
              <a:t>They act as a </a:t>
            </a:r>
            <a:r>
              <a:rPr lang="en-US" b="1" dirty="0"/>
              <a:t>barrier between trusted internal networks and untrusted external networks</a:t>
            </a:r>
            <a:r>
              <a:rPr lang="en-US" dirty="0"/>
              <a:t> (like the internet).</a:t>
            </a:r>
          </a:p>
          <a:p>
            <a:pPr algn="just"/>
            <a:r>
              <a:rPr dirty="0"/>
              <a:t>Protect networks from unauthorized access and attacks.</a:t>
            </a:r>
          </a:p>
          <a:p>
            <a:pPr algn="just"/>
            <a:r>
              <a:rPr dirty="0"/>
              <a:t>Includes firewalls, IDS, IPS.</a:t>
            </a:r>
          </a:p>
          <a:p>
            <a:pPr algn="just"/>
            <a:r>
              <a:rPr dirty="0"/>
              <a:t>Uses layered security (Defense in Depth).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6267-9C7C-61CF-00FB-A2D372852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9870-7033-A847-4EBD-5679122F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Network Defenses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514F7-7BD2-F51D-7C26-A4487728C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90" y="1295400"/>
            <a:ext cx="8229600" cy="4525963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/>
              <a:t>1. Preventive Controls</a:t>
            </a:r>
          </a:p>
          <a:p>
            <a:r>
              <a:rPr lang="en-US" dirty="0"/>
              <a:t>Stop attacks before they happen 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Firewalls </a:t>
            </a:r>
          </a:p>
          <a:p>
            <a:pPr lvl="1"/>
            <a:r>
              <a:rPr lang="en-US" dirty="0"/>
              <a:t>Access control systems </a:t>
            </a:r>
          </a:p>
          <a:p>
            <a:pPr lvl="1"/>
            <a:r>
              <a:rPr lang="en-US" dirty="0"/>
              <a:t>Encryption </a:t>
            </a:r>
          </a:p>
          <a:p>
            <a:pPr marL="0" indent="0">
              <a:buNone/>
            </a:pPr>
            <a:r>
              <a:rPr lang="en-US" b="1" dirty="0"/>
              <a:t>2. Detective Controls</a:t>
            </a:r>
          </a:p>
          <a:p>
            <a:r>
              <a:rPr lang="en-US" dirty="0"/>
              <a:t>Detect attacks in real time or after occurrence 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IDS (Intrusion Detection Systems) </a:t>
            </a:r>
          </a:p>
          <a:p>
            <a:pPr lvl="1"/>
            <a:r>
              <a:rPr lang="en-US" dirty="0"/>
              <a:t>Log monitoring </a:t>
            </a:r>
          </a:p>
          <a:p>
            <a:pPr marL="0" indent="0">
              <a:buNone/>
            </a:pPr>
            <a:r>
              <a:rPr lang="en-US" b="1" dirty="0"/>
              <a:t>3. Corrective Controls</a:t>
            </a:r>
          </a:p>
          <a:p>
            <a:r>
              <a:rPr lang="en-US" dirty="0"/>
              <a:t>Respond and recover from attacks 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Backup systems </a:t>
            </a:r>
          </a:p>
          <a:p>
            <a:pPr lvl="1"/>
            <a:r>
              <a:rPr lang="en-US" dirty="0"/>
              <a:t>Incident response plans</a:t>
            </a:r>
          </a:p>
        </p:txBody>
      </p:sp>
    </p:spTree>
    <p:extLst>
      <p:ext uri="{BB962C8B-B14F-4D97-AF65-F5344CB8AC3E}">
        <p14:creationId xmlns:p14="http://schemas.microsoft.com/office/powerpoint/2010/main" val="118020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919C-14CD-4EBA-F904-D8531020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3EAD-6B5E-E248-B6C2-D875C590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 in Depth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DBB3-05F1-4401-1DE7-750C3D55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90" y="1295400"/>
            <a:ext cx="8229600" cy="452596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 layered approach where </a:t>
            </a:r>
            <a:r>
              <a:rPr lang="en-US" b="1" dirty="0"/>
              <a:t>multiple security measures</a:t>
            </a:r>
            <a:r>
              <a:rPr lang="en-US" dirty="0"/>
              <a:t> are used together.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Firewall + IDS + Antivirus + Encryption</a:t>
            </a:r>
            <a:br>
              <a:rPr lang="en-US" dirty="0"/>
            </a:br>
            <a:r>
              <a:rPr lang="en-US" dirty="0"/>
              <a:t>👉 Even if one fails, others protect the system.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14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What is a Firewall?</a:t>
            </a:r>
          </a:p>
          <a:p>
            <a:pPr algn="just"/>
            <a:r>
              <a:rPr lang="en-US" dirty="0"/>
              <a:t>A firewall is a </a:t>
            </a:r>
            <a:r>
              <a:rPr lang="en-US" b="1" dirty="0"/>
              <a:t>network security device/software</a:t>
            </a:r>
            <a:r>
              <a:rPr lang="en-US" dirty="0"/>
              <a:t> that monitors and controls incoming and outgoing traffic based on predefined security rules.</a:t>
            </a:r>
          </a:p>
          <a:p>
            <a:r>
              <a:rPr dirty="0"/>
              <a:t>Types: Packet Filtering, Stateful, Proxy, NGFW.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3077C-AE09-F251-20CD-8A03663C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34DC-D1FC-9989-376D-3A65848E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FBC15-57F5-620F-CBD8-B2D13CCCB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1. Packet Filtering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Filters packets based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IP address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Port number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but less secure</a:t>
            </a:r>
          </a:p>
        </p:txBody>
      </p:sp>
    </p:spTree>
    <p:extLst>
      <p:ext uri="{BB962C8B-B14F-4D97-AF65-F5344CB8AC3E}">
        <p14:creationId xmlns:p14="http://schemas.microsoft.com/office/powerpoint/2010/main" val="4178986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74300-3667-64EE-712F-BE24FD8D9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BE170-D270-5E76-AEE1-7AC0BDEA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A03A-3589-F217-5415-381FFD17C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2. Stateful Inspection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Tracks active connections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decisions based on </a:t>
            </a:r>
            <a:r>
              <a:rPr lang="en-US" b="1" dirty="0"/>
              <a:t>connection state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secure than packet filtering</a:t>
            </a:r>
          </a:p>
        </p:txBody>
      </p:sp>
    </p:spTree>
    <p:extLst>
      <p:ext uri="{BB962C8B-B14F-4D97-AF65-F5344CB8AC3E}">
        <p14:creationId xmlns:p14="http://schemas.microsoft.com/office/powerpoint/2010/main" val="1754807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1705F-559E-5DBA-A182-2C92ECBF9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AD7B-E535-7FDE-811A-F9A04E62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15E63-2489-F2B9-A556-145EC133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Proxy Firewall (Application Layer)</a:t>
            </a:r>
          </a:p>
          <a:p>
            <a:r>
              <a:rPr lang="en-US" dirty="0"/>
              <a:t>Acts as an intermediary between user and internet </a:t>
            </a:r>
          </a:p>
          <a:p>
            <a:r>
              <a:rPr lang="en-US" dirty="0"/>
              <a:t>Hides internal network </a:t>
            </a:r>
          </a:p>
          <a:p>
            <a:r>
              <a:rPr lang="en-US" dirty="0"/>
              <a:t>Very secure but slower</a:t>
            </a:r>
          </a:p>
        </p:txBody>
      </p:sp>
    </p:spTree>
    <p:extLst>
      <p:ext uri="{BB962C8B-B14F-4D97-AF65-F5344CB8AC3E}">
        <p14:creationId xmlns:p14="http://schemas.microsoft.com/office/powerpoint/2010/main" val="256914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61786-8F07-8CC7-9CB6-A71B1CF7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A186-CC9B-4D4A-D7FA-C8DB99B2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28B38-ED3A-FC9E-D25B-725B98DF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4. Next-Generation Firewall (NGFW)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firewall with: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Deep packet inspection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Malware protection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Application awareness</a:t>
            </a:r>
          </a:p>
        </p:txBody>
      </p:sp>
    </p:spTree>
    <p:extLst>
      <p:ext uri="{BB962C8B-B14F-4D97-AF65-F5344CB8AC3E}">
        <p14:creationId xmlns:p14="http://schemas.microsoft.com/office/powerpoint/2010/main" val="59863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C3AC-0238-08A8-328C-94E56190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A59C-7965-9C5A-0591-E39B651A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Firewalls Work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DC8F-A8F5-B1CD-7B4C-CA9B9048A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🔹 How Firewalls Work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Incoming request arrives 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Firewall checks rules 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Allows or blocks traffic </a:t>
            </a:r>
          </a:p>
        </p:txBody>
      </p:sp>
    </p:spTree>
    <p:extLst>
      <p:ext uri="{BB962C8B-B14F-4D97-AF65-F5344CB8AC3E}">
        <p14:creationId xmlns:p14="http://schemas.microsoft.com/office/powerpoint/2010/main" val="2762033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Intrusion Detection System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🔹 Definition</a:t>
            </a:r>
          </a:p>
          <a:p>
            <a:pPr>
              <a:buNone/>
            </a:pPr>
            <a:r>
              <a:rPr lang="en-US" dirty="0"/>
              <a:t>A system that </a:t>
            </a:r>
            <a:r>
              <a:rPr lang="en-US" b="1" dirty="0"/>
              <a:t>monitors network traffic</a:t>
            </a:r>
            <a:r>
              <a:rPr lang="en-US" dirty="0"/>
              <a:t> and detects suspicious activities.</a:t>
            </a:r>
          </a:p>
          <a:p>
            <a:pPr>
              <a:buNone/>
            </a:pPr>
            <a:r>
              <a:rPr lang="en-US" b="1" dirty="0"/>
              <a:t>🔹 Types of IDS</a:t>
            </a:r>
          </a:p>
          <a:p>
            <a:pPr>
              <a:buNone/>
            </a:pPr>
            <a:r>
              <a:rPr lang="en-US" b="1" dirty="0"/>
              <a:t>1. Signature-Based 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known attack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Like antivirus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Limitation: Cannot detect new attacks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6ED89-2734-4796-059D-B144C7FA8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85C0-5590-6DB3-95C4-2E135AC0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Intrusion Detection System (IDS)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B3D52-3A99-D21B-A5DE-46E3AD09C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2. Anomaly-Based 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unusual behavior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detect new threats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May produce false alarms</a:t>
            </a:r>
          </a:p>
        </p:txBody>
      </p:sp>
    </p:spTree>
    <p:extLst>
      <p:ext uri="{BB962C8B-B14F-4D97-AF65-F5344CB8AC3E}">
        <p14:creationId xmlns:p14="http://schemas.microsoft.com/office/powerpoint/2010/main" val="1672624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124A7-C497-7E08-C6CD-830E6A02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37196-C2A1-065B-0568-B380D90CF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IDS</a:t>
            </a:r>
            <a:r>
              <a:rPr lang="en-US" dirty="0"/>
              <a:t> Modes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CF3ED-1839-1D25-45DE-6E1C14B47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🔹 IDS Modes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Network-based IDS (NIDS)</a:t>
            </a:r>
            <a:r>
              <a:rPr lang="en-US" dirty="0"/>
              <a:t> → monitors network traffic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Host-based IDS (HIDS)</a:t>
            </a:r>
            <a:r>
              <a:rPr lang="en-US" dirty="0"/>
              <a:t> → monitors individual systems </a:t>
            </a:r>
          </a:p>
        </p:txBody>
      </p:sp>
    </p:spTree>
    <p:extLst>
      <p:ext uri="{BB962C8B-B14F-4D97-AF65-F5344CB8AC3E}">
        <p14:creationId xmlns:p14="http://schemas.microsoft.com/office/powerpoint/2010/main" val="1252474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Intrusion Prevention System (IPS)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and blocks attacks automatically.</a:t>
            </a:r>
          </a:p>
          <a:p>
            <a:r>
              <a:t>Works inline with network traffic.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A310-B26A-D1EA-77F8-48D9036B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49D8-6BE2-854D-9F04-B3C8002B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IDS vs IPS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7BF6B0-64E9-8144-A1D9-E3A2D84F1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314738"/>
              </p:ext>
            </p:extLst>
          </p:nvPr>
        </p:nvGraphicFramePr>
        <p:xfrm>
          <a:off x="585020" y="2286087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9017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9988242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98197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34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Detects threats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+ prevents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00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Alerts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Blocks traffic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5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Placement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Inline (active)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977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465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Benefits of Network Defenses</a:t>
            </a:r>
          </a:p>
          <a:p>
            <a:pPr>
              <a:buNone/>
            </a:pPr>
            <a:r>
              <a:rPr lang="en-US" b="1" dirty="0"/>
              <a:t>1. Protection from Cyber Attacks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Blocks malware, hackers, unauthorized access </a:t>
            </a:r>
          </a:p>
          <a:p>
            <a:pPr>
              <a:buNone/>
            </a:pPr>
            <a:r>
              <a:rPr lang="en-US" b="1" dirty="0"/>
              <a:t>2. Data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Protects sensitive data (passwords, personal info) </a:t>
            </a:r>
          </a:p>
          <a:p>
            <a:pPr>
              <a:buNone/>
            </a:pPr>
            <a:r>
              <a:rPr lang="en-US" b="1" dirty="0"/>
              <a:t>3. Network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track suspicious activities </a:t>
            </a:r>
          </a:p>
          <a:p>
            <a:pPr>
              <a:buNone/>
            </a:pPr>
            <a:r>
              <a:rPr lang="en-US" b="1" dirty="0"/>
              <a:t>4. 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Meets security standards and regulations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1. Cannot Guarantee 100%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New (zero-day) attacks may bypass defenses </a:t>
            </a:r>
          </a:p>
          <a:p>
            <a:pPr>
              <a:buNone/>
            </a:pPr>
            <a:r>
              <a:rPr lang="en-US" b="1" dirty="0"/>
              <a:t>2. False Positives (especially IDS)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Legitimate traffic may be flagged </a:t>
            </a:r>
          </a:p>
          <a:p>
            <a:pPr>
              <a:buNone/>
            </a:pPr>
            <a:r>
              <a:rPr lang="en-US" b="1" dirty="0"/>
              <a:t>3. Cost and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systems are expensive and complex </a:t>
            </a:r>
          </a:p>
          <a:p>
            <a:pPr>
              <a:buNone/>
            </a:pPr>
            <a:r>
              <a:rPr lang="en-US" b="1" dirty="0"/>
              <a:t>4. Performance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Firewalls and IPS may slow down network </a:t>
            </a:r>
          </a:p>
          <a:p>
            <a:pPr>
              <a:buNone/>
            </a:pPr>
            <a:r>
              <a:rPr lang="en-US" b="1" dirty="0"/>
              <a:t>5. Human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Misconfigured rules can create vulnerabilities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🔐 1. Use Defense in Depth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 multiple tools: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Firewall + IDS/IPS + Antivirus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🔄 2. Regular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Software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patches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Signatures updated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099CD-49E8-0853-32C6-BC9006131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EE3C2-B011-0037-DEE5-882B8344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9C2A7-4136-7FCB-4FCA-0B23EA6EB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/>
              <a:t>👤 3. Strong 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Strong passwords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Multi-factor authentication (MFA)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📊 4. Continuous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logs and alerts regularly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🚫 5. Network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Divide network into smaller parts</a:t>
            </a:r>
            <a:br>
              <a:rPr lang="en-US" dirty="0"/>
            </a:br>
            <a:r>
              <a:rPr lang="en-US" dirty="0"/>
              <a:t>👉 Limits spread of attacks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521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55176-B4CA-4073-8DF4-25D105C0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6722-CA5E-872A-9D35-F4D8AEEB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C2791-C2E7-7E8E-4277-252B19D0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🧪 6. Regular Security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Vulnerability scans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Penetration testing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🎓 7. User Awareness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Educate users about: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Phishing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Malware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Safe browsing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5101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6055D-E2C1-4C0A-52AE-15C73D08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4379-D5A6-42D0-AF6E-3758548E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4AF29-A949-5899-593A-2F9E890FC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💾 8. Backup and Recovery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Regular backups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 recovery from attacks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7095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Scenario (Phishing Attack)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🔹 Scenario 1: Phishing + Malware Attack</a:t>
            </a:r>
          </a:p>
          <a:p>
            <a:r>
              <a:rPr lang="en-US" dirty="0"/>
              <a:t>A student receives an email pretending to be from their university </a:t>
            </a:r>
          </a:p>
          <a:p>
            <a:r>
              <a:rPr lang="en-US" dirty="0"/>
              <a:t>Clicks link → downloads fake file </a:t>
            </a:r>
          </a:p>
          <a:p>
            <a:r>
              <a:rPr lang="en-US" dirty="0"/>
              <a:t>Malware tries to connect to attacker server </a:t>
            </a:r>
          </a:p>
          <a:p>
            <a:r>
              <a:rPr lang="en-US" b="1" dirty="0"/>
              <a:t>Firewall</a:t>
            </a:r>
            <a:r>
              <a:rPr lang="en-US" dirty="0"/>
              <a:t> blocks suspicious outgoing traffic </a:t>
            </a:r>
          </a:p>
          <a:p>
            <a:r>
              <a:rPr lang="en-US" b="1" dirty="0"/>
              <a:t>IDS</a:t>
            </a:r>
            <a:r>
              <a:rPr lang="en-US" dirty="0"/>
              <a:t> detects unusual behavior </a:t>
            </a:r>
          </a:p>
          <a:p>
            <a:r>
              <a:rPr lang="en-US" b="1" dirty="0"/>
              <a:t>IPS</a:t>
            </a:r>
            <a:r>
              <a:rPr lang="en-US" dirty="0"/>
              <a:t> blocks and isolates infected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Real-Life Scenario (</a:t>
            </a:r>
            <a:r>
              <a:rPr lang="en-US" dirty="0"/>
              <a:t>Insider Threat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🔹 Scenario 2: Insider Threat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copies sensitive data to USB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HIDS (Host IDS)</a:t>
            </a:r>
            <a:r>
              <a:rPr lang="en-US" dirty="0"/>
              <a:t> detects unusual file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IPS</a:t>
            </a:r>
            <a:r>
              <a:rPr lang="en-US" dirty="0"/>
              <a:t> blocks unauthorized data transfer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gets alert </a:t>
            </a:r>
          </a:p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Concept used:</a:t>
            </a:r>
            <a:r>
              <a:rPr lang="en-US" dirty="0"/>
              <a:t> Monitoring + Access Control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7B162-8837-666A-8474-EEA93A296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4092D-0ABD-F1E2-51DE-7573D373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Real-Life Scenario (</a:t>
            </a:r>
            <a:r>
              <a:rPr lang="en-US" dirty="0"/>
              <a:t>Brute Force Logon Attack</a:t>
            </a:r>
            <a:r>
              <a:rPr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CC5DB-B33C-0C2F-AD00-41D5BC0FD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🔹 </a:t>
            </a:r>
            <a:r>
              <a:rPr lang="en-US" dirty="0"/>
              <a:t>Attacker tries thousands of passwords</a:t>
            </a:r>
          </a:p>
          <a:p>
            <a:r>
              <a:rPr lang="en-US" dirty="0"/>
              <a:t>Firewall limits repeated attempts</a:t>
            </a:r>
          </a:p>
          <a:p>
            <a:r>
              <a:rPr lang="en-US" dirty="0"/>
              <a:t>IDS detects unusual login attempts</a:t>
            </a:r>
          </a:p>
          <a:p>
            <a:r>
              <a:rPr lang="en-US" dirty="0"/>
              <a:t>IPS blocks attacker IP </a:t>
            </a:r>
          </a:p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Concept used:</a:t>
            </a:r>
            <a:r>
              <a:rPr lang="en-US" dirty="0"/>
              <a:t> Defense in Depth</a:t>
            </a:r>
          </a:p>
        </p:txBody>
      </p:sp>
    </p:spTree>
    <p:extLst>
      <p:ext uri="{BB962C8B-B14F-4D97-AF65-F5344CB8AC3E}">
        <p14:creationId xmlns:p14="http://schemas.microsoft.com/office/powerpoint/2010/main" val="723074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Ransomware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University Network Security Breach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University network with labs, portal, staff systems.</a:t>
            </a:r>
          </a:p>
          <a:p>
            <a:r>
              <a:t>Basic firewall, no IDS/IPS.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receives fake email and clicks malicious link.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Malware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Ransomware installs silently.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Spread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Malware spreads across network and encrypts files.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Files locked, ransom demanded, systems shut down.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Email → User Click → Malware Installed → Network Spread → File Encryption → Ransom Demand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Malware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Delivery → Execution → Propagation → Payload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user awareness</a:t>
            </a:r>
          </a:p>
          <a:p>
            <a:r>
              <a:t>No IDS/IPS</a:t>
            </a:r>
          </a:p>
          <a:p>
            <a:r>
              <a:t>Weak segmentation</a:t>
            </a:r>
          </a:p>
          <a:p>
            <a:r>
              <a:t>No email filtering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Role of 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Blocks external threats but cannot stop internal spread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Role of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unusual activity and alerts admin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 Role of 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Blocks and isolates malicious activity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layered security</a:t>
            </a:r>
          </a:p>
          <a:p>
            <a:r>
              <a:t>Train users</a:t>
            </a:r>
          </a:p>
          <a:p>
            <a:r>
              <a:t>Install IDS/IPS</a:t>
            </a:r>
          </a:p>
          <a:p>
            <a:r>
              <a:t>Maintain backups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955</Words>
  <Application>Microsoft Macintosh PowerPoint</Application>
  <PresentationFormat>On-screen Show (4:3)</PresentationFormat>
  <Paragraphs>205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Network Defenses</vt:lpstr>
      <vt:lpstr>Types of Network Defenses</vt:lpstr>
      <vt:lpstr>Defense in Depth</vt:lpstr>
      <vt:lpstr>Firewalls</vt:lpstr>
      <vt:lpstr>Firewalls</vt:lpstr>
      <vt:lpstr>Firewalls</vt:lpstr>
      <vt:lpstr>Firewalls</vt:lpstr>
      <vt:lpstr>Firewalls</vt:lpstr>
      <vt:lpstr>How Firewalls Work</vt:lpstr>
      <vt:lpstr>Intrusion Detection System (IDS)</vt:lpstr>
      <vt:lpstr>Intrusion Detection System (IDS)</vt:lpstr>
      <vt:lpstr>IDS Modes</vt:lpstr>
      <vt:lpstr>Intrusion Prevention System (IPS)</vt:lpstr>
      <vt:lpstr>IDS vs IPS</vt:lpstr>
      <vt:lpstr>Benefits</vt:lpstr>
      <vt:lpstr>Limitations</vt:lpstr>
      <vt:lpstr>Best Practices</vt:lpstr>
      <vt:lpstr>Best Practices</vt:lpstr>
      <vt:lpstr>Best Practices</vt:lpstr>
      <vt:lpstr>Best Practices</vt:lpstr>
      <vt:lpstr>Real-Life Scenario (Phishing Attack)</vt:lpstr>
      <vt:lpstr>Real-Life Scenario (Insider Threat)</vt:lpstr>
      <vt:lpstr>Real-Life Scenario (Brute Force Logon Attack)</vt:lpstr>
      <vt:lpstr>Case Study: Ransomware Attack</vt:lpstr>
      <vt:lpstr>Background</vt:lpstr>
      <vt:lpstr>Step 1: Phishing</vt:lpstr>
      <vt:lpstr>Step 2: Malware Execution</vt:lpstr>
      <vt:lpstr>Step 3: Spread</vt:lpstr>
      <vt:lpstr>Step 4: Outcome</vt:lpstr>
      <vt:lpstr>Attack Flow Diagram</vt:lpstr>
      <vt:lpstr>Answer: Malware Lifecycle</vt:lpstr>
      <vt:lpstr>Answer: Vulnerabilities</vt:lpstr>
      <vt:lpstr>Answer: Role of Firewall</vt:lpstr>
      <vt:lpstr>Answer: Role of IDS</vt:lpstr>
      <vt:lpstr>Answer: Role of IPS</vt:lpstr>
      <vt:lpstr>Lessons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Defenses</dc:title>
  <dc:subject/>
  <dc:creator/>
  <cp:keywords/>
  <dc:description>generated using python-pptx</dc:description>
  <cp:lastModifiedBy>Muhammad Bilal Khan </cp:lastModifiedBy>
  <cp:revision>20</cp:revision>
  <dcterms:created xsi:type="dcterms:W3CDTF">2013-01-27T09:14:16Z</dcterms:created>
  <dcterms:modified xsi:type="dcterms:W3CDTF">2026-04-01T05:37:57Z</dcterms:modified>
  <cp:category/>
</cp:coreProperties>
</file>