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239D7-F4E3-0731-A132-7728FB5BD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96FF0-02E0-45D4-B598-950A53628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58438-5AA1-8E6C-0FB3-BB0F30076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4EA4C-43AB-CFD6-4C41-D1FA3F00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740F-A10B-53C3-5F65-7FAB7775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7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1B4D-9C22-CA95-2A8B-665814BD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99032-35AB-EA1E-F1E0-3B20EB575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AD2D5-A16F-11F2-0684-5F28077B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6486A-6095-5D8E-1FEA-F3C4E38BA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CEAF5-BB04-E5A2-6F50-4D9822640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0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994A-13F3-EC7D-645E-AE05EC17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D6454-8EE5-3B25-3134-57206C899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5D6B-EC79-1ADE-1D13-D1FB8DFC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0CF82-ED61-81EE-B472-377FFA0B6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58AA-BFE6-55B4-D922-7E5D770F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3D69-8015-CE25-26BB-9DC0E5C9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094A8-DE0A-9252-CB70-17ADF1DF8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D18CB-3800-DA43-726B-F1CC713E1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3C323-0E72-90C9-0BD9-C616B3738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96AA0-9C65-3EB5-6575-7F8BF58D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A5CF2-015D-2239-BC81-3D4DC5DC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9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E14C-A914-3FCB-826B-631D8446C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E03B4-511E-2389-A411-ADD101E2C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18A73-B49E-2037-5DA9-B44ACF883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475CB-F69D-BC85-89B7-391496BF8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2E9F4-3056-2B60-8ADA-323747C13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CAB199-8321-8C99-0B39-2731CC935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26A14D-DC67-6A1A-62F9-3B7A3E83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16B3E-BA3E-3F76-1A00-E58D79D7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7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BCA97-A91A-C3CB-9F30-2F3EF689D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3FA942-6C94-CAB9-4E6E-7A90D843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B2B0A-E82A-EACD-C8A3-72B6C4CBE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D4273-717F-ED77-E391-CD02E8667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4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6E763-FAD1-04A2-73C5-3FFBAE31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B5EC7-D703-FB1F-2EED-437E1B17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6599-E573-1F2E-4B1F-73E05FFE1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4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4B81-9CAF-25C2-116A-85FDDF4F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21792-670F-7F65-C60C-231C21B2F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0F8D5-0D4B-174D-AB13-03FE4C68D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385A2-F781-B8A3-1BBF-F5BA3FA1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8D827-8864-DA6C-BEAC-DE00CF72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7CE95-D299-6855-7B85-49865FD7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66A4-E66B-0763-6EB3-7B555A9F3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33B3C-A99C-81F2-E953-8C710C200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1FB91-8FBE-98AA-38F0-C37858124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3C5B0-72FA-9B3A-2BF5-003712EA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326BD-66AF-BDE3-8A38-188CBA57B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FD715-640F-D519-2297-BF067D3B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26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2DB91-9EAF-6381-2582-A9120C722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75719-2D3C-2807-CB42-3497A81F6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B6A32-7120-7E90-4952-DE65B527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4EA1F-B178-1806-304B-B97A2E71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48BB3-C2CD-558A-576A-B928DADF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3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38A23-C017-A7D0-E068-6697C5C46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A898E-F38A-FF0C-72EE-4D16DCEF7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D1F20-1F5D-ED93-E5C0-07D8ACA8A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CF69C-B956-041C-68B1-DE69BB09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47FAE-6080-D53B-5EF0-5FFA933C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50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D4C294-79B8-C546-0B82-6867C342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82801-199E-3F7C-FF91-64730C1F2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BCF17-A2E4-EF43-C3D3-AE8D222DA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0267E-6E8B-4A9F-9769-3EAD7F3A1A0A}" type="datetimeFigureOut">
              <a:rPr lang="en-US" smtClean="0"/>
              <a:t>11-Jul-2024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E24C6-27E6-F045-A395-A23CA2C12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816D6-5C21-49DE-2718-7DC97218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5DD60-10BF-4096-B98F-B080A85E8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0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4D10-5DFE-EEB3-0E95-F92310F34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Knapsack problem(Genetic algorithm)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57A32-93A6-99E0-8DB2-E662E1F114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42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EF01-B5D9-C057-1A0E-20EEBA3A8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F790D-39B6-509F-22E5-CA2749711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knapsack problem involves a set of items, each with a </a:t>
            </a:r>
            <a:r>
              <a:rPr lang="en-US" b="1" dirty="0"/>
              <a:t>weight </a:t>
            </a:r>
            <a:r>
              <a:rPr lang="en-US" dirty="0"/>
              <a:t>and a </a:t>
            </a:r>
            <a:r>
              <a:rPr lang="en-US" b="1" dirty="0"/>
              <a:t>value</a:t>
            </a:r>
            <a:r>
              <a:rPr lang="en-US" dirty="0"/>
              <a:t>, and a knapsack with a maximum weight capacity. </a:t>
            </a:r>
          </a:p>
          <a:p>
            <a:pPr algn="just"/>
            <a:r>
              <a:rPr lang="en-US" dirty="0"/>
              <a:t>The goal is to maximize the </a:t>
            </a:r>
            <a:r>
              <a:rPr lang="en-US" b="1" dirty="0"/>
              <a:t>total value </a:t>
            </a:r>
            <a:r>
              <a:rPr lang="en-US" dirty="0"/>
              <a:t>of items in the knapsack without </a:t>
            </a:r>
            <a:r>
              <a:rPr lang="en-US" b="1" dirty="0"/>
              <a:t>exceeding its weight capacity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610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A097-F7BD-BBDB-71DC-4418E0995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879FB0-077D-CF7E-A65F-8F832F9B3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Item 1: Value = 10, Weight = 5</a:t>
            </a:r>
          </a:p>
          <a:p>
            <a:r>
              <a:rPr lang="en-US" dirty="0"/>
              <a:t>Item 2: Value = 7, Weight = 3</a:t>
            </a:r>
          </a:p>
          <a:p>
            <a:r>
              <a:rPr lang="en-US" dirty="0"/>
              <a:t>Item 3: Value = 25, Weight = 12</a:t>
            </a:r>
          </a:p>
          <a:p>
            <a:r>
              <a:rPr lang="en-US" dirty="0"/>
              <a:t>Item 4: Value = 24, Weight = 10</a:t>
            </a:r>
          </a:p>
          <a:p>
            <a:r>
              <a:rPr lang="en-US" dirty="0"/>
              <a:t>Item 5: Value = 15, Weight = 8</a:t>
            </a:r>
          </a:p>
          <a:p>
            <a:pPr marL="0" indent="0">
              <a:buNone/>
            </a:pPr>
            <a:r>
              <a:rPr lang="en-US" dirty="0"/>
              <a:t>Knapsack Capacity: </a:t>
            </a:r>
            <a:r>
              <a:rPr lang="en-US" dirty="0">
                <a:solidFill>
                  <a:srgbClr val="FF0000"/>
                </a:solidFill>
              </a:rPr>
              <a:t>20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6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D5FB-48E7-E870-2E78-68EBAE50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A5326-20EF-5A46-4D40-88BCB47F7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Step 1: Initialize Population</a:t>
            </a:r>
          </a:p>
          <a:p>
            <a:pPr marL="0" indent="0">
              <a:buNone/>
            </a:pPr>
            <a:r>
              <a:rPr lang="en-US" dirty="0"/>
              <a:t>Let's start with a population of 6 individuals. </a:t>
            </a:r>
          </a:p>
          <a:p>
            <a:pPr marL="0" indent="0">
              <a:buNone/>
            </a:pPr>
            <a:r>
              <a:rPr lang="en-US" dirty="0"/>
              <a:t>Each individual is represented by a binary string of length 5(because of 5 items), where each bit indicates whether an item is included (1) or excluded (0).</a:t>
            </a:r>
          </a:p>
          <a:p>
            <a:r>
              <a:rPr lang="en-US" dirty="0"/>
              <a:t>Individual 1: 11001</a:t>
            </a:r>
          </a:p>
          <a:p>
            <a:r>
              <a:rPr lang="en-US" dirty="0"/>
              <a:t>Individual 2: 10101</a:t>
            </a:r>
          </a:p>
          <a:p>
            <a:r>
              <a:rPr lang="en-US" dirty="0"/>
              <a:t>Individual 3: 01101</a:t>
            </a:r>
          </a:p>
          <a:p>
            <a:r>
              <a:rPr lang="en-US" dirty="0"/>
              <a:t>Individual 4: 10010</a:t>
            </a:r>
          </a:p>
          <a:p>
            <a:r>
              <a:rPr lang="en-US" dirty="0"/>
              <a:t>Individual 5: 11100</a:t>
            </a:r>
          </a:p>
          <a:p>
            <a:r>
              <a:rPr lang="en-US" dirty="0"/>
              <a:t>Individual 6: 01011</a:t>
            </a:r>
          </a:p>
        </p:txBody>
      </p:sp>
    </p:spTree>
    <p:extLst>
      <p:ext uri="{BB962C8B-B14F-4D97-AF65-F5344CB8AC3E}">
        <p14:creationId xmlns:p14="http://schemas.microsoft.com/office/powerpoint/2010/main" val="110125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039F-C9EF-3A1E-4F77-A11EE30D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846F-3C85-D275-3484-12F5C37EB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2: Evaluate Fitness</a:t>
            </a:r>
          </a:p>
          <a:p>
            <a:pPr marL="0" indent="0">
              <a:buNone/>
            </a:pPr>
            <a:r>
              <a:rPr lang="en-US" dirty="0"/>
              <a:t>Calculate the fitness of each individual. The fitness function will be the total value of the selected items, penalized if the total weight exceeds the knapsack capacity.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460A6-5DD5-7532-FC0E-8CACF3E57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734" y="3672603"/>
            <a:ext cx="7440487" cy="243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34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BD7C-15D5-66BA-EEE1-F9495986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FA980-374E-A8A1-05A5-214EC6B38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Step 3: Selection</a:t>
            </a:r>
          </a:p>
          <a:p>
            <a:pPr marL="0" indent="0">
              <a:buNone/>
            </a:pPr>
            <a:r>
              <a:rPr lang="en-US" dirty="0"/>
              <a:t>Select parents based on fitness. We'll use roulette wheel selection for this purpose.</a:t>
            </a:r>
          </a:p>
          <a:p>
            <a:pPr marL="0" indent="0">
              <a:buNone/>
            </a:pPr>
            <a:r>
              <a:rPr lang="en-US" dirty="0"/>
              <a:t>Individual 1: 32/108</a:t>
            </a:r>
          </a:p>
          <a:p>
            <a:pPr marL="0" indent="0">
              <a:buNone/>
            </a:pPr>
            <a:r>
              <a:rPr lang="en-US" dirty="0"/>
              <a:t> Individual 2: 0/108</a:t>
            </a:r>
          </a:p>
          <a:p>
            <a:pPr marL="0" indent="0">
              <a:buNone/>
            </a:pPr>
            <a:r>
              <a:rPr lang="en-US" dirty="0"/>
              <a:t> Individual 3: 0/108 </a:t>
            </a:r>
          </a:p>
          <a:p>
            <a:pPr marL="0" indent="0">
              <a:buNone/>
            </a:pPr>
            <a:r>
              <a:rPr lang="en-US" dirty="0"/>
              <a:t>Individual 4: 34/108 </a:t>
            </a:r>
          </a:p>
          <a:p>
            <a:pPr marL="0" indent="0">
              <a:buNone/>
            </a:pPr>
            <a:r>
              <a:rPr lang="en-US" dirty="0"/>
              <a:t>Individual 5: 42/108 </a:t>
            </a:r>
          </a:p>
          <a:p>
            <a:pPr marL="0" indent="0">
              <a:buNone/>
            </a:pPr>
            <a:r>
              <a:rPr lang="en-US" dirty="0"/>
              <a:t>Individual 6: 0/108</a:t>
            </a:r>
          </a:p>
        </p:txBody>
      </p:sp>
    </p:spTree>
    <p:extLst>
      <p:ext uri="{BB962C8B-B14F-4D97-AF65-F5344CB8AC3E}">
        <p14:creationId xmlns:p14="http://schemas.microsoft.com/office/powerpoint/2010/main" val="1480041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BD7C-15D5-66BA-EEE1-F9495986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FA980-374E-A8A1-05A5-214EC6B38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3: Selection</a:t>
            </a:r>
          </a:p>
          <a:p>
            <a:pPr marL="0" indent="0">
              <a:buNone/>
            </a:pPr>
            <a:r>
              <a:rPr lang="en-US" dirty="0"/>
              <a:t>Select parents based on fitness. We'll use roulette wheel selection for this purpose.</a:t>
            </a:r>
          </a:p>
          <a:p>
            <a:pPr marL="0" indent="0">
              <a:buNone/>
            </a:pPr>
            <a:r>
              <a:rPr lang="en-US" dirty="0"/>
              <a:t>Selected Parents (proportional to fitness):</a:t>
            </a:r>
          </a:p>
          <a:p>
            <a:pPr marL="0" indent="0">
              <a:buNone/>
            </a:pPr>
            <a:r>
              <a:rPr lang="en-US" dirty="0"/>
              <a:t>Parent 1: Individual 5 (42/108)</a:t>
            </a:r>
          </a:p>
          <a:p>
            <a:pPr marL="0" indent="0">
              <a:buNone/>
            </a:pPr>
            <a:r>
              <a:rPr lang="en-US" dirty="0"/>
              <a:t>Parent 2: Individual 4 (34/108)</a:t>
            </a:r>
          </a:p>
          <a:p>
            <a:pPr marL="0" indent="0">
              <a:buNone/>
            </a:pPr>
            <a:r>
              <a:rPr lang="en-US" dirty="0"/>
              <a:t>Parent 3: Individual 1 (32/108)</a:t>
            </a:r>
          </a:p>
          <a:p>
            <a:pPr marL="0" indent="0">
              <a:buNone/>
            </a:pPr>
            <a:r>
              <a:rPr lang="en-US" dirty="0"/>
              <a:t>Parent 4: Individual 5 (42/108)</a:t>
            </a:r>
          </a:p>
        </p:txBody>
      </p:sp>
    </p:spTree>
    <p:extLst>
      <p:ext uri="{BB962C8B-B14F-4D97-AF65-F5344CB8AC3E}">
        <p14:creationId xmlns:p14="http://schemas.microsoft.com/office/powerpoint/2010/main" val="2771251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B052-E5DE-2E4F-C493-7FAB84DC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4745D-9B20-6E2A-AF80-26816297E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4: Crossover</a:t>
            </a:r>
          </a:p>
          <a:p>
            <a:pPr marL="0" indent="0">
              <a:buNone/>
            </a:pPr>
            <a:r>
              <a:rPr lang="en-US" dirty="0"/>
              <a:t>Perform crossover to generate offspring. We'll use single-point crossover.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Parent 1: 11100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Parent 2: 10010</a:t>
            </a:r>
          </a:p>
          <a:p>
            <a:pPr marL="0" indent="0">
              <a:buNone/>
            </a:pPr>
            <a:r>
              <a:rPr lang="en-US" dirty="0"/>
              <a:t>Single-point crossover at position 3:</a:t>
            </a:r>
          </a:p>
          <a:p>
            <a:r>
              <a:rPr lang="en-US" dirty="0"/>
              <a:t>Offspring 1: 11110 </a:t>
            </a:r>
          </a:p>
          <a:p>
            <a:r>
              <a:rPr lang="en-US" dirty="0"/>
              <a:t>Offspring 2: 10000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426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AC7F-A132-093B-DB95-F108A4D08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22E73-B4AB-86D6-DAFE-2F04F37FE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Parent 3: 11001</a:t>
            </a:r>
          </a:p>
          <a:p>
            <a:r>
              <a:rPr lang="en-US" dirty="0"/>
              <a:t>Parent 4: 11100</a:t>
            </a:r>
          </a:p>
          <a:p>
            <a:pPr marL="0" indent="0">
              <a:buNone/>
            </a:pPr>
            <a:r>
              <a:rPr lang="en-US" dirty="0"/>
              <a:t>Single-point crossover at position 2:</a:t>
            </a:r>
          </a:p>
          <a:p>
            <a:pPr marL="0" indent="0">
              <a:buNone/>
            </a:pPr>
            <a:r>
              <a:rPr lang="en-US" dirty="0"/>
              <a:t>Offspring 3: 11101</a:t>
            </a:r>
          </a:p>
          <a:p>
            <a:pPr marL="0" indent="0">
              <a:buNone/>
            </a:pPr>
            <a:r>
              <a:rPr lang="en-US" dirty="0"/>
              <a:t>Offspring 4: 11000</a:t>
            </a:r>
          </a:p>
          <a:p>
            <a:pPr marL="0" indent="0">
              <a:buNone/>
            </a:pPr>
            <a:r>
              <a:rPr lang="en-US" dirty="0"/>
              <a:t>Parent 1: 11100</a:t>
            </a:r>
          </a:p>
          <a:p>
            <a:pPr marL="0" indent="0">
              <a:buNone/>
            </a:pPr>
            <a:r>
              <a:rPr lang="en-US" dirty="0"/>
              <a:t>Parent 3: 11001</a:t>
            </a:r>
          </a:p>
          <a:p>
            <a:pPr marL="0" indent="0">
              <a:buNone/>
            </a:pPr>
            <a:r>
              <a:rPr lang="en-US" dirty="0"/>
              <a:t>Single-point crossover at position 4</a:t>
            </a:r>
          </a:p>
          <a:p>
            <a:pPr marL="0" indent="0">
              <a:buNone/>
            </a:pPr>
            <a:r>
              <a:rPr lang="en-US" dirty="0"/>
              <a:t>Offspring 5: 11101</a:t>
            </a:r>
          </a:p>
          <a:p>
            <a:pPr marL="0" indent="0">
              <a:buNone/>
            </a:pPr>
            <a:r>
              <a:rPr lang="en-US" dirty="0"/>
              <a:t>Offspring 6: 11000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3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2C7A-5158-77CB-9E94-19E0277A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5393-9931-F620-D1C1-10F69A839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5: Mutation</a:t>
            </a:r>
          </a:p>
          <a:p>
            <a:r>
              <a:rPr lang="en-US" dirty="0"/>
              <a:t>Apply mutation with a small probability (e.g., 1%). For simplicity, let's assume no mutation occurs in this generation.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30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37BCE-54AA-DD4E-98A1-2EFC877B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93BE4-60FE-6D9E-7A6A-908BBA235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Step 6: Replacement</a:t>
            </a:r>
          </a:p>
          <a:p>
            <a:pPr marL="0" indent="0">
              <a:buNone/>
            </a:pPr>
            <a:r>
              <a:rPr lang="en-US" dirty="0"/>
              <a:t>Replace the old population with the new population.</a:t>
            </a:r>
          </a:p>
          <a:p>
            <a:pPr marL="0" indent="0">
              <a:buNone/>
            </a:pPr>
            <a:r>
              <a:rPr lang="en-US" dirty="0"/>
              <a:t>New Population:</a:t>
            </a:r>
          </a:p>
          <a:p>
            <a:pPr marL="0" indent="0">
              <a:buNone/>
            </a:pPr>
            <a:r>
              <a:rPr lang="en-US" dirty="0"/>
              <a:t>Individual 1: 11110</a:t>
            </a:r>
          </a:p>
          <a:p>
            <a:pPr marL="0" indent="0">
              <a:buNone/>
            </a:pPr>
            <a:r>
              <a:rPr lang="en-US" dirty="0"/>
              <a:t>Individual 2: 10000</a:t>
            </a:r>
          </a:p>
          <a:p>
            <a:pPr marL="0" indent="0">
              <a:buNone/>
            </a:pPr>
            <a:r>
              <a:rPr lang="en-US" dirty="0"/>
              <a:t>Individual 3: 11101</a:t>
            </a:r>
          </a:p>
          <a:p>
            <a:pPr marL="0" indent="0">
              <a:buNone/>
            </a:pPr>
            <a:r>
              <a:rPr lang="en-US" dirty="0"/>
              <a:t>Individual 4: 11000</a:t>
            </a:r>
          </a:p>
          <a:p>
            <a:pPr marL="0" indent="0">
              <a:buNone/>
            </a:pPr>
            <a:r>
              <a:rPr lang="en-US" dirty="0"/>
              <a:t>Individual 5: 11101 </a:t>
            </a:r>
          </a:p>
          <a:p>
            <a:pPr marL="0" indent="0">
              <a:buNone/>
            </a:pPr>
            <a:r>
              <a:rPr lang="en-US" dirty="0"/>
              <a:t>Individual 6: 11000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BFC53-D5EB-DB4D-1B05-CA733EFE2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E20E-0C6E-E508-8C69-3DD953841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7: Termination</a:t>
            </a:r>
          </a:p>
          <a:p>
            <a:r>
              <a:rPr lang="en-US" dirty="0"/>
              <a:t>Evaluate the fitness of the new population and repeat steps 3-6 until the termination condition is met (e.g., a fixed number of generations or convergence).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39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500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Knapsack problem(Genetic algorithm)</vt:lpstr>
      <vt:lpstr>Knapsack</vt:lpstr>
      <vt:lpstr>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Misbhah Naz</dc:creator>
  <cp:lastModifiedBy>Misbhah Naz</cp:lastModifiedBy>
  <cp:revision>53</cp:revision>
  <dcterms:created xsi:type="dcterms:W3CDTF">2024-07-11T09:06:39Z</dcterms:created>
  <dcterms:modified xsi:type="dcterms:W3CDTF">2024-07-11T10:05:58Z</dcterms:modified>
</cp:coreProperties>
</file>