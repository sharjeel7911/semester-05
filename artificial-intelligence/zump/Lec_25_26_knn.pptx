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350" r:id="rId7"/>
    <p:sldId id="351" r:id="rId8"/>
    <p:sldId id="352" r:id="rId9"/>
    <p:sldId id="353" r:id="rId10"/>
    <p:sldId id="354" r:id="rId11"/>
    <p:sldId id="355" r:id="rId12"/>
    <p:sldId id="388" r:id="rId13"/>
    <p:sldId id="389" r:id="rId14"/>
    <p:sldId id="390" r:id="rId15"/>
    <p:sldId id="391" r:id="rId16"/>
    <p:sldId id="392" r:id="rId17"/>
    <p:sldId id="393" r:id="rId18"/>
    <p:sldId id="387" r:id="rId19"/>
    <p:sldId id="394" r:id="rId20"/>
    <p:sldId id="397" r:id="rId21"/>
    <p:sldId id="3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2D126-55FE-4001-B627-EDD247B9D968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E54B3-AF0A-40B4-A85E-05EE43421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54B3-AF0A-40B4-A85E-05EE43421F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7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4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9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1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8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1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8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CCB37-02EC-494A-A8EB-FCABA6DCE6FB}" type="datetimeFigureOut">
              <a:rPr lang="en-US" smtClean="0"/>
              <a:t>10-Jun-2025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mining/" TargetMode="External"/><Relationship Id="rId2" Type="http://schemas.openxmlformats.org/officeDocument/2006/relationships/hyperlink" Target="https://www.geeksforgeeks.org/supervised-unsupervised-learnin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284"/>
            <a:ext cx="9144000" cy="2387600"/>
          </a:xfrm>
        </p:spPr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46959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068" y="2546959"/>
            <a:ext cx="4031864" cy="373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5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A27A-8D36-5433-A51A-560F5EC9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CE04-2DF9-2F6A-FD1E-846E518B2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K-Nearest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Neighbours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one of the most basic yet essential classification algorithms in Machine Learning. It belongs to the </a:t>
            </a:r>
            <a:r>
              <a:rPr lang="en-US" b="0" i="0" u="sng" dirty="0">
                <a:effectLst/>
                <a:latin typeface="Nunito" pitchFamily="2" charset="0"/>
                <a:hlinkClick r:id="rId2"/>
              </a:rPr>
              <a:t>supervised learning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domain and finds intense application in pattern recognition, </a:t>
            </a:r>
            <a:r>
              <a:rPr lang="en-US" b="0" i="0" u="sng" dirty="0">
                <a:effectLst/>
                <a:latin typeface="Nunito" pitchFamily="2" charset="0"/>
                <a:hlinkClick r:id="rId3"/>
              </a:rPr>
              <a:t>data mining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and intrusion detection.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9888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72F9-F8AC-50BA-E713-3D1F7343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03223-7CC6-0C82-7FD9-8684520F2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BC74C-B236-5D46-FFAF-6008A5F1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516006"/>
            <a:ext cx="10906125" cy="5067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97EFBA-A396-7BA7-6D33-93EBC605994E}"/>
              </a:ext>
            </a:extLst>
          </p:cNvPr>
          <p:cNvSpPr txBox="1"/>
          <p:nvPr/>
        </p:nvSpPr>
        <p:spPr>
          <a:xfrm>
            <a:off x="9304255" y="3680324"/>
            <a:ext cx="1870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Zhon-ruh</a:t>
            </a:r>
            <a:r>
              <a:rPr lang="en-US" dirty="0"/>
              <a:t>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2807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0573-BAF9-7F63-87A9-4FDF0121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CC26E-32AE-82E0-37D0-8C518C002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148F2-2A52-FDD9-2253-575ED30F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1143000"/>
            <a:ext cx="93154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1870-9033-165A-1E76-15F2EF70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2442-6717-7079-967B-60A1DC4A1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71C9E-166D-D8A4-6377-F1807EB4B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1076325"/>
            <a:ext cx="94392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0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7D31-3FA0-954F-CF8C-5BF8210A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4D7AE-9EC5-A6FA-9A94-D60B5F790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7E239-3A77-4136-ED40-811D99094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157287"/>
            <a:ext cx="103536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2A1E-E8C1-18BB-5878-6093C9A7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85E95-46E4-5E3E-9605-3E9F75122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B4C21-D6A1-1E88-55C3-0098AF85B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09600"/>
            <a:ext cx="105346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2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78F0-301D-CB24-060D-6F1F918C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60C49-B51B-125F-FC39-7D431EA5D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02FFD-4521-87DA-3807-CEC39F36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676275"/>
            <a:ext cx="10553700" cy="5505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9A85C2-9BEE-B711-474A-41ECA9E78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12" y="5689081"/>
            <a:ext cx="4448175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786FD1-3C72-2CA8-209A-BA4F4A385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525" y="6259249"/>
            <a:ext cx="683895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23518F-7BED-49C6-CC67-D67F1459A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430649"/>
              </p:ext>
            </p:extLst>
          </p:nvPr>
        </p:nvGraphicFramePr>
        <p:xfrm>
          <a:off x="838200" y="20810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832805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076720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48407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cap="all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cap="all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259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380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effectLst/>
                          <a:latin typeface="inherit"/>
                        </a:rPr>
                        <a:t>90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113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393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441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033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9489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C6ABC6-6C75-E8E1-54F1-2081A356B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91421"/>
              </p:ext>
            </p:extLst>
          </p:nvPr>
        </p:nvGraphicFramePr>
        <p:xfrm>
          <a:off x="721468" y="5502558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685398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6066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5855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cap="all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cap="all" dirty="0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77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35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95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25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64942-093C-79A6-DEC9-853FCAF6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404" cy="4273618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Euclidean distance formula: √(X₂-X₁)²+(Y₂-Y₁)²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X₂ = New entry's brightness (20).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X₁= Existing entry's brightness.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Y₂ = New entry's saturation (35).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Y₁ = Existing entry's saturation.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d1 = √(20 - 40)² + (35 - 20)²</a:t>
            </a:r>
            <a:br>
              <a:rPr lang="en-US" dirty="0"/>
            </a:b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= √400 + 225</a:t>
            </a:r>
            <a:br>
              <a:rPr lang="en-US" dirty="0"/>
            </a:b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= √625</a:t>
            </a:r>
            <a:br>
              <a:rPr lang="en-US" dirty="0"/>
            </a:b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=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0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64942-093C-79A6-DEC9-853FCAF6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404" cy="4273618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d2 = √(20 - 50)² + (35 - 50)²</a:t>
            </a:r>
            <a:br>
              <a:rPr lang="en-US" dirty="0"/>
            </a:b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= √900 + 225</a:t>
            </a:r>
            <a:br>
              <a:rPr lang="en-US" dirty="0"/>
            </a:b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= √1125</a:t>
            </a:r>
            <a:br>
              <a:rPr lang="en-US" dirty="0"/>
            </a:b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= 33.54</a:t>
            </a:r>
          </a:p>
          <a:p>
            <a:pPr algn="l" fontAlgn="base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295FAE-61C4-B2C1-933E-C9C38F3D0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53976"/>
              </p:ext>
            </p:extLst>
          </p:nvPr>
        </p:nvGraphicFramePr>
        <p:xfrm>
          <a:off x="760379" y="3429000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067110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90904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646628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15312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cap="all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cap="all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12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48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58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90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68.01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682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118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61.03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5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47.17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98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45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18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365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64942-093C-79A6-DEC9-853FCAF6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404" cy="4273618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Let's rearrange the distances in ascending order:</a:t>
            </a:r>
          </a:p>
          <a:p>
            <a:pPr algn="l" fontAlgn="base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FDC88D-D0BC-5A88-538C-AA0530D31A7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550035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11716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794156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72579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cap="all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cap="all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013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1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3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794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45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567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47.17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530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70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61.03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229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90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68.01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224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30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4BBB-108E-4766-9721-AC9DDA7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64942-093C-79A6-DEC9-853FCAF69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404" cy="4273618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Since we chose 5 as the value of </a:t>
            </a:r>
            <a:r>
              <a:rPr lang="en-US" b="1" i="0" dirty="0"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K</a:t>
            </a: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, we'll only consider the first five rows. That is:</a:t>
            </a:r>
          </a:p>
          <a:p>
            <a:pPr algn="l" fontAlgn="base"/>
            <a:r>
              <a:rPr lang="en-US" dirty="0">
                <a:solidFill>
                  <a:srgbClr val="0A0A23"/>
                </a:solidFill>
                <a:highlight>
                  <a:srgbClr val="FFFFFF"/>
                </a:highlight>
                <a:latin typeface="Lato" panose="020F0502020204030203" pitchFamily="34" charset="0"/>
              </a:rPr>
              <a:t>So according to this new instance will belong to category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Lato" panose="020F0502020204030203" pitchFamily="34" charset="0"/>
              </a:rPr>
              <a:t>Red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Lato" panose="020F0502020204030203" pitchFamily="34" charset="0"/>
            </a:endParaRPr>
          </a:p>
          <a:p>
            <a:pPr algn="l" fontAlgn="base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8553D0-5F52-F0DA-B928-0DD44C8C9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667852"/>
              </p:ext>
            </p:extLst>
          </p:nvPr>
        </p:nvGraphicFramePr>
        <p:xfrm>
          <a:off x="740924" y="3623860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421836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39270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537559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42333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cap="all" dirty="0">
                          <a:effectLst/>
                          <a:latin typeface="inherit"/>
                        </a:rPr>
                        <a:t>BRIGHTNESs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cap="all">
                          <a:effectLst/>
                          <a:latin typeface="inherit"/>
                        </a:rPr>
                        <a:t>SATURATION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CLASS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b="1" cap="all">
                          <a:effectLst/>
                          <a:latin typeface="inherit"/>
                        </a:rPr>
                        <a:t>DISTANCE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673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14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5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40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04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33.54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703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>
                          <a:effectLst/>
                          <a:latin typeface="inherit"/>
                        </a:rPr>
                        <a:t>80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Blue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45.2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17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  <a:latin typeface="inherit"/>
                        </a:rPr>
                        <a:t>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>
                          <a:effectLst/>
                          <a:latin typeface="inherit"/>
                        </a:rPr>
                        <a:t>Red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dirty="0">
                          <a:effectLst/>
                          <a:latin typeface="inherit"/>
                        </a:rPr>
                        <a:t>47.17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03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99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7906-AC67-2621-22A0-610B1146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highlight>
                  <a:srgbClr val="FFFFFF"/>
                </a:highlight>
                <a:latin typeface="-apple-system"/>
              </a:rPr>
              <a:t>How to Choose the Value of K in the K-NN Algorithm</a:t>
            </a:r>
            <a:br>
              <a:rPr lang="en-US" b="1" i="0" dirty="0">
                <a:effectLst/>
                <a:highlight>
                  <a:srgbClr val="FFFFFF"/>
                </a:highlight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079-383F-B301-3406-00F7E0F7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There is no particular way of choosing the value </a:t>
            </a:r>
            <a:r>
              <a:rPr lang="en-US" b="1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K</a:t>
            </a: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, but here are some common conventions to keep in mind: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Choosing a very low value will most likely lead to inaccurate predictions.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The commonly used value of </a:t>
            </a:r>
            <a:r>
              <a:rPr lang="en-US" b="1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K </a:t>
            </a: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is 5.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Always use an odd number as the value of </a:t>
            </a:r>
            <a:r>
              <a:rPr lang="en-US" b="1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K</a:t>
            </a:r>
            <a:r>
              <a:rPr lang="en-U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42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B6C4-DB9D-E56E-2676-1DD8939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543"/>
          </a:xfrm>
        </p:spPr>
        <p:txBody>
          <a:bodyPr>
            <a:normAutofit fontScale="90000"/>
          </a:bodyPr>
          <a:lstStyle/>
          <a:p>
            <a:r>
              <a:rPr lang="en-US" dirty="0"/>
              <a:t>KNN   (k- nearest neighbor)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7C68D-068F-BC50-C771-82856730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7270"/>
            <a:ext cx="4391025" cy="5238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405EA2-EF6B-E221-A9B1-92222425B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358" y="2655364"/>
            <a:ext cx="1809750" cy="103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0B5A3-5F4A-0172-435C-342BA7EA1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442" y="1837097"/>
            <a:ext cx="5753100" cy="354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447088-6AB6-7C02-3DFA-14B513CB9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772" y="6047001"/>
            <a:ext cx="38195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53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B6C4-DB9D-E56E-2676-1DD89399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KNN   (k- nearest neighbor)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45E2C9-488E-0117-1ED3-A1B54FB2B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1" t="43106" r="1209" b="42795"/>
          <a:stretch/>
        </p:blipFill>
        <p:spPr>
          <a:xfrm>
            <a:off x="838200" y="1672161"/>
            <a:ext cx="9915488" cy="3648870"/>
          </a:xfrm>
        </p:spPr>
      </p:pic>
    </p:spTree>
    <p:extLst>
      <p:ext uri="{BB962C8B-B14F-4D97-AF65-F5344CB8AC3E}">
        <p14:creationId xmlns:p14="http://schemas.microsoft.com/office/powerpoint/2010/main" val="3971763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9700-6B69-27A1-ECB1-CF920B27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(Hamming Distance)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0466E-0FD6-3099-60E6-31BC6E18A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883" y="1690688"/>
            <a:ext cx="9152413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28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EE66-24AB-563D-07BF-7D7941E9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03B25-C19D-DCFD-49DB-517BEA005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5" y="1523795"/>
            <a:ext cx="9563929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6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12899E-B9C2-44DD-8150-623793B808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CFE128-D698-488F-9750-6C3561F33037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3.xml><?xml version="1.0" encoding="utf-8"?>
<ds:datastoreItem xmlns:ds="http://schemas.openxmlformats.org/officeDocument/2006/customXml" ds:itemID="{DE468536-C551-405B-8225-9189B44D2C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4101</TotalTime>
  <Words>400</Words>
  <Application>Microsoft Office PowerPoint</Application>
  <PresentationFormat>Widescreen</PresentationFormat>
  <Paragraphs>148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inherit</vt:lpstr>
      <vt:lpstr>Lato</vt:lpstr>
      <vt:lpstr>Nunito</vt:lpstr>
      <vt:lpstr>Office Theme</vt:lpstr>
      <vt:lpstr>KNN</vt:lpstr>
      <vt:lpstr>Definition: </vt:lpstr>
      <vt:lpstr>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How to Choose the Value of K in the K-NN Algorithm </vt:lpstr>
      <vt:lpstr>KNN   (k- nearest neighbor)</vt:lpstr>
      <vt:lpstr>KNN   (k- nearest neighbor)</vt:lpstr>
      <vt:lpstr>Example 3 (Hamming Distance)</vt:lpstr>
      <vt:lpstr>Solved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Classifier</dc:title>
  <dc:creator>FARHAN DAWOOD</dc:creator>
  <cp:lastModifiedBy>Misbah Naz</cp:lastModifiedBy>
  <cp:revision>96</cp:revision>
  <dcterms:created xsi:type="dcterms:W3CDTF">2019-06-19T06:26:36Z</dcterms:created>
  <dcterms:modified xsi:type="dcterms:W3CDTF">2025-06-10T08:15:37Z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