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wmf" ContentType="image/x-wmf"/>
  <Default Extension="emf" ContentType="image/x-emf"/>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lvl1pPr marL="0" algn="l" defTabSz="914400" rtl="0" eaLnBrk="1">
      <a:defRPr sz="1800" kern="1200">
        <a:solidFill>
          <a:schemeClr val="tx1"/>
        </a:solidFill>
        <a:latin typeface="+mn-lt"/>
        <a:ea typeface="+mn-ea"/>
        <a:cs typeface="+mn-cs"/>
      </a:defRPr>
    </a:lvl1pPr>
    <a:lvl2pPr marL="457200" algn="l" defTabSz="914400" rtl="0" eaLnBrk="1">
      <a:defRPr sz="1800" kern="1200">
        <a:solidFill>
          <a:schemeClr val="tx1"/>
        </a:solidFill>
        <a:latin typeface="+mn-lt"/>
        <a:ea typeface="+mn-ea"/>
        <a:cs typeface="+mn-cs"/>
      </a:defRPr>
    </a:lvl2pPr>
    <a:lvl3pPr marL="914400" algn="l" defTabSz="914400" rtl="0" eaLnBrk="1">
      <a:defRPr sz="1800" kern="1200">
        <a:solidFill>
          <a:schemeClr val="tx1"/>
        </a:solidFill>
        <a:latin typeface="+mn-lt"/>
        <a:ea typeface="+mn-ea"/>
        <a:cs typeface="+mn-cs"/>
      </a:defRPr>
    </a:lvl3pPr>
    <a:lvl4pPr marL="1371600" algn="l" defTabSz="914400" rtl="0" eaLnBrk="1">
      <a:defRPr sz="1800" kern="1200">
        <a:solidFill>
          <a:schemeClr val="tx1"/>
        </a:solidFill>
        <a:latin typeface="+mn-lt"/>
        <a:ea typeface="+mn-ea"/>
        <a:cs typeface="+mn-cs"/>
      </a:defRPr>
    </a:lvl4pPr>
    <a:lvl5pPr marL="1828800" algn="l" defTabSz="914400" rtl="0" eaLnBrk="1">
      <a:defRPr sz="1800" kern="1200">
        <a:solidFill>
          <a:schemeClr val="tx1"/>
        </a:solidFill>
        <a:latin typeface="+mn-lt"/>
        <a:ea typeface="+mn-ea"/>
        <a:cs typeface="+mn-cs"/>
      </a:defRPr>
    </a:lvl5pPr>
    <a:lvl6pPr marL="2286000" algn="l" defTabSz="914400" rtl="0" eaLnBrk="1">
      <a:defRPr sz="1800" kern="1200">
        <a:solidFill>
          <a:schemeClr val="tx1"/>
        </a:solidFill>
        <a:latin typeface="+mn-lt"/>
        <a:ea typeface="+mn-ea"/>
        <a:cs typeface="+mn-cs"/>
      </a:defRPr>
    </a:lvl6pPr>
    <a:lvl7pPr marL="2743200" algn="l" defTabSz="914400" rtl="0" eaLnBrk="1">
      <a:defRPr sz="1800" kern="1200">
        <a:solidFill>
          <a:schemeClr val="tx1"/>
        </a:solidFill>
        <a:latin typeface="+mn-lt"/>
        <a:ea typeface="+mn-ea"/>
        <a:cs typeface="+mn-cs"/>
      </a:defRPr>
    </a:lvl7pPr>
    <a:lvl8pPr marL="3200400" algn="l" defTabSz="914400" rtl="0" eaLnBrk="1">
      <a:defRPr sz="1800" kern="1200">
        <a:solidFill>
          <a:schemeClr val="tx1"/>
        </a:solidFill>
        <a:latin typeface="+mn-lt"/>
        <a:ea typeface="+mn-ea"/>
        <a:cs typeface="+mn-cs"/>
      </a:defRPr>
    </a:lvl8pPr>
    <a:lvl9pPr marL="3657600" algn="l" defTabSz="914400" rtl="0" eaLnBrk="1">
      <a:defRPr sz="1800" kern="1200">
        <a:solidFill>
          <a:schemeClr val="tx1"/>
        </a:solidFill>
        <a:latin typeface="+mn-lt"/>
        <a:ea typeface="+mn-ea"/>
        <a:cs typeface="+mn-cs"/>
      </a:defRPr>
    </a:lvl9pPr>
  </p:defaultTextStyle>
  <p:extLst>
    <p:ext xmlns:p="http://schemas.openxmlformats.org/presentationml/2006/main"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theme" Target="theme/theme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F395B21-E8EE-4505-87E0-7B7F2C3DBBD0}" type="datetimeFigureOut">
              <a:rPr lang="en-US"/>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C6D5D-A00E-4AA9-84F2-364CBECE0EEA}"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E609E6-1126-4CCC-8F95-892B304C12E9}" type="datetimeFigureOut">
              <a:rPr lang="en-US"/>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D0F9E-EF7E-4C26-8662-25A73F2263DD}"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Click to edit Master text styles</a:t>
            </a:r>
          </a:p>
        </p:txBody>
      </p:sp>
      <p:sp>
        <p:nvSpPr>
          <p:cNvPr id="4" name="Date Placeholder 3"/>
          <p:cNvSpPr>
            <a:spLocks noGrp="1"/>
          </p:cNvSpPr>
          <p:nvPr>
            <p:ph type="dt" sz="half" idx="10"/>
          </p:nvPr>
        </p:nvSpPr>
        <p:spPr/>
        <p:txBody>
          <a:bodyPr/>
          <a:lstStyle/>
          <a:p>
            <a:fld id="{B43082BF-5467-4883-8896-824F7369BC9A}" type="datetimeFigureOut">
              <a:rPr lang="en-US"/>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C18080-B33E-4073-8615-72D8F5AE8F7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3A66248-C912-41CA-84D9-08E1C7982093}" type="datetimeFigureOut">
              <a:rPr lang="en-US"/>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CB9569-04AF-4288-8880-64CE52ABE7A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EFB636-F4D9-4299-85F9-44D23E27C49C}" type="datetimeFigureOut">
              <a:rPr lang="en-US"/>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533E07-937E-4FED-8300-891295843456}"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CAC346-E4DF-45C0-848B-E2AC5513E0D5}" type="datetimeFigureOut">
              <a:rPr lang="en-US"/>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28B55B-FA15-48BA-860D-0231187503D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20B29E-DC2A-4D67-887F-3BE2DC8489D6}" type="datetimeFigureOut">
              <a:rPr lang="en-US"/>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E0EBC0-ADA9-4FA7-889C-9287646BC79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Click to edit Master text styles</a:t>
            </a:r>
          </a:p>
        </p:txBody>
      </p:sp>
      <p:sp>
        <p:nvSpPr>
          <p:cNvPr id="5" name="Date Placeholder 4"/>
          <p:cNvSpPr>
            <a:spLocks noGrp="1"/>
          </p:cNvSpPr>
          <p:nvPr>
            <p:ph type="dt" sz="half" idx="10"/>
          </p:nvPr>
        </p:nvSpPr>
        <p:spPr/>
        <p:txBody>
          <a:bodyPr/>
          <a:lstStyle/>
          <a:p>
            <a:fld id="{AFC563BD-7186-488E-816C-8F41FA24179F}" type="datetimeFigureOut">
              <a:rPr lang="en-US"/>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25AB8-FB3A-479C-8780-0B7E5F586C0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Click to edit Master text styles</a:t>
            </a:r>
          </a:p>
        </p:txBody>
      </p:sp>
      <p:sp>
        <p:nvSpPr>
          <p:cNvPr id="5" name="Date Placeholder 4"/>
          <p:cNvSpPr>
            <a:spLocks noGrp="1"/>
          </p:cNvSpPr>
          <p:nvPr>
            <p:ph type="dt" sz="half" idx="10"/>
          </p:nvPr>
        </p:nvSpPr>
        <p:spPr/>
        <p:txBody>
          <a:bodyPr/>
          <a:lstStyle/>
          <a:p>
            <a:fld id="{1EE02C48-70E8-4C8D-81F4-17FB598144B8}" type="datetimeFigureOut">
              <a:rPr lang="en-US"/>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FC29A-6C4F-4141-86E3-1A3E2D58E3A2}"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602B83-4DFE-444B-8222-D5FF1EA6B44C}" type="datetimeFigureOut">
              <a:rPr lang="en-US"/>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19C649-D3E0-46CB-87C1-67136E4226A6}"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FA40F9-1701-4EB4-806D-4ED861E7A003}" type="datetimeFigureOut">
              <a:rPr lang="en-US"/>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BE78A-EB3E-401E-81B5-D7F53201DAF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Theme">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ADADCF-DC63-475D-8D69-AEBF4EDF3BBC}" type="datetimeFigureOut">
              <a:rPr lang="en-US"/>
              <a:t>6/17/2026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D6AB1-0FDA-49F1-8390-8828CE9E6676}"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a:lnSpc>
          <a:spcPct val="90000"/>
        </a:lnSpc>
        <a:spcBef>
          <a:spcPts val="500"/>
        </a:spcBef>
        <a:buFont typeface="Arial"/>
        <a:buChar char="•"/>
        <a:defRPr sz="1800" kern="1200">
          <a:solidFill>
            <a:schemeClr val="tx1"/>
          </a:solidFill>
          <a:latin typeface="+mn-lt"/>
          <a:ea typeface="+mn-ea"/>
          <a:cs typeface="+mn-cs"/>
        </a:defRPr>
      </a:lvl9pPr>
    </p:bodyStyle>
    <p:otherStyle>
      <a:lvl1pPr marL="0" algn="l" defTabSz="914400" rtl="0" eaLnBrk="1">
        <a:defRPr sz="1800" kern="1200">
          <a:solidFill>
            <a:schemeClr val="tx1"/>
          </a:solidFill>
          <a:latin typeface="+mn-lt"/>
          <a:ea typeface="+mn-ea"/>
          <a:cs typeface="+mn-cs"/>
        </a:defRPr>
      </a:lvl1pPr>
      <a:lvl2pPr marL="457200" algn="l" defTabSz="914400" rtl="0" eaLnBrk="1">
        <a:defRPr sz="1800" kern="1200">
          <a:solidFill>
            <a:schemeClr val="tx1"/>
          </a:solidFill>
          <a:latin typeface="+mn-lt"/>
          <a:ea typeface="+mn-ea"/>
          <a:cs typeface="+mn-cs"/>
        </a:defRPr>
      </a:lvl2pPr>
      <a:lvl3pPr marL="914400" algn="l" defTabSz="914400" rtl="0" eaLnBrk="1">
        <a:defRPr sz="1800" kern="1200">
          <a:solidFill>
            <a:schemeClr val="tx1"/>
          </a:solidFill>
          <a:latin typeface="+mn-lt"/>
          <a:ea typeface="+mn-ea"/>
          <a:cs typeface="+mn-cs"/>
        </a:defRPr>
      </a:lvl3pPr>
      <a:lvl4pPr marL="1371600" algn="l" defTabSz="914400" rtl="0" eaLnBrk="1">
        <a:defRPr sz="1800" kern="1200">
          <a:solidFill>
            <a:schemeClr val="tx1"/>
          </a:solidFill>
          <a:latin typeface="+mn-lt"/>
          <a:ea typeface="+mn-ea"/>
          <a:cs typeface="+mn-cs"/>
        </a:defRPr>
      </a:lvl4pPr>
      <a:lvl5pPr marL="1828800" algn="l" defTabSz="914400" rtl="0" eaLnBrk="1">
        <a:defRPr sz="1800" kern="1200">
          <a:solidFill>
            <a:schemeClr val="tx1"/>
          </a:solidFill>
          <a:latin typeface="+mn-lt"/>
          <a:ea typeface="+mn-ea"/>
          <a:cs typeface="+mn-cs"/>
        </a:defRPr>
      </a:lvl5pPr>
      <a:lvl6pPr marL="2286000" algn="l" defTabSz="914400" rtl="0" eaLnBrk="1">
        <a:defRPr sz="1800" kern="1200">
          <a:solidFill>
            <a:schemeClr val="tx1"/>
          </a:solidFill>
          <a:latin typeface="+mn-lt"/>
          <a:ea typeface="+mn-ea"/>
          <a:cs typeface="+mn-cs"/>
        </a:defRPr>
      </a:lvl6pPr>
      <a:lvl7pPr marL="2743200" algn="l" defTabSz="914400" rtl="0" eaLnBrk="1">
        <a:defRPr sz="1800" kern="1200">
          <a:solidFill>
            <a:schemeClr val="tx1"/>
          </a:solidFill>
          <a:latin typeface="+mn-lt"/>
          <a:ea typeface="+mn-ea"/>
          <a:cs typeface="+mn-cs"/>
        </a:defRPr>
      </a:lvl7pPr>
      <a:lvl8pPr marL="3200400" algn="l" defTabSz="914400" rtl="0" eaLnBrk="1">
        <a:defRPr sz="1800" kern="1200">
          <a:solidFill>
            <a:schemeClr val="tx1"/>
          </a:solidFill>
          <a:latin typeface="+mn-lt"/>
          <a:ea typeface="+mn-ea"/>
          <a:cs typeface="+mn-cs"/>
        </a:defRPr>
      </a:lvl8pPr>
      <a:lvl9pPr marL="3657600" algn="l" defTabSz="914400" rtl="0" eaLnBrk="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n.wikipedia.org/wiki/Joint_probability_distribution" TargetMode="External"/><Relationship Id="rId3" Type="http://schemas.openxmlformats.org/officeDocument/2006/relationships/hyperlink" Target="https://en.wikipedia.org/wiki/Marginal_distribution" TargetMode="External"/><Relationship Id="rId4" Type="http://schemas.openxmlformats.org/officeDocument/2006/relationships/hyperlink" Target="https://en.wikipedia.org/wiki/Conditional_probabili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wmf"/><Relationship Id="rId3" Type="http://schemas.openxmlformats.org/officeDocument/2006/relationships/image" Target="../media/image39.wmf"/><Relationship Id="rId4" Type="http://schemas.openxmlformats.org/officeDocument/2006/relationships/image" Target="../media/image40.wmf"/><Relationship Id="rId5" Type="http://schemas.openxmlformats.org/officeDocument/2006/relationships/image" Target="../media/image41.wmf"/><Relationship Id="rId6" Type="http://schemas.openxmlformats.org/officeDocument/2006/relationships/image" Target="../media/image42.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wmf"/><Relationship Id="rId3" Type="http://schemas.openxmlformats.org/officeDocument/2006/relationships/image" Target="../media/image44.wmf"/><Relationship Id="rId4" Type="http://schemas.openxmlformats.org/officeDocument/2006/relationships/image" Target="../media/image4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7284"/>
            <a:ext cx="9144000" cy="2387600"/>
          </a:xfrm>
          <a:prstGeom prst="rect">
            <a:avLst/>
          </a:prstGeom>
        </p:spPr>
        <p:txBody>
          <a:bodyPr/>
          <a:lstStyle/>
          <a:p>
            <a:r>
              <a:rPr lang="en-US"/>
              <a:t>Naïve Bayesian Classifier</a:t>
            </a:r>
          </a:p>
        </p:txBody>
      </p:sp>
      <p:sp>
        <p:nvSpPr>
          <p:cNvPr id="3" name="Subtitle 2"/>
          <p:cNvSpPr>
            <a:spLocks noGrp="1"/>
          </p:cNvSpPr>
          <p:nvPr>
            <p:ph type="subTitle" idx="1"/>
          </p:nvPr>
        </p:nvSpPr>
        <p:spPr>
          <a:xfrm>
            <a:off x="1524000" y="2546959"/>
            <a:ext cx="9144000" cy="1655762"/>
          </a:xfrm>
          <a:prstGeom prst="rect">
            <a:avLst/>
          </a:prstGeom>
        </p:spPr>
        <p:txBody>
          <a:bodyPr/>
          <a:lstStyle/>
          <a:p>
            <a:endParaRPr lang="en-US"/>
          </a:p>
        </p:txBody>
      </p:sp>
      <p:pic>
        <p:nvPicPr>
          <p:cNvPr id="4" name="Picture 3"/>
          <p:cNvPicPr>
            <a:picLocks noChangeAspect="1"/>
          </p:cNvPicPr>
          <p:nvPr/>
        </p:nvPicPr>
        <p:blipFill rotWithShape="1">
          <a:blip r:embed="rId2"/>
          <a:stretch>
            <a:fillRect/>
          </a:stretch>
        </p:blipFill>
        <p:spPr>
          <a:xfrm>
            <a:off x="4080068" y="2546959"/>
            <a:ext cx="4031864" cy="37306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a:lstStyle/>
          <a:p>
            <a:pPr eaLnBrk="1"/>
            <a:r>
              <a:rPr lang="en-US"/>
              <a:t>Probabilistic Models</a:t>
            </a:r>
          </a:p>
        </p:txBody>
      </p:sp>
      <p:sp>
        <p:nvSpPr>
          <p:cNvPr id="10243" name="Rectangle 3"/>
          <p:cNvSpPr>
            <a:spLocks noGrp="1"/>
          </p:cNvSpPr>
          <p:nvPr>
            <p:ph idx="1"/>
          </p:nvPr>
        </p:nvSpPr>
        <p:spPr>
          <a:xfrm>
            <a:off x="838200" y="1825625"/>
            <a:ext cx="4817012" cy="4351338"/>
          </a:xfrm>
          <a:prstGeom prst="rect">
            <a:avLst/>
          </a:prstGeom>
        </p:spPr>
        <p:txBody>
          <a:bodyPr/>
          <a:lstStyle/>
          <a:p>
            <a:pPr eaLnBrk="1">
              <a:lnSpc>
                <a:spcPct val="80000"/>
              </a:lnSpc>
            </a:pPr>
            <a:r>
              <a:rPr lang="en-US" sz="2000"/>
              <a:t>A probabilistic model is a joint distribution over a set of random variables</a:t>
            </a:r>
          </a:p>
          <a:p>
            <a:pPr lvl="1" eaLnBrk="1">
              <a:lnSpc>
                <a:spcPct val="80000"/>
              </a:lnSpc>
            </a:pPr>
            <a:endParaRPr lang="en-US" sz="1800"/>
          </a:p>
          <a:p>
            <a:pPr eaLnBrk="1">
              <a:lnSpc>
                <a:spcPct val="80000"/>
              </a:lnSpc>
            </a:pPr>
            <a:r>
              <a:rPr lang="en-US" sz="2000"/>
              <a:t>Probabilistic models:</a:t>
            </a:r>
          </a:p>
          <a:p>
            <a:pPr lvl="1" eaLnBrk="1">
              <a:lnSpc>
                <a:spcPct val="80000"/>
              </a:lnSpc>
            </a:pPr>
            <a:r>
              <a:rPr lang="en-US" sz="1800"/>
              <a:t>(Random) variables with domains </a:t>
            </a:r>
          </a:p>
          <a:p>
            <a:pPr lvl="1" eaLnBrk="1">
              <a:lnSpc>
                <a:spcPct val="80000"/>
              </a:lnSpc>
            </a:pPr>
            <a:r>
              <a:rPr lang="en-US" sz="1800"/>
              <a:t>Assignments are called </a:t>
            </a:r>
            <a:r>
              <a:rPr lang="en-US" sz="1800" i="1"/>
              <a:t>outcomes</a:t>
            </a:r>
          </a:p>
          <a:p>
            <a:pPr lvl="1" eaLnBrk="1">
              <a:lnSpc>
                <a:spcPct val="80000"/>
              </a:lnSpc>
            </a:pPr>
            <a:r>
              <a:rPr lang="en-US" sz="1800"/>
              <a:t>Joint distributions: say whether assignments (outcomes) are likely</a:t>
            </a:r>
          </a:p>
          <a:p>
            <a:pPr lvl="1" eaLnBrk="1">
              <a:lnSpc>
                <a:spcPct val="80000"/>
              </a:lnSpc>
            </a:pPr>
            <a:r>
              <a:rPr lang="en-US" sz="1800" i="1"/>
              <a:t>Normalized:</a:t>
            </a:r>
            <a:r>
              <a:rPr lang="en-US" sz="1800"/>
              <a:t> sum to 1.0</a:t>
            </a:r>
          </a:p>
          <a:p>
            <a:pPr lvl="1" eaLnBrk="1">
              <a:lnSpc>
                <a:spcPct val="80000"/>
              </a:lnSpc>
            </a:pPr>
            <a:r>
              <a:rPr lang="en-US" sz="1800"/>
              <a:t>Ideally: only certain variables directly interact</a:t>
            </a:r>
          </a:p>
          <a:p>
            <a:pPr eaLnBrk="1">
              <a:lnSpc>
                <a:spcPct val="80000"/>
              </a:lnSpc>
            </a:pPr>
            <a:r>
              <a:rPr lang="en-US" sz="2000">
                <a:solidFill>
                  <a:srgbClr val="FF0000"/>
                </a:solidFill>
              </a:rPr>
              <a:t>We will not be discussing Independent events, and Mutually Exclusive events</a:t>
            </a:r>
          </a:p>
          <a:p>
            <a:pPr lvl="1" eaLnBrk="1">
              <a:lnSpc>
                <a:spcPct val="80000"/>
              </a:lnSpc>
            </a:pPr>
            <a:endParaRPr lang="en-US" sz="1600"/>
          </a:p>
          <a:p>
            <a:pPr lvl="1" eaLnBrk="1">
              <a:lnSpc>
                <a:spcPct val="80000"/>
              </a:lnSpc>
            </a:pPr>
            <a:endParaRPr lang="en-US" sz="1600"/>
          </a:p>
        </p:txBody>
      </p:sp>
      <p:graphicFrame>
        <p:nvGraphicFramePr>
          <p:cNvPr id="1009904" name="Group 240"/>
          <p:cNvGraphicFramePr>
            <a:graphicFrameLocks noGrp="1"/>
          </p:cNvGraphicFramePr>
          <p:nvPr/>
        </p:nvGraphicFramePr>
        <p:xfrm>
          <a:off x="5987129" y="2904066"/>
          <a:ext cx="2743200" cy="1981200"/>
        </p:xfrm>
        <a:graphic>
          <a:graphicData uri="http://schemas.openxmlformats.org/drawingml/2006/table">
            <a:tbl>
              <a:tblPr>
                <a:tableStyleId>{2D5ABB26-0587-4C30-8999-92F81FD0307C}</a:tableStyleId>
              </a:tblPr>
              <a:tblGrid>
                <a:gridCol w="914400"/>
                <a:gridCol w="914400"/>
                <a:gridCol w="914400"/>
              </a:tblGrid>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W</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P</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0.4</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0.1</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0.2</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0.3</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sp>
        <p:nvSpPr>
          <p:cNvPr id="10297" name="TextBox 6"/>
          <p:cNvSpPr txBox="1"/>
          <p:nvPr/>
        </p:nvSpPr>
        <p:spPr>
          <a:xfrm>
            <a:off x="6326854" y="1825625"/>
            <a:ext cx="2403475" cy="646331"/>
          </a:xfrm>
          <a:prstGeom prst="rect">
            <a:avLst/>
          </a:prstGeom>
          <a:noFill/>
          <a:ln>
            <a:noFill/>
          </a:ln>
        </p:spPr>
        <p:txBody>
          <a:bodyPr>
            <a:spAutoFit/>
          </a:bodyPr>
          <a:lstStyle>
            <a:lvl1pPr eaLnBrk="0">
              <a:defRPr>
                <a:solidFill>
                  <a:schemeClr val="tx1"/>
                </a:solidFill>
                <a:latin typeface="Arial"/>
              </a:defRPr>
            </a:lvl1pPr>
            <a:lvl2pPr marL="742950" indent="-285750" eaLnBrk="0">
              <a:defRPr>
                <a:solidFill>
                  <a:schemeClr val="tx1"/>
                </a:solidFill>
                <a:latin typeface="Arial"/>
              </a:defRPr>
            </a:lvl2pPr>
            <a:lvl3pPr marL="1143000" indent="-228600" eaLnBrk="0">
              <a:defRPr>
                <a:solidFill>
                  <a:schemeClr val="tx1"/>
                </a:solidFill>
                <a:latin typeface="Arial"/>
              </a:defRPr>
            </a:lvl3pPr>
            <a:lvl4pPr marL="1600200" indent="-228600" eaLnBrk="0">
              <a:defRPr>
                <a:solidFill>
                  <a:schemeClr val="tx1"/>
                </a:solidFill>
                <a:latin typeface="Arial"/>
              </a:defRPr>
            </a:lvl4pPr>
            <a:lvl5pPr marL="2057400" indent="-228600" eaLnBrk="0">
              <a:defRPr>
                <a:solidFill>
                  <a:schemeClr val="tx1"/>
                </a:solidFill>
                <a:latin typeface="Arial"/>
              </a:defRPr>
            </a:lvl5pPr>
            <a:lvl6pPr marL="2514600" indent="-228600" eaLnBrk="0" fontAlgn="base">
              <a:spcBef>
                <a:spcPct val="0"/>
              </a:spcBef>
              <a:spcAft>
                <a:spcPct val="0"/>
              </a:spcAft>
              <a:defRPr>
                <a:solidFill>
                  <a:schemeClr val="tx1"/>
                </a:solidFill>
                <a:latin typeface="Arial"/>
              </a:defRPr>
            </a:lvl6pPr>
            <a:lvl7pPr marL="2971800" indent="-228600" eaLnBrk="0" fontAlgn="base">
              <a:spcBef>
                <a:spcPct val="0"/>
              </a:spcBef>
              <a:spcAft>
                <a:spcPct val="0"/>
              </a:spcAft>
              <a:defRPr>
                <a:solidFill>
                  <a:schemeClr val="tx1"/>
                </a:solidFill>
                <a:latin typeface="Arial"/>
              </a:defRPr>
            </a:lvl7pPr>
            <a:lvl8pPr marL="3429000" indent="-228600" eaLnBrk="0" fontAlgn="base">
              <a:spcBef>
                <a:spcPct val="0"/>
              </a:spcBef>
              <a:spcAft>
                <a:spcPct val="0"/>
              </a:spcAft>
              <a:defRPr>
                <a:solidFill>
                  <a:schemeClr val="tx1"/>
                </a:solidFill>
                <a:latin typeface="Arial"/>
              </a:defRPr>
            </a:lvl8pPr>
            <a:lvl9pPr marL="3886200" indent="-228600" eaLnBrk="0" fontAlgn="base">
              <a:spcBef>
                <a:spcPct val="0"/>
              </a:spcBef>
              <a:spcAft>
                <a:spcPct val="0"/>
              </a:spcAft>
              <a:defRPr>
                <a:solidFill>
                  <a:schemeClr val="tx1"/>
                </a:solidFill>
                <a:latin typeface="Arial"/>
              </a:defRPr>
            </a:lvl9pPr>
          </a:lstStyle>
          <a:p>
            <a:pPr eaLnBrk="1"/>
            <a:r>
              <a:rPr lang="en-US">
                <a:latin typeface="Calibri"/>
                <a:cs typeface="Calibri"/>
              </a:rPr>
              <a:t>Distribution over Temp , Weather</a:t>
            </a:r>
          </a:p>
        </p:txBody>
      </p:sp>
      <p:pic>
        <p:nvPicPr>
          <p:cNvPr id="3" name="Picture 2"/>
          <p:cNvPicPr>
            <a:picLocks noChangeAspect="1"/>
          </p:cNvPicPr>
          <p:nvPr/>
        </p:nvPicPr>
        <p:blipFill rotWithShape="1">
          <a:blip r:embed="rId2"/>
          <a:stretch>
            <a:fillRect/>
          </a:stretch>
        </p:blipFill>
        <p:spPr>
          <a:xfrm>
            <a:off x="9062246" y="2797815"/>
            <a:ext cx="2962741" cy="20874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Main Types of Probability (discussed here)</a:t>
            </a:r>
          </a:p>
        </p:txBody>
      </p:sp>
      <p:sp>
        <p:nvSpPr>
          <p:cNvPr id="3" name="Content Placeholder 2"/>
          <p:cNvSpPr>
            <a:spLocks noGrp="1"/>
          </p:cNvSpPr>
          <p:nvPr>
            <p:ph idx="1"/>
          </p:nvPr>
        </p:nvSpPr>
        <p:spPr>
          <a:xfrm>
            <a:off x="838200" y="1510146"/>
            <a:ext cx="10515600" cy="5250872"/>
          </a:xfrm>
          <a:prstGeom prst="rect">
            <a:avLst/>
          </a:prstGeom>
        </p:spPr>
        <p:txBody>
          <a:bodyPr>
            <a:normAutofit fontScale="92500" lnSpcReduction="10000"/>
          </a:bodyPr>
          <a:lstStyle/>
          <a:p>
            <a:r>
              <a:rPr lang="en-US"/>
              <a:t>Joint Probability</a:t>
            </a:r>
          </a:p>
          <a:p>
            <a:pPr lvl="1"/>
            <a:r>
              <a:rPr lang="en-US"/>
              <a:t>The probability of two (or more) events is called the </a:t>
            </a:r>
            <a:r>
              <a:rPr lang="en-US">
                <a:hlinkClick r:id="rId2"/>
              </a:rPr>
              <a:t>joint probability</a:t>
            </a:r>
            <a:r>
              <a:rPr lang="en-US"/>
              <a:t>. The joint probability of two or more random variables is referred to as the joint probability distribution. </a:t>
            </a:r>
          </a:p>
          <a:p>
            <a:pPr lvl="1"/>
            <a:r>
              <a:rPr lang="en-US">
                <a:solidFill>
                  <a:srgbClr val="FF0000"/>
                </a:solidFill>
              </a:rPr>
              <a:t>P(A and B) = P(A given B) * P(B)</a:t>
            </a:r>
          </a:p>
          <a:p>
            <a:pPr lvl="1"/>
            <a:endParaRPr lang="en-US">
              <a:solidFill>
                <a:srgbClr val="FF0000"/>
              </a:solidFill>
            </a:endParaRPr>
          </a:p>
          <a:p>
            <a:r>
              <a:rPr lang="en-US"/>
              <a:t>Marginal Probability</a:t>
            </a:r>
          </a:p>
          <a:p>
            <a:pPr lvl="1"/>
            <a:r>
              <a:rPr lang="en-US"/>
              <a:t>The probability of one event in the presence of all (or a subset of) outcomes of the other random variable is called the </a:t>
            </a:r>
            <a:r>
              <a:rPr lang="en-US">
                <a:hlinkClick r:id="rId3"/>
              </a:rPr>
              <a:t>marginal probability</a:t>
            </a:r>
            <a:r>
              <a:rPr lang="en-US"/>
              <a:t> or the marginal distribution.</a:t>
            </a:r>
          </a:p>
          <a:p>
            <a:pPr lvl="1"/>
            <a:r>
              <a:rPr lang="es-ES">
                <a:solidFill>
                  <a:srgbClr val="FF0000"/>
                </a:solidFill>
              </a:rPr>
              <a:t>P(X=A) = sum P(X=A, Y=</a:t>
            </a:r>
            <a:r>
              <a:rPr lang="es-ES">
                <a:solidFill>
                  <a:srgbClr val="FF0000"/>
                </a:solidFill>
              </a:rPr>
              <a:t>yi</a:t>
            </a:r>
            <a:r>
              <a:rPr lang="es-ES">
                <a:solidFill>
                  <a:srgbClr val="FF0000"/>
                </a:solidFill>
              </a:rPr>
              <a:t>) </a:t>
            </a:r>
            <a:r>
              <a:rPr lang="es-ES">
                <a:solidFill>
                  <a:srgbClr val="FF0000"/>
                </a:solidFill>
              </a:rPr>
              <a:t>for</a:t>
            </a:r>
            <a:r>
              <a:rPr lang="es-ES">
                <a:solidFill>
                  <a:srgbClr val="FF0000"/>
                </a:solidFill>
              </a:rPr>
              <a:t> </a:t>
            </a:r>
            <a:r>
              <a:rPr lang="es-ES">
                <a:solidFill>
                  <a:srgbClr val="FF0000"/>
                </a:solidFill>
              </a:rPr>
              <a:t>all</a:t>
            </a:r>
            <a:r>
              <a:rPr lang="es-ES">
                <a:solidFill>
                  <a:srgbClr val="FF0000"/>
                </a:solidFill>
              </a:rPr>
              <a:t> y</a:t>
            </a:r>
          </a:p>
          <a:p>
            <a:pPr lvl="1"/>
            <a:endParaRPr lang="en-US">
              <a:solidFill>
                <a:srgbClr val="FF0000"/>
              </a:solidFill>
            </a:endParaRPr>
          </a:p>
          <a:p>
            <a:r>
              <a:rPr lang="en-US"/>
              <a:t>Conditional Probability</a:t>
            </a:r>
          </a:p>
          <a:p>
            <a:pPr lvl="1"/>
            <a:r>
              <a:rPr lang="en-US"/>
              <a:t>The probability of one event given the occurrence of another event is called the </a:t>
            </a:r>
            <a:r>
              <a:rPr lang="en-US">
                <a:hlinkClick r:id="rId4"/>
              </a:rPr>
              <a:t>conditional probability</a:t>
            </a:r>
            <a:r>
              <a:rPr lang="en-US"/>
              <a:t>. </a:t>
            </a:r>
          </a:p>
          <a:p>
            <a:pPr lvl="1"/>
            <a:r>
              <a:rPr lang="en-US">
                <a:solidFill>
                  <a:srgbClr val="FF0000"/>
                </a:solidFill>
              </a:rPr>
              <a:t>P(A given B)= P(A|B) = P(A and B)/P(B)</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a:lstStyle/>
          <a:p>
            <a:pPr eaLnBrk="1"/>
            <a:r>
              <a:rPr lang="en-US"/>
              <a:t>Events</a:t>
            </a:r>
          </a:p>
        </p:txBody>
      </p:sp>
      <p:sp>
        <p:nvSpPr>
          <p:cNvPr id="11267" name="Rectangle 3"/>
          <p:cNvSpPr>
            <a:spLocks noGrp="1"/>
          </p:cNvSpPr>
          <p:nvPr>
            <p:ph idx="1"/>
          </p:nvPr>
        </p:nvSpPr>
        <p:spPr>
          <a:xfrm>
            <a:off x="838200" y="1825625"/>
            <a:ext cx="7236655" cy="4351338"/>
          </a:xfrm>
          <a:prstGeom prst="rect">
            <a:avLst/>
          </a:prstGeom>
        </p:spPr>
        <p:txBody>
          <a:bodyPr>
            <a:normAutofit fontScale="92500" lnSpcReduction="20000"/>
          </a:bodyPr>
          <a:lstStyle/>
          <a:p>
            <a:pPr eaLnBrk="1">
              <a:lnSpc>
                <a:spcPct val="80000"/>
              </a:lnSpc>
            </a:pPr>
            <a:r>
              <a:rPr lang="en-US" sz="2800"/>
              <a:t>An </a:t>
            </a:r>
            <a:r>
              <a:rPr lang="en-US" sz="2800" i="1"/>
              <a:t>event</a:t>
            </a:r>
            <a:r>
              <a:rPr lang="en-US" sz="2800"/>
              <a:t> is a set E of outcomes</a:t>
            </a:r>
          </a:p>
          <a:p>
            <a:pPr eaLnBrk="1">
              <a:lnSpc>
                <a:spcPct val="80000"/>
              </a:lnSpc>
            </a:pPr>
            <a:endParaRPr lang="en-US" sz="2800"/>
          </a:p>
          <a:p>
            <a:pPr marL="3657417" lvl="8" indent="0">
              <a:lnSpc>
                <a:spcPct val="80000"/>
              </a:lnSpc>
              <a:buNone/>
            </a:pPr>
            <a:endParaRPr lang="en-US" sz="2800"/>
          </a:p>
          <a:p>
            <a:pPr marL="3657417" lvl="8" indent="0">
              <a:lnSpc>
                <a:spcPct val="80000"/>
              </a:lnSpc>
              <a:buNone/>
            </a:pPr>
            <a:endParaRPr lang="en-US" sz="1600"/>
          </a:p>
          <a:p>
            <a:pPr eaLnBrk="1">
              <a:lnSpc>
                <a:spcPct val="80000"/>
              </a:lnSpc>
            </a:pPr>
            <a:r>
              <a:rPr lang="en-US" sz="2800"/>
              <a:t>From a joint distribution, we can calculate the probability of any event</a:t>
            </a:r>
          </a:p>
          <a:p>
            <a:pPr lvl="3">
              <a:lnSpc>
                <a:spcPct val="80000"/>
              </a:lnSpc>
            </a:pPr>
            <a:endParaRPr lang="en-US" sz="1600"/>
          </a:p>
          <a:p>
            <a:pPr lvl="1" eaLnBrk="1">
              <a:lnSpc>
                <a:spcPct val="80000"/>
              </a:lnSpc>
            </a:pPr>
            <a:r>
              <a:rPr lang="en-US" sz="2600"/>
              <a:t>Probability that it’s hot AND sunny? </a:t>
            </a:r>
          </a:p>
          <a:p>
            <a:pPr lvl="1" eaLnBrk="1">
              <a:lnSpc>
                <a:spcPct val="80000"/>
              </a:lnSpc>
            </a:pPr>
            <a:endParaRPr lang="en-US" sz="2600"/>
          </a:p>
          <a:p>
            <a:pPr lvl="1" eaLnBrk="1">
              <a:lnSpc>
                <a:spcPct val="80000"/>
              </a:lnSpc>
            </a:pPr>
            <a:r>
              <a:rPr lang="en-US" sz="2600"/>
              <a:t>Probability that it’s hot?</a:t>
            </a:r>
          </a:p>
          <a:p>
            <a:pPr lvl="1" eaLnBrk="1">
              <a:lnSpc>
                <a:spcPct val="80000"/>
              </a:lnSpc>
            </a:pPr>
            <a:endParaRPr lang="en-US" sz="2600"/>
          </a:p>
          <a:p>
            <a:pPr lvl="1" eaLnBrk="1">
              <a:lnSpc>
                <a:spcPct val="80000"/>
              </a:lnSpc>
            </a:pPr>
            <a:r>
              <a:rPr lang="en-US" sz="2600"/>
              <a:t>Probability that it’s hot OR sunny?</a:t>
            </a:r>
          </a:p>
          <a:p>
            <a:pPr marL="457176" lvl="1" indent="0" eaLnBrk="1">
              <a:lnSpc>
                <a:spcPct val="80000"/>
              </a:lnSpc>
              <a:buNone/>
            </a:pPr>
            <a:endParaRPr lang="en-US" sz="2000"/>
          </a:p>
          <a:p>
            <a:pPr eaLnBrk="1">
              <a:lnSpc>
                <a:spcPct val="80000"/>
              </a:lnSpc>
            </a:pPr>
            <a:r>
              <a:rPr lang="en-US" sz="2800"/>
              <a:t>Typically, the events we care about are </a:t>
            </a:r>
            <a:r>
              <a:rPr lang="en-US" sz="2800" i="1"/>
              <a:t>partial assignments</a:t>
            </a:r>
            <a:r>
              <a:rPr lang="en-US" sz="2800"/>
              <a:t>, like P(T=hot)</a:t>
            </a:r>
          </a:p>
        </p:txBody>
      </p:sp>
      <p:graphicFrame>
        <p:nvGraphicFramePr>
          <p:cNvPr id="1036292" name="Group 4"/>
          <p:cNvGraphicFramePr>
            <a:graphicFrameLocks noGrp="1"/>
          </p:cNvGraphicFramePr>
          <p:nvPr/>
        </p:nvGraphicFramePr>
        <p:xfrm>
          <a:off x="8226236" y="3451800"/>
          <a:ext cx="2743200" cy="1981200"/>
        </p:xfrm>
        <a:graphic>
          <a:graphicData uri="http://schemas.openxmlformats.org/drawingml/2006/table">
            <a:tbl>
              <a:tblPr>
                <a:tableStyleId>{2D5ABB26-0587-4C30-8999-92F81FD0307C}</a:tableStyleId>
              </a:tblPr>
              <a:tblGrid>
                <a:gridCol w="914400"/>
                <a:gridCol w="914400"/>
                <a:gridCol w="914400"/>
              </a:tblGrid>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W</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P</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0.4</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0.1</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0.2</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0.3</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pic>
        <p:nvPicPr>
          <p:cNvPr id="11294" name="Picture 31" descr="txp_fig"/>
          <p:cNvPicPr>
            <a:picLocks noChangeAspect="1"/>
          </p:cNvPicPr>
          <p:nvPr/>
        </p:nvPicPr>
        <p:blipFill rotWithShape="1">
          <a:blip r:embed="rId2"/>
          <a:stretch>
            <a:fillRect/>
          </a:stretch>
        </p:blipFill>
        <p:spPr>
          <a:xfrm>
            <a:off x="2272699" y="2330416"/>
            <a:ext cx="4049019" cy="625771"/>
          </a:xfrm>
          <a:prstGeom prst="rect">
            <a:avLst/>
          </a:prstGeom>
          <a:noFill/>
          <a:ln>
            <a:noFill/>
          </a:ln>
        </p:spPr>
      </p:pic>
      <p:pic>
        <p:nvPicPr>
          <p:cNvPr id="6" name="Picture 5" descr="txp_fig"/>
          <p:cNvPicPr>
            <a:picLocks noChangeAspect="1"/>
          </p:cNvPicPr>
          <p:nvPr/>
        </p:nvPicPr>
        <p:blipFill rotWithShape="1">
          <a:blip r:embed="rId3"/>
          <a:stretch>
            <a:fillRect/>
          </a:stretch>
        </p:blipFill>
        <p:spPr>
          <a:xfrm>
            <a:off x="9077477" y="2956187"/>
            <a:ext cx="1179512" cy="298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1267">
                                            <p:txEl>
                                              <p:pRg st="6" end="6"/>
                                            </p:txEl>
                                          </p:spTgt>
                                        </p:tgtEl>
                                        <p:attrNameLst>
                                          <p:attrName>style.visibility</p:attrName>
                                        </p:attrNameLst>
                                      </p:cBhvr>
                                      <p:to>
                                        <p:strVal val="visible"/>
                                      </p:to>
                                    </p:set>
                                  </p:childTnLst>
                                </p:cTn>
                              </p:par>
                              <p:par>
                                <p:cTn id="13" presetID="1" presetClass="entr" presetSubtype="0" fill="hold" grpId="2" nodeType="withEffect">
                                  <p:stCondLst>
                                    <p:cond delay="0"/>
                                  </p:stCondLst>
                                  <p:childTnLst>
                                    <p:set>
                                      <p:cBhvr>
                                        <p:cTn id="14" dur="1" fill="hold">
                                          <p:stCondLst>
                                            <p:cond delay="0"/>
                                          </p:stCondLst>
                                        </p:cTn>
                                        <p:tgtEl>
                                          <p:spTgt spid="11267">
                                            <p:txEl>
                                              <p:pRg st="8" end="8"/>
                                            </p:txEl>
                                          </p:spTgt>
                                        </p:tgtEl>
                                        <p:attrNameLst>
                                          <p:attrName>style.visibility</p:attrName>
                                        </p:attrNameLst>
                                      </p:cBhvr>
                                      <p:to>
                                        <p:strVal val="visible"/>
                                      </p:to>
                                    </p:set>
                                  </p:childTnLst>
                                </p:cTn>
                              </p:par>
                              <p:par>
                                <p:cTn id="15" presetID="1" presetClass="entr" presetSubtype="0" fill="hold" grpId="3" nodeType="withEffect">
                                  <p:stCondLst>
                                    <p:cond delay="0"/>
                                  </p:stCondLst>
                                  <p:childTnLst>
                                    <p:set>
                                      <p:cBhvr>
                                        <p:cTn id="16" dur="1" fill="hold">
                                          <p:stCondLst>
                                            <p:cond delay="0"/>
                                          </p:stCondLst>
                                        </p:cTn>
                                        <p:tgtEl>
                                          <p:spTgt spid="11267">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62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4" nodeType="clickEffect">
                                  <p:stCondLst>
                                    <p:cond delay="0"/>
                                  </p:stCondLst>
                                  <p:childTnLst>
                                    <p:set>
                                      <p:cBhvr>
                                        <p:cTn id="22" dur="1" fill="hold">
                                          <p:stCondLst>
                                            <p:cond delay="0"/>
                                          </p:stCondLst>
                                        </p:cTn>
                                        <p:tgtEl>
                                          <p:spTgt spid="1126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nimBg="1"/>
      <p:bldP spid="11267" grpId="1" animBg="1"/>
      <p:bldP spid="11267" grpId="2" animBg="1"/>
      <p:bldP spid="11267" grpId="3" animBg="1"/>
      <p:bldP spid="11267" grpId="4"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lstStyle/>
          <a:p>
            <a:pPr eaLnBrk="1"/>
            <a:r>
              <a:rPr lang="en-US"/>
              <a:t>Marginal Distributions</a:t>
            </a:r>
          </a:p>
        </p:txBody>
      </p:sp>
      <p:sp>
        <p:nvSpPr>
          <p:cNvPr id="12291" name="Rectangle 3"/>
          <p:cNvSpPr>
            <a:spLocks noGrp="1"/>
          </p:cNvSpPr>
          <p:nvPr>
            <p:ph idx="1"/>
          </p:nvPr>
        </p:nvSpPr>
        <p:spPr/>
        <p:txBody>
          <a:bodyPr/>
          <a:lstStyle/>
          <a:p>
            <a:pPr eaLnBrk="1"/>
            <a:r>
              <a:rPr lang="en-US" sz="2000"/>
              <a:t>Marginal distributions are sub-tables which eliminate variables </a:t>
            </a:r>
          </a:p>
          <a:p>
            <a:pPr eaLnBrk="1"/>
            <a:r>
              <a:rPr lang="en-US" sz="2000"/>
              <a:t>Marginalization (summing out): Combine collapsed rows by adding</a:t>
            </a:r>
          </a:p>
        </p:txBody>
      </p:sp>
      <p:graphicFrame>
        <p:nvGraphicFramePr>
          <p:cNvPr id="1012742" name="Group 6"/>
          <p:cNvGraphicFramePr>
            <a:graphicFrameLocks noGrp="1"/>
          </p:cNvGraphicFramePr>
          <p:nvPr/>
        </p:nvGraphicFramePr>
        <p:xfrm>
          <a:off x="864737" y="3591081"/>
          <a:ext cx="2743200" cy="1981200"/>
        </p:xfrm>
        <a:graphic>
          <a:graphicData uri="http://schemas.openxmlformats.org/drawingml/2006/table">
            <a:tbl>
              <a:tblPr>
                <a:tableStyleId>{2D5ABB26-0587-4C30-8999-92F81FD0307C}</a:tableStyleId>
              </a:tblPr>
              <a:tblGrid>
                <a:gridCol w="914400"/>
                <a:gridCol w="914400"/>
                <a:gridCol w="914400"/>
              </a:tblGrid>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W</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P</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0.4</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0.1</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0.2</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0.3</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12796" name="Group 60"/>
          <p:cNvGraphicFramePr>
            <a:graphicFrameLocks noGrp="1"/>
          </p:cNvGraphicFramePr>
          <p:nvPr/>
        </p:nvGraphicFramePr>
        <p:xfrm>
          <a:off x="7670101" y="3010056"/>
          <a:ext cx="1828800" cy="1189038"/>
        </p:xfrm>
        <a:graphic>
          <a:graphicData uri="http://schemas.openxmlformats.org/drawingml/2006/table">
            <a:tbl>
              <a:tblPr>
                <a:tableStyleId>{2D5ABB26-0587-4C30-8999-92F81FD0307C}</a:tableStyleId>
              </a:tblPr>
              <a:tblGrid>
                <a:gridCol w="914400"/>
                <a:gridCol w="914400"/>
              </a:tblGrid>
              <a:tr h="396346">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T</a:t>
                      </a:r>
                    </a:p>
                  </a:txBody>
                  <a:tcPr marL="91440" marR="91440" marT="45732" marB="45732">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P</a:t>
                      </a:r>
                    </a:p>
                  </a:txBody>
                  <a:tcPr marL="91440" marR="91440" marT="45732" marB="45732">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96346">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marL="91440" marR="91440" marT="45732" marB="45732">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0.5</a:t>
                      </a:r>
                    </a:p>
                  </a:txBody>
                  <a:tcPr marL="91440" marR="91440" marT="45732" marB="45732">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96346">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marL="91440" marR="91440" marT="45732" marB="45732">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0.5</a:t>
                      </a:r>
                    </a:p>
                  </a:txBody>
                  <a:tcPr marL="91440" marR="91440" marT="45732" marB="45732">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12797" name="Group 61"/>
          <p:cNvGraphicFramePr>
            <a:graphicFrameLocks noGrp="1"/>
          </p:cNvGraphicFramePr>
          <p:nvPr/>
        </p:nvGraphicFramePr>
        <p:xfrm>
          <a:off x="7670101" y="4838856"/>
          <a:ext cx="1828800" cy="1189038"/>
        </p:xfrm>
        <a:graphic>
          <a:graphicData uri="http://schemas.openxmlformats.org/drawingml/2006/table">
            <a:tbl>
              <a:tblPr>
                <a:tableStyleId>{2D5ABB26-0587-4C30-8999-92F81FD0307C}</a:tableStyleId>
              </a:tblPr>
              <a:tblGrid>
                <a:gridCol w="914400"/>
                <a:gridCol w="914400"/>
              </a:tblGrid>
              <a:tr h="396346">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W</a:t>
                      </a:r>
                    </a:p>
                  </a:txBody>
                  <a:tcPr marL="91440" marR="91440" marT="45732" marB="45732">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P</a:t>
                      </a:r>
                    </a:p>
                  </a:txBody>
                  <a:tcPr marL="91440" marR="91440" marT="45732" marB="45732">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96346">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marL="91440" marR="91440" marT="45732" marB="45732">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0.6</a:t>
                      </a:r>
                    </a:p>
                  </a:txBody>
                  <a:tcPr marL="91440" marR="91440" marT="45732" marB="45732">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96346">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marL="91440" marR="91440" marT="45732" marB="45732">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0.4</a:t>
                      </a:r>
                    </a:p>
                  </a:txBody>
                  <a:tcPr marL="91440" marR="91440" marT="45732" marB="45732">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sp>
        <p:nvSpPr>
          <p:cNvPr id="1012817" name="Line 81"/>
          <p:cNvSpPr/>
          <p:nvPr/>
        </p:nvSpPr>
        <p:spPr>
          <a:xfrm flipV="1">
            <a:off x="4222063" y="3712859"/>
            <a:ext cx="2743200" cy="0"/>
          </a:xfrm>
          <a:prstGeom prst="line">
            <a:avLst/>
          </a:prstGeom>
          <a:noFill/>
          <a:ln w="76200">
            <a:solidFill>
              <a:schemeClr val="tx1"/>
            </a:solidFill>
            <a:round/>
            <a:headEnd type="none" w="med" len="med"/>
            <a:tailEnd type="triangle" w="med" len="med"/>
          </a:ln>
        </p:spPr>
        <p:txBody>
          <a:bodyPr/>
          <a:lstStyle/>
          <a:p>
            <a:endParaRPr lang="en-US"/>
          </a:p>
        </p:txBody>
      </p:sp>
      <p:sp>
        <p:nvSpPr>
          <p:cNvPr id="1012818" name="Line 82"/>
          <p:cNvSpPr/>
          <p:nvPr/>
        </p:nvSpPr>
        <p:spPr>
          <a:xfrm>
            <a:off x="4222063" y="5283599"/>
            <a:ext cx="2743200" cy="0"/>
          </a:xfrm>
          <a:prstGeom prst="line">
            <a:avLst/>
          </a:prstGeom>
          <a:noFill/>
          <a:ln w="76200">
            <a:solidFill>
              <a:schemeClr val="tx1"/>
            </a:solidFill>
            <a:round/>
            <a:headEnd type="none" w="med" len="med"/>
            <a:tailEnd type="triangle" w="med" len="med"/>
          </a:ln>
        </p:spPr>
        <p:txBody>
          <a:bodyPr/>
          <a:lstStyle/>
          <a:p>
            <a:endParaRPr lang="en-US"/>
          </a:p>
        </p:txBody>
      </p:sp>
      <p:pic>
        <p:nvPicPr>
          <p:cNvPr id="12348" name="Picture 67" descr="txp_fig"/>
          <p:cNvPicPr>
            <a:picLocks noChangeAspect="1"/>
          </p:cNvPicPr>
          <p:nvPr/>
        </p:nvPicPr>
        <p:blipFill rotWithShape="1">
          <a:blip r:embed="rId2"/>
          <a:stretch>
            <a:fillRect/>
          </a:stretch>
        </p:blipFill>
        <p:spPr>
          <a:xfrm>
            <a:off x="1672775" y="3132294"/>
            <a:ext cx="1177925" cy="298450"/>
          </a:xfrm>
          <a:prstGeom prst="rect">
            <a:avLst/>
          </a:prstGeom>
          <a:noFill/>
          <a:ln>
            <a:noFill/>
          </a:ln>
        </p:spPr>
      </p:pic>
      <p:pic>
        <p:nvPicPr>
          <p:cNvPr id="1012826" name="Picture 90" descr="txp_fig"/>
          <p:cNvPicPr>
            <a:picLocks noChangeAspect="1"/>
          </p:cNvPicPr>
          <p:nvPr/>
        </p:nvPicPr>
        <p:blipFill rotWithShape="1">
          <a:blip r:embed="rId3"/>
          <a:stretch>
            <a:fillRect/>
          </a:stretch>
        </p:blipFill>
        <p:spPr>
          <a:xfrm>
            <a:off x="4255401" y="3962096"/>
            <a:ext cx="2433637" cy="566738"/>
          </a:xfrm>
          <a:prstGeom prst="rect">
            <a:avLst/>
          </a:prstGeom>
          <a:noFill/>
          <a:ln>
            <a:noFill/>
          </a:ln>
        </p:spPr>
      </p:pic>
      <p:pic>
        <p:nvPicPr>
          <p:cNvPr id="1012827" name="Picture 91" descr="txp_fig"/>
          <p:cNvPicPr>
            <a:picLocks noChangeAspect="1"/>
          </p:cNvPicPr>
          <p:nvPr/>
        </p:nvPicPr>
        <p:blipFill rotWithShape="1">
          <a:blip r:embed="rId4"/>
          <a:stretch>
            <a:fillRect/>
          </a:stretch>
        </p:blipFill>
        <p:spPr>
          <a:xfrm>
            <a:off x="8247951" y="2605244"/>
            <a:ext cx="731838" cy="298450"/>
          </a:xfrm>
          <a:prstGeom prst="rect">
            <a:avLst/>
          </a:prstGeom>
          <a:noFill/>
          <a:ln>
            <a:noFill/>
          </a:ln>
        </p:spPr>
      </p:pic>
      <p:pic>
        <p:nvPicPr>
          <p:cNvPr id="1012828" name="Picture 92" descr="txp_fig"/>
          <p:cNvPicPr>
            <a:picLocks noChangeAspect="1"/>
          </p:cNvPicPr>
          <p:nvPr/>
        </p:nvPicPr>
        <p:blipFill rotWithShape="1">
          <a:blip r:embed="rId5"/>
          <a:stretch>
            <a:fillRect/>
          </a:stretch>
        </p:blipFill>
        <p:spPr>
          <a:xfrm>
            <a:off x="4247463" y="5513786"/>
            <a:ext cx="2462213" cy="596900"/>
          </a:xfrm>
          <a:prstGeom prst="rect">
            <a:avLst/>
          </a:prstGeom>
          <a:noFill/>
          <a:ln>
            <a:noFill/>
          </a:ln>
        </p:spPr>
      </p:pic>
      <p:pic>
        <p:nvPicPr>
          <p:cNvPr id="69" name="Picture 68" descr="txp_fig"/>
          <p:cNvPicPr>
            <a:picLocks noChangeAspect="1"/>
          </p:cNvPicPr>
          <p:nvPr/>
        </p:nvPicPr>
        <p:blipFill rotWithShape="1">
          <a:blip r:embed="rId6"/>
          <a:stretch>
            <a:fillRect/>
          </a:stretch>
        </p:blipFill>
        <p:spPr>
          <a:xfrm>
            <a:off x="8146351" y="4434044"/>
            <a:ext cx="850900" cy="298450"/>
          </a:xfrm>
          <a:prstGeom prst="rect">
            <a:avLst/>
          </a:prstGeom>
          <a:noFill/>
          <a:ln>
            <a:noFill/>
          </a:ln>
        </p:spPr>
      </p:pic>
      <p:pic>
        <p:nvPicPr>
          <p:cNvPr id="1012831" name="Picture 95" descr="txp_fig"/>
          <p:cNvPicPr>
            <a:picLocks noChangeAspect="1"/>
          </p:cNvPicPr>
          <p:nvPr/>
        </p:nvPicPr>
        <p:blipFill rotWithShape="1">
          <a:blip r:embed="rId7"/>
          <a:stretch>
            <a:fillRect/>
          </a:stretch>
        </p:blipFill>
        <p:spPr>
          <a:xfrm>
            <a:off x="838200" y="6193893"/>
            <a:ext cx="5716588" cy="611188"/>
          </a:xfrm>
          <a:prstGeom prst="rect">
            <a:avLst/>
          </a:prstGeom>
          <a:noFill/>
          <a:ln>
            <a:noFill/>
          </a:ln>
        </p:spPr>
      </p:pic>
      <p:pic>
        <p:nvPicPr>
          <p:cNvPr id="2" name="Picture 1"/>
          <p:cNvPicPr>
            <a:picLocks noChangeAspect="1"/>
          </p:cNvPicPr>
          <p:nvPr/>
        </p:nvPicPr>
        <p:blipFill rotWithShape="1">
          <a:blip r:embed="rId8"/>
          <a:stretch>
            <a:fillRect/>
          </a:stretch>
        </p:blipFill>
        <p:spPr>
          <a:xfrm>
            <a:off x="8399443" y="563577"/>
            <a:ext cx="2954357" cy="19353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28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27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128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128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127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128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128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128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2817" grpId="0" animBg="1"/>
      <p:bldP spid="10128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a:lstStyle/>
          <a:p>
            <a:pPr eaLnBrk="1"/>
            <a:r>
              <a:rPr lang="en-US"/>
              <a:t>Conditional Probabilities</a:t>
            </a:r>
          </a:p>
        </p:txBody>
      </p:sp>
      <p:sp>
        <p:nvSpPr>
          <p:cNvPr id="13315" name="Rectangle 3"/>
          <p:cNvSpPr>
            <a:spLocks noGrp="1"/>
          </p:cNvSpPr>
          <p:nvPr>
            <p:ph idx="1"/>
          </p:nvPr>
        </p:nvSpPr>
        <p:spPr>
          <a:xfrm>
            <a:off x="838200" y="1825625"/>
            <a:ext cx="7325853" cy="4351338"/>
          </a:xfrm>
          <a:prstGeom prst="rect">
            <a:avLst/>
          </a:prstGeom>
        </p:spPr>
        <p:txBody>
          <a:bodyPr/>
          <a:lstStyle/>
          <a:p>
            <a:pPr eaLnBrk="1"/>
            <a:r>
              <a:rPr lang="en-US"/>
              <a:t>A simple relation between joint and conditional probabilities</a:t>
            </a:r>
          </a:p>
          <a:p>
            <a:pPr lvl="1" eaLnBrk="1"/>
            <a:r>
              <a:rPr lang="en-US">
                <a:solidFill>
                  <a:schemeClr val="accent2"/>
                </a:solidFill>
              </a:rPr>
              <a:t>In fact, this is taken as the </a:t>
            </a:r>
            <a:r>
              <a:rPr lang="en-US" i="1">
                <a:solidFill>
                  <a:schemeClr val="accent2"/>
                </a:solidFill>
              </a:rPr>
              <a:t>definition</a:t>
            </a:r>
            <a:r>
              <a:rPr lang="en-US">
                <a:solidFill>
                  <a:schemeClr val="accent2"/>
                </a:solidFill>
              </a:rPr>
              <a:t> of a conditional probability</a:t>
            </a:r>
          </a:p>
        </p:txBody>
      </p:sp>
      <p:pic>
        <p:nvPicPr>
          <p:cNvPr id="12" name="Picture 6" descr="txp_fig"/>
          <p:cNvPicPr>
            <a:picLocks noChangeAspect="1"/>
          </p:cNvPicPr>
          <p:nvPr/>
        </p:nvPicPr>
        <p:blipFill rotWithShape="1">
          <a:blip r:embed="rId2"/>
          <a:stretch>
            <a:fillRect/>
          </a:stretch>
        </p:blipFill>
        <p:spPr>
          <a:xfrm>
            <a:off x="3314470" y="3285833"/>
            <a:ext cx="2373312" cy="731838"/>
          </a:xfrm>
          <a:prstGeom prst="rect">
            <a:avLst/>
          </a:prstGeom>
          <a:noFill/>
          <a:ln>
            <a:noFill/>
          </a:ln>
        </p:spPr>
      </p:pic>
      <p:graphicFrame>
        <p:nvGraphicFramePr>
          <p:cNvPr id="13" name="Group 7"/>
          <p:cNvGraphicFramePr>
            <a:graphicFrameLocks noGrp="1"/>
          </p:cNvGraphicFramePr>
          <p:nvPr/>
        </p:nvGraphicFramePr>
        <p:xfrm>
          <a:off x="1109215" y="4554474"/>
          <a:ext cx="2743200" cy="1981200"/>
        </p:xfrm>
        <a:graphic>
          <a:graphicData uri="http://schemas.openxmlformats.org/drawingml/2006/table">
            <a:tbl>
              <a:tblPr>
                <a:tableStyleId>{2D5ABB26-0587-4C30-8999-92F81FD0307C}</a:tableStyleId>
              </a:tblPr>
              <a:tblGrid>
                <a:gridCol w="914400"/>
                <a:gridCol w="914400"/>
                <a:gridCol w="914400"/>
              </a:tblGrid>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W</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P</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0.4</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hot</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0.1</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888">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sun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0.2</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cold</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rain</a:t>
                      </a:r>
                    </a:p>
                  </a:txBody>
                  <a:tcPr>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2000" b="0" i="0" u="none" strike="noStrike" cap="none" baseline="0">
                          <a:ln>
                            <a:noFill/>
                          </a:ln>
                          <a:solidFill>
                            <a:schemeClr val="accent2"/>
                          </a:solidFill>
                          <a:latin typeface="Calibri"/>
                          <a:cs typeface="Calibri"/>
                        </a:rPr>
                        <a:t>0.3</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grpSp>
        <p:nvGrpSpPr>
          <p:cNvPr id="13343" name="Group 21"/>
          <p:cNvGrpSpPr/>
          <p:nvPr/>
        </p:nvGrpSpPr>
        <p:grpSpPr>
          <a:xfrm>
            <a:off x="8954125" y="2284448"/>
            <a:ext cx="2197100" cy="1272154"/>
            <a:chOff x="5105400" y="2512724"/>
            <a:chExt cx="2895600" cy="1676400"/>
          </a:xfrm>
        </p:grpSpPr>
        <p:sp>
          <p:nvSpPr>
            <p:cNvPr id="13347" name="Oval 33"/>
            <p:cNvSpPr/>
            <p:nvPr/>
          </p:nvSpPr>
          <p:spPr>
            <a:xfrm>
              <a:off x="5105400" y="2512724"/>
              <a:ext cx="1828800" cy="1676400"/>
            </a:xfrm>
            <a:prstGeom prst="ellipse">
              <a:avLst/>
            </a:prstGeom>
            <a:solidFill>
              <a:srgbClr val="3333FF">
                <a:alpha val="50195"/>
              </a:srgbClr>
            </a:solidFill>
            <a:ln w="9525">
              <a:solidFill>
                <a:schemeClr val="tx1"/>
              </a:solidFill>
              <a:round/>
              <a:headEnd type="none" w="med" len="med"/>
              <a:tailEnd type="none" w="med" len="med"/>
            </a:ln>
          </p:spPr>
          <p:txBody>
            <a:bodyPr wrap="none" anchor="ctr"/>
            <a:lstStyle/>
            <a:p>
              <a:endParaRPr lang="en-US"/>
            </a:p>
          </p:txBody>
        </p:sp>
        <p:sp>
          <p:nvSpPr>
            <p:cNvPr id="13348" name="Oval 34"/>
            <p:cNvSpPr/>
            <p:nvPr/>
          </p:nvSpPr>
          <p:spPr>
            <a:xfrm>
              <a:off x="6172200" y="2512724"/>
              <a:ext cx="1828800" cy="1676400"/>
            </a:xfrm>
            <a:prstGeom prst="ellipse">
              <a:avLst/>
            </a:prstGeom>
            <a:solidFill>
              <a:srgbClr val="FF3300">
                <a:alpha val="50195"/>
              </a:srgbClr>
            </a:solidFill>
            <a:ln w="9525">
              <a:solidFill>
                <a:schemeClr val="tx1"/>
              </a:solidFill>
              <a:round/>
              <a:headEnd type="none" w="med" len="med"/>
              <a:tailEnd type="none" w="med" len="med"/>
            </a:ln>
          </p:spPr>
          <p:txBody>
            <a:bodyPr wrap="none" anchor="ctr"/>
            <a:lstStyle/>
            <a:p>
              <a:endParaRPr lang="en-US"/>
            </a:p>
          </p:txBody>
        </p:sp>
      </p:grpSp>
      <p:pic>
        <p:nvPicPr>
          <p:cNvPr id="21" name="Picture 20" descr="txp_fig"/>
          <p:cNvPicPr>
            <a:picLocks noChangeAspect="1"/>
          </p:cNvPicPr>
          <p:nvPr/>
        </p:nvPicPr>
        <p:blipFill rotWithShape="1">
          <a:blip r:embed="rId3"/>
          <a:stretch>
            <a:fillRect/>
          </a:stretch>
        </p:blipFill>
        <p:spPr>
          <a:xfrm>
            <a:off x="1917253" y="4168711"/>
            <a:ext cx="1179512" cy="298450"/>
          </a:xfrm>
          <a:prstGeom prst="rect">
            <a:avLst/>
          </a:prstGeom>
          <a:noFill/>
          <a:ln>
            <a:noFill/>
          </a:ln>
        </p:spPr>
      </p:pic>
      <p:pic>
        <p:nvPicPr>
          <p:cNvPr id="14" name="Picture 13" descr="txp_fig.png"/>
          <p:cNvPicPr>
            <a:picLocks noChangeAspect="1"/>
          </p:cNvPicPr>
          <p:nvPr/>
        </p:nvPicPr>
        <p:blipFill rotWithShape="1">
          <a:blip r:embed="rId4"/>
          <a:stretch>
            <a:fillRect/>
          </a:stretch>
        </p:blipFill>
        <p:spPr>
          <a:xfrm>
            <a:off x="4268332" y="4885634"/>
            <a:ext cx="3269608" cy="313524"/>
          </a:xfrm>
          <a:prstGeom prst="rect">
            <a:avLst/>
          </a:prstGeom>
          <a:noFill/>
          <a:ln w="9525" cap="flat" cmpd="sng">
            <a:noFill/>
            <a:prstDash val="solid"/>
            <a:round/>
            <a:headEnd type="none" w="med" len="med"/>
            <a:tailEnd type="none" w="med" len="med"/>
          </a:ln>
          <a:effectLst/>
        </p:spPr>
      </p:pic>
      <p:sp>
        <p:nvSpPr>
          <p:cNvPr id="3" name="Rectangle 2"/>
          <p:cNvSpPr/>
          <p:nvPr/>
        </p:nvSpPr>
        <p:spPr>
          <a:xfrm>
            <a:off x="8420945" y="1885665"/>
            <a:ext cx="3174853" cy="2154643"/>
          </a:xfrm>
          <a:prstGeom prst="rect">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10235146" y="3586698"/>
            <a:ext cx="666193" cy="400110"/>
          </a:xfrm>
          <a:prstGeom prst="rect">
            <a:avLst/>
          </a:prstGeom>
          <a:noFill/>
        </p:spPr>
        <p:txBody>
          <a:bodyPr wrap="none" rtlCol="0">
            <a:spAutoFit/>
          </a:bodyPr>
          <a:lstStyle/>
          <a:p>
            <a:r>
              <a:rPr lang="en-US" sz="2000" i="1">
                <a:solidFill>
                  <a:srgbClr val="FF9786"/>
                </a:solidFill>
                <a:latin typeface="Calibri"/>
                <a:cs typeface="Calibri"/>
              </a:rPr>
              <a:t>P(b)</a:t>
            </a:r>
          </a:p>
        </p:txBody>
      </p:sp>
      <p:sp>
        <p:nvSpPr>
          <p:cNvPr id="17" name="TextBox 16"/>
          <p:cNvSpPr txBox="1"/>
          <p:nvPr/>
        </p:nvSpPr>
        <p:spPr>
          <a:xfrm>
            <a:off x="9219654" y="3580335"/>
            <a:ext cx="666193" cy="400110"/>
          </a:xfrm>
          <a:prstGeom prst="rect">
            <a:avLst/>
          </a:prstGeom>
          <a:noFill/>
        </p:spPr>
        <p:txBody>
          <a:bodyPr wrap="none" rtlCol="0">
            <a:spAutoFit/>
          </a:bodyPr>
          <a:lstStyle/>
          <a:p>
            <a:r>
              <a:rPr lang="en-US" sz="2000" i="1">
                <a:solidFill>
                  <a:schemeClr val="accent2"/>
                </a:solidFill>
                <a:latin typeface="Calibri"/>
                <a:cs typeface="Calibri"/>
              </a:rPr>
              <a:t>P(a)</a:t>
            </a:r>
          </a:p>
        </p:txBody>
      </p:sp>
      <p:sp>
        <p:nvSpPr>
          <p:cNvPr id="18" name="TextBox 17"/>
          <p:cNvSpPr txBox="1"/>
          <p:nvPr/>
        </p:nvSpPr>
        <p:spPr>
          <a:xfrm>
            <a:off x="9700878" y="1918300"/>
            <a:ext cx="862060" cy="400110"/>
          </a:xfrm>
          <a:prstGeom prst="rect">
            <a:avLst/>
          </a:prstGeom>
          <a:noFill/>
        </p:spPr>
        <p:txBody>
          <a:bodyPr wrap="none" rtlCol="0">
            <a:spAutoFit/>
          </a:bodyPr>
          <a:lstStyle/>
          <a:p>
            <a:r>
              <a:rPr lang="en-US" sz="2000" i="1">
                <a:solidFill>
                  <a:srgbClr val="E57071"/>
                </a:solidFill>
                <a:latin typeface="Calibri"/>
                <a:cs typeface="Calibri"/>
              </a:rPr>
              <a:t>P(</a:t>
            </a:r>
            <a:r>
              <a:rPr lang="en-US" sz="2000" i="1">
                <a:solidFill>
                  <a:srgbClr val="E57071"/>
                </a:solidFill>
                <a:latin typeface="Calibri"/>
                <a:cs typeface="Calibri"/>
              </a:rPr>
              <a:t>a,b</a:t>
            </a:r>
            <a:r>
              <a:rPr lang="en-US" sz="2000" i="1">
                <a:solidFill>
                  <a:srgbClr val="E57071"/>
                </a:solidFill>
                <a:latin typeface="Calibri"/>
                <a:cs typeface="Calibri"/>
              </a:rPr>
              <a:t>)</a:t>
            </a:r>
          </a:p>
        </p:txBody>
      </p:sp>
      <p:pic>
        <p:nvPicPr>
          <p:cNvPr id="15" name="Picture 14" descr="txp_fig.png"/>
          <p:cNvPicPr>
            <a:picLocks noChangeAspect="1"/>
          </p:cNvPicPr>
          <p:nvPr/>
        </p:nvPicPr>
        <p:blipFill rotWithShape="1">
          <a:blip r:embed="rId5"/>
          <a:stretch>
            <a:fillRect/>
          </a:stretch>
        </p:blipFill>
        <p:spPr>
          <a:xfrm>
            <a:off x="6734883" y="4686487"/>
            <a:ext cx="2836647" cy="731556"/>
          </a:xfrm>
          <a:prstGeom prst="rect">
            <a:avLst/>
          </a:prstGeom>
          <a:noFill/>
          <a:ln w="9525" cap="flat" cmpd="sng">
            <a:noFill/>
            <a:prstDash val="solid"/>
            <a:round/>
            <a:headEnd type="none" w="med" len="med"/>
            <a:tailEnd type="none" w="med" len="med"/>
          </a:ln>
          <a:effectLst/>
        </p:spPr>
      </p:pic>
      <p:pic>
        <p:nvPicPr>
          <p:cNvPr id="16" name="Picture 15" descr="txp_fig.png"/>
          <p:cNvPicPr>
            <a:picLocks noChangeAspect="1"/>
          </p:cNvPicPr>
          <p:nvPr/>
        </p:nvPicPr>
        <p:blipFill rotWithShape="1">
          <a:blip r:embed="rId6"/>
          <a:stretch>
            <a:fillRect/>
          </a:stretch>
        </p:blipFill>
        <p:spPr>
          <a:xfrm>
            <a:off x="9713115" y="4702804"/>
            <a:ext cx="836064" cy="656907"/>
          </a:xfrm>
          <a:prstGeom prst="rect">
            <a:avLst/>
          </a:prstGeom>
          <a:noFill/>
          <a:ln w="9525" cap="flat" cmpd="sng">
            <a:noFill/>
            <a:prstDash val="solid"/>
            <a:round/>
            <a:headEnd type="none" w="med" len="med"/>
            <a:tailEnd type="none" w="med" len="med"/>
          </a:ln>
          <a:effectLst/>
        </p:spPr>
      </p:pic>
      <p:pic>
        <p:nvPicPr>
          <p:cNvPr id="24" name="Picture 23" descr="txp_fig.png"/>
          <p:cNvPicPr>
            <a:picLocks noChangeAspect="1"/>
          </p:cNvPicPr>
          <p:nvPr/>
        </p:nvPicPr>
        <p:blipFill rotWithShape="1">
          <a:blip r:embed="rId7"/>
          <a:stretch>
            <a:fillRect/>
          </a:stretch>
        </p:blipFill>
        <p:spPr>
          <a:xfrm>
            <a:off x="10825435" y="4923246"/>
            <a:ext cx="821135" cy="223946"/>
          </a:xfrm>
          <a:prstGeom prst="rect">
            <a:avLst/>
          </a:prstGeom>
          <a:noFill/>
          <a:ln w="9525" cap="flat" cmpd="sng">
            <a:noFill/>
            <a:prstDash val="solid"/>
            <a:round/>
            <a:headEnd type="none" w="med" len="med"/>
            <a:tailEnd type="none" w="med" len="med"/>
          </a:ln>
          <a:effectLst/>
        </p:spPr>
      </p:pic>
      <p:pic>
        <p:nvPicPr>
          <p:cNvPr id="26" name="Picture 25" descr="txp_fig.png"/>
          <p:cNvPicPr>
            <a:picLocks noChangeAspect="1"/>
          </p:cNvPicPr>
          <p:nvPr/>
        </p:nvPicPr>
        <p:blipFill rotWithShape="1">
          <a:blip r:embed="rId8"/>
          <a:stretch>
            <a:fillRect/>
          </a:stretch>
        </p:blipFill>
        <p:spPr>
          <a:xfrm>
            <a:off x="5007662" y="5802804"/>
            <a:ext cx="5643434" cy="298594"/>
          </a:xfrm>
          <a:prstGeom prst="rect">
            <a:avLst/>
          </a:prstGeom>
          <a:noFill/>
          <a:ln w="9525" cap="flat" cmpd="sng">
            <a:noFill/>
            <a:prstDash val="solid"/>
            <a:round/>
            <a:headEnd type="none" w="med" len="med"/>
            <a:tailEnd type="none" w="med" len="med"/>
          </a:ln>
          <a:effectLst/>
        </p:spPr>
      </p:pic>
      <p:pic>
        <p:nvPicPr>
          <p:cNvPr id="28" name="Picture 27" descr="txp_fig.png"/>
          <p:cNvPicPr>
            <a:picLocks noChangeAspect="1"/>
          </p:cNvPicPr>
          <p:nvPr/>
        </p:nvPicPr>
        <p:blipFill rotWithShape="1">
          <a:blip r:embed="rId9"/>
          <a:stretch>
            <a:fillRect/>
          </a:stretch>
        </p:blipFill>
        <p:spPr>
          <a:xfrm>
            <a:off x="4987759" y="6306751"/>
            <a:ext cx="1701988" cy="253805"/>
          </a:xfrm>
          <a:prstGeom prst="rect">
            <a:avLst/>
          </a:prstGeom>
          <a:noFill/>
          <a:ln w="9525" cap="flat" cmpd="sng">
            <a:noFill/>
            <a:prstDash val="solid"/>
            <a:round/>
            <a:headEnd type="none" w="med" len="med"/>
            <a:tailEnd type="none" w="med" len="med"/>
          </a:ln>
          <a:effectLst/>
        </p:spPr>
      </p:pic>
      <p:pic>
        <p:nvPicPr>
          <p:cNvPr id="10" name="Picture 9" descr="txp_fig.png"/>
          <p:cNvPicPr>
            <a:picLocks noChangeAspect="1"/>
          </p:cNvPicPr>
          <p:nvPr/>
        </p:nvPicPr>
        <p:blipFill rotWithShape="1">
          <a:blip r:embed="rId10"/>
          <a:stretch>
            <a:fillRect/>
          </a:stretch>
        </p:blipFill>
        <p:spPr>
          <a:xfrm>
            <a:off x="6926023" y="6311728"/>
            <a:ext cx="806205" cy="223946"/>
          </a:xfrm>
          <a:prstGeom prst="rect">
            <a:avLst/>
          </a:prstGeom>
          <a:noFill/>
          <a:ln w="9525" cap="flat" cmpd="sng">
            <a:noFill/>
            <a:prstDash val="solid"/>
            <a:round/>
            <a:headEnd type="none" w="med" len="med"/>
            <a:tailEnd type="none" w="med" len="med"/>
          </a:ln>
          <a:effectLst/>
        </p:spPr>
      </p:pic>
      <p:sp>
        <p:nvSpPr>
          <p:cNvPr id="11" name="Rectangular Callout 10"/>
          <p:cNvSpPr/>
          <p:nvPr/>
        </p:nvSpPr>
        <p:spPr>
          <a:xfrm>
            <a:off x="4784956" y="5704129"/>
            <a:ext cx="6020880" cy="997942"/>
          </a:xfrm>
          <a:prstGeom prst="wedgeRectCallout">
            <a:avLst>
              <a:gd name="adj1" fmla="val -1035"/>
              <a:gd name="adj2" fmla="val -81872"/>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p:txBody>
          <a:bodyPr/>
          <a:lstStyle/>
          <a:p>
            <a:pPr eaLnBrk="1"/>
            <a:r>
              <a:rPr lang="en-US"/>
              <a:t>The Product Rule</a:t>
            </a:r>
          </a:p>
        </p:txBody>
      </p:sp>
      <p:sp>
        <p:nvSpPr>
          <p:cNvPr id="1027075" name="Rectangle 3"/>
          <p:cNvSpPr>
            <a:spLocks noGrp="1"/>
          </p:cNvSpPr>
          <p:nvPr>
            <p:ph idx="1"/>
          </p:nvPr>
        </p:nvSpPr>
        <p:spPr/>
        <p:txBody>
          <a:bodyPr/>
          <a:lstStyle/>
          <a:p>
            <a:pPr eaLnBrk="1"/>
            <a:endParaRPr lang="en-US" sz="2400"/>
          </a:p>
          <a:p>
            <a:pPr eaLnBrk="1"/>
            <a:endParaRPr lang="en-US" sz="2400"/>
          </a:p>
          <a:p>
            <a:pPr eaLnBrk="1"/>
            <a:endParaRPr lang="en-US" sz="2400"/>
          </a:p>
          <a:p>
            <a:pPr eaLnBrk="1"/>
            <a:r>
              <a:rPr lang="en-US" sz="2400"/>
              <a:t>Example:</a:t>
            </a:r>
          </a:p>
          <a:p>
            <a:pPr eaLnBrk="1"/>
            <a:endParaRPr lang="en-US" sz="2400"/>
          </a:p>
        </p:txBody>
      </p:sp>
      <p:graphicFrame>
        <p:nvGraphicFramePr>
          <p:cNvPr id="1027084" name="Group 12"/>
          <p:cNvGraphicFramePr>
            <a:graphicFrameLocks noGrp="1"/>
          </p:cNvGraphicFramePr>
          <p:nvPr/>
        </p:nvGraphicFramePr>
        <p:xfrm>
          <a:off x="1664504" y="4814794"/>
          <a:ext cx="1428750" cy="1114425"/>
        </p:xfrm>
        <a:graphic>
          <a:graphicData uri="http://schemas.openxmlformats.org/drawingml/2006/table">
            <a:tbl>
              <a:tblPr>
                <a:tableStyleId>{2D5ABB26-0587-4C30-8999-92F81FD0307C}</a:tableStyleId>
              </a:tblPr>
              <a:tblGrid>
                <a:gridCol w="857250"/>
                <a:gridCol w="571500"/>
              </a:tblGrid>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R</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P</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sun</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0.8</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475">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rain</a:t>
                      </a:r>
                    </a:p>
                  </a:txBody>
                  <a:tcPr>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0.2</a:t>
                      </a:r>
                    </a:p>
                  </a:txBody>
                  <a:tcPr>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27160" name="Group 88"/>
          <p:cNvGraphicFramePr>
            <a:graphicFrameLocks noGrp="1"/>
          </p:cNvGraphicFramePr>
          <p:nvPr/>
        </p:nvGraphicFramePr>
        <p:xfrm>
          <a:off x="3874304" y="4309969"/>
          <a:ext cx="2209800" cy="1847944"/>
        </p:xfrm>
        <a:graphic>
          <a:graphicData uri="http://schemas.openxmlformats.org/drawingml/2006/table">
            <a:tbl>
              <a:tblPr>
                <a:tableStyleId>{2D5ABB26-0587-4C30-8999-92F81FD0307C}</a:tableStyleId>
              </a:tblPr>
              <a:tblGrid>
                <a:gridCol w="828675"/>
                <a:gridCol w="828675"/>
                <a:gridCol w="552450"/>
              </a:tblGrid>
              <a:tr h="371347">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D</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W</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P</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r h="369761">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wet</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sun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0.1</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5634">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dry</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905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sun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905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0.9</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9050" cap="flat" cmpd="sng">
                      <a:solidFill>
                        <a:schemeClr val="tx1"/>
                      </a:solidFill>
                      <a:prstDash val="solid"/>
                      <a:round/>
                      <a:headEnd type="none" w="med" len="med"/>
                      <a:tailEnd type="none" w="med" len="med"/>
                    </a:lnB>
                    <a:lnTlToBr>
                      <a:noFill/>
                    </a:lnTlToBr>
                    <a:lnBlToTr>
                      <a:noFill/>
                    </a:lnBlToTr>
                    <a:noFill/>
                  </a:tcPr>
                </a:tc>
              </a:tr>
              <a:tr h="369761">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wet</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905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rain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905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0.7</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905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347">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dry</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rain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0.3</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pic>
        <p:nvPicPr>
          <p:cNvPr id="93" name="Picture 92" descr="txp_fig"/>
          <p:cNvPicPr>
            <a:picLocks noChangeAspect="1"/>
          </p:cNvPicPr>
          <p:nvPr/>
        </p:nvPicPr>
        <p:blipFill rotWithShape="1">
          <a:blip r:embed="rId2"/>
          <a:stretch>
            <a:fillRect/>
          </a:stretch>
        </p:blipFill>
        <p:spPr>
          <a:xfrm>
            <a:off x="4355317" y="3859119"/>
            <a:ext cx="1193800" cy="314325"/>
          </a:xfrm>
          <a:prstGeom prst="rect">
            <a:avLst/>
          </a:prstGeom>
          <a:noFill/>
          <a:ln>
            <a:noFill/>
          </a:ln>
        </p:spPr>
      </p:pic>
      <p:graphicFrame>
        <p:nvGraphicFramePr>
          <p:cNvPr id="1027213" name="Group 141"/>
          <p:cNvGraphicFramePr>
            <a:graphicFrameLocks noGrp="1"/>
          </p:cNvGraphicFramePr>
          <p:nvPr/>
        </p:nvGraphicFramePr>
        <p:xfrm>
          <a:off x="7760504" y="4329019"/>
          <a:ext cx="2362200" cy="1847944"/>
        </p:xfrm>
        <a:graphic>
          <a:graphicData uri="http://schemas.openxmlformats.org/drawingml/2006/table">
            <a:tbl>
              <a:tblPr>
                <a:tableStyleId>{2D5ABB26-0587-4C30-8999-92F81FD0307C}</a:tableStyleId>
              </a:tblPr>
              <a:tblGrid>
                <a:gridCol w="828675"/>
                <a:gridCol w="828675"/>
                <a:gridCol w="704850"/>
              </a:tblGrid>
              <a:tr h="371347">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D</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W</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P</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r h="369761">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wet</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sun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0.08</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28575"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5634">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dry</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sun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0.72</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69761">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wet</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rain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0.14</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12700" cap="flat" cmpd="sng">
                      <a:solidFill>
                        <a:schemeClr val="tx1"/>
                      </a:solidFill>
                      <a:prstDash val="solid"/>
                      <a:round/>
                      <a:headEnd type="none" w="med" len="med"/>
                      <a:tailEnd type="none" w="med" len="med"/>
                    </a:lnB>
                    <a:lnTlToBr>
                      <a:noFill/>
                    </a:lnTlToBr>
                    <a:lnBlToTr>
                      <a:noFill/>
                    </a:lnBlToTr>
                    <a:noFill/>
                  </a:tcPr>
                </a:tc>
              </a:tr>
              <a:tr h="371347">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dry</a:t>
                      </a:r>
                    </a:p>
                  </a:txBody>
                  <a:tcPr marL="91440" marR="91440" marT="45704" marB="45704">
                    <a:lnL w="28575"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rain</a:t>
                      </a:r>
                    </a:p>
                  </a:txBody>
                  <a:tcPr marL="91440" marR="91440" marT="45704" marB="45704">
                    <a:lnL w="12700" cap="flat" cmpd="sng">
                      <a:solidFill>
                        <a:schemeClr val="tx1"/>
                      </a:solidFill>
                      <a:prstDash val="solid"/>
                      <a:round/>
                      <a:headEnd type="none" w="med" len="med"/>
                      <a:tailEnd type="none" w="med" len="med"/>
                    </a:lnL>
                    <a:lnR w="12700"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base">
                        <a:lnSpc>
                          <a:spcPct val="100000"/>
                        </a:lnSpc>
                        <a:spcBef>
                          <a:spcPct val="20000"/>
                        </a:spcBef>
                        <a:spcAft>
                          <a:spcPct val="0"/>
                        </a:spcAft>
                        <a:buClr>
                          <a:schemeClr val="accent2"/>
                        </a:buClr>
                        <a:buFont typeface="Wingdings"/>
                        <a:buNone/>
                        <a:tabLst/>
                      </a:pPr>
                      <a:r>
                        <a:rPr lang="en-US" sz="1800" b="0" i="0" u="none" strike="noStrike" cap="none" baseline="0">
                          <a:ln>
                            <a:noFill/>
                          </a:ln>
                          <a:solidFill>
                            <a:schemeClr val="accent2"/>
                          </a:solidFill>
                          <a:latin typeface="Calibri"/>
                          <a:cs typeface="Calibri"/>
                        </a:rPr>
                        <a:t>0.06</a:t>
                      </a:r>
                    </a:p>
                  </a:txBody>
                  <a:tcPr marL="91440" marR="91440" marT="45704" marB="45704">
                    <a:lnL w="12700" cap="flat" cmpd="sng">
                      <a:solidFill>
                        <a:schemeClr val="tx1"/>
                      </a:solidFill>
                      <a:prstDash val="solid"/>
                      <a:round/>
                      <a:headEnd type="none" w="med" len="med"/>
                      <a:tailEnd type="none" w="med" len="med"/>
                    </a:lnL>
                    <a:lnR w="28575" cap="flat" cmpd="sng">
                      <a:solidFill>
                        <a:schemeClr val="tx1"/>
                      </a:solidFill>
                      <a:prstDash val="solid"/>
                      <a:round/>
                      <a:headEnd type="none" w="med" len="med"/>
                      <a:tailEnd type="none" w="med" len="med"/>
                    </a:lnR>
                    <a:lnT w="12700" cap="flat" cmpd="sng">
                      <a:solidFill>
                        <a:schemeClr val="tx1"/>
                      </a:solidFill>
                      <a:prstDash val="solid"/>
                      <a:round/>
                      <a:headEnd type="none" w="med" len="med"/>
                      <a:tailEnd type="none" w="med" len="med"/>
                    </a:lnT>
                    <a:lnB w="28575" cap="flat" cmpd="sng">
                      <a:solidFill>
                        <a:schemeClr val="tx1"/>
                      </a:solidFill>
                      <a:prstDash val="solid"/>
                      <a:round/>
                      <a:headEnd type="none" w="med" len="med"/>
                      <a:tailEnd type="none" w="med" len="med"/>
                    </a:lnB>
                    <a:lnTlToBr>
                      <a:noFill/>
                    </a:lnTlToBr>
                    <a:lnBlToTr>
                      <a:noFill/>
                    </a:lnBlToTr>
                    <a:noFill/>
                  </a:tcPr>
                </a:tc>
              </a:tr>
            </a:tbl>
          </a:graphicData>
        </a:graphic>
      </p:graphicFrame>
      <p:pic>
        <p:nvPicPr>
          <p:cNvPr id="94" name="Picture 93" descr="txp_fig"/>
          <p:cNvPicPr>
            <a:picLocks noChangeAspect="1"/>
          </p:cNvPicPr>
          <p:nvPr/>
        </p:nvPicPr>
        <p:blipFill rotWithShape="1">
          <a:blip r:embed="rId3"/>
          <a:stretch>
            <a:fillRect/>
          </a:stretch>
        </p:blipFill>
        <p:spPr>
          <a:xfrm>
            <a:off x="8206592" y="3857532"/>
            <a:ext cx="1241425" cy="298450"/>
          </a:xfrm>
          <a:prstGeom prst="rect">
            <a:avLst/>
          </a:prstGeom>
          <a:noFill/>
          <a:ln>
            <a:noFill/>
          </a:ln>
        </p:spPr>
      </p:pic>
      <p:sp>
        <p:nvSpPr>
          <p:cNvPr id="1027215" name="AutoShape 143"/>
          <p:cNvSpPr/>
          <p:nvPr/>
        </p:nvSpPr>
        <p:spPr>
          <a:xfrm>
            <a:off x="6388904" y="5091019"/>
            <a:ext cx="990600" cy="533400"/>
          </a:xfrm>
          <a:prstGeom prst="leftRightArrow">
            <a:avLst>
              <a:gd name="adj1" fmla="val 50000"/>
              <a:gd name="adj2" fmla="val 37143"/>
            </a:avLst>
          </a:prstGeom>
          <a:solidFill>
            <a:schemeClr val="accent1"/>
          </a:solidFill>
          <a:ln w="9525">
            <a:solidFill>
              <a:schemeClr val="tx1"/>
            </a:solidFill>
            <a:miter/>
            <a:headEnd type="none" w="med" len="med"/>
            <a:tailEnd type="none" w="med" len="med"/>
          </a:ln>
        </p:spPr>
        <p:txBody>
          <a:bodyPr wrap="none" anchor="ctr"/>
          <a:lstStyle/>
          <a:p>
            <a:endParaRPr lang="en-US"/>
          </a:p>
        </p:txBody>
      </p:sp>
      <p:pic>
        <p:nvPicPr>
          <p:cNvPr id="15" name="Picture 14" descr="txp_fig"/>
          <p:cNvPicPr>
            <a:picLocks noChangeAspect="1"/>
          </p:cNvPicPr>
          <p:nvPr/>
        </p:nvPicPr>
        <p:blipFill rotWithShape="1">
          <a:blip r:embed="rId4"/>
          <a:stretch>
            <a:fillRect/>
          </a:stretch>
        </p:blipFill>
        <p:spPr>
          <a:xfrm>
            <a:off x="1956604" y="4422682"/>
            <a:ext cx="850900" cy="298450"/>
          </a:xfrm>
          <a:prstGeom prst="rect">
            <a:avLst/>
          </a:prstGeom>
          <a:noFill/>
          <a:ln>
            <a:noFill/>
          </a:ln>
        </p:spPr>
      </p:pic>
      <p:sp>
        <p:nvSpPr>
          <p:cNvPr id="5" name="Rectangle 4"/>
          <p:cNvSpPr/>
          <p:nvPr/>
        </p:nvSpPr>
        <p:spPr>
          <a:xfrm>
            <a:off x="9489229" y="4746947"/>
            <a:ext cx="545725" cy="2480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9482872" y="5147376"/>
            <a:ext cx="545725" cy="2480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9516206" y="5498200"/>
            <a:ext cx="545725" cy="2480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9529693" y="5868864"/>
            <a:ext cx="545725" cy="2480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descr="txp_fig.png"/>
          <p:cNvPicPr>
            <a:picLocks noChangeAspect="1"/>
          </p:cNvPicPr>
          <p:nvPr/>
        </p:nvPicPr>
        <p:blipFill rotWithShape="1">
          <a:blip r:embed="rId5"/>
          <a:stretch>
            <a:fillRect/>
          </a:stretch>
        </p:blipFill>
        <p:spPr>
          <a:xfrm>
            <a:off x="3726714" y="2014602"/>
            <a:ext cx="4479878" cy="454480"/>
          </a:xfrm>
          <a:prstGeom prst="rect">
            <a:avLst/>
          </a:prstGeom>
          <a:noFill/>
          <a:ln w="9525" cap="flat" cmpd="sng">
            <a:noFill/>
            <a:prstDash val="solid"/>
            <a:round/>
            <a:headEnd type="none" w="med" len="med"/>
            <a:tailEnd type="none" w="med" len="me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2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 grpId="0" animBg="1"/>
      <p:bldP spid="18" grpId="0" animBg="1"/>
      <p:bldP spid="20" grpId="0" animBg="1"/>
      <p:bldP spid="5" grpId="1" animBg="1"/>
      <p:bldP spid="18" grpId="1" animBg="1"/>
      <p:bldP spid="19" grpId="1" animBg="1"/>
      <p:bldP spid="20"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Joint probability Distribution</a:t>
            </a:r>
          </a:p>
        </p:txBody>
      </p:sp>
      <p:sp>
        <p:nvSpPr>
          <p:cNvPr id="3" name="Content Placeholder 2"/>
          <p:cNvSpPr>
            <a:spLocks noGrp="1"/>
          </p:cNvSpPr>
          <p:nvPr>
            <p:ph idx="1"/>
          </p:nvPr>
        </p:nvSpPr>
        <p:spPr/>
        <p:txBody>
          <a:bodyPr>
            <a:normAutofit fontScale="70000" lnSpcReduction="20000"/>
          </a:bodyPr>
          <a:lstStyle/>
          <a:p>
            <a:r>
              <a:rPr lang="en-US" sz="3600"/>
              <a:t>A </a:t>
            </a:r>
            <a:r>
              <a:rPr lang="en-US" sz="3600" b="1"/>
              <a:t>joint probability distribution </a:t>
            </a:r>
            <a:r>
              <a:rPr lang="en-US" sz="3600"/>
              <a:t>can be used to represent the probabilities of combined statements, such as </a:t>
            </a:r>
            <a:r>
              <a:rPr lang="en-US" sz="3600" i="1"/>
              <a:t>A ∧ B</a:t>
            </a:r>
            <a:r>
              <a:rPr lang="en-US" sz="3600"/>
              <a:t>.</a:t>
            </a:r>
          </a:p>
          <a:p>
            <a:endParaRPr lang="en-US" sz="3600"/>
          </a:p>
          <a:p>
            <a:r>
              <a:rPr lang="en-US" sz="3600"/>
              <a:t>The following table shows a joint probability distribution of two variables, </a:t>
            </a:r>
            <a:r>
              <a:rPr lang="en-US" sz="3600" i="1"/>
              <a:t>A </a:t>
            </a:r>
            <a:r>
              <a:rPr lang="en-US" sz="3600"/>
              <a:t>and </a:t>
            </a:r>
            <a:r>
              <a:rPr lang="en-US" sz="3600" i="1"/>
              <a:t>B</a:t>
            </a:r>
            <a:r>
              <a:rPr lang="en-US" sz="3600"/>
              <a:t>:</a:t>
            </a:r>
          </a:p>
          <a:p>
            <a:endParaRPr lang="en-US" sz="3600"/>
          </a:p>
          <a:p>
            <a:endParaRPr lang="en-US" sz="3600"/>
          </a:p>
          <a:p>
            <a:r>
              <a:rPr lang="en-US" sz="3600" i="1"/>
              <a:t>Find the following:</a:t>
            </a:r>
          </a:p>
          <a:p>
            <a:pPr lvl="1"/>
            <a:r>
              <a:rPr lang="en-US" sz="3200" i="1"/>
              <a:t>P</a:t>
            </a:r>
            <a:r>
              <a:rPr lang="en-US" sz="3200"/>
              <a:t>(</a:t>
            </a:r>
            <a:r>
              <a:rPr lang="en-US" sz="3200" i="1"/>
              <a:t>A</a:t>
            </a:r>
            <a:r>
              <a:rPr lang="en-US" sz="3200"/>
              <a:t>) &amp; </a:t>
            </a:r>
            <a:r>
              <a:rPr lang="en-US" sz="3200" i="1"/>
              <a:t>P</a:t>
            </a:r>
            <a:r>
              <a:rPr lang="en-US" sz="3200"/>
              <a:t>(</a:t>
            </a:r>
            <a:r>
              <a:rPr lang="en-US" sz="3200" i="1"/>
              <a:t>B</a:t>
            </a:r>
            <a:r>
              <a:rPr lang="en-US" sz="3200"/>
              <a:t>) </a:t>
            </a:r>
          </a:p>
          <a:p>
            <a:pPr lvl="1"/>
            <a:r>
              <a:rPr lang="en-US" sz="3200" i="1"/>
              <a:t>P</a:t>
            </a:r>
            <a:r>
              <a:rPr lang="en-US" sz="3200"/>
              <a:t>(</a:t>
            </a:r>
            <a:r>
              <a:rPr lang="en-US" sz="3200" i="1"/>
              <a:t>A ∨ B</a:t>
            </a:r>
            <a:r>
              <a:rPr lang="en-US" sz="3200"/>
              <a:t>)</a:t>
            </a:r>
          </a:p>
          <a:p>
            <a:pPr lvl="1"/>
            <a:r>
              <a:rPr lang="en-US" sz="3200" i="1"/>
              <a:t>P</a:t>
            </a:r>
            <a:r>
              <a:rPr lang="en-US" sz="3200"/>
              <a:t>(</a:t>
            </a:r>
            <a:r>
              <a:rPr lang="en-US" sz="3200" i="1"/>
              <a:t>￢A ∧ ￢B</a:t>
            </a:r>
            <a:r>
              <a:rPr lang="en-US" sz="3200"/>
              <a:t>) </a:t>
            </a:r>
          </a:p>
          <a:p>
            <a:pPr lvl="1"/>
            <a:r>
              <a:rPr lang="en-US" sz="3200" i="1"/>
              <a:t>P</a:t>
            </a:r>
            <a:r>
              <a:rPr lang="en-US" sz="3200"/>
              <a:t>(</a:t>
            </a:r>
            <a:r>
              <a:rPr lang="en-US" sz="3200" i="1"/>
              <a:t>B</a:t>
            </a:r>
            <a:r>
              <a:rPr lang="en-US" sz="3200"/>
              <a:t>|</a:t>
            </a:r>
            <a:r>
              <a:rPr lang="en-US" sz="3200" i="1"/>
              <a:t>A</a:t>
            </a:r>
            <a:r>
              <a:rPr lang="en-US" sz="3200"/>
              <a:t>)</a:t>
            </a:r>
          </a:p>
          <a:p>
            <a:endParaRPr lang="en-US" sz="2000"/>
          </a:p>
        </p:txBody>
      </p:sp>
      <p:pic>
        <p:nvPicPr>
          <p:cNvPr id="15362" name="Picture 2"/>
          <p:cNvPicPr>
            <a:picLocks noChangeAspect="1"/>
          </p:cNvPicPr>
          <p:nvPr/>
        </p:nvPicPr>
        <p:blipFill rotWithShape="1">
          <a:blip r:embed="rId2"/>
          <a:stretch>
            <a:fillRect/>
          </a:stretch>
        </p:blipFill>
        <p:spPr>
          <a:xfrm>
            <a:off x="7469506" y="3576711"/>
            <a:ext cx="3381375" cy="1295400"/>
          </a:xfrm>
          <a:prstGeom prst="rect">
            <a:avLst/>
          </a:prstGeom>
          <a:noFill/>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Joint probability Distribution</a:t>
            </a:r>
          </a:p>
        </p:txBody>
      </p:sp>
      <p:sp>
        <p:nvSpPr>
          <p:cNvPr id="3" name="Content Placeholder 2"/>
          <p:cNvSpPr>
            <a:spLocks noGrp="1"/>
          </p:cNvSpPr>
          <p:nvPr>
            <p:ph idx="1"/>
          </p:nvPr>
        </p:nvSpPr>
        <p:spPr/>
        <p:txBody>
          <a:bodyPr>
            <a:normAutofit fontScale="92500" lnSpcReduction="20000"/>
          </a:bodyPr>
          <a:lstStyle/>
          <a:p>
            <a:endParaRPr lang="en-US" sz="2000" i="1"/>
          </a:p>
          <a:p>
            <a:endParaRPr lang="en-US" sz="2000" i="1"/>
          </a:p>
          <a:p>
            <a:endParaRPr lang="en-US" sz="2000" i="1"/>
          </a:p>
          <a:p>
            <a:endParaRPr lang="en-US" sz="2000" i="1"/>
          </a:p>
          <a:p>
            <a:endParaRPr lang="en-US" sz="2000" i="1"/>
          </a:p>
          <a:p>
            <a:r>
              <a:rPr lang="en-US" i="1"/>
              <a:t>P</a:t>
            </a:r>
            <a:r>
              <a:rPr lang="en-US"/>
              <a:t>(</a:t>
            </a:r>
            <a:r>
              <a:rPr lang="en-US" i="1"/>
              <a:t>A</a:t>
            </a:r>
            <a:r>
              <a:rPr lang="en-US"/>
              <a:t>) = 0.11 + 0.63 = 0.74. </a:t>
            </a:r>
          </a:p>
          <a:p>
            <a:r>
              <a:rPr lang="en-US" i="1"/>
              <a:t>P</a:t>
            </a:r>
            <a:r>
              <a:rPr lang="en-US"/>
              <a:t>(</a:t>
            </a:r>
            <a:r>
              <a:rPr lang="en-US" i="1"/>
              <a:t>B</a:t>
            </a:r>
            <a:r>
              <a:rPr lang="en-US"/>
              <a:t>) = 0.11 + 0.09 = 0.2.</a:t>
            </a:r>
          </a:p>
          <a:p>
            <a:r>
              <a:rPr lang="en-US" i="1"/>
              <a:t>P</a:t>
            </a:r>
            <a:r>
              <a:rPr lang="en-US"/>
              <a:t>(</a:t>
            </a:r>
            <a:r>
              <a:rPr lang="en-US" i="1"/>
              <a:t>A ∨ B</a:t>
            </a:r>
            <a:r>
              <a:rPr lang="en-US"/>
              <a:t>) = 0.11 + 0.09 + 0.63 = 0.83</a:t>
            </a:r>
          </a:p>
          <a:p>
            <a:r>
              <a:rPr lang="en-US" i="1"/>
              <a:t>P</a:t>
            </a:r>
            <a:r>
              <a:rPr lang="en-US"/>
              <a:t>(</a:t>
            </a:r>
            <a:r>
              <a:rPr lang="en-US" i="1"/>
              <a:t>￢A ∧ ￢B</a:t>
            </a:r>
            <a:r>
              <a:rPr lang="en-US"/>
              <a:t>) = 0.17</a:t>
            </a:r>
          </a:p>
          <a:p>
            <a:r>
              <a:rPr lang="en-US" i="1"/>
              <a:t>P</a:t>
            </a:r>
            <a:r>
              <a:rPr lang="en-US"/>
              <a:t>(</a:t>
            </a:r>
            <a:r>
              <a:rPr lang="en-US" i="1"/>
              <a:t>￢A ∧ ￢B</a:t>
            </a:r>
            <a:r>
              <a:rPr lang="en-US"/>
              <a:t>) = 1-  </a:t>
            </a:r>
            <a:r>
              <a:rPr lang="en-US" i="1"/>
              <a:t>P</a:t>
            </a:r>
            <a:r>
              <a:rPr lang="en-US"/>
              <a:t>(</a:t>
            </a:r>
            <a:r>
              <a:rPr lang="en-US" i="1"/>
              <a:t>A ∨ B</a:t>
            </a:r>
            <a:r>
              <a:rPr lang="en-US"/>
              <a:t>) = 1 - 0.83 = 0.17.</a:t>
            </a:r>
          </a:p>
          <a:p>
            <a:r>
              <a:rPr lang="en-US" i="1"/>
              <a:t>P</a:t>
            </a:r>
            <a:r>
              <a:rPr lang="en-US"/>
              <a:t>(</a:t>
            </a:r>
            <a:r>
              <a:rPr lang="en-US" i="1"/>
              <a:t>B ∧ A</a:t>
            </a:r>
            <a:r>
              <a:rPr lang="en-US"/>
              <a:t>) = 0.11 and </a:t>
            </a:r>
            <a:r>
              <a:rPr lang="en-US" i="1"/>
              <a:t>P</a:t>
            </a:r>
            <a:r>
              <a:rPr lang="en-US"/>
              <a:t>(</a:t>
            </a:r>
            <a:r>
              <a:rPr lang="en-US" i="1"/>
              <a:t>A</a:t>
            </a:r>
            <a:r>
              <a:rPr lang="en-US"/>
              <a:t>) = 0.11 + 0.63 = 0.74, so </a:t>
            </a:r>
            <a:r>
              <a:rPr lang="en-US" i="1"/>
              <a:t>P</a:t>
            </a:r>
            <a:r>
              <a:rPr lang="en-US"/>
              <a:t>(</a:t>
            </a:r>
            <a:r>
              <a:rPr lang="en-US" i="1"/>
              <a:t>B</a:t>
            </a:r>
            <a:r>
              <a:rPr lang="en-US"/>
              <a:t>|</a:t>
            </a:r>
            <a:r>
              <a:rPr lang="en-US" i="1"/>
              <a:t>A</a:t>
            </a:r>
            <a:r>
              <a:rPr lang="en-US"/>
              <a:t>) = 0.11 / 0.74 = 0.15.</a:t>
            </a:r>
          </a:p>
          <a:p>
            <a:endParaRPr lang="en-US"/>
          </a:p>
          <a:p>
            <a:endParaRPr lang="en-US" sz="2000"/>
          </a:p>
          <a:p>
            <a:endParaRPr lang="en-US" sz="2000"/>
          </a:p>
          <a:p>
            <a:endParaRPr lang="en-US" sz="2000"/>
          </a:p>
          <a:p>
            <a:endParaRPr lang="en-US" sz="2000"/>
          </a:p>
        </p:txBody>
      </p:sp>
      <p:pic>
        <p:nvPicPr>
          <p:cNvPr id="15362" name="Picture 2"/>
          <p:cNvPicPr>
            <a:picLocks noChangeAspect="1"/>
          </p:cNvPicPr>
          <p:nvPr/>
        </p:nvPicPr>
        <p:blipFill rotWithShape="1">
          <a:blip r:embed="rId2"/>
          <a:stretch>
            <a:fillRect/>
          </a:stretch>
        </p:blipFill>
        <p:spPr>
          <a:xfrm>
            <a:off x="4495799" y="1825625"/>
            <a:ext cx="3200401" cy="1295400"/>
          </a:xfrm>
          <a:prstGeom prst="rect">
            <a:avLst/>
          </a:prstGeom>
          <a:noFill/>
          <a:ln>
            <a:noFill/>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a:lstStyle/>
          <a:p>
            <a:pPr eaLnBrk="1"/>
            <a:r>
              <a:rPr lang="en-US"/>
              <a:t>The Chain Rule</a:t>
            </a:r>
          </a:p>
        </p:txBody>
      </p:sp>
      <p:sp>
        <p:nvSpPr>
          <p:cNvPr id="21507" name="Rectangle 3"/>
          <p:cNvSpPr>
            <a:spLocks noGrp="1"/>
          </p:cNvSpPr>
          <p:nvPr>
            <p:ph idx="1"/>
          </p:nvPr>
        </p:nvSpPr>
        <p:spPr/>
        <p:txBody>
          <a:bodyPr/>
          <a:lstStyle/>
          <a:p>
            <a:pPr eaLnBrk="1">
              <a:lnSpc>
                <a:spcPct val="80000"/>
              </a:lnSpc>
            </a:pPr>
            <a:r>
              <a:rPr lang="en-US"/>
              <a:t>More generally, can always write any joint distribution as an incremental product of conditional distributions</a:t>
            </a:r>
          </a:p>
          <a:p>
            <a:pPr eaLnBrk="1">
              <a:lnSpc>
                <a:spcPct val="80000"/>
              </a:lnSpc>
            </a:pPr>
            <a:endParaRPr lang="en-US"/>
          </a:p>
          <a:p>
            <a:pPr eaLnBrk="1">
              <a:lnSpc>
                <a:spcPct val="80000"/>
              </a:lnSpc>
            </a:pPr>
            <a:endParaRPr lang="en-US" sz="2400"/>
          </a:p>
          <a:p>
            <a:pPr marL="0" indent="0" eaLnBrk="1">
              <a:lnSpc>
                <a:spcPct val="80000"/>
              </a:lnSpc>
              <a:buNone/>
            </a:pPr>
            <a:endParaRPr lang="en-US" sz="2400"/>
          </a:p>
          <a:p>
            <a:pPr eaLnBrk="1">
              <a:lnSpc>
                <a:spcPct val="80000"/>
              </a:lnSpc>
            </a:pPr>
            <a:endParaRPr lang="en-US" sz="2400"/>
          </a:p>
          <a:p>
            <a:pPr eaLnBrk="1">
              <a:lnSpc>
                <a:spcPct val="80000"/>
              </a:lnSpc>
            </a:pPr>
            <a:endParaRPr lang="en-US" sz="2400"/>
          </a:p>
          <a:p>
            <a:pPr eaLnBrk="1">
              <a:lnSpc>
                <a:spcPct val="80000"/>
              </a:lnSpc>
            </a:pPr>
            <a:endParaRPr lang="en-US" sz="2400"/>
          </a:p>
        </p:txBody>
      </p:sp>
      <p:pic>
        <p:nvPicPr>
          <p:cNvPr id="21508" name="Picture 8" descr="txp_fig"/>
          <p:cNvPicPr>
            <a:picLocks noChangeAspect="1"/>
          </p:cNvPicPr>
          <p:nvPr/>
        </p:nvPicPr>
        <p:blipFill rotWithShape="1">
          <a:blip r:embed="rId2"/>
          <a:stretch>
            <a:fillRect/>
          </a:stretch>
        </p:blipFill>
        <p:spPr>
          <a:xfrm>
            <a:off x="3093843" y="2963570"/>
            <a:ext cx="5707062" cy="303212"/>
          </a:xfrm>
          <a:prstGeom prst="rect">
            <a:avLst/>
          </a:prstGeom>
          <a:noFill/>
          <a:ln>
            <a:noFill/>
          </a:ln>
        </p:spPr>
      </p:pic>
      <p:pic>
        <p:nvPicPr>
          <p:cNvPr id="21509" name="Picture 7" descr="txp_fig"/>
          <p:cNvPicPr>
            <a:picLocks noChangeAspect="1"/>
          </p:cNvPicPr>
          <p:nvPr/>
        </p:nvPicPr>
        <p:blipFill rotWithShape="1">
          <a:blip r:embed="rId3"/>
          <a:stretch>
            <a:fillRect/>
          </a:stretch>
        </p:blipFill>
        <p:spPr>
          <a:xfrm>
            <a:off x="3082730" y="3609682"/>
            <a:ext cx="4964113" cy="5635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Probabilistic Reasoning</a:t>
            </a:r>
          </a:p>
        </p:txBody>
      </p:sp>
      <p:sp>
        <p:nvSpPr>
          <p:cNvPr id="3" name="Content Placeholder 2"/>
          <p:cNvSpPr>
            <a:spLocks noGrp="1"/>
          </p:cNvSpPr>
          <p:nvPr>
            <p:ph idx="1"/>
          </p:nvPr>
        </p:nvSpPr>
        <p:spPr/>
        <p:txBody>
          <a:bodyPr>
            <a:normAutofit/>
          </a:bodyPr>
          <a:lstStyle/>
          <a:p>
            <a:r>
              <a:rPr lang="en-US" sz="2000"/>
              <a:t>Probability theory is used to discuss events, categories, and hypotheses about which there is not 100% certainty.</a:t>
            </a:r>
          </a:p>
          <a:p>
            <a:endParaRPr lang="en-US" sz="2000"/>
          </a:p>
          <a:p>
            <a:r>
              <a:rPr lang="en-US" sz="2000"/>
              <a:t>Analyzing logical statements does not function in situations that are lacking </a:t>
            </a:r>
            <a:r>
              <a:rPr lang="en-US" sz="2000" b="1"/>
              <a:t>certainty</a:t>
            </a:r>
            <a:r>
              <a:rPr lang="en-US" sz="2000"/>
              <a:t>.</a:t>
            </a:r>
          </a:p>
          <a:p>
            <a:endParaRPr lang="en-US" sz="2000"/>
          </a:p>
          <a:p>
            <a:r>
              <a:rPr lang="en-US" sz="2000"/>
              <a:t>For example, we might write </a:t>
            </a:r>
            <a:r>
              <a:rPr lang="en-US" sz="2000" i="1"/>
              <a:t>A</a:t>
            </a:r>
            <a:r>
              <a:rPr lang="en-US" sz="2000"/>
              <a:t>→</a:t>
            </a:r>
            <a:r>
              <a:rPr lang="en-US" sz="2000" i="1"/>
              <a:t>B</a:t>
            </a:r>
          </a:p>
          <a:p>
            <a:pPr lvl="1"/>
            <a:r>
              <a:rPr lang="en-US" sz="1600"/>
              <a:t>which means that if </a:t>
            </a:r>
            <a:r>
              <a:rPr lang="en-US" sz="1600" i="1"/>
              <a:t>A </a:t>
            </a:r>
            <a:r>
              <a:rPr lang="en-US" sz="1600"/>
              <a:t>is true, then </a:t>
            </a:r>
            <a:r>
              <a:rPr lang="en-US" sz="1600" i="1"/>
              <a:t>B </a:t>
            </a:r>
            <a:r>
              <a:rPr lang="en-US" sz="1600"/>
              <a:t>is true. </a:t>
            </a:r>
          </a:p>
          <a:p>
            <a:pPr lvl="1"/>
            <a:endParaRPr lang="en-US" sz="1600"/>
          </a:p>
          <a:p>
            <a:r>
              <a:rPr lang="en-US" sz="2000"/>
              <a:t>If we are unsure whether </a:t>
            </a:r>
            <a:r>
              <a:rPr lang="en-US" sz="2000" i="1"/>
              <a:t>A </a:t>
            </a:r>
            <a:r>
              <a:rPr lang="en-US" sz="2000"/>
              <a:t>is true, then we cannot make use of this expression.</a:t>
            </a:r>
          </a:p>
          <a:p>
            <a:endParaRPr lang="en-US" sz="2000"/>
          </a:p>
          <a:p>
            <a:r>
              <a:rPr lang="en-US" sz="2000"/>
              <a:t> In many real-world situations, it is very useful to be able to talk about things that lack certainty. </a:t>
            </a:r>
          </a:p>
          <a:p>
            <a:pPr lvl="1"/>
            <a:r>
              <a:rPr lang="en-US" sz="1600"/>
              <a:t>For example, what will the weather be like tomorrow?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Probabilistic Reasoning</a:t>
            </a:r>
          </a:p>
        </p:txBody>
      </p:sp>
      <p:sp>
        <p:nvSpPr>
          <p:cNvPr id="3" name="Content Placeholder 2"/>
          <p:cNvSpPr>
            <a:spLocks noGrp="1"/>
          </p:cNvSpPr>
          <p:nvPr>
            <p:ph idx="1"/>
          </p:nvPr>
        </p:nvSpPr>
        <p:spPr/>
        <p:txBody>
          <a:bodyPr>
            <a:normAutofit/>
          </a:bodyPr>
          <a:lstStyle/>
          <a:p>
            <a:r>
              <a:rPr lang="en-US"/>
              <a:t>We might formulate a very simple hypothesis based on general observation, such as “it is sunny only 10% of the time, and rainy 70% of the time.”</a:t>
            </a:r>
          </a:p>
          <a:p>
            <a:pPr lvl="1"/>
            <a:r>
              <a:rPr lang="en-US" sz="2400"/>
              <a:t>P(S) = 0.1</a:t>
            </a:r>
          </a:p>
          <a:p>
            <a:pPr lvl="1"/>
            <a:r>
              <a:rPr lang="en-US" sz="2400"/>
              <a:t>P(R) = 0.7</a:t>
            </a:r>
          </a:p>
          <a:p>
            <a:pPr lvl="1"/>
            <a:endParaRPr lang="en-US" sz="2800"/>
          </a:p>
          <a:p>
            <a:r>
              <a:rPr lang="en-US"/>
              <a:t>A probability of 0 means “definitely not” and a probability of 1 means “definitely so.” Hence, </a:t>
            </a:r>
            <a:r>
              <a:rPr lang="en-US" i="1"/>
              <a:t>P</a:t>
            </a:r>
            <a:r>
              <a:rPr lang="en-US"/>
              <a:t>(</a:t>
            </a:r>
            <a:r>
              <a:rPr lang="en-US" i="1"/>
              <a:t>S</a:t>
            </a:r>
            <a:r>
              <a:rPr lang="en-US"/>
              <a:t>) = 1 means that it is always sunny.</a:t>
            </a:r>
          </a:p>
          <a:p>
            <a:endParaRPr lang="en-US"/>
          </a:p>
          <a:p>
            <a:pPr lvl="1"/>
            <a:r>
              <a:rPr lang="en-US" i="1"/>
              <a:t>P</a:t>
            </a:r>
            <a:r>
              <a:rPr lang="en-US"/>
              <a:t>(</a:t>
            </a:r>
            <a:r>
              <a:rPr lang="en-US" i="1"/>
              <a:t>A ∨ B</a:t>
            </a:r>
            <a:r>
              <a:rPr lang="en-US"/>
              <a:t>) = </a:t>
            </a:r>
            <a:r>
              <a:rPr lang="en-US" i="1"/>
              <a:t>P</a:t>
            </a:r>
            <a:r>
              <a:rPr lang="en-US"/>
              <a:t>(</a:t>
            </a:r>
            <a:r>
              <a:rPr lang="en-US" i="1"/>
              <a:t>A</a:t>
            </a:r>
            <a:r>
              <a:rPr lang="en-US"/>
              <a:t>) + </a:t>
            </a:r>
            <a:r>
              <a:rPr lang="en-US" i="1"/>
              <a:t>P</a:t>
            </a:r>
            <a:r>
              <a:rPr lang="en-US"/>
              <a:t>(</a:t>
            </a:r>
            <a:r>
              <a:rPr lang="en-US" i="1"/>
              <a:t>B</a:t>
            </a:r>
            <a:r>
              <a:rPr lang="en-US"/>
              <a:t>) - </a:t>
            </a:r>
            <a:r>
              <a:rPr lang="en-US" i="1"/>
              <a:t>P</a:t>
            </a:r>
            <a:r>
              <a:rPr lang="en-US"/>
              <a:t>(</a:t>
            </a:r>
            <a:r>
              <a:rPr lang="en-US" i="1"/>
              <a:t>A ∧ B</a:t>
            </a:r>
            <a:r>
              <a:rPr lang="en-US"/>
              <a:t>)</a:t>
            </a:r>
          </a:p>
          <a:p>
            <a:endParaRPr lang="en-US" sz="2000"/>
          </a:p>
          <a:p>
            <a:endParaRPr lang="en-US" sz="2000"/>
          </a:p>
        </p:txBody>
      </p:sp>
      <p:pic>
        <p:nvPicPr>
          <p:cNvPr id="13314" name="Picture 2"/>
          <p:cNvPicPr>
            <a:picLocks noChangeAspect="1"/>
          </p:cNvPicPr>
          <p:nvPr/>
        </p:nvPicPr>
        <p:blipFill rotWithShape="1">
          <a:blip r:embed="rId2"/>
          <a:stretch>
            <a:fillRect/>
          </a:stretch>
        </p:blipFill>
        <p:spPr>
          <a:xfrm>
            <a:off x="8282061" y="2634275"/>
            <a:ext cx="2762250" cy="1812362"/>
          </a:xfrm>
          <a:prstGeom prst="rect">
            <a:avLst/>
          </a:prstGeom>
          <a:noFill/>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Bayes Classifiers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0000" lnSpcReduction="20000"/>
              </a:bodyPr>
              <a:lstStyle/>
              <a:p>
                <a:r>
                  <a:rPr lang="en-US"/>
                  <a:t>Bayesian classifiers use Bayes theorem:</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𝐶</m:t>
                          </m:r>
                        </m:e>
                        <m:e>
                          <m:r>
                            <a:rPr lang="en-US" i="1">
                              <a:latin typeface="Cambria Math"/>
                            </a:rPr>
                            <m:t>𝐹</m:t>
                          </m:r>
                          <m:r>
                            <a:rPr lang="en-US" i="1">
                              <a:latin typeface="Cambria Math"/>
                            </a:rPr>
                            <m:t> </m:t>
                          </m:r>
                        </m:e>
                      </m:d>
                      <m:r>
                        <a:rPr lang="en-US" i="1">
                          <a:latin typeface="Cambria Math"/>
                        </a:rPr>
                        <m:t>=</m:t>
                      </m:r>
                      <m:f>
                        <m:fPr>
                          <m:ctrlPr>
                            <a:rPr lang="en-US" b="1" i="1">
                              <a:latin typeface="Cambria Math" panose="02040503050406030204" pitchFamily="18" charset="0"/>
                            </a:rPr>
                          </m:ctrlPr>
                        </m:fPr>
                        <m:num>
                          <m:r>
                            <a:rPr lang="en-US" b="1" i="1">
                              <a:latin typeface="Cambria Math"/>
                            </a:rPr>
                            <m:t>𝑷</m:t>
                          </m:r>
                          <m:d>
                            <m:dPr>
                              <m:ctrlPr>
                                <a:rPr lang="en-US" b="1" i="1">
                                  <a:latin typeface="Cambria Math" panose="02040503050406030204" pitchFamily="18" charset="0"/>
                                </a:rPr>
                              </m:ctrlPr>
                            </m:dPr>
                            <m:e>
                              <m:r>
                                <a:rPr lang="en-US" b="1" i="1">
                                  <a:latin typeface="Cambria Math"/>
                                </a:rPr>
                                <m:t>𝑭</m:t>
                              </m:r>
                              <m:r>
                                <a:rPr lang="en-US" b="1" i="1">
                                  <a:latin typeface="Cambria Math"/>
                                </a:rPr>
                                <m:t>|</m:t>
                              </m:r>
                              <m:r>
                                <a:rPr lang="en-US" b="1" i="1">
                                  <a:latin typeface="Cambria Math"/>
                                </a:rPr>
                                <m:t>𝑪</m:t>
                              </m:r>
                            </m:e>
                          </m:d>
                          <m:r>
                            <a:rPr lang="en-US" b="1" i="1">
                              <a:latin typeface="Cambria Math"/>
                            </a:rPr>
                            <m:t>×</m:t>
                          </m:r>
                          <m:r>
                            <a:rPr lang="en-US" b="1" i="1">
                              <a:latin typeface="Cambria Math"/>
                            </a:rPr>
                            <m:t>𝑷</m:t>
                          </m:r>
                          <m:r>
                            <a:rPr lang="en-US" b="1" i="1">
                              <a:latin typeface="Cambria Math"/>
                            </a:rPr>
                            <m:t>(</m:t>
                          </m:r>
                          <m:r>
                            <a:rPr lang="en-US" b="1" i="1">
                              <a:latin typeface="Cambria Math"/>
                            </a:rPr>
                            <m:t>𝑪</m:t>
                          </m:r>
                          <m:r>
                            <a:rPr lang="en-US" b="1" i="1">
                              <a:latin typeface="Cambria Math"/>
                            </a:rPr>
                            <m:t>)</m:t>
                          </m:r>
                        </m:num>
                        <m:den>
                          <m:r>
                            <a:rPr lang="en-US" b="1" i="1">
                              <a:latin typeface="Cambria Math"/>
                            </a:rPr>
                            <m:t>𝑷</m:t>
                          </m:r>
                          <m:d>
                            <m:dPr>
                              <m:ctrlPr>
                                <a:rPr lang="en-US" b="1" i="1">
                                  <a:latin typeface="Cambria Math" panose="02040503050406030204" pitchFamily="18" charset="0"/>
                                </a:rPr>
                              </m:ctrlPr>
                            </m:dPr>
                            <m:e>
                              <m:r>
                                <a:rPr lang="en-US" b="1" i="1">
                                  <a:latin typeface="Cambria Math"/>
                                </a:rPr>
                                <m:t>𝑭</m:t>
                              </m:r>
                            </m:e>
                          </m:d>
                        </m:den>
                      </m:f>
                    </m:oMath>
                  </m:oMathPara>
                </a14:m>
                <a:endParaRPr lang="en-GB"/>
              </a:p>
              <a:p>
                <a14:m xmlns:a14="http://schemas.microsoft.com/office/drawing/2010/main">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𝐶</m:t>
                        </m:r>
                      </m:e>
                      <m:e>
                        <m:r>
                          <a:rPr lang="en-US" i="1">
                            <a:latin typeface="Cambria Math"/>
                          </a:rPr>
                          <m:t>𝐹</m:t>
                        </m:r>
                        <m:r>
                          <a:rPr lang="en-US" i="1">
                            <a:latin typeface="Cambria Math"/>
                          </a:rPr>
                          <m:t> </m:t>
                        </m:r>
                      </m:e>
                    </m:d>
                  </m:oMath>
                </a14:m>
                <a:r>
                  <a:rPr lang="en-US"/>
                  <a:t>: Probability of instance </a:t>
                </a:r>
                <a:r>
                  <a:rPr lang="en-US" i="1"/>
                  <a:t>F</a:t>
                </a:r>
                <a:r>
                  <a:rPr lang="en-US"/>
                  <a:t> being in class </a:t>
                </a:r>
                <a:r>
                  <a:rPr lang="en-US" i="1"/>
                  <a:t>C</a:t>
                </a:r>
                <a:r>
                  <a:rPr lang="en-US"/>
                  <a:t>,</a:t>
                </a:r>
              </a:p>
              <a:p>
                <a:pPr lvl="1"/>
                <a:r>
                  <a:rPr lang="en-US">
                    <a:solidFill>
                      <a:schemeClr val="tx2"/>
                    </a:solidFill>
                  </a:rPr>
                  <a:t>This is what we are trying to compute</a:t>
                </a:r>
              </a:p>
              <a:p>
                <a:endParaRPr lang="en-US" b="1" i="1">
                  <a:latin typeface="Cambria Math"/>
                </a:endParaRPr>
              </a:p>
              <a:p>
                <a14:m xmlns:a14="http://schemas.microsoft.com/office/drawing/2010/main">
                  <m:oMath xmlns:m="http://schemas.openxmlformats.org/officeDocument/2006/math">
                    <m:r>
                      <a:rPr lang="en-US" b="1" i="1">
                        <a:latin typeface="Cambria Math"/>
                      </a:rPr>
                      <m:t>𝑷</m:t>
                    </m:r>
                    <m:d>
                      <m:dPr>
                        <m:ctrlPr>
                          <a:rPr lang="en-US" b="1" i="1">
                            <a:latin typeface="Cambria Math" panose="02040503050406030204" pitchFamily="18" charset="0"/>
                          </a:rPr>
                        </m:ctrlPr>
                      </m:dPr>
                      <m:e>
                        <m:r>
                          <a:rPr lang="en-US" b="1" i="1">
                            <a:latin typeface="Cambria Math"/>
                          </a:rPr>
                          <m:t>𝑭</m:t>
                        </m:r>
                        <m:r>
                          <a:rPr lang="en-US" b="1" i="1">
                            <a:latin typeface="Cambria Math"/>
                          </a:rPr>
                          <m:t>|</m:t>
                        </m:r>
                        <m:r>
                          <a:rPr lang="en-US" b="1" i="1">
                            <a:latin typeface="Cambria Math"/>
                          </a:rPr>
                          <m:t>𝑪</m:t>
                        </m:r>
                      </m:e>
                    </m:d>
                  </m:oMath>
                </a14:m>
                <a:r>
                  <a:rPr lang="en-US"/>
                  <a:t>: Probability of generating instance </a:t>
                </a:r>
                <a:r>
                  <a:rPr lang="en-US" i="1"/>
                  <a:t>F</a:t>
                </a:r>
                <a:r>
                  <a:rPr lang="en-US"/>
                  <a:t> given class </a:t>
                </a:r>
                <a:r>
                  <a:rPr lang="en-US" i="1"/>
                  <a:t>C</a:t>
                </a:r>
                <a:r>
                  <a:rPr lang="en-US"/>
                  <a:t>,</a:t>
                </a:r>
              </a:p>
              <a:p>
                <a:pPr lvl="1"/>
                <a:r>
                  <a:rPr lang="en-US">
                    <a:solidFill>
                      <a:schemeClr val="tx2"/>
                    </a:solidFill>
                  </a:rPr>
                  <a:t>We can imagine that being in class </a:t>
                </a:r>
                <a:r>
                  <a:rPr lang="en-US" i="1">
                    <a:solidFill>
                      <a:schemeClr val="tx2"/>
                    </a:solidFill>
                  </a:rPr>
                  <a:t>C</a:t>
                </a:r>
                <a:r>
                  <a:rPr lang="en-US">
                    <a:solidFill>
                      <a:schemeClr val="tx2"/>
                    </a:solidFill>
                  </a:rPr>
                  <a:t>, causes you to have feature </a:t>
                </a:r>
                <a:r>
                  <a:rPr lang="en-US" i="1">
                    <a:solidFill>
                      <a:schemeClr val="tx2"/>
                    </a:solidFill>
                  </a:rPr>
                  <a:t>F</a:t>
                </a:r>
                <a:r>
                  <a:rPr lang="en-US">
                    <a:solidFill>
                      <a:schemeClr val="tx2"/>
                    </a:solidFill>
                  </a:rPr>
                  <a:t> with some probability</a:t>
                </a:r>
              </a:p>
              <a:p>
                <a:endParaRPr lang="en-US" i="1"/>
              </a:p>
              <a:p>
                <a:r>
                  <a:rPr lang="en-US" i="1"/>
                  <a:t>P(C):</a:t>
                </a:r>
                <a:r>
                  <a:rPr lang="en-US"/>
                  <a:t> probability of occurrence of class C,</a:t>
                </a:r>
              </a:p>
              <a:p>
                <a:pPr lvl="1"/>
                <a:r>
                  <a:rPr lang="en-US">
                    <a:solidFill>
                      <a:schemeClr val="tx2"/>
                    </a:solidFill>
                  </a:rPr>
                  <a:t>This is just how frequent the class </a:t>
                </a:r>
                <a:r>
                  <a:rPr lang="en-US" i="1">
                    <a:solidFill>
                      <a:schemeClr val="tx2"/>
                    </a:solidFill>
                  </a:rPr>
                  <a:t>C</a:t>
                </a:r>
                <a:r>
                  <a:rPr lang="en-US">
                    <a:solidFill>
                      <a:schemeClr val="tx2"/>
                    </a:solidFill>
                  </a:rPr>
                  <a:t>, is in our dataset</a:t>
                </a:r>
              </a:p>
              <a:p>
                <a:endParaRPr lang="en-US" i="1"/>
              </a:p>
              <a:p>
                <a:r>
                  <a:rPr lang="en-US" i="1"/>
                  <a:t>P(F)</a:t>
                </a:r>
                <a:r>
                  <a:rPr lang="en-US"/>
                  <a:t>: probability of instance </a:t>
                </a:r>
                <a:r>
                  <a:rPr lang="en-US" i="1"/>
                  <a:t>F</a:t>
                </a:r>
                <a:r>
                  <a:rPr lang="en-US"/>
                  <a:t> occurring</a:t>
                </a:r>
              </a:p>
              <a:p>
                <a:pPr lvl="1"/>
                <a:r>
                  <a:rPr lang="en-US">
                    <a:solidFill>
                      <a:schemeClr val="tx2"/>
                    </a:solidFill>
                  </a:rPr>
                  <a:t>This can actually be ignored, since it is the same for all classes</a:t>
                </a:r>
                <a:endParaRPr lang="en-GB">
                  <a:solidFill>
                    <a:schemeClr val="tx2"/>
                  </a:solidFill>
                </a:endParaRPr>
              </a:p>
            </p:txBody>
          </p:sp>
        </mc:Choice>
        <mc:Fallback>
          <p:sp>
            <p:nvSpPr>
              <p:cNvPr id="3" name="Content Placeholder 2"/>
              <p:cNvSpPr>
                <a:spLocks noGrp="1"/>
              </p:cNvSpPr>
              <p:nvPr>
                <p:ph idx="1"/>
              </p:nvPr>
            </p:nvSpPr>
            <p:spPr/>
            <p:txBody>
              <a:bodyPr>
                <a:normAutofit fontScale="70000" lnSpcReduction="20000"/>
              </a:bodyPr>
              <a:lstStyle/>
              <a:p>
                <a:r>
                  <a:rPr lang="en-US"/>
                  <a:t>Bayesian classifiers use Bayes theorem:</a:t>
                </a:r>
              </a:p>
              <a:p>
                <a:pPr marL="0" indent="0">
                  <a:buNone/>
                </a:pPr>
                <a:r>
                  <a:rPr/>
                  <a:t>𝑃𝐶𝐹 =𝑷𝑭|𝑪×𝑷(𝑪)𝑷𝑭</a:t>
                </a:r>
                <a:endParaRPr lang="en-GB"/>
              </a:p>
              <a:p>
                <a:r>
                  <a:rPr/>
                  <a:t>𝑃𝐶𝐹 </a:t>
                </a:r>
                <a:r>
                  <a:rPr lang="en-US"/>
                  <a:t>: Probability of instance </a:t>
                </a:r>
                <a:r>
                  <a:rPr lang="en-US" i="1"/>
                  <a:t>F</a:t>
                </a:r>
                <a:r>
                  <a:rPr lang="en-US"/>
                  <a:t> being in class </a:t>
                </a:r>
                <a:r>
                  <a:rPr lang="en-US" i="1"/>
                  <a:t>C</a:t>
                </a:r>
                <a:r>
                  <a:rPr lang="en-US"/>
                  <a:t>,</a:t>
                </a:r>
              </a:p>
              <a:p>
                <a:pPr lvl="1"/>
                <a:r>
                  <a:rPr lang="en-US">
                    <a:solidFill>
                      <a:schemeClr val="tx2"/>
                    </a:solidFill>
                  </a:rPr>
                  <a:t>This is what we are trying to compute</a:t>
                </a:r>
              </a:p>
              <a:p>
                <a:endParaRPr lang="en-US" b="1" i="1">
                  <a:latin typeface="Cambria Math"/>
                </a:endParaRPr>
              </a:p>
              <a:p>
                <a:r>
                  <a:rPr/>
                  <a:t>𝑷𝑭|𝑪</a:t>
                </a:r>
                <a:r>
                  <a:rPr lang="en-US"/>
                  <a:t>: Probability of generating instance </a:t>
                </a:r>
                <a:r>
                  <a:rPr lang="en-US" i="1"/>
                  <a:t>F</a:t>
                </a:r>
                <a:r>
                  <a:rPr lang="en-US"/>
                  <a:t> given class </a:t>
                </a:r>
                <a:r>
                  <a:rPr lang="en-US" i="1"/>
                  <a:t>C</a:t>
                </a:r>
                <a:r>
                  <a:rPr lang="en-US"/>
                  <a:t>,</a:t>
                </a:r>
              </a:p>
              <a:p>
                <a:pPr lvl="1"/>
                <a:r>
                  <a:rPr lang="en-US">
                    <a:solidFill>
                      <a:schemeClr val="tx2"/>
                    </a:solidFill>
                  </a:rPr>
                  <a:t>We can imagine that being in class </a:t>
                </a:r>
                <a:r>
                  <a:rPr lang="en-US" i="1">
                    <a:solidFill>
                      <a:schemeClr val="tx2"/>
                    </a:solidFill>
                  </a:rPr>
                  <a:t>C</a:t>
                </a:r>
                <a:r>
                  <a:rPr lang="en-US">
                    <a:solidFill>
                      <a:schemeClr val="tx2"/>
                    </a:solidFill>
                  </a:rPr>
                  <a:t>, causes you to have feature </a:t>
                </a:r>
                <a:r>
                  <a:rPr lang="en-US" i="1">
                    <a:solidFill>
                      <a:schemeClr val="tx2"/>
                    </a:solidFill>
                  </a:rPr>
                  <a:t>F</a:t>
                </a:r>
                <a:r>
                  <a:rPr lang="en-US">
                    <a:solidFill>
                      <a:schemeClr val="tx2"/>
                    </a:solidFill>
                  </a:rPr>
                  <a:t> with some probability</a:t>
                </a:r>
              </a:p>
              <a:p>
                <a:endParaRPr lang="en-US" i="1"/>
              </a:p>
              <a:p>
                <a:r>
                  <a:rPr lang="en-US" i="1"/>
                  <a:t>P(C):</a:t>
                </a:r>
                <a:r>
                  <a:rPr lang="en-US"/>
                  <a:t> probability of occurrence of class C,</a:t>
                </a:r>
              </a:p>
              <a:p>
                <a:pPr lvl="1"/>
                <a:r>
                  <a:rPr lang="en-US">
                    <a:solidFill>
                      <a:schemeClr val="tx2"/>
                    </a:solidFill>
                  </a:rPr>
                  <a:t>This is just how frequent the class </a:t>
                </a:r>
                <a:r>
                  <a:rPr lang="en-US" i="1">
                    <a:solidFill>
                      <a:schemeClr val="tx2"/>
                    </a:solidFill>
                  </a:rPr>
                  <a:t>C</a:t>
                </a:r>
                <a:r>
                  <a:rPr lang="en-US">
                    <a:solidFill>
                      <a:schemeClr val="tx2"/>
                    </a:solidFill>
                  </a:rPr>
                  <a:t>, is in our dataset</a:t>
                </a:r>
              </a:p>
              <a:p>
                <a:endParaRPr lang="en-US" i="1"/>
              </a:p>
              <a:p>
                <a:r>
                  <a:rPr lang="en-US" i="1"/>
                  <a:t>P(F)</a:t>
                </a:r>
                <a:r>
                  <a:rPr lang="en-US"/>
                  <a:t>: probability of instance </a:t>
                </a:r>
                <a:r>
                  <a:rPr lang="en-US" i="1"/>
                  <a:t>F</a:t>
                </a:r>
                <a:r>
                  <a:rPr lang="en-US"/>
                  <a:t> occurring</a:t>
                </a:r>
              </a:p>
              <a:p>
                <a:pPr lvl="1"/>
                <a:r>
                  <a:rPr lang="en-US">
                    <a:solidFill>
                      <a:schemeClr val="tx2"/>
                    </a:solidFill>
                  </a:rPr>
                  <a:t>This can actually be ignored, since it is the same for all classes</a:t>
                </a:r>
                <a:endParaRPr lang="en-GB">
                  <a:solidFill>
                    <a:schemeClr val="tx2"/>
                  </a:solidFill>
                </a:endParaRPr>
              </a:p>
            </p:txBody>
          </p:sp>
        </mc:Fallback>
      </mc:AlternateContent>
      <p:sp>
        <p:nvSpPr>
          <p:cNvPr id="4" name="Slide Number Placeholder 3"/>
          <p:cNvSpPr>
            <a:spLocks noGrp="1"/>
          </p:cNvSpPr>
          <p:nvPr>
            <p:ph type="sldNum" sz="quarter" idx="12"/>
          </p:nvPr>
        </p:nvSpPr>
        <p:spPr/>
        <p:txBody>
          <a:bodyPr/>
          <a:lstStyle/>
          <a:p>
            <a:fld id="{18C67565-E9B8-43A8-859B-FB8AC9415FF1}"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Bayes Classifier</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20000"/>
              </a:bodyPr>
              <a:lstStyle/>
              <a:p>
                <a:r>
                  <a:rPr lang="en-US"/>
                  <a:t>Givem feature points: we want to compute class probabilities using </a:t>
                </a:r>
                <a:r>
                  <a:rPr lang="en-US"/>
                  <a:t>Baye’s</a:t>
                </a:r>
                <a:r>
                  <a:rPr lang="en-US"/>
                  <a:t> Rule:</a:t>
                </a:r>
              </a:p>
              <a:p>
                <a:endParaRPr lang="en-US"/>
              </a:p>
              <a:p>
                <a:endParaRPr lang="en-US"/>
              </a:p>
              <a:p>
                <a:r>
                  <a:rPr lang="en-US"/>
                  <a:t>More Formally</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𝑝𝑜𝑠𝑡𝑒𝑟𝑖𝑜𝑟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𝐶𝑙𝑎𝑠𝑠</m:t>
                          </m:r>
                          <m:r>
                            <a:rPr lang="en-US" b="0" i="1" smtClean="0">
                              <a:latin typeface="Cambria Math" panose="02040503050406030204" pitchFamily="18" charset="0"/>
                            </a:rPr>
                            <m:t> </m:t>
                          </m:r>
                          <m:r>
                            <a:rPr lang="en-US" b="0" i="1" smtClean="0">
                              <a:latin typeface="Cambria Math" panose="02040503050406030204" pitchFamily="18" charset="0"/>
                            </a:rPr>
                            <m:t>𝐿𝑖𝑘𝑒𝑙𝑖h𝑜𝑜𝑑</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𝑃𝑟𝑖𝑜𝑟</m:t>
                          </m:r>
                        </m:num>
                        <m:den>
                          <m:r>
                            <a:rPr lang="en-US" b="0" i="1" smtClean="0">
                              <a:latin typeface="Cambria Math" panose="02040503050406030204" pitchFamily="18" charset="0"/>
                            </a:rPr>
                            <m:t>𝐸𝑣𝑖𝑑𝑒𝑛𝑐𝑒</m:t>
                          </m:r>
                        </m:den>
                      </m:f>
                    </m:oMath>
                  </m:oMathPara>
                </a14:m>
                <a:endParaRPr lang="en-US" b="0"/>
              </a:p>
              <a:p>
                <a:endParaRPr lang="en-US" i="1"/>
              </a:p>
              <a:p>
                <a:pPr lvl="1"/>
                <a14:m xmlns:a14="http://schemas.microsoft.com/office/drawing/2010/main">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oMath>
                </a14:m>
                <a:r>
                  <a:rPr lang="en-US" i="1"/>
                  <a:t> </a:t>
                </a:r>
                <a:r>
                  <a:rPr lang="en-US"/>
                  <a:t>: </a:t>
                </a:r>
                <a:r>
                  <a:rPr lang="en-US" b="1" i="1"/>
                  <a:t>prior probability</a:t>
                </a:r>
                <a:r>
                  <a:rPr lang="en-US" i="1"/>
                  <a:t>.</a:t>
                </a:r>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𝑥</m:t>
                        </m:r>
                      </m:e>
                    </m:d>
                  </m:oMath>
                </a14:m>
                <a:r>
                  <a:rPr lang="en-US" i="1"/>
                  <a:t> </a:t>
                </a:r>
                <a:r>
                  <a:rPr lang="en-US"/>
                  <a:t>: probability of </a:t>
                </a:r>
                <a14:m xmlns:a14="http://schemas.microsoft.com/office/drawing/2010/main">
                  <m:oMath xmlns:m="http://schemas.openxmlformats.org/officeDocument/2006/math">
                    <m:r>
                      <a:rPr lang="en-US" b="0" i="1" smtClean="0">
                        <a:latin typeface="Cambria Math" panose="02040503050406030204" pitchFamily="18" charset="0"/>
                      </a:rPr>
                      <m:t>𝑥</m:t>
                    </m:r>
                  </m:oMath>
                </a14:m>
                <a:r>
                  <a:rPr lang="en-US" i="1"/>
                  <a:t>.</a:t>
                </a:r>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𝐶</m:t>
                        </m:r>
                      </m:e>
                    </m:d>
                  </m:oMath>
                </a14:m>
                <a:r>
                  <a:rPr lang="en-US" i="1"/>
                  <a:t> </a:t>
                </a:r>
                <a:r>
                  <a:rPr lang="en-US"/>
                  <a:t>: conditional probability of </a:t>
                </a:r>
                <a14:m xmlns:a14="http://schemas.microsoft.com/office/drawing/2010/main">
                  <m:oMath xmlns:m="http://schemas.openxmlformats.org/officeDocument/2006/math">
                    <m:r>
                      <m:rPr>
                        <m:sty m:val="p"/>
                      </m:rPr>
                      <a:rPr lang="en-US" b="0" i="0" smtClean="0">
                        <a:latin typeface="Cambria Math" panose="02040503050406030204" pitchFamily="18" charset="0"/>
                      </a:rPr>
                      <m:t>x</m:t>
                    </m:r>
                  </m:oMath>
                </a14:m>
                <a:r>
                  <a:rPr lang="en-US" i="1"/>
                  <a:t> </a:t>
                </a:r>
                <a:r>
                  <a:rPr lang="en-US"/>
                  <a:t>given </a:t>
                </a:r>
                <a14:m xmlns:a14="http://schemas.microsoft.com/office/drawing/2010/main">
                  <m:oMath xmlns:m="http://schemas.openxmlformats.org/officeDocument/2006/math">
                    <m:r>
                      <m:rPr>
                        <m:sty m:val="p"/>
                      </m:rPr>
                      <a:rPr lang="en-US" b="0" i="0" smtClean="0">
                        <a:latin typeface="Cambria Math" panose="02040503050406030204" pitchFamily="18" charset="0"/>
                      </a:rPr>
                      <m:t>C</m:t>
                    </m:r>
                    <m:r>
                      <a:rPr lang="en-US" i="1">
                        <a:latin typeface="Cambria Math" panose="02040503050406030204" pitchFamily="18" charset="0"/>
                      </a:rPr>
                      <m:t> </m:t>
                    </m:r>
                  </m:oMath>
                </a14:m>
                <a:r>
                  <a:rPr lang="en-US"/>
                  <a:t>: </a:t>
                </a:r>
                <a:r>
                  <a:rPr lang="en-US" b="1" i="1"/>
                  <a:t>likelihood</a:t>
                </a:r>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𝑥</m:t>
                        </m:r>
                      </m:e>
                    </m:d>
                  </m:oMath>
                </a14:m>
                <a:r>
                  <a:rPr lang="en-US" i="1"/>
                  <a:t> </a:t>
                </a:r>
                <a:r>
                  <a:rPr lang="en-US"/>
                  <a:t>: conditional probability of </a:t>
                </a:r>
                <a14:m xmlns:a14="http://schemas.microsoft.com/office/drawing/2010/main">
                  <m:oMath xmlns:m="http://schemas.openxmlformats.org/officeDocument/2006/math">
                    <m:r>
                      <m:rPr>
                        <m:sty m:val="p"/>
                      </m:rPr>
                      <a:rPr lang="en-US" b="0" i="0" smtClean="0">
                        <a:latin typeface="Cambria Math" panose="02040503050406030204" pitchFamily="18" charset="0"/>
                      </a:rPr>
                      <m:t>C</m:t>
                    </m:r>
                  </m:oMath>
                </a14:m>
                <a:r>
                  <a:rPr lang="en-US" i="1"/>
                  <a:t> </a:t>
                </a:r>
                <a:r>
                  <a:rPr lang="en-US"/>
                  <a:t>given </a:t>
                </a:r>
                <a14:m xmlns:a14="http://schemas.microsoft.com/office/drawing/2010/main">
                  <m:oMath xmlns:m="http://schemas.openxmlformats.org/officeDocument/2006/math">
                    <m:r>
                      <a:rPr lang="en-US" b="0" i="1" smtClean="0">
                        <a:latin typeface="Cambria Math" panose="02040503050406030204" pitchFamily="18" charset="0"/>
                      </a:rPr>
                      <m:t>𝑥</m:t>
                    </m:r>
                    <m:r>
                      <a:rPr lang="en-US" i="1">
                        <a:latin typeface="Cambria Math" panose="02040503050406030204" pitchFamily="18" charset="0"/>
                      </a:rPr>
                      <m:t> </m:t>
                    </m:r>
                  </m:oMath>
                </a14:m>
                <a:r>
                  <a:rPr lang="en-US"/>
                  <a:t>: </a:t>
                </a:r>
                <a:r>
                  <a:rPr lang="en-US" b="1" i="1"/>
                  <a:t>posterior probability</a:t>
                </a:r>
                <a:endParaRPr lang="en-US" b="1"/>
              </a:p>
              <a:p>
                <a:endParaRPr lang="en-US"/>
              </a:p>
            </p:txBody>
          </p:sp>
        </mc:Choice>
        <mc:Fallback>
          <p:sp>
            <p:nvSpPr>
              <p:cNvPr id="3" name="Content Placeholder 2"/>
              <p:cNvSpPr>
                <a:spLocks noGrp="1"/>
              </p:cNvSpPr>
              <p:nvPr>
                <p:ph idx="1"/>
              </p:nvPr>
            </p:nvSpPr>
            <p:spPr/>
            <p:txBody>
              <a:bodyPr>
                <a:normAutofit fontScale="92500" lnSpcReduction="20000"/>
              </a:bodyPr>
              <a:lstStyle/>
              <a:p>
                <a:r>
                  <a:rPr lang="en-US"/>
                  <a:t>Givem feature points: we want to compute class probabilities using </a:t>
                </a:r>
                <a:r>
                  <a:rPr lang="en-US"/>
                  <a:t>Baye’s</a:t>
                </a:r>
                <a:r>
                  <a:rPr lang="en-US"/>
                  <a:t> Rule:</a:t>
                </a:r>
              </a:p>
              <a:p>
                <a:endParaRPr lang="en-US"/>
              </a:p>
              <a:p>
                <a:endParaRPr lang="en-US"/>
              </a:p>
              <a:p>
                <a:r>
                  <a:rPr lang="en-US"/>
                  <a:t>More Formally</a:t>
                </a:r>
              </a:p>
              <a:p>
                <a:pPr marL="0" indent="0">
                  <a:buNone/>
                </a:pPr>
                <a:r>
                  <a:rPr/>
                  <a:t>𝑝𝑜𝑠𝑡𝑒𝑟𝑖𝑜𝑟=𝐶𝑙𝑎𝑠𝑠 𝐿𝑖𝑘𝑒𝑙𝑖h𝑜𝑜𝑑 ×𝑃𝑟𝑖𝑜𝑟𝐸𝑣𝑖𝑑𝑒𝑛𝑐𝑒</a:t>
                </a:r>
                <a:endParaRPr lang="en-US" b="0"/>
              </a:p>
              <a:p>
                <a:endParaRPr lang="en-US" i="1"/>
              </a:p>
              <a:p>
                <a:pPr lvl="1"/>
                <a:r>
                  <a:rPr/>
                  <a:t>𝑃𝐶</a:t>
                </a:r>
                <a:r>
                  <a:rPr lang="en-US" i="1"/>
                  <a:t> </a:t>
                </a:r>
                <a:r>
                  <a:rPr lang="en-US"/>
                  <a:t>: </a:t>
                </a:r>
                <a:r>
                  <a:rPr lang="en-US" b="1" i="1"/>
                  <a:t>prior probability</a:t>
                </a:r>
                <a:r>
                  <a:rPr lang="en-US" i="1"/>
                  <a:t>.</a:t>
                </a:r>
              </a:p>
              <a:p>
                <a:pPr lvl="1"/>
                <a:r>
                  <a:rPr/>
                  <a:t>𝑃𝑥</a:t>
                </a:r>
                <a:r>
                  <a:rPr lang="en-US" i="1"/>
                  <a:t> </a:t>
                </a:r>
                <a:r>
                  <a:rPr lang="en-US"/>
                  <a:t>: probability of </a:t>
                </a:r>
                <a:r>
                  <a:rPr/>
                  <a:t>𝑥</a:t>
                </a:r>
                <a:r>
                  <a:rPr lang="en-US" i="1"/>
                  <a:t>.</a:t>
                </a:r>
              </a:p>
              <a:p>
                <a:pPr lvl="1"/>
                <a:r>
                  <a:rPr/>
                  <a:t>𝑃𝑥𝐶</a:t>
                </a:r>
                <a:r>
                  <a:rPr lang="en-US" i="1"/>
                  <a:t> </a:t>
                </a:r>
                <a:r>
                  <a:rPr lang="en-US"/>
                  <a:t>: conditional probability of </a:t>
                </a:r>
                <a:r>
                  <a:rPr/>
                  <a:t>x</a:t>
                </a:r>
                <a:r>
                  <a:rPr lang="en-US" i="1"/>
                  <a:t> </a:t>
                </a:r>
                <a:r>
                  <a:rPr lang="en-US"/>
                  <a:t>given </a:t>
                </a:r>
                <a:r>
                  <a:rPr/>
                  <a:t>C </a:t>
                </a:r>
                <a:r>
                  <a:rPr lang="en-US"/>
                  <a:t>: </a:t>
                </a:r>
                <a:r>
                  <a:rPr lang="en-US" b="1" i="1"/>
                  <a:t>likelihood</a:t>
                </a:r>
              </a:p>
              <a:p>
                <a:pPr lvl="1"/>
                <a:r>
                  <a:rPr/>
                  <a:t>𝑃𝐶|𝑥</a:t>
                </a:r>
                <a:r>
                  <a:rPr lang="en-US" i="1"/>
                  <a:t> </a:t>
                </a:r>
                <a:r>
                  <a:rPr lang="en-US"/>
                  <a:t>: conditional probability of </a:t>
                </a:r>
                <a:r>
                  <a:rPr/>
                  <a:t>C</a:t>
                </a:r>
                <a:r>
                  <a:rPr lang="en-US" i="1"/>
                  <a:t> </a:t>
                </a:r>
                <a:r>
                  <a:rPr lang="en-US"/>
                  <a:t>given </a:t>
                </a:r>
                <a:r>
                  <a:rPr/>
                  <a:t>𝑥 </a:t>
                </a:r>
                <a:r>
                  <a:rPr lang="en-US"/>
                  <a:t>: </a:t>
                </a:r>
                <a:r>
                  <a:rPr lang="en-US" b="1" i="1"/>
                  <a:t>posterior probability</a:t>
                </a:r>
                <a:endParaRPr lang="en-US" b="1"/>
              </a:p>
              <a:p>
                <a:endParaRPr lang="en-US"/>
              </a:p>
            </p:txBody>
          </p:sp>
        </mc:Fallback>
      </mc:AlternateContent>
      <p:pic>
        <p:nvPicPr>
          <p:cNvPr id="5" name="Object 4"/>
          <p:cNvPicPr>
            <a:picLocks noChangeAspect="1"/>
          </p:cNvPicPr>
          <p:nvPr/>
        </p:nvPicPr>
        <p:blipFill rotWithShape="1">
          <a:blip r:embed="rId2"/>
          <a:stretch>
            <a:fillRect/>
          </a:stretch>
        </p:blipFill>
        <p:spPr>
          <a:xfrm>
            <a:off x="4403149" y="2418936"/>
            <a:ext cx="3035476" cy="8913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graphicFrame>
        <p:nvGraphicFramePr>
          <p:cNvPr id="3" name="Table 2"/>
          <p:cNvGraphicFramePr>
            <a:graphicFrameLocks noGrp="1"/>
          </p:cNvGraphicFramePr>
          <p:nvPr/>
        </p:nvGraphicFramePr>
        <p:xfrm>
          <a:off x="5401994" y="614363"/>
          <a:ext cx="2189492" cy="5562600"/>
        </p:xfrm>
        <a:graphic>
          <a:graphicData uri="http://schemas.openxmlformats.org/drawingml/2006/table">
            <a:tbl>
              <a:tblPr firstRow="1" bandRow="1">
                <a:tableStyleId>{5C22544A-7EE6-4342-B048-85BDC9FD1C3A}</a:tableStyleId>
              </a:tblPr>
              <a:tblGrid>
                <a:gridCol w="1303227"/>
                <a:gridCol w="886265"/>
              </a:tblGrid>
              <a:tr h="370840">
                <a:tc>
                  <a:txBody>
                    <a:bodyPr/>
                    <a:lstStyle/>
                    <a:p>
                      <a:pPr algn="ctr"/>
                      <a:r>
                        <a:rPr lang="en-US"/>
                        <a:t>Weather</a:t>
                      </a:r>
                    </a:p>
                  </a:txBody>
                  <a:tcPr/>
                </a:tc>
                <a:tc>
                  <a:txBody>
                    <a:bodyPr/>
                    <a:lstStyle/>
                    <a:p>
                      <a:pPr algn="ctr"/>
                      <a:r>
                        <a:rPr lang="en-US"/>
                        <a:t>Play</a:t>
                      </a:r>
                    </a:p>
                  </a:txBody>
                  <a:tcPr/>
                </a:tc>
              </a:tr>
              <a:tr h="370840">
                <a:tc>
                  <a:txBody>
                    <a:bodyPr/>
                    <a:lstStyle/>
                    <a:p>
                      <a:r>
                        <a:rPr lang="en-US"/>
                        <a:t>Sunny</a:t>
                      </a:r>
                    </a:p>
                  </a:txBody>
                  <a:tcPr/>
                </a:tc>
                <a:tc>
                  <a:txBody>
                    <a:bodyPr/>
                    <a:lstStyle/>
                    <a:p>
                      <a:r>
                        <a:rPr lang="en-US"/>
                        <a:t>No</a:t>
                      </a:r>
                    </a:p>
                  </a:txBody>
                  <a:tcPr/>
                </a:tc>
              </a:tr>
              <a:tr h="370840">
                <a:tc>
                  <a:txBody>
                    <a:bodyPr/>
                    <a:lstStyle/>
                    <a:p>
                      <a:r>
                        <a:rPr lang="en-US"/>
                        <a:t>Overcast</a:t>
                      </a:r>
                    </a:p>
                  </a:txBody>
                  <a:tcPr/>
                </a:tc>
                <a:tc>
                  <a:txBody>
                    <a:bodyPr/>
                    <a:lstStyle/>
                    <a:p>
                      <a:r>
                        <a:rPr lang="en-US"/>
                        <a:t>Yes</a:t>
                      </a:r>
                    </a:p>
                  </a:txBody>
                  <a:tcPr/>
                </a:tc>
              </a:tr>
              <a:tr h="370840">
                <a:tc>
                  <a:txBody>
                    <a:bodyPr/>
                    <a:lstStyle/>
                    <a:p>
                      <a:r>
                        <a:rPr lang="en-US"/>
                        <a:t>Rainy</a:t>
                      </a:r>
                    </a:p>
                  </a:txBody>
                  <a:tcPr/>
                </a:tc>
                <a:tc>
                  <a:txBody>
                    <a:bodyPr/>
                    <a:lstStyle/>
                    <a:p>
                      <a:r>
                        <a:rPr lang="en-US"/>
                        <a:t>Yes</a:t>
                      </a:r>
                    </a:p>
                  </a:txBody>
                  <a:tcPr/>
                </a:tc>
              </a:tr>
              <a:tr h="370840">
                <a:tc>
                  <a:txBody>
                    <a:bodyPr/>
                    <a:lstStyle/>
                    <a:p>
                      <a:r>
                        <a:rPr lang="en-US"/>
                        <a:t>Sunny</a:t>
                      </a:r>
                    </a:p>
                  </a:txBody>
                  <a:tcPr/>
                </a:tc>
                <a:tc>
                  <a:txBody>
                    <a:bodyPr/>
                    <a:lstStyle/>
                    <a:p>
                      <a:r>
                        <a:rPr lang="en-US"/>
                        <a:t>Yes</a:t>
                      </a:r>
                    </a:p>
                  </a:txBody>
                  <a:tcPr/>
                </a:tc>
              </a:tr>
              <a:tr h="370840">
                <a:tc>
                  <a:txBody>
                    <a:bodyPr/>
                    <a:lstStyle/>
                    <a:p>
                      <a:r>
                        <a:rPr lang="en-US"/>
                        <a:t>Sunny</a:t>
                      </a:r>
                    </a:p>
                  </a:txBody>
                  <a:tcPr/>
                </a:tc>
                <a:tc>
                  <a:txBody>
                    <a:bodyPr/>
                    <a:lstStyle/>
                    <a:p>
                      <a:r>
                        <a:rPr lang="en-US"/>
                        <a:t>Yes</a:t>
                      </a:r>
                    </a:p>
                  </a:txBody>
                  <a:tcPr/>
                </a:tc>
              </a:tr>
              <a:tr h="370840">
                <a:tc>
                  <a:txBody>
                    <a:bodyPr/>
                    <a:lstStyle/>
                    <a:p>
                      <a:r>
                        <a:rPr lang="en-US"/>
                        <a:t>Overcast</a:t>
                      </a:r>
                    </a:p>
                  </a:txBody>
                  <a:tcPr/>
                </a:tc>
                <a:tc>
                  <a:txBody>
                    <a:bodyPr/>
                    <a:lstStyle/>
                    <a:p>
                      <a:r>
                        <a:rPr lang="en-US"/>
                        <a:t>Yes</a:t>
                      </a:r>
                    </a:p>
                  </a:txBody>
                  <a:tcPr/>
                </a:tc>
              </a:tr>
              <a:tr h="370840">
                <a:tc>
                  <a:txBody>
                    <a:bodyPr/>
                    <a:lstStyle/>
                    <a:p>
                      <a:r>
                        <a:rPr lang="en-US"/>
                        <a:t>Rainy</a:t>
                      </a:r>
                    </a:p>
                  </a:txBody>
                  <a:tcPr/>
                </a:tc>
                <a:tc>
                  <a:txBody>
                    <a:bodyPr/>
                    <a:lstStyle/>
                    <a:p>
                      <a:r>
                        <a:rPr lang="en-US"/>
                        <a:t>No</a:t>
                      </a:r>
                    </a:p>
                  </a:txBody>
                  <a:tcPr/>
                </a:tc>
              </a:tr>
              <a:tr h="370840">
                <a:tc>
                  <a:txBody>
                    <a:bodyPr/>
                    <a:lstStyle/>
                    <a:p>
                      <a:r>
                        <a:rPr lang="en-US"/>
                        <a:t>Rainy</a:t>
                      </a:r>
                    </a:p>
                  </a:txBody>
                  <a:tcPr/>
                </a:tc>
                <a:tc>
                  <a:txBody>
                    <a:bodyPr/>
                    <a:lstStyle/>
                    <a:p>
                      <a:r>
                        <a:rPr lang="en-US"/>
                        <a:t>No</a:t>
                      </a:r>
                    </a:p>
                  </a:txBody>
                  <a:tcPr/>
                </a:tc>
              </a:tr>
              <a:tr h="370840">
                <a:tc>
                  <a:txBody>
                    <a:bodyPr/>
                    <a:lstStyle/>
                    <a:p>
                      <a:r>
                        <a:rPr lang="en-US"/>
                        <a:t>Sunny</a:t>
                      </a:r>
                    </a:p>
                  </a:txBody>
                  <a:tcPr/>
                </a:tc>
                <a:tc>
                  <a:txBody>
                    <a:bodyPr/>
                    <a:lstStyle/>
                    <a:p>
                      <a:r>
                        <a:rPr lang="en-US"/>
                        <a:t>Yes</a:t>
                      </a:r>
                    </a:p>
                  </a:txBody>
                  <a:tcPr/>
                </a:tc>
              </a:tr>
              <a:tr h="370840">
                <a:tc>
                  <a:txBody>
                    <a:bodyPr/>
                    <a:lstStyle/>
                    <a:p>
                      <a:r>
                        <a:rPr lang="en-US"/>
                        <a:t>Rainy</a:t>
                      </a:r>
                    </a:p>
                  </a:txBody>
                  <a:tcPr/>
                </a:tc>
                <a:tc>
                  <a:txBody>
                    <a:bodyPr/>
                    <a:lstStyle/>
                    <a:p>
                      <a:r>
                        <a:rPr lang="en-US"/>
                        <a:t>Yes</a:t>
                      </a:r>
                    </a:p>
                  </a:txBody>
                  <a:tcPr/>
                </a:tc>
              </a:tr>
              <a:tr h="370840">
                <a:tc>
                  <a:txBody>
                    <a:bodyPr/>
                    <a:lstStyle/>
                    <a:p>
                      <a:r>
                        <a:rPr lang="en-US"/>
                        <a:t>Sunny</a:t>
                      </a:r>
                    </a:p>
                  </a:txBody>
                  <a:tcPr/>
                </a:tc>
                <a:tc>
                  <a:txBody>
                    <a:bodyPr/>
                    <a:lstStyle/>
                    <a:p>
                      <a:r>
                        <a:rPr lang="en-US"/>
                        <a:t>No</a:t>
                      </a:r>
                    </a:p>
                  </a:txBody>
                  <a:tcPr/>
                </a:tc>
              </a:tr>
              <a:tr h="370840">
                <a:tc>
                  <a:txBody>
                    <a:bodyPr/>
                    <a:lstStyle/>
                    <a:p>
                      <a:r>
                        <a:rPr lang="en-US"/>
                        <a:t>Overcast</a:t>
                      </a:r>
                    </a:p>
                  </a:txBody>
                  <a:tcPr/>
                </a:tc>
                <a:tc>
                  <a:txBody>
                    <a:bodyPr/>
                    <a:lstStyle/>
                    <a:p>
                      <a:r>
                        <a:rPr lang="en-US"/>
                        <a:t>Yes</a:t>
                      </a:r>
                    </a:p>
                  </a:txBody>
                  <a:tcPr/>
                </a:tc>
              </a:tr>
              <a:tr h="370840">
                <a:tc>
                  <a:txBody>
                    <a:bodyPr/>
                    <a:lstStyle/>
                    <a:p>
                      <a:r>
                        <a:rPr lang="en-US"/>
                        <a:t>Overcast</a:t>
                      </a:r>
                    </a:p>
                  </a:txBody>
                  <a:tcPr/>
                </a:tc>
                <a:tc>
                  <a:txBody>
                    <a:bodyPr/>
                    <a:lstStyle/>
                    <a:p>
                      <a:r>
                        <a:rPr lang="en-US"/>
                        <a:t>Yes</a:t>
                      </a:r>
                    </a:p>
                  </a:txBody>
                  <a:tcPr/>
                </a:tc>
              </a:tr>
              <a:tr h="370840">
                <a:tc>
                  <a:txBody>
                    <a:bodyPr/>
                    <a:lstStyle/>
                    <a:p>
                      <a:r>
                        <a:rPr lang="en-US"/>
                        <a:t>Rainy</a:t>
                      </a:r>
                    </a:p>
                  </a:txBody>
                  <a:tcPr/>
                </a:tc>
                <a:tc>
                  <a:txBody>
                    <a:bodyPr/>
                    <a:lstStyle/>
                    <a:p>
                      <a:r>
                        <a:rPr lang="en-US"/>
                        <a:t>No</a:t>
                      </a:r>
                    </a:p>
                  </a:txBody>
                  <a:tcPr/>
                </a:tc>
              </a:tr>
            </a:tbl>
          </a:graphicData>
        </a:graphic>
      </p:graphicFrame>
      <p:sp>
        <p:nvSpPr>
          <p:cNvPr id="6" name="Content Placeholder 5"/>
          <p:cNvSpPr>
            <a:spLocks noGrp="1"/>
          </p:cNvSpPr>
          <p:nvPr>
            <p:ph idx="1"/>
          </p:nvPr>
        </p:nvSpPr>
        <p:spPr>
          <a:xfrm>
            <a:off x="838200" y="1825625"/>
            <a:ext cx="4563794" cy="4351338"/>
          </a:xfrm>
          <a:prstGeom prst="rect">
            <a:avLst/>
          </a:prstGeom>
        </p:spPr>
        <p:txBody>
          <a:bodyPr/>
          <a:lstStyle/>
          <a:p>
            <a:r>
              <a:rPr lang="en-US"/>
              <a:t>Problem:</a:t>
            </a:r>
          </a:p>
          <a:p>
            <a:pPr lvl="1"/>
            <a:r>
              <a:rPr lang="en-US"/>
              <a:t>Player will play or not if the weather is sunny?</a:t>
            </a:r>
          </a:p>
        </p:txBody>
      </p:sp>
      <p:pic>
        <p:nvPicPr>
          <p:cNvPr id="5" name="Picture 4"/>
          <p:cNvPicPr>
            <a:picLocks noChangeAspect="1"/>
          </p:cNvPicPr>
          <p:nvPr/>
        </p:nvPicPr>
        <p:blipFill rotWithShape="1">
          <a:blip r:embed="rId2"/>
          <a:stretch>
            <a:fillRect/>
          </a:stretch>
        </p:blipFill>
        <p:spPr>
          <a:xfrm>
            <a:off x="7970300" y="2533650"/>
            <a:ext cx="3990975" cy="28003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10515600" cy="4631446"/>
              </a:xfrm>
              <a:prstGeom prst="rect">
                <a:avLst/>
              </a:prstGeom>
            </p:spPr>
            <p:txBody>
              <a:bodyPr>
                <a:normAutofit fontScale="85000" lnSpcReduction="10000"/>
              </a:bodyPr>
              <a:lstStyle/>
              <a:p>
                <a:r>
                  <a:rPr lang="en-US"/>
                  <a:t>We can solve it using above discussed method of posterior probability.</a:t>
                </a:r>
              </a:p>
              <a:p>
                <a:endParaRPr lang="en-US"/>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𝑌𝑒𝑠</m:t>
                          </m:r>
                        </m:e>
                        <m:e>
                          <m:r>
                            <a:rPr lang="en-US" b="0" i="1" smtClean="0">
                              <a:latin typeface="Cambria Math" panose="02040503050406030204" pitchFamily="18" charset="0"/>
                            </a:rPr>
                            <m:t>𝑆𝑢𝑛𝑛𝑦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𝑆𝑢𝑛𝑛𝑦</m:t>
                              </m:r>
                            </m:e>
                            <m:e>
                              <m:r>
                                <a:rPr lang="en-US" b="0" i="1" smtClean="0">
                                  <a:latin typeface="Cambria Math" panose="02040503050406030204" pitchFamily="18" charset="0"/>
                                </a:rPr>
                                <m:t>𝑌𝑒𝑠</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𝑌𝑒𝑠</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𝑆𝑢𝑛𝑛𝑦</m:t>
                              </m:r>
                            </m:e>
                          </m:d>
                        </m:den>
                      </m:f>
                    </m:oMath>
                  </m:oMathPara>
                </a14:m>
                <a:endParaRPr lang="en-US"/>
              </a:p>
              <a:p>
                <a:r>
                  <a:rPr lang="en-US"/>
                  <a:t>Here we have</a:t>
                </a:r>
              </a:p>
              <a:p>
                <a:pPr lvl="1"/>
                <a14:m xmlns:a14="http://schemas.microsoft.com/office/drawing/2010/main">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𝑆𝑢𝑛𝑛𝑦</m:t>
                        </m:r>
                      </m:e>
                      <m:e>
                        <m:r>
                          <a:rPr lang="en-US" b="0" i="1" smtClean="0">
                            <a:latin typeface="Cambria Math" panose="02040503050406030204" pitchFamily="18" charset="0"/>
                          </a:rPr>
                          <m:t>𝑌𝑒𝑠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9</m:t>
                        </m:r>
                      </m:den>
                    </m:f>
                    <m:r>
                      <a:rPr lang="en-US" b="0" i="1" smtClean="0">
                        <a:latin typeface="Cambria Math" panose="02040503050406030204" pitchFamily="18" charset="0"/>
                      </a:rPr>
                      <m:t>=0.33</m:t>
                    </m:r>
                  </m:oMath>
                </a14:m>
                <a:endParaRPr lang="en-US"/>
              </a:p>
              <a:p>
                <a:pPr lvl="1"/>
                <a14:m xmlns:a14="http://schemas.microsoft.com/office/drawing/2010/main">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𝑆𝑢𝑛𝑛𝑦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14</m:t>
                        </m:r>
                      </m:den>
                    </m:f>
                    <m:r>
                      <a:rPr lang="en-US" b="0" i="1" smtClean="0">
                        <a:latin typeface="Cambria Math" panose="02040503050406030204" pitchFamily="18" charset="0"/>
                      </a:rPr>
                      <m:t>=0.36</m:t>
                    </m:r>
                  </m:oMath>
                </a14:m>
                <a:endParaRPr lang="en-US"/>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𝑌𝑒𝑠</m:t>
                        </m:r>
                      </m:e>
                    </m:d>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9</m:t>
                        </m:r>
                      </m:num>
                      <m:den>
                        <m:r>
                          <a:rPr lang="en-US" i="1">
                            <a:latin typeface="Cambria Math" panose="02040503050406030204" pitchFamily="18" charset="0"/>
                          </a:rPr>
                          <m:t>14</m:t>
                        </m:r>
                      </m:den>
                    </m:f>
                    <m:r>
                      <a:rPr lang="en-US" i="1">
                        <a:latin typeface="Cambria Math" panose="02040503050406030204" pitchFamily="18" charset="0"/>
                      </a:rPr>
                      <m:t>=0.6</m:t>
                    </m:r>
                    <m:r>
                      <a:rPr lang="en-US" b="0" i="1" smtClean="0">
                        <a:latin typeface="Cambria Math" panose="02040503050406030204" pitchFamily="18" charset="0"/>
                      </a:rPr>
                      <m:t>4</m:t>
                    </m:r>
                  </m:oMath>
                </a14:m>
                <a:endParaRPr lang="en-US"/>
              </a:p>
              <a:p>
                <a:r>
                  <a:rPr lang="en-US"/>
                  <a:t>Now</a:t>
                </a:r>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𝑌𝑒𝑠</m:t>
                        </m:r>
                      </m:e>
                      <m:e>
                        <m:r>
                          <a:rPr lang="en-US" i="1">
                            <a:latin typeface="Cambria Math" panose="02040503050406030204" pitchFamily="18" charset="0"/>
                          </a:rPr>
                          <m:t>𝑆𝑢𝑛𝑛𝑦</m:t>
                        </m:r>
                      </m:e>
                    </m:d>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0.33</m:t>
                        </m:r>
                        <m:r>
                          <a:rPr lang="en-US" i="1">
                            <a:latin typeface="Cambria Math" panose="02040503050406030204" pitchFamily="18" charset="0"/>
                          </a:rPr>
                          <m:t>∗</m:t>
                        </m:r>
                        <m:r>
                          <a:rPr lang="en-US" b="0" i="1" smtClean="0">
                            <a:latin typeface="Cambria Math" panose="02040503050406030204" pitchFamily="18" charset="0"/>
                          </a:rPr>
                          <m:t>0.64</m:t>
                        </m:r>
                      </m:num>
                      <m:den>
                        <m:r>
                          <a:rPr lang="en-US" b="0" i="1" smtClean="0">
                            <a:latin typeface="Cambria Math" panose="02040503050406030204" pitchFamily="18" charset="0"/>
                          </a:rPr>
                          <m:t>0.36</m:t>
                        </m:r>
                      </m:den>
                    </m:f>
                    <m:r>
                      <a:rPr lang="en-US" b="0" i="1" smtClean="0">
                        <a:latin typeface="Cambria Math" panose="02040503050406030204" pitchFamily="18" charset="0"/>
                      </a:rPr>
                      <m:t>=0.60</m:t>
                    </m:r>
                  </m:oMath>
                </a14:m>
                <a:endParaRPr lang="en-US"/>
              </a:p>
              <a:p>
                <a:r>
                  <a:rPr lang="en-US"/>
                  <a:t>Similarly we will calculate for </a:t>
                </a:r>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𝑁𝑜</m:t>
                        </m:r>
                      </m:e>
                      <m:e>
                        <m:r>
                          <a:rPr lang="en-US" i="1">
                            <a:latin typeface="Cambria Math" panose="02040503050406030204" pitchFamily="18" charset="0"/>
                          </a:rPr>
                          <m:t>𝑆𝑢𝑛𝑛𝑦</m:t>
                        </m:r>
                      </m:e>
                    </m:d>
                  </m:oMath>
                </a14:m>
                <a:endParaRPr lang="en-US"/>
              </a:p>
            </p:txBody>
          </p:sp>
        </mc:Choice>
        <mc:Fallback>
          <p:sp>
            <p:nvSpPr>
              <p:cNvPr id="3" name="Content Placeholder 2"/>
              <p:cNvSpPr>
                <a:spLocks noGrp="1"/>
              </p:cNvSpPr>
              <p:nvPr>
                <p:ph idx="1"/>
              </p:nvPr>
            </p:nvSpPr>
            <p:spPr>
              <a:xfrm>
                <a:off x="838200" y="1825625"/>
                <a:ext cx="10515600" cy="4631446"/>
              </a:xfrm>
              <a:prstGeom prst="rect">
                <a:avLst/>
              </a:prstGeom>
            </p:spPr>
            <p:txBody>
              <a:bodyPr>
                <a:normAutofit fontScale="85000" lnSpcReduction="10000"/>
              </a:bodyPr>
              <a:lstStyle/>
              <a:p>
                <a:r>
                  <a:rPr lang="en-US"/>
                  <a:t>We can solve it using above discussed method of posterior probability.</a:t>
                </a:r>
              </a:p>
              <a:p>
                <a:endParaRPr lang="en-US"/>
              </a:p>
              <a:p>
                <a:pPr marL="0" indent="0">
                  <a:buNone/>
                </a:pPr>
                <a:r>
                  <a:rPr/>
                  <a:t>𝑃𝑌𝑒𝑠𝑆𝑢𝑛𝑛𝑦=𝑃𝑆𝑢𝑛𝑛𝑦𝑌𝑒𝑠∗𝑃𝑌𝑒𝑠𝑃𝑆𝑢𝑛𝑛𝑦</a:t>
                </a:r>
                <a:endParaRPr lang="en-US"/>
              </a:p>
              <a:p>
                <a:r>
                  <a:rPr lang="en-US"/>
                  <a:t>Here we have</a:t>
                </a:r>
              </a:p>
              <a:p>
                <a:pPr lvl="1"/>
                <a:r>
                  <a:rPr/>
                  <a:t>𝑃𝑆𝑢𝑛𝑛𝑦𝑌𝑒𝑠=39=0.33</a:t>
                </a:r>
                <a:endParaRPr lang="en-US"/>
              </a:p>
              <a:p>
                <a:pPr lvl="1"/>
                <a:r>
                  <a:rPr/>
                  <a:t>𝑃𝑆𝑢𝑛𝑛𝑦=514=0.36</a:t>
                </a:r>
                <a:endParaRPr lang="en-US"/>
              </a:p>
              <a:p>
                <a:pPr lvl="1"/>
                <a:r>
                  <a:rPr/>
                  <a:t>𝑃𝑌𝑒𝑠=914=0.64</a:t>
                </a:r>
                <a:endParaRPr lang="en-US"/>
              </a:p>
              <a:p>
                <a:r>
                  <a:rPr lang="en-US"/>
                  <a:t>Now</a:t>
                </a:r>
              </a:p>
              <a:p>
                <a:pPr lvl="1"/>
                <a:r>
                  <a:rPr/>
                  <a:t>𝑃𝑌𝑒𝑠𝑆𝑢𝑛𝑛𝑦=0.33∗0.640.36=0.60</a:t>
                </a:r>
                <a:endParaRPr lang="en-US"/>
              </a:p>
              <a:p>
                <a:r>
                  <a:rPr lang="en-US"/>
                  <a:t>Similarly we will calculate for </a:t>
                </a:r>
                <a:r>
                  <a:rPr/>
                  <a:t>𝑃𝑁𝑜𝑆𝑢𝑛𝑛𝑦</a:t>
                </a:r>
                <a:endParaRPr lang="en-US"/>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2C9C87E-8A6C-4B44-888E-C579E651A6D5}" type="slidenum">
              <a:rPr lang="en-US"/>
              <a:t>17</a:t>
            </a:fld>
            <a:endParaRPr lang="en-US"/>
          </a:p>
        </p:txBody>
      </p:sp>
      <p:sp>
        <p:nvSpPr>
          <p:cNvPr id="5" name="Rectangle 4"/>
          <p:cNvSpPr/>
          <p:nvPr/>
        </p:nvSpPr>
        <p:spPr>
          <a:xfrm>
            <a:off x="399171" y="274023"/>
            <a:ext cx="7591278" cy="3416320"/>
          </a:xfrm>
          <a:prstGeom prst="rect">
            <a:avLst/>
          </a:prstGeom>
          <a:solidFill>
            <a:schemeClr val="accent1">
              <a:alpha val="5000"/>
            </a:schemeClr>
          </a:solidFill>
          <a:ln>
            <a:solidFill>
              <a:schemeClr val="accent1"/>
            </a:solidFill>
          </a:ln>
        </p:spPr>
        <p:txBody>
          <a:bodyPr wrap="square">
            <a:spAutoFit/>
          </a:bodyPr>
          <a:lstStyle/>
          <a:p>
            <a:r>
              <a:rPr lang="en-US" sz="2400"/>
              <a:t>Assume that we have two classes </a:t>
            </a:r>
          </a:p>
          <a:p>
            <a:pPr algn="ctr"/>
            <a:r>
              <a:rPr lang="en-US" sz="2400"/>
              <a:t>c1 = </a:t>
            </a:r>
            <a:r>
              <a:rPr lang="en-US" sz="2400">
                <a:solidFill>
                  <a:schemeClr val="tx2"/>
                </a:solidFill>
              </a:rPr>
              <a:t>male</a:t>
            </a:r>
            <a:r>
              <a:rPr lang="en-US" sz="2400"/>
              <a:t>, and c2 = </a:t>
            </a:r>
            <a:r>
              <a:rPr lang="en-US" sz="2400">
                <a:solidFill>
                  <a:srgbClr val="C00000"/>
                </a:solidFill>
              </a:rPr>
              <a:t>female, </a:t>
            </a:r>
          </a:p>
          <a:p>
            <a:pPr algn="ctr"/>
            <a:r>
              <a:rPr lang="en-US" sz="2400"/>
              <a:t>and</a:t>
            </a:r>
            <a:r>
              <a:rPr lang="en-US" sz="2400" b="1">
                <a:solidFill>
                  <a:srgbClr val="00B050"/>
                </a:solidFill>
              </a:rPr>
              <a:t> </a:t>
            </a:r>
            <a:r>
              <a:rPr lang="en-US" sz="2400" b="1"/>
              <a:t>only one </a:t>
            </a:r>
            <a:r>
              <a:rPr lang="en-US" sz="2400" b="1">
                <a:solidFill>
                  <a:srgbClr val="00B050"/>
                </a:solidFill>
              </a:rPr>
              <a:t>feature </a:t>
            </a:r>
            <a:r>
              <a:rPr lang="en-US" sz="2400" b="1" i="1">
                <a:solidFill>
                  <a:srgbClr val="00B050"/>
                </a:solidFill>
              </a:rPr>
              <a:t>F: name</a:t>
            </a:r>
            <a:endParaRPr lang="en-US" sz="2400" i="1"/>
          </a:p>
          <a:p>
            <a:r>
              <a:rPr lang="en-US" sz="2400"/>
              <a:t>We have a person whose gender we do not know, say </a:t>
            </a:r>
            <a:r>
              <a:rPr lang="en-US" sz="2400" i="1"/>
              <a:t>“drew”</a:t>
            </a:r>
            <a:r>
              <a:rPr lang="en-US" sz="2400"/>
              <a:t> or </a:t>
            </a:r>
            <a:r>
              <a:rPr lang="en-US" sz="2400" b="1" i="1">
                <a:solidFill>
                  <a:srgbClr val="00B050"/>
                </a:solidFill>
              </a:rPr>
              <a:t>F</a:t>
            </a:r>
            <a:r>
              <a:rPr lang="en-US" sz="2400"/>
              <a:t>.</a:t>
            </a:r>
          </a:p>
          <a:p>
            <a:r>
              <a:rPr lang="en-US" sz="2400"/>
              <a:t>Classifying </a:t>
            </a:r>
            <a:r>
              <a:rPr lang="en-US" sz="2400" i="1"/>
              <a:t>drew</a:t>
            </a:r>
            <a:r>
              <a:rPr lang="en-US" sz="2400"/>
              <a:t> as male or female is</a:t>
            </a:r>
          </a:p>
          <a:p>
            <a:r>
              <a:rPr lang="en-US" sz="2400"/>
              <a:t>equivalent to asking: is it more probable that </a:t>
            </a:r>
            <a:r>
              <a:rPr lang="en-US" sz="2400" i="1"/>
              <a:t>drew</a:t>
            </a:r>
            <a:r>
              <a:rPr lang="en-US" sz="2400"/>
              <a:t> is </a:t>
            </a:r>
            <a:r>
              <a:rPr lang="en-US" sz="2400">
                <a:solidFill>
                  <a:schemeClr val="tx2"/>
                </a:solidFill>
              </a:rPr>
              <a:t>male</a:t>
            </a:r>
            <a:r>
              <a:rPr lang="en-US" sz="2400"/>
              <a:t> or </a:t>
            </a:r>
            <a:r>
              <a:rPr lang="en-US" sz="2400">
                <a:solidFill>
                  <a:srgbClr val="C00000"/>
                </a:solidFill>
              </a:rPr>
              <a:t>female</a:t>
            </a:r>
            <a:r>
              <a:rPr lang="en-US" sz="2400"/>
              <a:t>, i.e. which is greater?</a:t>
            </a:r>
          </a:p>
          <a:p>
            <a:r>
              <a:rPr lang="en-US" sz="2400"/>
              <a:t>p(</a:t>
            </a:r>
            <a:r>
              <a:rPr lang="en-US" sz="2400">
                <a:solidFill>
                  <a:schemeClr val="tx2"/>
                </a:solidFill>
              </a:rPr>
              <a:t>male</a:t>
            </a:r>
            <a:r>
              <a:rPr lang="en-US" sz="2400"/>
              <a:t> | drew) or p(</a:t>
            </a:r>
            <a:r>
              <a:rPr lang="en-US" sz="2400">
                <a:solidFill>
                  <a:srgbClr val="C00000"/>
                </a:solidFill>
              </a:rPr>
              <a:t>female</a:t>
            </a:r>
            <a:r>
              <a:rPr lang="en-US" sz="2400"/>
              <a:t> | drew)</a:t>
            </a:r>
            <a:endParaRPr lang="en-GB" sz="2400"/>
          </a:p>
        </p:txBody>
      </p:sp>
      <p:sp>
        <p:nvSpPr>
          <p:cNvPr id="6" name="Rectangle 5"/>
          <p:cNvSpPr/>
          <p:nvPr/>
        </p:nvSpPr>
        <p:spPr>
          <a:xfrm>
            <a:off x="8260079" y="301601"/>
            <a:ext cx="2209800" cy="1569660"/>
          </a:xfrm>
          <a:prstGeom prst="rect">
            <a:avLst/>
          </a:prstGeom>
        </p:spPr>
        <p:txBody>
          <a:bodyPr wrap="square">
            <a:spAutoFit/>
          </a:bodyPr>
          <a:lstStyle/>
          <a:p>
            <a:r>
              <a:rPr lang="en-US" sz="2400"/>
              <a:t>(Note: “Drew”</a:t>
            </a:r>
          </a:p>
          <a:p>
            <a:r>
              <a:rPr lang="en-US" sz="2400"/>
              <a:t>can be a male or female name)</a:t>
            </a:r>
            <a:endParaRPr lang="en-GB" sz="2400"/>
          </a:p>
        </p:txBody>
      </p:sp>
      <p:pic>
        <p:nvPicPr>
          <p:cNvPr id="9218" name="Picture 2"/>
          <p:cNvPicPr>
            <a:picLocks noChangeAspect="1"/>
          </p:cNvPicPr>
          <p:nvPr/>
        </p:nvPicPr>
        <p:blipFill rotWithShape="1">
          <a:blip r:embed="rId2"/>
          <a:srcRect l="70303" t="11790" r="19657" b="38408"/>
          <a:stretch>
            <a:fillRect/>
          </a:stretch>
        </p:blipFill>
        <p:spPr>
          <a:xfrm>
            <a:off x="10088880" y="274023"/>
            <a:ext cx="1669143" cy="4655049"/>
          </a:xfrm>
          <a:prstGeom prst="rect">
            <a:avLst/>
          </a:prstGeom>
          <a:noFill/>
          <a:ln>
            <a:noFill/>
          </a:ln>
          <a:effectLst/>
        </p:spPr>
      </p:pic>
      <p:sp>
        <p:nvSpPr>
          <p:cNvPr id="7" name="Rectangle 6"/>
          <p:cNvSpPr/>
          <p:nvPr/>
        </p:nvSpPr>
        <p:spPr>
          <a:xfrm>
            <a:off x="2743200" y="4061900"/>
            <a:ext cx="6629400" cy="954107"/>
          </a:xfrm>
          <a:prstGeom prst="rect">
            <a:avLst/>
          </a:prstGeom>
        </p:spPr>
        <p:txBody>
          <a:bodyPr wrap="square">
            <a:spAutoFit/>
          </a:bodyPr>
          <a:lstStyle/>
          <a:p>
            <a:r>
              <a:rPr lang="en-US" sz="2800"/>
              <a:t>What is the probability of being called “drew” given that you are a </a:t>
            </a:r>
            <a:r>
              <a:rPr lang="en-US" sz="2800">
                <a:solidFill>
                  <a:schemeClr val="tx2">
                    <a:lumMod val="75000"/>
                  </a:schemeClr>
                </a:solidFill>
              </a:rPr>
              <a:t>male</a:t>
            </a:r>
            <a:r>
              <a:rPr lang="en-US" sz="2800"/>
              <a:t>?</a:t>
            </a:r>
            <a:endParaRPr lang="en-GB" sz="2800"/>
          </a:p>
        </p:txBody>
      </p:sp>
      <p:pic>
        <p:nvPicPr>
          <p:cNvPr id="9219" name="Picture 3"/>
          <p:cNvPicPr>
            <a:picLocks noChangeAspect="1"/>
          </p:cNvPicPr>
          <p:nvPr/>
        </p:nvPicPr>
        <p:blipFill rotWithShape="1">
          <a:blip r:embed="rId3"/>
          <a:srcRect l="22001" t="70719" r="22558" b="10631"/>
          <a:stretch>
            <a:fillRect/>
          </a:stretch>
        </p:blipFill>
        <p:spPr>
          <a:xfrm>
            <a:off x="2057401" y="4939807"/>
            <a:ext cx="7213601" cy="1364343"/>
          </a:xfrm>
          <a:prstGeom prst="rect">
            <a:avLst/>
          </a:prstGeom>
          <a:noFill/>
          <a:ln>
            <a:noFill/>
          </a:ln>
          <a:effectLst/>
        </p:spPr>
      </p:pic>
      <p:sp>
        <p:nvSpPr>
          <p:cNvPr id="8" name="Rectangle 7"/>
          <p:cNvSpPr/>
          <p:nvPr/>
        </p:nvSpPr>
        <p:spPr>
          <a:xfrm>
            <a:off x="5664201" y="6243230"/>
            <a:ext cx="6172200" cy="400110"/>
          </a:xfrm>
          <a:prstGeom prst="rect">
            <a:avLst/>
          </a:prstGeom>
        </p:spPr>
        <p:txBody>
          <a:bodyPr wrap="square">
            <a:spAutoFit/>
          </a:bodyPr>
          <a:lstStyle/>
          <a:p>
            <a:r>
              <a:rPr lang="en-US" sz="2000"/>
              <a:t>(actually irrelevant, since it is that same for all classes)</a:t>
            </a:r>
            <a:endParaRPr lang="en-GB"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This is Officer Drew. Is Officer Drew a </a:t>
            </a:r>
            <a:r>
              <a:rPr lang="en-US">
                <a:solidFill>
                  <a:schemeClr val="tx2">
                    <a:lumMod val="75000"/>
                  </a:schemeClr>
                </a:solidFill>
              </a:rPr>
              <a:t>Male</a:t>
            </a:r>
            <a:r>
              <a:rPr lang="en-US"/>
              <a:t> or </a:t>
            </a:r>
            <a:r>
              <a:rPr lang="en-US">
                <a:solidFill>
                  <a:srgbClr val="FF0000"/>
                </a:solidFill>
              </a:rPr>
              <a:t>Female</a:t>
            </a:r>
            <a:r>
              <a:rPr lang="en-US"/>
              <a:t>?</a:t>
            </a:r>
            <a:endParaRPr lang="en-GB"/>
          </a:p>
        </p:txBody>
      </p:sp>
      <p:sp>
        <p:nvSpPr>
          <p:cNvPr id="2" name="Slide Number Placeholder 1"/>
          <p:cNvSpPr>
            <a:spLocks noGrp="1"/>
          </p:cNvSpPr>
          <p:nvPr>
            <p:ph type="sldNum" sz="quarter" idx="12"/>
          </p:nvPr>
        </p:nvSpPr>
        <p:spPr/>
        <p:txBody>
          <a:bodyPr/>
          <a:lstStyle/>
          <a:p>
            <a:fld id="{6C792AA4-C711-45BF-83AD-4A57D36F8096}" type="slidenum">
              <a:rPr lang="en-US"/>
              <a:t>18</a:t>
            </a:fld>
            <a:endParaRPr lang="en-US"/>
          </a:p>
        </p:txBody>
      </p:sp>
      <p:sp>
        <p:nvSpPr>
          <p:cNvPr id="6" name="Rectangle 5"/>
          <p:cNvSpPr/>
          <p:nvPr/>
        </p:nvSpPr>
        <p:spPr>
          <a:xfrm>
            <a:off x="3734140" y="2419777"/>
            <a:ext cx="3886200" cy="2308324"/>
          </a:xfrm>
          <a:prstGeom prst="rect">
            <a:avLst/>
          </a:prstGeom>
        </p:spPr>
        <p:txBody>
          <a:bodyPr wrap="square">
            <a:spAutoFit/>
          </a:bodyPr>
          <a:lstStyle/>
          <a:p>
            <a:r>
              <a:rPr lang="en-US" sz="2400"/>
              <a:t>Luckily, we have a small database with names and gender. </a:t>
            </a:r>
          </a:p>
          <a:p>
            <a:endParaRPr lang="en-US" sz="2400"/>
          </a:p>
          <a:p>
            <a:r>
              <a:rPr lang="en-US" sz="2400"/>
              <a:t>We can use it to apply Bayes rule...</a:t>
            </a:r>
            <a:endParaRPr lang="en-GB" sz="2400"/>
          </a:p>
        </p:txBody>
      </p:sp>
      <p:pic>
        <p:nvPicPr>
          <p:cNvPr id="10242" name="Picture 2"/>
          <p:cNvPicPr>
            <a:picLocks noChangeAspect="1"/>
          </p:cNvPicPr>
          <p:nvPr/>
        </p:nvPicPr>
        <p:blipFill rotWithShape="1">
          <a:blip r:embed="rId2"/>
          <a:srcRect l="18654" t="13378" r="64055" b="41186"/>
          <a:stretch>
            <a:fillRect/>
          </a:stretch>
        </p:blipFill>
        <p:spPr>
          <a:xfrm>
            <a:off x="838200" y="1912054"/>
            <a:ext cx="2249715" cy="3323771"/>
          </a:xfrm>
          <a:prstGeom prst="rect">
            <a:avLst/>
          </a:prstGeom>
          <a:noFill/>
          <a:ln>
            <a:noFill/>
          </a:ln>
          <a:effectLst/>
        </p:spPr>
      </p:pic>
      <p:pic>
        <p:nvPicPr>
          <p:cNvPr id="8" name="Picture 2"/>
          <p:cNvPicPr>
            <a:picLocks noChangeAspect="1"/>
          </p:cNvPicPr>
          <p:nvPr/>
        </p:nvPicPr>
        <p:blipFill rotWithShape="1">
          <a:blip r:embed="rId2"/>
          <a:srcRect l="63243" t="48001" r="19466" b="6563"/>
          <a:stretch>
            <a:fillRect/>
          </a:stretch>
        </p:blipFill>
        <p:spPr>
          <a:xfrm>
            <a:off x="7932058" y="1828801"/>
            <a:ext cx="2735943" cy="4042133"/>
          </a:xfrm>
          <a:prstGeom prst="rect">
            <a:avLst/>
          </a:prstGeom>
          <a:noFill/>
          <a:ln>
            <a:noFill/>
          </a:ln>
          <a:effectLst/>
        </p:spPr>
      </p:pic>
      <mc:AlternateContent xmlns:mc="http://schemas.openxmlformats.org/markup-compatibility/2006">
        <mc:Choice xmlns:a14="http://schemas.microsoft.com/office/drawing/2010/main" Requires="a14">
          <p:sp>
            <p:nvSpPr>
              <p:cNvPr id="7" name="Rectangle 6"/>
              <p:cNvSpPr/>
              <p:nvPr/>
            </p:nvSpPr>
            <p:spPr>
              <a:xfrm>
                <a:off x="3087915" y="5366912"/>
                <a:ext cx="4220707" cy="989438"/>
              </a:xfrm>
              <a:prstGeom prst="rect">
                <a:avLst/>
              </a:prstGeom>
            </p:spPr>
            <p:txBody>
              <a:bodyPr wrap="none">
                <a:spAutoFit/>
              </a:bodyPr>
              <a:lstStyle/>
              <a:p>
                <a14:m xmlns:a14="http://schemas.microsoft.com/office/drawing/2010/main">
                  <m:oMathPara xmlns:m="http://schemas.openxmlformats.org/officeDocument/2006/math">
                    <m:oMathParaPr>
                      <m:jc m:val="centerGroup"/>
                    </m:oMathParaPr>
                    <m:oMath xmlns:m="http://schemas.openxmlformats.org/officeDocument/2006/math">
                      <m:r>
                        <a:rPr lang="en-US" sz="2800" i="1">
                          <a:latin typeface="Cambria Math"/>
                        </a:rPr>
                        <m:t>𝑃</m:t>
                      </m:r>
                      <m:d>
                        <m:dPr>
                          <m:ctrlPr>
                            <a:rPr lang="en-US" sz="2800" i="1">
                              <a:latin typeface="Cambria Math" panose="02040503050406030204" pitchFamily="18" charset="0"/>
                            </a:rPr>
                          </m:ctrlPr>
                        </m:dPr>
                        <m:e>
                          <m:r>
                            <a:rPr lang="en-US" sz="2800" i="1">
                              <a:latin typeface="Cambria Math"/>
                            </a:rPr>
                            <m:t>𝐶</m:t>
                          </m:r>
                        </m:e>
                        <m:e>
                          <m:r>
                            <a:rPr lang="en-US" sz="2800" i="1">
                              <a:latin typeface="Cambria Math"/>
                            </a:rPr>
                            <m:t>𝐹</m:t>
                          </m:r>
                          <m:r>
                            <a:rPr lang="en-US" sz="2800" i="1">
                              <a:latin typeface="Cambria Math"/>
                            </a:rPr>
                            <m:t> </m:t>
                          </m:r>
                        </m:e>
                      </m:d>
                      <m:r>
                        <a:rPr lang="en-US" sz="2800" i="1">
                          <a:latin typeface="Cambria Math"/>
                        </a:rPr>
                        <m:t>=</m:t>
                      </m:r>
                      <m:f>
                        <m:fPr>
                          <m:ctrlPr>
                            <a:rPr lang="en-US" sz="2800" b="1" i="1">
                              <a:latin typeface="Cambria Math" panose="02040503050406030204" pitchFamily="18" charset="0"/>
                            </a:rPr>
                          </m:ctrlPr>
                        </m:fPr>
                        <m:num>
                          <m:r>
                            <a:rPr lang="en-US" sz="2800" b="1" i="1">
                              <a:latin typeface="Cambria Math"/>
                            </a:rPr>
                            <m:t>𝑷</m:t>
                          </m:r>
                          <m:d>
                            <m:dPr>
                              <m:ctrlPr>
                                <a:rPr lang="en-US" sz="2800" b="1" i="1">
                                  <a:latin typeface="Cambria Math" panose="02040503050406030204" pitchFamily="18" charset="0"/>
                                </a:rPr>
                              </m:ctrlPr>
                            </m:dPr>
                            <m:e>
                              <m:r>
                                <a:rPr lang="en-US" sz="2800" b="1" i="1">
                                  <a:latin typeface="Cambria Math"/>
                                </a:rPr>
                                <m:t>𝑭</m:t>
                              </m:r>
                              <m:r>
                                <a:rPr lang="en-US" sz="2800" b="1" i="1">
                                  <a:latin typeface="Cambria Math"/>
                                </a:rPr>
                                <m:t>|</m:t>
                              </m:r>
                              <m:r>
                                <a:rPr lang="en-US" sz="2800" b="1" i="1">
                                  <a:latin typeface="Cambria Math"/>
                                </a:rPr>
                                <m:t>𝑪</m:t>
                              </m:r>
                            </m:e>
                          </m:d>
                          <m:r>
                            <a:rPr lang="en-US" sz="2800" b="1" i="1">
                              <a:latin typeface="Cambria Math"/>
                            </a:rPr>
                            <m:t>×</m:t>
                          </m:r>
                          <m:r>
                            <a:rPr lang="en-US" sz="2800" b="1" i="1">
                              <a:latin typeface="Cambria Math"/>
                            </a:rPr>
                            <m:t>𝑷</m:t>
                          </m:r>
                          <m:r>
                            <a:rPr lang="en-US" sz="2800" b="1" i="1">
                              <a:latin typeface="Cambria Math"/>
                            </a:rPr>
                            <m:t>(</m:t>
                          </m:r>
                          <m:r>
                            <a:rPr lang="en-US" sz="2800" b="1" i="1">
                              <a:latin typeface="Cambria Math"/>
                            </a:rPr>
                            <m:t>𝑪</m:t>
                          </m:r>
                          <m:r>
                            <a:rPr lang="en-US" sz="2800" b="1" i="1">
                              <a:latin typeface="Cambria Math"/>
                            </a:rPr>
                            <m:t>)</m:t>
                          </m:r>
                        </m:num>
                        <m:den>
                          <m:r>
                            <a:rPr lang="en-US" sz="2800" b="1" i="1">
                              <a:latin typeface="Cambria Math"/>
                            </a:rPr>
                            <m:t>𝑷</m:t>
                          </m:r>
                          <m:d>
                            <m:dPr>
                              <m:ctrlPr>
                                <a:rPr lang="en-US" sz="2800" b="1" i="1">
                                  <a:latin typeface="Cambria Math" panose="02040503050406030204" pitchFamily="18" charset="0"/>
                                </a:rPr>
                              </m:ctrlPr>
                            </m:dPr>
                            <m:e>
                              <m:r>
                                <a:rPr lang="en-US" sz="2800" b="1" i="1">
                                  <a:latin typeface="Cambria Math"/>
                                </a:rPr>
                                <m:t>𝑭</m:t>
                              </m:r>
                            </m:e>
                          </m:d>
                        </m:den>
                      </m:f>
                    </m:oMath>
                  </m:oMathPara>
                </a14:m>
                <a:endParaRPr lang="en-GB" sz="2800"/>
              </a:p>
            </p:txBody>
          </p:sp>
        </mc:Choice>
        <mc:Fallback>
          <p:sp>
            <p:nvSpPr>
              <p:cNvPr id="7" name="Rectangle 6"/>
              <p:cNvSpPr/>
              <p:nvPr/>
            </p:nvSpPr>
            <p:spPr>
              <a:xfrm>
                <a:off x="3087915" y="5366912"/>
                <a:ext cx="4220707" cy="989438"/>
              </a:xfrm>
              <a:prstGeom prst="rect">
                <a:avLst/>
              </a:prstGeom>
            </p:spPr>
            <p:txBody>
              <a:bodyPr wrap="none">
                <a:spAutoFit/>
              </a:bodyPr>
              <a:lstStyle/>
              <a:p>
                <a:r>
                  <a:rPr/>
                  <a:t>𝑃𝐶𝐹 =𝑷𝑭|𝑪×𝑷(𝑪)𝑷𝑭</a:t>
                </a:r>
                <a:endParaRPr lang="en-GB" sz="2800"/>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p:cNvPicPr>
          <p:nvPr/>
        </p:nvPicPr>
        <p:blipFill rotWithShape="1">
          <a:blip r:embed="rId2"/>
          <a:srcRect l="57251" t="65957" r="21374" b="13841"/>
          <a:stretch>
            <a:fillRect/>
          </a:stretch>
        </p:blipFill>
        <p:spPr>
          <a:xfrm>
            <a:off x="7481669" y="4700651"/>
            <a:ext cx="3115855" cy="1655699"/>
          </a:xfrm>
          <a:prstGeom prst="rect">
            <a:avLst/>
          </a:prstGeom>
          <a:noFill/>
          <a:ln>
            <a:noFill/>
          </a:ln>
          <a:effectLst/>
        </p:spPr>
      </p:pic>
      <p:sp>
        <p:nvSpPr>
          <p:cNvPr id="2" name="Slide Number Placeholder 1"/>
          <p:cNvSpPr>
            <a:spLocks noGrp="1"/>
          </p:cNvSpPr>
          <p:nvPr>
            <p:ph type="sldNum" sz="quarter" idx="12"/>
          </p:nvPr>
        </p:nvSpPr>
        <p:spPr/>
        <p:txBody>
          <a:bodyPr/>
          <a:lstStyle/>
          <a:p>
            <a:fld id="{ED1473E2-B8A3-4312-85D3-8022AD2E19E3}" type="slidenum">
              <a:rPr lang="en-US"/>
              <a:t>19</a:t>
            </a:fld>
            <a:endParaRPr lang="en-US"/>
          </a:p>
        </p:txBody>
      </p:sp>
      <p:pic>
        <p:nvPicPr>
          <p:cNvPr id="10242" name="Picture 2"/>
          <p:cNvPicPr>
            <a:picLocks noChangeAspect="1"/>
          </p:cNvPicPr>
          <p:nvPr/>
        </p:nvPicPr>
        <p:blipFill rotWithShape="1">
          <a:blip r:embed="rId3"/>
          <a:srcRect l="18654" t="13378" r="64055" b="41186"/>
          <a:stretch>
            <a:fillRect/>
          </a:stretch>
        </p:blipFill>
        <p:spPr>
          <a:xfrm>
            <a:off x="1614269" y="963318"/>
            <a:ext cx="2249715" cy="3323771"/>
          </a:xfrm>
          <a:prstGeom prst="rect">
            <a:avLst/>
          </a:prstGeom>
          <a:noFill/>
          <a:ln>
            <a:noFill/>
          </a:ln>
          <a:effectLst/>
        </p:spPr>
      </p:pic>
      <p:pic>
        <p:nvPicPr>
          <p:cNvPr id="8" name="Picture 2"/>
          <p:cNvPicPr>
            <a:picLocks noChangeAspect="1"/>
          </p:cNvPicPr>
          <p:nvPr/>
        </p:nvPicPr>
        <p:blipFill rotWithShape="1">
          <a:blip r:embed="rId3"/>
          <a:srcRect l="63243" t="48001" r="19466" b="6563"/>
          <a:stretch>
            <a:fillRect/>
          </a:stretch>
        </p:blipFill>
        <p:spPr>
          <a:xfrm>
            <a:off x="7946126" y="658518"/>
            <a:ext cx="2735943" cy="4042133"/>
          </a:xfrm>
          <a:prstGeom prst="rect">
            <a:avLst/>
          </a:prstGeom>
          <a:noFill/>
          <a:ln>
            <a:noFill/>
          </a:ln>
          <a:effectLst/>
        </p:spPr>
      </p:pic>
      <mc:AlternateContent xmlns:mc="http://schemas.openxmlformats.org/markup-compatibility/2006">
        <mc:Choice xmlns:a14="http://schemas.microsoft.com/office/drawing/2010/main" Requires="a14">
          <p:sp>
            <p:nvSpPr>
              <p:cNvPr id="7" name="Rectangle 6"/>
              <p:cNvSpPr/>
              <p:nvPr/>
            </p:nvSpPr>
            <p:spPr>
              <a:xfrm>
                <a:off x="3747869" y="2639717"/>
                <a:ext cx="4220707" cy="989438"/>
              </a:xfrm>
              <a:prstGeom prst="rect">
                <a:avLst/>
              </a:prstGeom>
            </p:spPr>
            <p:txBody>
              <a:bodyPr wrap="none">
                <a:spAutoFit/>
              </a:bodyPr>
              <a:lstStyle/>
              <a:p>
                <a14:m xmlns:a14="http://schemas.microsoft.com/office/drawing/2010/main">
                  <m:oMathPara xmlns:m="http://schemas.openxmlformats.org/officeDocument/2006/math">
                    <m:oMathParaPr>
                      <m:jc m:val="centerGroup"/>
                    </m:oMathParaPr>
                    <m:oMath xmlns:m="http://schemas.openxmlformats.org/officeDocument/2006/math">
                      <m:r>
                        <a:rPr lang="en-US" sz="2800" i="1">
                          <a:latin typeface="Cambria Math"/>
                        </a:rPr>
                        <m:t>𝑃</m:t>
                      </m:r>
                      <m:d>
                        <m:dPr>
                          <m:ctrlPr>
                            <a:rPr lang="en-US" sz="2800" i="1">
                              <a:latin typeface="Cambria Math" panose="02040503050406030204" pitchFamily="18" charset="0"/>
                            </a:rPr>
                          </m:ctrlPr>
                        </m:dPr>
                        <m:e>
                          <m:r>
                            <a:rPr lang="en-US" sz="2800" i="1">
                              <a:latin typeface="Cambria Math"/>
                            </a:rPr>
                            <m:t>𝐶</m:t>
                          </m:r>
                        </m:e>
                        <m:e>
                          <m:r>
                            <a:rPr lang="en-US" sz="2800" i="1">
                              <a:latin typeface="Cambria Math"/>
                            </a:rPr>
                            <m:t>𝐹</m:t>
                          </m:r>
                          <m:r>
                            <a:rPr lang="en-US" sz="2800" i="1">
                              <a:latin typeface="Cambria Math"/>
                            </a:rPr>
                            <m:t> </m:t>
                          </m:r>
                        </m:e>
                      </m:d>
                      <m:r>
                        <a:rPr lang="en-US" sz="2800" i="1">
                          <a:latin typeface="Cambria Math"/>
                        </a:rPr>
                        <m:t>=</m:t>
                      </m:r>
                      <m:f>
                        <m:fPr>
                          <m:ctrlPr>
                            <a:rPr lang="en-US" sz="2800" b="1" i="1">
                              <a:latin typeface="Cambria Math" panose="02040503050406030204" pitchFamily="18" charset="0"/>
                            </a:rPr>
                          </m:ctrlPr>
                        </m:fPr>
                        <m:num>
                          <m:r>
                            <a:rPr lang="en-US" sz="2800" b="1" i="1">
                              <a:latin typeface="Cambria Math"/>
                            </a:rPr>
                            <m:t>𝑷</m:t>
                          </m:r>
                          <m:d>
                            <m:dPr>
                              <m:ctrlPr>
                                <a:rPr lang="en-US" sz="2800" b="1" i="1">
                                  <a:latin typeface="Cambria Math" panose="02040503050406030204" pitchFamily="18" charset="0"/>
                                </a:rPr>
                              </m:ctrlPr>
                            </m:dPr>
                            <m:e>
                              <m:r>
                                <a:rPr lang="en-US" sz="2800" b="1" i="1">
                                  <a:latin typeface="Cambria Math"/>
                                </a:rPr>
                                <m:t>𝑭</m:t>
                              </m:r>
                              <m:r>
                                <a:rPr lang="en-US" sz="2800" b="1" i="1">
                                  <a:latin typeface="Cambria Math"/>
                                </a:rPr>
                                <m:t>|</m:t>
                              </m:r>
                              <m:r>
                                <a:rPr lang="en-US" sz="2800" b="1" i="1">
                                  <a:latin typeface="Cambria Math"/>
                                </a:rPr>
                                <m:t>𝑪</m:t>
                              </m:r>
                            </m:e>
                          </m:d>
                          <m:r>
                            <a:rPr lang="en-US" sz="2800" b="1" i="1">
                              <a:latin typeface="Cambria Math"/>
                            </a:rPr>
                            <m:t>×</m:t>
                          </m:r>
                          <m:r>
                            <a:rPr lang="en-US" sz="2800" b="1" i="1">
                              <a:latin typeface="Cambria Math"/>
                            </a:rPr>
                            <m:t>𝑷</m:t>
                          </m:r>
                          <m:r>
                            <a:rPr lang="en-US" sz="2800" b="1" i="1">
                              <a:latin typeface="Cambria Math"/>
                            </a:rPr>
                            <m:t>(</m:t>
                          </m:r>
                          <m:r>
                            <a:rPr lang="en-US" sz="2800" b="1" i="1">
                              <a:latin typeface="Cambria Math"/>
                            </a:rPr>
                            <m:t>𝑪</m:t>
                          </m:r>
                          <m:r>
                            <a:rPr lang="en-US" sz="2800" b="1" i="1">
                              <a:latin typeface="Cambria Math"/>
                            </a:rPr>
                            <m:t>)</m:t>
                          </m:r>
                        </m:num>
                        <m:den>
                          <m:r>
                            <a:rPr lang="en-US" sz="2800" b="1" i="1">
                              <a:latin typeface="Cambria Math"/>
                            </a:rPr>
                            <m:t>𝑷</m:t>
                          </m:r>
                          <m:d>
                            <m:dPr>
                              <m:ctrlPr>
                                <a:rPr lang="en-US" sz="2800" b="1" i="1">
                                  <a:latin typeface="Cambria Math" panose="02040503050406030204" pitchFamily="18" charset="0"/>
                                </a:rPr>
                              </m:ctrlPr>
                            </m:dPr>
                            <m:e>
                              <m:r>
                                <a:rPr lang="en-US" sz="2800" b="1" i="1">
                                  <a:latin typeface="Cambria Math"/>
                                </a:rPr>
                                <m:t>𝑭</m:t>
                              </m:r>
                            </m:e>
                          </m:d>
                        </m:den>
                      </m:f>
                    </m:oMath>
                  </m:oMathPara>
                </a14:m>
                <a:endParaRPr lang="en-GB" sz="2800"/>
              </a:p>
            </p:txBody>
          </p:sp>
        </mc:Choice>
        <mc:Fallback>
          <p:sp>
            <p:nvSpPr>
              <p:cNvPr id="7" name="Rectangle 6"/>
              <p:cNvSpPr/>
              <p:nvPr/>
            </p:nvSpPr>
            <p:spPr>
              <a:xfrm>
                <a:off x="3747869" y="2639717"/>
                <a:ext cx="4220707" cy="989438"/>
              </a:xfrm>
              <a:prstGeom prst="rect">
                <a:avLst/>
              </a:prstGeom>
            </p:spPr>
            <p:txBody>
              <a:bodyPr wrap="none">
                <a:spAutoFit/>
              </a:bodyPr>
              <a:lstStyle/>
              <a:p>
                <a:r>
                  <a:rPr/>
                  <a:t>𝑃𝐶𝐹 =𝑷𝑭|𝑪×𝑷(𝑪)𝑷𝑭</a:t>
                </a:r>
                <a:endParaRPr lang="en-GB" sz="2800"/>
              </a:p>
            </p:txBody>
          </p:sp>
        </mc:Fallback>
      </mc:AlternateContent>
      <mc:AlternateContent xmlns:mc="http://schemas.openxmlformats.org/markup-compatibility/2006">
        <mc:Choice xmlns:a14="http://schemas.microsoft.com/office/drawing/2010/main" Requires="a14">
          <p:sp>
            <p:nvSpPr>
              <p:cNvPr id="5" name="Rectangle 4"/>
              <p:cNvSpPr/>
              <p:nvPr/>
            </p:nvSpPr>
            <p:spPr>
              <a:xfrm>
                <a:off x="1538068" y="4469679"/>
                <a:ext cx="7315200" cy="1832296"/>
              </a:xfrm>
              <a:prstGeom prst="rect">
                <a:avLst/>
              </a:prstGeom>
            </p:spPr>
            <p:txBody>
              <a:bodyPr wrap="square">
                <a:spAutoFit/>
              </a:bodyPr>
              <a:lstStyle/>
              <a:p>
                <a14:m xmlns:a14="http://schemas.microsoft.com/office/drawing/2010/main">
                  <m:oMath xmlns:m="http://schemas.openxmlformats.org/officeDocument/2006/math">
                    <m:r>
                      <a:rPr lang="en-US" sz="2400" i="1">
                        <a:latin typeface="Cambria Math"/>
                      </a:rPr>
                      <m:t>𝑃</m:t>
                    </m:r>
                    <m:d>
                      <m:dPr>
                        <m:ctrlPr>
                          <a:rPr lang="en-US" sz="2400" i="1">
                            <a:latin typeface="Cambria Math" panose="02040503050406030204" pitchFamily="18" charset="0"/>
                          </a:rPr>
                        </m:ctrlPr>
                      </m:dPr>
                      <m:e>
                        <m:r>
                          <a:rPr lang="en-US" sz="2400" i="1">
                            <a:solidFill>
                              <a:schemeClr val="tx2">
                                <a:lumMod val="75000"/>
                              </a:schemeClr>
                            </a:solidFill>
                            <a:latin typeface="Cambria Math"/>
                          </a:rPr>
                          <m:t>𝑚𝑎𝑙𝑒</m:t>
                        </m:r>
                      </m:e>
                      <m:e>
                        <m:r>
                          <a:rPr lang="en-US" sz="2400" i="1">
                            <a:latin typeface="Cambria Math"/>
                          </a:rPr>
                          <m:t>𝑑𝑟𝑒𝑤</m:t>
                        </m:r>
                        <m:r>
                          <a:rPr lang="en-US" sz="2400" i="1">
                            <a:latin typeface="Cambria Math"/>
                          </a:rPr>
                          <m:t> </m:t>
                        </m:r>
                      </m:e>
                    </m:d>
                    <m:r>
                      <a:rPr lang="en-US" sz="2400" i="1">
                        <a:latin typeface="Cambria Math"/>
                      </a:rPr>
                      <m:t>=</m:t>
                    </m:r>
                    <m:f>
                      <m:fPr>
                        <m:ctrlPr>
                          <a:rPr lang="en-US" sz="2400" b="1" i="1">
                            <a:latin typeface="Cambria Math" panose="02040503050406030204" pitchFamily="18" charset="0"/>
                          </a:rPr>
                        </m:ctrlPr>
                      </m:fPr>
                      <m:num>
                        <m:r>
                          <a:rPr lang="en-US" sz="2400" b="1" i="1">
                            <a:latin typeface="Cambria Math"/>
                          </a:rPr>
                          <m:t>𝑷</m:t>
                        </m:r>
                        <m:d>
                          <m:dPr>
                            <m:ctrlPr>
                              <a:rPr lang="en-US" sz="2400" b="1" i="1">
                                <a:latin typeface="Cambria Math" panose="02040503050406030204" pitchFamily="18" charset="0"/>
                              </a:rPr>
                            </m:ctrlPr>
                          </m:dPr>
                          <m:e>
                            <m:r>
                              <a:rPr lang="en-US" sz="2400" b="1" i="1">
                                <a:latin typeface="Cambria Math"/>
                              </a:rPr>
                              <m:t>𝒅𝒓𝒆𝒘</m:t>
                            </m:r>
                          </m:e>
                          <m:e>
                            <m:r>
                              <a:rPr lang="en-US" sz="2400" b="1" i="1">
                                <a:latin typeface="Cambria Math"/>
                              </a:rPr>
                              <m:t>𝒎</m:t>
                            </m:r>
                          </m:e>
                        </m:d>
                        <m:r>
                          <a:rPr lang="en-US" sz="2400" b="1" i="1">
                            <a:latin typeface="Cambria Math"/>
                          </a:rPr>
                          <m:t>.</m:t>
                        </m:r>
                        <m:r>
                          <a:rPr lang="en-US" sz="2400" b="1" i="1">
                            <a:latin typeface="Cambria Math"/>
                          </a:rPr>
                          <m:t>𝑷</m:t>
                        </m:r>
                        <m:r>
                          <a:rPr lang="en-US" sz="2400" b="1" i="1">
                            <a:latin typeface="Cambria Math"/>
                          </a:rPr>
                          <m:t>(</m:t>
                        </m:r>
                        <m:r>
                          <a:rPr lang="en-US" sz="2400" b="1" i="1">
                            <a:latin typeface="Cambria Math"/>
                          </a:rPr>
                          <m:t>𝒎</m:t>
                        </m:r>
                        <m:r>
                          <a:rPr lang="en-US" sz="2400" b="1" i="1">
                            <a:latin typeface="Cambria Math"/>
                          </a:rPr>
                          <m:t>) </m:t>
                        </m:r>
                      </m:num>
                      <m:den>
                        <m:r>
                          <a:rPr lang="en-US" sz="2400" b="1" i="1">
                            <a:latin typeface="Cambria Math"/>
                          </a:rPr>
                          <m:t>𝑷</m:t>
                        </m:r>
                        <m:r>
                          <a:rPr lang="en-US" sz="2400" b="1" i="1">
                            <a:latin typeface="Cambria Math"/>
                          </a:rPr>
                          <m:t>(</m:t>
                        </m:r>
                        <m:r>
                          <a:rPr lang="en-US" sz="2400" b="1" i="1">
                            <a:latin typeface="Cambria Math"/>
                          </a:rPr>
                          <m:t>𝒅𝒓𝒆𝒘</m:t>
                        </m:r>
                        <m:r>
                          <a:rPr lang="en-US" sz="2400" b="1" i="1">
                            <a:latin typeface="Cambria Math"/>
                          </a:rPr>
                          <m:t>)</m:t>
                        </m:r>
                      </m:den>
                    </m:f>
                    <m:r>
                      <a:rPr lang="en-US" sz="2400" b="1" i="1">
                        <a:latin typeface="Cambria Math"/>
                      </a:rPr>
                      <m:t>=</m:t>
                    </m:r>
                    <m:f>
                      <m:fPr>
                        <m:ctrlPr>
                          <a:rPr lang="en-US" sz="2400" b="1" i="1">
                            <a:latin typeface="Cambria Math" panose="02040503050406030204" pitchFamily="18" charset="0"/>
                          </a:rPr>
                        </m:ctrlPr>
                      </m:fPr>
                      <m:num>
                        <m:r>
                          <a:rPr lang="en-US" sz="2400" b="1" i="1">
                            <a:latin typeface="Cambria Math"/>
                          </a:rPr>
                          <m:t>𝟏</m:t>
                        </m:r>
                        <m:r>
                          <a:rPr lang="en-US" sz="2400" b="1" i="1">
                            <a:latin typeface="Cambria Math"/>
                          </a:rPr>
                          <m:t>/</m:t>
                        </m:r>
                        <m:r>
                          <a:rPr lang="en-US" sz="2400" b="1" i="1">
                            <a:latin typeface="Cambria Math"/>
                          </a:rPr>
                          <m:t>𝟑</m:t>
                        </m:r>
                        <m:r>
                          <a:rPr lang="en-US" sz="2400" b="1" i="1">
                            <a:latin typeface="Cambria Math"/>
                          </a:rPr>
                          <m:t>×</m:t>
                        </m:r>
                        <m:r>
                          <a:rPr lang="en-US" sz="2400" b="1" i="1">
                            <a:latin typeface="Cambria Math"/>
                          </a:rPr>
                          <m:t>𝟑</m:t>
                        </m:r>
                        <m:r>
                          <a:rPr lang="en-US" sz="2400" b="1" i="1">
                            <a:latin typeface="Cambria Math"/>
                          </a:rPr>
                          <m:t>/</m:t>
                        </m:r>
                        <m:r>
                          <a:rPr lang="en-US" sz="2400" b="1" i="1">
                            <a:latin typeface="Cambria Math"/>
                          </a:rPr>
                          <m:t>𝟖</m:t>
                        </m:r>
                      </m:num>
                      <m:den>
                        <m:r>
                          <a:rPr lang="en-US" sz="2400" b="1" i="1">
                            <a:latin typeface="Cambria Math"/>
                          </a:rPr>
                          <m:t>𝟑</m:t>
                        </m:r>
                        <m:r>
                          <a:rPr lang="en-US" sz="2400" b="1" i="1">
                            <a:latin typeface="Cambria Math"/>
                          </a:rPr>
                          <m:t>/</m:t>
                        </m:r>
                        <m:r>
                          <a:rPr lang="en-US" sz="2400" b="1" i="1">
                            <a:latin typeface="Cambria Math"/>
                          </a:rPr>
                          <m:t>𝟖</m:t>
                        </m:r>
                      </m:den>
                    </m:f>
                  </m:oMath>
                </a14:m>
                <a:r>
                  <a:rPr lang="en-GB" sz="2400"/>
                  <a:t>=</a:t>
                </a:r>
                <a14:m xmlns:a14="http://schemas.microsoft.com/office/drawing/2010/main">
                  <m:oMath xmlns:m="http://schemas.openxmlformats.org/officeDocument/2006/math">
                    <m:f>
                      <m:fPr>
                        <m:ctrlPr>
                          <a:rPr lang="en-US" sz="2400" b="1" i="1">
                            <a:latin typeface="Cambria Math" panose="02040503050406030204" pitchFamily="18" charset="0"/>
                          </a:rPr>
                        </m:ctrlPr>
                      </m:fPr>
                      <m:num>
                        <m:r>
                          <a:rPr lang="en-US" sz="2400" b="1" i="1">
                            <a:latin typeface="Cambria Math"/>
                          </a:rPr>
                          <m:t>𝟏</m:t>
                        </m:r>
                      </m:num>
                      <m:den>
                        <m:r>
                          <a:rPr lang="en-US" sz="2400" b="1" i="1">
                            <a:latin typeface="Cambria Math"/>
                          </a:rPr>
                          <m:t>𝟑</m:t>
                        </m:r>
                      </m:den>
                    </m:f>
                  </m:oMath>
                </a14:m>
                <a:endParaRPr lang="en-US" sz="2400" b="1"/>
              </a:p>
              <a:p>
                <a:endParaRPr lang="en-US" sz="2800" b="1"/>
              </a:p>
              <a:p>
                <a14:m xmlns:a14="http://schemas.microsoft.com/office/drawing/2010/main">
                  <m:oMath xmlns:m="http://schemas.openxmlformats.org/officeDocument/2006/math">
                    <m:r>
                      <m:rPr>
                        <m:sty m:val="p"/>
                      </m:rPr>
                      <a:rPr lang="en-US" sz="2400">
                        <a:latin typeface="Cambria Math"/>
                      </a:rPr>
                      <m:t>P</m:t>
                    </m:r>
                    <m:d>
                      <m:dPr>
                        <m:ctrlPr>
                          <a:rPr lang="en-US" sz="2400" i="1">
                            <a:latin typeface="Cambria Math" panose="02040503050406030204" pitchFamily="18" charset="0"/>
                          </a:rPr>
                        </m:ctrlPr>
                      </m:dPr>
                      <m:e>
                        <m:r>
                          <m:rPr>
                            <m:sty m:val="p"/>
                          </m:rPr>
                          <a:rPr lang="en-US" sz="2400">
                            <a:solidFill>
                              <a:srgbClr val="FF0000"/>
                            </a:solidFill>
                            <a:latin typeface="Cambria Math"/>
                          </a:rPr>
                          <m:t>female</m:t>
                        </m:r>
                      </m:e>
                      <m:e>
                        <m:r>
                          <m:rPr>
                            <m:sty m:val="p"/>
                          </m:rPr>
                          <a:rPr lang="en-US" sz="2400">
                            <a:latin typeface="Cambria Math"/>
                          </a:rPr>
                          <m:t>drew</m:t>
                        </m:r>
                      </m:e>
                    </m:d>
                    <m:r>
                      <a:rPr lang="en-US" sz="2400" i="1">
                        <a:latin typeface="Cambria Math"/>
                      </a:rPr>
                      <m:t>=</m:t>
                    </m:r>
                    <m:f>
                      <m:fPr>
                        <m:ctrlPr>
                          <a:rPr lang="en-US" sz="2400" b="1" i="1">
                            <a:latin typeface="Cambria Math" panose="02040503050406030204" pitchFamily="18" charset="0"/>
                          </a:rPr>
                        </m:ctrlPr>
                      </m:fPr>
                      <m:num>
                        <m:r>
                          <a:rPr lang="en-US" sz="2400" b="1" i="1">
                            <a:latin typeface="Cambria Math"/>
                          </a:rPr>
                          <m:t>𝑷</m:t>
                        </m:r>
                        <m:d>
                          <m:dPr>
                            <m:ctrlPr>
                              <a:rPr lang="en-US" sz="2400" b="1" i="1">
                                <a:latin typeface="Cambria Math" panose="02040503050406030204" pitchFamily="18" charset="0"/>
                              </a:rPr>
                            </m:ctrlPr>
                          </m:dPr>
                          <m:e>
                            <m:r>
                              <a:rPr lang="en-US" sz="2400" b="1" i="1">
                                <a:latin typeface="Cambria Math"/>
                              </a:rPr>
                              <m:t>𝒅𝒓𝒆𝒘</m:t>
                            </m:r>
                          </m:e>
                          <m:e>
                            <m:r>
                              <a:rPr lang="en-US" sz="2400" b="1" i="1">
                                <a:latin typeface="Cambria Math"/>
                              </a:rPr>
                              <m:t>𝒇</m:t>
                            </m:r>
                          </m:e>
                        </m:d>
                        <m:r>
                          <a:rPr lang="en-US" sz="2400" b="1" i="1">
                            <a:latin typeface="Cambria Math"/>
                          </a:rPr>
                          <m:t>.</m:t>
                        </m:r>
                        <m:r>
                          <a:rPr lang="en-US" sz="2400" b="1" i="1">
                            <a:latin typeface="Cambria Math"/>
                          </a:rPr>
                          <m:t>𝑷</m:t>
                        </m:r>
                        <m:r>
                          <a:rPr lang="en-US" sz="2400" b="1" i="1">
                            <a:latin typeface="Cambria Math"/>
                          </a:rPr>
                          <m:t>(</m:t>
                        </m:r>
                        <m:r>
                          <a:rPr lang="en-US" sz="2400" b="1" i="1">
                            <a:latin typeface="Cambria Math"/>
                          </a:rPr>
                          <m:t>𝒇</m:t>
                        </m:r>
                        <m:r>
                          <a:rPr lang="en-US" sz="2400" b="1" i="1">
                            <a:latin typeface="Cambria Math"/>
                          </a:rPr>
                          <m:t>) </m:t>
                        </m:r>
                      </m:num>
                      <m:den>
                        <m:r>
                          <a:rPr lang="en-US" sz="2400" b="1" i="1">
                            <a:latin typeface="Cambria Math"/>
                          </a:rPr>
                          <m:t>𝑷</m:t>
                        </m:r>
                        <m:r>
                          <a:rPr lang="en-US" sz="2400" b="1" i="1">
                            <a:latin typeface="Cambria Math"/>
                          </a:rPr>
                          <m:t>(</m:t>
                        </m:r>
                        <m:r>
                          <a:rPr lang="en-US" sz="2400" b="1" i="1">
                            <a:latin typeface="Cambria Math"/>
                          </a:rPr>
                          <m:t>𝒅𝒓𝒆𝒘</m:t>
                        </m:r>
                        <m:r>
                          <a:rPr lang="en-US" sz="2400" b="1" i="1">
                            <a:latin typeface="Cambria Math"/>
                          </a:rPr>
                          <m:t>)</m:t>
                        </m:r>
                      </m:den>
                    </m:f>
                    <m:r>
                      <a:rPr lang="en-US" sz="2400" b="1" i="1">
                        <a:latin typeface="Cambria Math"/>
                      </a:rPr>
                      <m:t>=</m:t>
                    </m:r>
                    <m:f>
                      <m:fPr>
                        <m:ctrlPr>
                          <a:rPr lang="en-US" sz="2400" b="1" i="1">
                            <a:latin typeface="Cambria Math" panose="02040503050406030204" pitchFamily="18" charset="0"/>
                          </a:rPr>
                        </m:ctrlPr>
                      </m:fPr>
                      <m:num>
                        <m:r>
                          <a:rPr lang="en-US" sz="2400" b="1" i="1">
                            <a:latin typeface="Cambria Math"/>
                          </a:rPr>
                          <m:t>𝟐</m:t>
                        </m:r>
                        <m:r>
                          <a:rPr lang="en-US" sz="2400" b="1" i="1">
                            <a:latin typeface="Cambria Math"/>
                          </a:rPr>
                          <m:t>/</m:t>
                        </m:r>
                        <m:r>
                          <a:rPr lang="en-US" sz="2400" b="1" i="1">
                            <a:latin typeface="Cambria Math"/>
                          </a:rPr>
                          <m:t>𝟓</m:t>
                        </m:r>
                        <m:r>
                          <a:rPr lang="en-US" sz="2400" b="1" i="1">
                            <a:latin typeface="Cambria Math"/>
                          </a:rPr>
                          <m:t>×</m:t>
                        </m:r>
                        <m:r>
                          <a:rPr lang="en-US" sz="2400" b="1" i="1">
                            <a:latin typeface="Cambria Math"/>
                          </a:rPr>
                          <m:t>𝟓</m:t>
                        </m:r>
                        <m:r>
                          <a:rPr lang="en-US" sz="2400" b="1" i="1">
                            <a:latin typeface="Cambria Math"/>
                          </a:rPr>
                          <m:t>/</m:t>
                        </m:r>
                        <m:r>
                          <a:rPr lang="en-US" sz="2400" b="1" i="1">
                            <a:latin typeface="Cambria Math"/>
                          </a:rPr>
                          <m:t>𝟖</m:t>
                        </m:r>
                      </m:num>
                      <m:den>
                        <m:r>
                          <a:rPr lang="en-US" sz="2400" b="1" i="1">
                            <a:latin typeface="Cambria Math"/>
                          </a:rPr>
                          <m:t>𝟑</m:t>
                        </m:r>
                        <m:r>
                          <a:rPr lang="en-US" sz="2400" b="1" i="1">
                            <a:latin typeface="Cambria Math"/>
                          </a:rPr>
                          <m:t>/</m:t>
                        </m:r>
                        <m:r>
                          <a:rPr lang="en-US" sz="2400" b="1" i="1">
                            <a:latin typeface="Cambria Math"/>
                          </a:rPr>
                          <m:t>𝟖</m:t>
                        </m:r>
                      </m:den>
                    </m:f>
                  </m:oMath>
                </a14:m>
                <a:r>
                  <a:rPr lang="en-GB" sz="2400"/>
                  <a:t>=</a:t>
                </a:r>
                <a14:m xmlns:a14="http://schemas.microsoft.com/office/drawing/2010/main">
                  <m:oMath xmlns:m="http://schemas.openxmlformats.org/officeDocument/2006/math">
                    <m:f>
                      <m:fPr>
                        <m:ctrlPr>
                          <a:rPr lang="en-US" sz="2400" b="1" i="1">
                            <a:latin typeface="Cambria Math" panose="02040503050406030204" pitchFamily="18" charset="0"/>
                          </a:rPr>
                        </m:ctrlPr>
                      </m:fPr>
                      <m:num>
                        <m:r>
                          <a:rPr lang="en-US" sz="2400" b="1" i="1">
                            <a:latin typeface="Cambria Math"/>
                          </a:rPr>
                          <m:t>𝟐</m:t>
                        </m:r>
                      </m:num>
                      <m:den>
                        <m:r>
                          <a:rPr lang="en-US" sz="2400" b="1" i="1">
                            <a:latin typeface="Cambria Math"/>
                          </a:rPr>
                          <m:t>𝟑</m:t>
                        </m:r>
                      </m:den>
                    </m:f>
                  </m:oMath>
                </a14:m>
                <a:endParaRPr lang="en-US" sz="2400" b="1"/>
              </a:p>
            </p:txBody>
          </p:sp>
        </mc:Choice>
        <mc:Fallback>
          <p:sp>
            <p:nvSpPr>
              <p:cNvPr id="5" name="Rectangle 4"/>
              <p:cNvSpPr/>
              <p:nvPr/>
            </p:nvSpPr>
            <p:spPr>
              <a:xfrm>
                <a:off x="1538068" y="4469679"/>
                <a:ext cx="7315200" cy="1832296"/>
              </a:xfrm>
              <a:prstGeom prst="rect">
                <a:avLst/>
              </a:prstGeom>
            </p:spPr>
            <p:txBody>
              <a:bodyPr wrap="square">
                <a:spAutoFit/>
              </a:bodyPr>
              <a:lstStyle/>
              <a:p>
                <a:r>
                  <a:rPr/>
                  <a:t>𝑃𝑚𝑎𝑙𝑒𝑑𝑟𝑒𝑤 =𝑷𝒅𝒓𝒆𝒘𝒎.𝑷(𝒎) 𝑷(𝒅𝒓𝒆𝒘)=𝟏/𝟑×𝟑/𝟖𝟑/𝟖</a:t>
                </a:r>
                <a:r>
                  <a:rPr lang="en-GB" sz="2400"/>
                  <a:t>=</a:t>
                </a:r>
                <a:r>
                  <a:rPr/>
                  <a:t>𝟏𝟑</a:t>
                </a:r>
                <a:endParaRPr lang="en-US" sz="2400" b="1"/>
              </a:p>
              <a:p>
                <a:endParaRPr lang="en-US" sz="2800" b="1"/>
              </a:p>
              <a:p>
                <a:r>
                  <a:rPr/>
                  <a:t>Pfemaledrew=𝑷𝒅𝒓𝒆𝒘𝒇.𝑷(𝒇) 𝑷(𝒅𝒓𝒆𝒘)=𝟐/𝟓×𝟓/𝟖𝟑/𝟖</a:t>
                </a:r>
                <a:r>
                  <a:rPr lang="en-GB" sz="2400"/>
                  <a:t>=</a:t>
                </a:r>
                <a:r>
                  <a:rPr/>
                  <a:t>𝟐𝟑</a:t>
                </a:r>
                <a:endParaRPr lang="en-US" sz="2400" b="1"/>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F867CA9-AA29-4B16-809F-F852F057BB3F}" type="slidenum">
              <a:rPr lang="en-US"/>
              <a:t>20</a:t>
            </a:fld>
            <a:endParaRPr lang="en-US"/>
          </a:p>
        </p:txBody>
      </p:sp>
      <p:pic>
        <p:nvPicPr>
          <p:cNvPr id="12290" name="Picture 2"/>
          <p:cNvPicPr>
            <a:picLocks noChangeAspect="1" noGrp="1"/>
          </p:cNvPicPr>
          <p:nvPr>
            <p:ph idx="4294967295"/>
          </p:nvPr>
        </p:nvPicPr>
        <p:blipFill rotWithShape="1">
          <a:blip r:embed="rId2"/>
          <a:srcRect l="19129" t="12821" r="19912" b="39707"/>
          <a:stretch>
            <a:fillRect/>
          </a:stretch>
        </p:blipFill>
        <p:spPr>
          <a:xfrm>
            <a:off x="0" y="760437"/>
            <a:ext cx="8991600" cy="3937000"/>
          </a:xfrm>
          <a:prstGeom prst="rect">
            <a:avLst/>
          </a:prstGeom>
          <a:noFill/>
          <a:ln>
            <a:noFill/>
          </a:ln>
          <a:effectLst/>
        </p:spPr>
      </p:pic>
      <mc:AlternateContent xmlns:mc="http://schemas.openxmlformats.org/markup-compatibility/2006">
        <mc:Choice xmlns:a14="http://schemas.microsoft.com/office/drawing/2010/main" Requires="a14">
          <p:sp>
            <p:nvSpPr>
              <p:cNvPr id="7" name="Rectangle 6"/>
              <p:cNvSpPr/>
              <p:nvPr/>
            </p:nvSpPr>
            <p:spPr>
              <a:xfrm>
                <a:off x="3521612" y="3232646"/>
                <a:ext cx="7315200" cy="1941494"/>
              </a:xfrm>
              <a:prstGeom prst="rect">
                <a:avLst/>
              </a:prstGeom>
            </p:spPr>
            <p:txBody>
              <a:bodyPr wrap="square">
                <a:spAutoFit/>
              </a:bodyPr>
              <a:lstStyle/>
              <a:p>
                <a14:m xmlns:a14="http://schemas.microsoft.com/office/drawing/2010/main">
                  <m:oMath xmlns:m="http://schemas.openxmlformats.org/officeDocument/2006/math">
                    <m:r>
                      <a:rPr lang="en-US" sz="2400" i="1">
                        <a:latin typeface="Cambria Math"/>
                      </a:rPr>
                      <m:t>𝑃</m:t>
                    </m:r>
                    <m:d>
                      <m:dPr>
                        <m:ctrlPr>
                          <a:rPr lang="en-US" sz="2400" i="1">
                            <a:latin typeface="Cambria Math" panose="02040503050406030204" pitchFamily="18" charset="0"/>
                          </a:rPr>
                        </m:ctrlPr>
                      </m:dPr>
                      <m:e>
                        <m:r>
                          <a:rPr lang="en-US" sz="2400" i="1">
                            <a:solidFill>
                              <a:schemeClr val="tx2">
                                <a:lumMod val="75000"/>
                              </a:schemeClr>
                            </a:solidFill>
                            <a:latin typeface="Cambria Math"/>
                          </a:rPr>
                          <m:t>𝑚𝑎𝑙𝑒</m:t>
                        </m:r>
                      </m:e>
                      <m:e>
                        <m:r>
                          <a:rPr lang="en-US" sz="2400" i="1">
                            <a:latin typeface="Cambria Math"/>
                          </a:rPr>
                          <m:t>𝑑𝑟𝑒𝑤</m:t>
                        </m:r>
                        <m:r>
                          <a:rPr lang="en-US" sz="2400" i="1">
                            <a:latin typeface="Cambria Math"/>
                          </a:rPr>
                          <m:t> </m:t>
                        </m:r>
                      </m:e>
                    </m:d>
                    <m:r>
                      <a:rPr lang="en-US" sz="2400" i="1">
                        <a:latin typeface="Cambria Math"/>
                      </a:rPr>
                      <m:t>=</m:t>
                    </m:r>
                    <m:f>
                      <m:fPr>
                        <m:ctrlPr>
                          <a:rPr lang="en-US" sz="2400" b="1" i="1">
                            <a:latin typeface="Cambria Math" panose="02040503050406030204" pitchFamily="18" charset="0"/>
                          </a:rPr>
                        </m:ctrlPr>
                      </m:fPr>
                      <m:num>
                        <m:r>
                          <a:rPr lang="en-US" sz="2400" b="1" i="1">
                            <a:latin typeface="Cambria Math"/>
                          </a:rPr>
                          <m:t>𝑷</m:t>
                        </m:r>
                        <m:d>
                          <m:dPr>
                            <m:ctrlPr>
                              <a:rPr lang="en-US" sz="2400" b="1" i="1">
                                <a:latin typeface="Cambria Math" panose="02040503050406030204" pitchFamily="18" charset="0"/>
                              </a:rPr>
                            </m:ctrlPr>
                          </m:dPr>
                          <m:e>
                            <m:r>
                              <a:rPr lang="en-US" sz="2400" b="1" i="1">
                                <a:latin typeface="Cambria Math"/>
                              </a:rPr>
                              <m:t>𝒅𝒓𝒆𝒘</m:t>
                            </m:r>
                          </m:e>
                          <m:e>
                            <m:r>
                              <a:rPr lang="en-US" sz="2400" b="1" i="1">
                                <a:latin typeface="Cambria Math"/>
                              </a:rPr>
                              <m:t>𝒎</m:t>
                            </m:r>
                          </m:e>
                        </m:d>
                        <m:r>
                          <a:rPr lang="en-US" sz="2400" b="1" i="1">
                            <a:latin typeface="Cambria Math"/>
                          </a:rPr>
                          <m:t>.</m:t>
                        </m:r>
                        <m:r>
                          <a:rPr lang="en-US" sz="2400" b="1" i="1">
                            <a:latin typeface="Cambria Math"/>
                          </a:rPr>
                          <m:t>𝑷</m:t>
                        </m:r>
                        <m:r>
                          <a:rPr lang="en-US" sz="2400" b="1" i="1">
                            <a:latin typeface="Cambria Math"/>
                          </a:rPr>
                          <m:t>(</m:t>
                        </m:r>
                        <m:r>
                          <a:rPr lang="en-US" sz="2400" b="1" i="1">
                            <a:latin typeface="Cambria Math"/>
                          </a:rPr>
                          <m:t>𝒎</m:t>
                        </m:r>
                        <m:r>
                          <a:rPr lang="en-US" sz="2400" b="1" i="1">
                            <a:latin typeface="Cambria Math"/>
                          </a:rPr>
                          <m:t>) </m:t>
                        </m:r>
                      </m:num>
                      <m:den>
                        <m:r>
                          <a:rPr lang="en-US" sz="2400" b="1" i="1">
                            <a:latin typeface="Cambria Math"/>
                          </a:rPr>
                          <m:t>𝑷</m:t>
                        </m:r>
                        <m:r>
                          <a:rPr lang="en-US" sz="2400" b="1" i="1">
                            <a:latin typeface="Cambria Math"/>
                          </a:rPr>
                          <m:t>(</m:t>
                        </m:r>
                        <m:r>
                          <a:rPr lang="en-US" sz="2400" b="1" i="1">
                            <a:latin typeface="Cambria Math"/>
                          </a:rPr>
                          <m:t>𝒅𝒓𝒆𝒘</m:t>
                        </m:r>
                        <m:r>
                          <a:rPr lang="en-US" sz="2400" b="1" i="1">
                            <a:latin typeface="Cambria Math"/>
                          </a:rPr>
                          <m:t>)</m:t>
                        </m:r>
                      </m:den>
                    </m:f>
                    <m:r>
                      <a:rPr lang="en-US" sz="2400" b="1" i="1">
                        <a:latin typeface="Cambria Math"/>
                      </a:rPr>
                      <m:t>=</m:t>
                    </m:r>
                    <m:f>
                      <m:fPr>
                        <m:ctrlPr>
                          <a:rPr lang="en-US" sz="2400" b="1" i="1">
                            <a:latin typeface="Cambria Math" panose="02040503050406030204" pitchFamily="18" charset="0"/>
                          </a:rPr>
                        </m:ctrlPr>
                      </m:fPr>
                      <m:num>
                        <m:r>
                          <a:rPr lang="en-US" sz="2400" b="1" i="1">
                            <a:latin typeface="Cambria Math"/>
                          </a:rPr>
                          <m:t>𝟏</m:t>
                        </m:r>
                        <m:r>
                          <a:rPr lang="en-US" sz="2400" b="1" i="1">
                            <a:latin typeface="Cambria Math"/>
                          </a:rPr>
                          <m:t>/</m:t>
                        </m:r>
                        <m:r>
                          <a:rPr lang="en-US" sz="2400" b="1" i="1">
                            <a:latin typeface="Cambria Math"/>
                          </a:rPr>
                          <m:t>𝟑</m:t>
                        </m:r>
                        <m:r>
                          <a:rPr lang="en-US" sz="2400" b="1" i="1">
                            <a:latin typeface="Cambria Math"/>
                          </a:rPr>
                          <m:t>×</m:t>
                        </m:r>
                        <m:r>
                          <a:rPr lang="en-US" sz="2400" b="1" i="1">
                            <a:latin typeface="Cambria Math"/>
                          </a:rPr>
                          <m:t>𝟑</m:t>
                        </m:r>
                        <m:r>
                          <a:rPr lang="en-US" sz="2400" b="1" i="1">
                            <a:latin typeface="Cambria Math"/>
                          </a:rPr>
                          <m:t>/</m:t>
                        </m:r>
                        <m:r>
                          <a:rPr lang="en-US" sz="2400" b="1" i="1">
                            <a:latin typeface="Cambria Math"/>
                          </a:rPr>
                          <m:t>𝟖</m:t>
                        </m:r>
                      </m:num>
                      <m:den>
                        <m:r>
                          <a:rPr lang="en-US" sz="2400" b="1" i="1">
                            <a:latin typeface="Cambria Math"/>
                          </a:rPr>
                          <m:t>𝟑</m:t>
                        </m:r>
                        <m:r>
                          <a:rPr lang="en-US" sz="2400" b="1" i="1">
                            <a:latin typeface="Cambria Math"/>
                          </a:rPr>
                          <m:t>/</m:t>
                        </m:r>
                        <m:r>
                          <a:rPr lang="en-US" sz="2400" b="1" i="1">
                            <a:latin typeface="Cambria Math"/>
                          </a:rPr>
                          <m:t>𝟖</m:t>
                        </m:r>
                      </m:den>
                    </m:f>
                  </m:oMath>
                </a14:m>
                <a:r>
                  <a:rPr lang="en-GB" sz="2400"/>
                  <a:t>=</a:t>
                </a:r>
                <a14:m xmlns:a14="http://schemas.microsoft.com/office/drawing/2010/main">
                  <m:oMath xmlns:m="http://schemas.openxmlformats.org/officeDocument/2006/math">
                    <m:f>
                      <m:fPr>
                        <m:ctrlPr>
                          <a:rPr lang="en-US" sz="2400" b="1" i="1">
                            <a:latin typeface="Cambria Math" panose="02040503050406030204" pitchFamily="18" charset="0"/>
                          </a:rPr>
                        </m:ctrlPr>
                      </m:fPr>
                      <m:num>
                        <m:r>
                          <a:rPr lang="en-US" sz="2400" b="1" i="1">
                            <a:latin typeface="Cambria Math"/>
                          </a:rPr>
                          <m:t>𝟏</m:t>
                        </m:r>
                      </m:num>
                      <m:den>
                        <m:r>
                          <a:rPr lang="en-US" sz="2400" b="1" i="1">
                            <a:latin typeface="Cambria Math"/>
                          </a:rPr>
                          <m:t>𝟑</m:t>
                        </m:r>
                      </m:den>
                    </m:f>
                  </m:oMath>
                </a14:m>
                <a:endParaRPr lang="en-US" sz="2400" b="1"/>
              </a:p>
              <a:p>
                <a:endParaRPr lang="en-US" sz="2800" b="1"/>
              </a:p>
              <a:p>
                <a14:m xmlns:a14="http://schemas.microsoft.com/office/drawing/2010/main">
                  <m:oMath xmlns:m="http://schemas.openxmlformats.org/officeDocument/2006/math">
                    <m:r>
                      <m:rPr>
                        <m:sty m:val="p"/>
                      </m:rPr>
                      <a:rPr lang="en-US" sz="2800">
                        <a:solidFill>
                          <a:srgbClr val="FF0000"/>
                        </a:solidFill>
                        <a:latin typeface="Cambria Math"/>
                      </a:rPr>
                      <m:t>P</m:t>
                    </m:r>
                    <m:d>
                      <m:dPr>
                        <m:ctrlPr>
                          <a:rPr lang="en-US" sz="2800" i="1">
                            <a:solidFill>
                              <a:srgbClr val="FF0000"/>
                            </a:solidFill>
                            <a:latin typeface="Cambria Math" panose="02040503050406030204" pitchFamily="18" charset="0"/>
                          </a:rPr>
                        </m:ctrlPr>
                      </m:dPr>
                      <m:e>
                        <m:r>
                          <m:rPr>
                            <m:sty m:val="p"/>
                          </m:rPr>
                          <a:rPr lang="en-US" sz="2800">
                            <a:solidFill>
                              <a:srgbClr val="FF0000"/>
                            </a:solidFill>
                            <a:latin typeface="Cambria Math"/>
                          </a:rPr>
                          <m:t>female</m:t>
                        </m:r>
                      </m:e>
                      <m:e>
                        <m:r>
                          <m:rPr>
                            <m:sty m:val="p"/>
                          </m:rPr>
                          <a:rPr lang="en-US" sz="2800">
                            <a:solidFill>
                              <a:srgbClr val="FF0000"/>
                            </a:solidFill>
                            <a:latin typeface="Cambria Math"/>
                          </a:rPr>
                          <m:t>drew</m:t>
                        </m:r>
                      </m:e>
                    </m:d>
                    <m:r>
                      <a:rPr lang="en-US" sz="2800" i="1">
                        <a:solidFill>
                          <a:srgbClr val="FF0000"/>
                        </a:solidFill>
                        <a:latin typeface="Cambria Math"/>
                      </a:rPr>
                      <m:t>=</m:t>
                    </m:r>
                    <m:f>
                      <m:fPr>
                        <m:ctrlPr>
                          <a:rPr lang="en-US" sz="2800" b="1" i="1">
                            <a:solidFill>
                              <a:srgbClr val="FF0000"/>
                            </a:solidFill>
                            <a:latin typeface="Cambria Math" panose="02040503050406030204" pitchFamily="18" charset="0"/>
                          </a:rPr>
                        </m:ctrlPr>
                      </m:fPr>
                      <m:num>
                        <m:r>
                          <a:rPr lang="en-US" sz="2800" b="1" i="1">
                            <a:solidFill>
                              <a:srgbClr val="FF0000"/>
                            </a:solidFill>
                            <a:latin typeface="Cambria Math"/>
                          </a:rPr>
                          <m:t>𝑷</m:t>
                        </m:r>
                        <m:d>
                          <m:dPr>
                            <m:ctrlPr>
                              <a:rPr lang="en-US" sz="2800" b="1" i="1">
                                <a:solidFill>
                                  <a:srgbClr val="FF0000"/>
                                </a:solidFill>
                                <a:latin typeface="Cambria Math" panose="02040503050406030204" pitchFamily="18" charset="0"/>
                              </a:rPr>
                            </m:ctrlPr>
                          </m:dPr>
                          <m:e>
                            <m:r>
                              <a:rPr lang="en-US" sz="2800" b="1" i="1">
                                <a:solidFill>
                                  <a:srgbClr val="FF0000"/>
                                </a:solidFill>
                                <a:latin typeface="Cambria Math"/>
                              </a:rPr>
                              <m:t>𝒅𝒓𝒆𝒘</m:t>
                            </m:r>
                          </m:e>
                          <m:e>
                            <m:r>
                              <a:rPr lang="en-US" sz="2800" b="1" i="1">
                                <a:solidFill>
                                  <a:srgbClr val="FF0000"/>
                                </a:solidFill>
                                <a:latin typeface="Cambria Math"/>
                              </a:rPr>
                              <m:t>𝒇</m:t>
                            </m:r>
                          </m:e>
                        </m:d>
                        <m:r>
                          <a:rPr lang="en-US" sz="2800" b="1" i="1">
                            <a:solidFill>
                              <a:srgbClr val="FF0000"/>
                            </a:solidFill>
                            <a:latin typeface="Cambria Math"/>
                          </a:rPr>
                          <m:t>.</m:t>
                        </m:r>
                        <m:r>
                          <a:rPr lang="en-US" sz="2800" b="1" i="1">
                            <a:solidFill>
                              <a:srgbClr val="FF0000"/>
                            </a:solidFill>
                            <a:latin typeface="Cambria Math"/>
                          </a:rPr>
                          <m:t>𝑷</m:t>
                        </m:r>
                        <m:r>
                          <a:rPr lang="en-US" sz="2800" b="1" i="1">
                            <a:solidFill>
                              <a:srgbClr val="FF0000"/>
                            </a:solidFill>
                            <a:latin typeface="Cambria Math"/>
                          </a:rPr>
                          <m:t>(</m:t>
                        </m:r>
                        <m:r>
                          <a:rPr lang="en-US" sz="2800" b="1" i="1">
                            <a:solidFill>
                              <a:srgbClr val="FF0000"/>
                            </a:solidFill>
                            <a:latin typeface="Cambria Math"/>
                          </a:rPr>
                          <m:t>𝒇</m:t>
                        </m:r>
                        <m:r>
                          <a:rPr lang="en-US" sz="2800" b="1" i="1">
                            <a:solidFill>
                              <a:srgbClr val="FF0000"/>
                            </a:solidFill>
                            <a:latin typeface="Cambria Math"/>
                          </a:rPr>
                          <m:t>) </m:t>
                        </m:r>
                      </m:num>
                      <m:den>
                        <m:r>
                          <a:rPr lang="en-US" sz="2800" b="1" i="1">
                            <a:solidFill>
                              <a:srgbClr val="FF0000"/>
                            </a:solidFill>
                            <a:latin typeface="Cambria Math"/>
                          </a:rPr>
                          <m:t>𝑷</m:t>
                        </m:r>
                        <m:r>
                          <a:rPr lang="en-US" sz="2800" b="1" i="1">
                            <a:solidFill>
                              <a:srgbClr val="FF0000"/>
                            </a:solidFill>
                            <a:latin typeface="Cambria Math"/>
                          </a:rPr>
                          <m:t>(</m:t>
                        </m:r>
                        <m:r>
                          <a:rPr lang="en-US" sz="2800" b="1" i="1">
                            <a:solidFill>
                              <a:srgbClr val="FF0000"/>
                            </a:solidFill>
                            <a:latin typeface="Cambria Math"/>
                          </a:rPr>
                          <m:t>𝒅𝒓𝒆𝒘</m:t>
                        </m:r>
                        <m:r>
                          <a:rPr lang="en-US" sz="2800" b="1" i="1">
                            <a:solidFill>
                              <a:srgbClr val="FF0000"/>
                            </a:solidFill>
                            <a:latin typeface="Cambria Math"/>
                          </a:rPr>
                          <m:t>)</m:t>
                        </m:r>
                      </m:den>
                    </m:f>
                    <m:r>
                      <a:rPr lang="en-US" sz="2800" b="1" i="1">
                        <a:solidFill>
                          <a:srgbClr val="FF0000"/>
                        </a:solidFill>
                        <a:latin typeface="Cambria Math"/>
                      </a:rPr>
                      <m:t>=</m:t>
                    </m:r>
                    <m:f>
                      <m:fPr>
                        <m:ctrlPr>
                          <a:rPr lang="en-US" sz="2800" b="1" i="1">
                            <a:solidFill>
                              <a:srgbClr val="FF0000"/>
                            </a:solidFill>
                            <a:latin typeface="Cambria Math" panose="02040503050406030204" pitchFamily="18" charset="0"/>
                          </a:rPr>
                        </m:ctrlPr>
                      </m:fPr>
                      <m:num>
                        <m:r>
                          <a:rPr lang="en-US" sz="2800" b="1" i="1">
                            <a:solidFill>
                              <a:srgbClr val="FF0000"/>
                            </a:solidFill>
                            <a:latin typeface="Cambria Math"/>
                          </a:rPr>
                          <m:t>𝟐</m:t>
                        </m:r>
                        <m:r>
                          <a:rPr lang="en-US" sz="2800" b="1" i="1">
                            <a:solidFill>
                              <a:srgbClr val="FF0000"/>
                            </a:solidFill>
                            <a:latin typeface="Cambria Math"/>
                          </a:rPr>
                          <m:t>/</m:t>
                        </m:r>
                        <m:r>
                          <a:rPr lang="en-US" sz="2800" b="1" i="1">
                            <a:solidFill>
                              <a:srgbClr val="FF0000"/>
                            </a:solidFill>
                            <a:latin typeface="Cambria Math"/>
                          </a:rPr>
                          <m:t>𝟓</m:t>
                        </m:r>
                        <m:r>
                          <a:rPr lang="en-US" sz="2800" b="1" i="1">
                            <a:solidFill>
                              <a:srgbClr val="FF0000"/>
                            </a:solidFill>
                            <a:latin typeface="Cambria Math"/>
                          </a:rPr>
                          <m:t>×</m:t>
                        </m:r>
                        <m:r>
                          <a:rPr lang="en-US" sz="2800" b="1" i="1">
                            <a:solidFill>
                              <a:srgbClr val="FF0000"/>
                            </a:solidFill>
                            <a:latin typeface="Cambria Math"/>
                          </a:rPr>
                          <m:t>𝟓</m:t>
                        </m:r>
                        <m:r>
                          <a:rPr lang="en-US" sz="2800" b="1" i="1">
                            <a:solidFill>
                              <a:srgbClr val="FF0000"/>
                            </a:solidFill>
                            <a:latin typeface="Cambria Math"/>
                          </a:rPr>
                          <m:t>/</m:t>
                        </m:r>
                        <m:r>
                          <a:rPr lang="en-US" sz="2800" b="1" i="1">
                            <a:solidFill>
                              <a:srgbClr val="FF0000"/>
                            </a:solidFill>
                            <a:latin typeface="Cambria Math"/>
                          </a:rPr>
                          <m:t>𝟖</m:t>
                        </m:r>
                      </m:num>
                      <m:den>
                        <m:r>
                          <a:rPr lang="en-US" sz="2800" b="1" i="1">
                            <a:solidFill>
                              <a:srgbClr val="FF0000"/>
                            </a:solidFill>
                            <a:latin typeface="Cambria Math"/>
                          </a:rPr>
                          <m:t>𝟑</m:t>
                        </m:r>
                        <m:r>
                          <a:rPr lang="en-US" sz="2800" b="1" i="1">
                            <a:solidFill>
                              <a:srgbClr val="FF0000"/>
                            </a:solidFill>
                            <a:latin typeface="Cambria Math"/>
                          </a:rPr>
                          <m:t>/</m:t>
                        </m:r>
                        <m:r>
                          <a:rPr lang="en-US" sz="2800" b="1" i="1">
                            <a:solidFill>
                              <a:srgbClr val="FF0000"/>
                            </a:solidFill>
                            <a:latin typeface="Cambria Math"/>
                          </a:rPr>
                          <m:t>𝟖</m:t>
                        </m:r>
                      </m:den>
                    </m:f>
                  </m:oMath>
                </a14:m>
                <a:r>
                  <a:rPr lang="en-GB" sz="2800">
                    <a:solidFill>
                      <a:srgbClr val="FF0000"/>
                    </a:solidFill>
                  </a:rPr>
                  <a:t>=</a:t>
                </a:r>
                <a14:m xmlns:a14="http://schemas.microsoft.com/office/drawing/2010/main">
                  <m:oMath xmlns:m="http://schemas.openxmlformats.org/officeDocument/2006/math">
                    <m:f>
                      <m:fPr>
                        <m:ctrlPr>
                          <a:rPr lang="en-US" sz="2800" b="1" i="1">
                            <a:solidFill>
                              <a:srgbClr val="FF0000"/>
                            </a:solidFill>
                            <a:latin typeface="Cambria Math" panose="02040503050406030204" pitchFamily="18" charset="0"/>
                          </a:rPr>
                        </m:ctrlPr>
                      </m:fPr>
                      <m:num>
                        <m:r>
                          <a:rPr lang="en-US" sz="2800" b="1" i="1">
                            <a:solidFill>
                              <a:srgbClr val="FF0000"/>
                            </a:solidFill>
                            <a:latin typeface="Cambria Math"/>
                          </a:rPr>
                          <m:t>𝟐</m:t>
                        </m:r>
                      </m:num>
                      <m:den>
                        <m:r>
                          <a:rPr lang="en-US" sz="2800" b="1" i="1">
                            <a:solidFill>
                              <a:srgbClr val="FF0000"/>
                            </a:solidFill>
                            <a:latin typeface="Cambria Math"/>
                          </a:rPr>
                          <m:t>𝟑</m:t>
                        </m:r>
                      </m:den>
                    </m:f>
                  </m:oMath>
                </a14:m>
                <a:endParaRPr lang="en-US" sz="2400" b="1"/>
              </a:p>
            </p:txBody>
          </p:sp>
        </mc:Choice>
        <mc:Fallback>
          <p:sp>
            <p:nvSpPr>
              <p:cNvPr id="7" name="Rectangle 6"/>
              <p:cNvSpPr/>
              <p:nvPr/>
            </p:nvSpPr>
            <p:spPr>
              <a:xfrm>
                <a:off x="3521612" y="3232646"/>
                <a:ext cx="7315200" cy="1941494"/>
              </a:xfrm>
              <a:prstGeom prst="rect">
                <a:avLst/>
              </a:prstGeom>
            </p:spPr>
            <p:txBody>
              <a:bodyPr wrap="square">
                <a:spAutoFit/>
              </a:bodyPr>
              <a:lstStyle/>
              <a:p>
                <a:r>
                  <a:rPr/>
                  <a:t>𝑃𝑚𝑎𝑙𝑒𝑑𝑟𝑒𝑤 =𝑷𝒅𝒓𝒆𝒘𝒎.𝑷(𝒎) 𝑷(𝒅𝒓𝒆𝒘)=𝟏/𝟑×𝟑/𝟖𝟑/𝟖</a:t>
                </a:r>
                <a:r>
                  <a:rPr lang="en-GB" sz="2400"/>
                  <a:t>=</a:t>
                </a:r>
                <a:r>
                  <a:rPr/>
                  <a:t>𝟏𝟑</a:t>
                </a:r>
                <a:endParaRPr lang="en-US" sz="2400" b="1"/>
              </a:p>
              <a:p>
                <a:endParaRPr lang="en-US" sz="2800" b="1"/>
              </a:p>
              <a:p>
                <a:r>
                  <a:rPr/>
                  <a:t>Pfemaledrew=𝑷𝒅𝒓𝒆𝒘𝒇.𝑷(𝒇) 𝑷(𝒅𝒓𝒆𝒘)=𝟐/𝟓×𝟓/𝟖𝟑/𝟖</a:t>
                </a:r>
                <a:r>
                  <a:rPr lang="en-GB" sz="2800">
                    <a:solidFill>
                      <a:srgbClr val="FF0000"/>
                    </a:solidFill>
                  </a:rPr>
                  <a:t>=</a:t>
                </a:r>
                <a:r>
                  <a:rPr/>
                  <a:t>𝟐𝟑</a:t>
                </a:r>
                <a:endParaRPr lang="en-US" sz="2400" b="1"/>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Multiple Input Attributes</a:t>
            </a:r>
          </a:p>
        </p:txBody>
      </p:sp>
      <p:sp>
        <p:nvSpPr>
          <p:cNvPr id="3" name="Content Placeholder 2"/>
          <p:cNvSpPr>
            <a:spLocks noGrp="1"/>
          </p:cNvSpPr>
          <p:nvPr>
            <p:ph idx="1"/>
          </p:nvPr>
        </p:nvSpPr>
        <p:spPr>
          <a:xfrm>
            <a:off x="838200" y="1825625"/>
            <a:ext cx="10515600" cy="987913"/>
          </a:xfrm>
          <a:prstGeom prst="rect">
            <a:avLst/>
          </a:prstGeom>
        </p:spPr>
        <p:txBody>
          <a:bodyPr>
            <a:normAutofit fontScale="77500" lnSpcReduction="20000"/>
          </a:bodyPr>
          <a:lstStyle/>
          <a:p>
            <a:pPr marL="0" indent="0">
              <a:buNone/>
            </a:pPr>
            <a:r>
              <a:rPr lang="en-US"/>
              <a:t>So far we have only considered Bayes Classification when we have one attribute (i.e. “name”). But we may have many features.</a:t>
            </a:r>
          </a:p>
          <a:p>
            <a:pPr marL="0" indent="0">
              <a:buNone/>
            </a:pPr>
            <a:r>
              <a:rPr lang="en-US"/>
              <a:t>How do we use all the features?</a:t>
            </a:r>
            <a:endParaRPr lang="en-GB"/>
          </a:p>
        </p:txBody>
      </p:sp>
      <p:sp>
        <p:nvSpPr>
          <p:cNvPr id="4" name="Slide Number Placeholder 3"/>
          <p:cNvSpPr>
            <a:spLocks noGrp="1"/>
          </p:cNvSpPr>
          <p:nvPr>
            <p:ph type="sldNum" sz="quarter" idx="12"/>
          </p:nvPr>
        </p:nvSpPr>
        <p:spPr/>
        <p:txBody>
          <a:bodyPr/>
          <a:lstStyle/>
          <a:p>
            <a:fld id="{C1ACB274-83E7-4463-813B-4190E1E94892}" type="slidenum">
              <a:rPr lang="en-US"/>
              <a:t>21</a:t>
            </a:fld>
            <a:endParaRPr lang="en-US"/>
          </a:p>
        </p:txBody>
      </p:sp>
      <p:pic>
        <p:nvPicPr>
          <p:cNvPr id="13314" name="Picture 2"/>
          <p:cNvPicPr>
            <a:picLocks noChangeAspect="1"/>
          </p:cNvPicPr>
          <p:nvPr/>
        </p:nvPicPr>
        <p:blipFill rotWithShape="1">
          <a:blip r:embed="rId2"/>
          <a:srcRect l="22224" t="47306" r="21331" b="7059"/>
          <a:stretch>
            <a:fillRect/>
          </a:stretch>
        </p:blipFill>
        <p:spPr>
          <a:xfrm>
            <a:off x="2668787" y="3383190"/>
            <a:ext cx="7344228" cy="3338285"/>
          </a:xfrm>
          <a:prstGeom prst="rect">
            <a:avLst/>
          </a:prstGeom>
          <a:noFill/>
          <a:ln>
            <a:noFill/>
          </a:ln>
          <a:effectLst/>
        </p:spPr>
      </p:pic>
      <p:graphicFrame>
        <p:nvGraphicFramePr>
          <p:cNvPr id="5" name="Table 4"/>
          <p:cNvGraphicFramePr>
            <a:graphicFrameLocks noGrp="1"/>
          </p:cNvGraphicFramePr>
          <p:nvPr/>
        </p:nvGraphicFramePr>
        <p:xfrm>
          <a:off x="2668787" y="2986950"/>
          <a:ext cx="7329715" cy="396240"/>
        </p:xfrm>
        <a:graphic>
          <a:graphicData uri="http://schemas.openxmlformats.org/drawingml/2006/table">
            <a:tbl>
              <a:tblPr firstRow="1" bandRow="1">
                <a:tableStyleId>{5C22544A-7EE6-4342-B048-85BDC9FD1C3A}</a:tableStyleId>
              </a:tblPr>
              <a:tblGrid>
                <a:gridCol w="1161143"/>
                <a:gridCol w="1676400"/>
                <a:gridCol w="1447800"/>
                <a:gridCol w="1447800"/>
                <a:gridCol w="1596572"/>
              </a:tblGrid>
              <a:tr h="370840">
                <a:tc>
                  <a:txBody>
                    <a:bodyPr/>
                    <a:lstStyle/>
                    <a:p>
                      <a:pPr algn="ctr"/>
                      <a:r>
                        <a:rPr lang="en-US" sz="2000"/>
                        <a:t>Name</a:t>
                      </a:r>
                      <a:endParaRPr lang="en-GB" sz="2000"/>
                    </a:p>
                  </a:txBody>
                  <a:tcPr/>
                </a:tc>
                <a:tc>
                  <a:txBody>
                    <a:bodyPr/>
                    <a:lstStyle/>
                    <a:p>
                      <a:pPr algn="ctr"/>
                      <a:r>
                        <a:rPr lang="en-US" sz="2000"/>
                        <a:t>Over 170cm</a:t>
                      </a:r>
                      <a:endParaRPr lang="en-GB" sz="2000"/>
                    </a:p>
                  </a:txBody>
                  <a:tcPr/>
                </a:tc>
                <a:tc>
                  <a:txBody>
                    <a:bodyPr/>
                    <a:lstStyle/>
                    <a:p>
                      <a:pPr algn="ctr"/>
                      <a:r>
                        <a:rPr lang="en-US" sz="2000"/>
                        <a:t>Eye</a:t>
                      </a:r>
                      <a:endParaRPr lang="en-GB" sz="2000"/>
                    </a:p>
                  </a:txBody>
                  <a:tcPr/>
                </a:tc>
                <a:tc>
                  <a:txBody>
                    <a:bodyPr/>
                    <a:lstStyle/>
                    <a:p>
                      <a:pPr algn="ctr"/>
                      <a:r>
                        <a:rPr lang="en-US" sz="2000"/>
                        <a:t>Hair length</a:t>
                      </a:r>
                      <a:endParaRPr lang="en-GB" sz="2000"/>
                    </a:p>
                  </a:txBody>
                  <a:tcPr/>
                </a:tc>
                <a:tc>
                  <a:txBody>
                    <a:bodyPr/>
                    <a:lstStyle/>
                    <a:p>
                      <a:pPr algn="ctr"/>
                      <a:r>
                        <a:rPr lang="en-US" sz="2000"/>
                        <a:t>Gender</a:t>
                      </a:r>
                      <a:endParaRPr lang="en-GB" sz="2000"/>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Multiple Input Attributes</a:t>
            </a:r>
          </a:p>
        </p:txBody>
      </p:sp>
      <p:sp>
        <p:nvSpPr>
          <p:cNvPr id="4" name="Slide Number Placeholder 3"/>
          <p:cNvSpPr>
            <a:spLocks noGrp="1"/>
          </p:cNvSpPr>
          <p:nvPr>
            <p:ph type="sldNum" sz="quarter" idx="12"/>
          </p:nvPr>
        </p:nvSpPr>
        <p:spPr/>
        <p:txBody>
          <a:bodyPr/>
          <a:lstStyle/>
          <a:p>
            <a:fld id="{04DE16EB-4549-4654-8ABF-75DC5CCEF245}" type="slidenum">
              <a:rPr lang="en-US"/>
              <a:t>22</a:t>
            </a:fld>
            <a:endParaRPr lang="en-US"/>
          </a:p>
        </p:txBody>
      </p:sp>
      <p:pic>
        <p:nvPicPr>
          <p:cNvPr id="13314" name="Picture 2"/>
          <p:cNvPicPr>
            <a:picLocks noChangeAspect="1"/>
          </p:cNvPicPr>
          <p:nvPr/>
        </p:nvPicPr>
        <p:blipFill rotWithShape="1">
          <a:blip r:embed="rId2"/>
          <a:srcRect l="22224" t="47306" r="21331" b="7059"/>
          <a:stretch>
            <a:fillRect/>
          </a:stretch>
        </p:blipFill>
        <p:spPr>
          <a:xfrm>
            <a:off x="414338" y="2732270"/>
            <a:ext cx="4903706" cy="2228957"/>
          </a:xfrm>
          <a:prstGeom prst="rect">
            <a:avLst/>
          </a:prstGeom>
          <a:noFill/>
          <a:ln>
            <a:noFill/>
          </a:ln>
          <a:effectLst/>
        </p:spPr>
      </p:pic>
      <p:graphicFrame>
        <p:nvGraphicFramePr>
          <p:cNvPr id="5" name="Table 4"/>
          <p:cNvGraphicFramePr>
            <a:graphicFrameLocks noGrp="1"/>
          </p:cNvGraphicFramePr>
          <p:nvPr/>
        </p:nvGraphicFramePr>
        <p:xfrm>
          <a:off x="414340" y="2031230"/>
          <a:ext cx="4903704" cy="701040"/>
        </p:xfrm>
        <a:graphic>
          <a:graphicData uri="http://schemas.openxmlformats.org/drawingml/2006/table">
            <a:tbl>
              <a:tblPr firstRow="1" bandRow="1">
                <a:tableStyleId>{5C22544A-7EE6-4342-B048-85BDC9FD1C3A}</a:tableStyleId>
              </a:tblPr>
              <a:tblGrid>
                <a:gridCol w="776825"/>
                <a:gridCol w="1121541"/>
                <a:gridCol w="968602"/>
                <a:gridCol w="968602"/>
                <a:gridCol w="1068134"/>
              </a:tblGrid>
              <a:tr h="365850">
                <a:tc>
                  <a:txBody>
                    <a:bodyPr/>
                    <a:lstStyle/>
                    <a:p>
                      <a:pPr algn="ctr"/>
                      <a:r>
                        <a:rPr lang="en-US" sz="2000"/>
                        <a:t>Name</a:t>
                      </a:r>
                      <a:endParaRPr lang="en-GB" sz="2000"/>
                    </a:p>
                  </a:txBody>
                  <a:tcPr/>
                </a:tc>
                <a:tc>
                  <a:txBody>
                    <a:bodyPr/>
                    <a:lstStyle/>
                    <a:p>
                      <a:pPr algn="ctr"/>
                      <a:r>
                        <a:rPr lang="en-US" sz="2000"/>
                        <a:t>Over 170cm</a:t>
                      </a:r>
                      <a:endParaRPr lang="en-GB" sz="2000"/>
                    </a:p>
                  </a:txBody>
                  <a:tcPr/>
                </a:tc>
                <a:tc>
                  <a:txBody>
                    <a:bodyPr/>
                    <a:lstStyle/>
                    <a:p>
                      <a:pPr algn="ctr"/>
                      <a:r>
                        <a:rPr lang="en-US" sz="2000"/>
                        <a:t>Eye</a:t>
                      </a:r>
                      <a:endParaRPr lang="en-GB" sz="2000"/>
                    </a:p>
                  </a:txBody>
                  <a:tcPr/>
                </a:tc>
                <a:tc>
                  <a:txBody>
                    <a:bodyPr/>
                    <a:lstStyle/>
                    <a:p>
                      <a:pPr algn="ctr"/>
                      <a:r>
                        <a:rPr lang="en-US" sz="2000"/>
                        <a:t>Hair length</a:t>
                      </a:r>
                      <a:endParaRPr lang="en-GB" sz="2000"/>
                    </a:p>
                  </a:txBody>
                  <a:tcPr/>
                </a:tc>
                <a:tc>
                  <a:txBody>
                    <a:bodyPr/>
                    <a:lstStyle/>
                    <a:p>
                      <a:pPr algn="ctr"/>
                      <a:r>
                        <a:rPr lang="en-US" sz="2000"/>
                        <a:t>Gender</a:t>
                      </a:r>
                      <a:endParaRPr lang="en-GB" sz="2000"/>
                    </a:p>
                  </a:txBody>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Naïve Bayes Rule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US"/>
                  <a:t>Recall</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e>
                          <m:r>
                            <a:rPr lang="en-US" b="0" i="1" smtClean="0">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𝐴</m:t>
                          </m:r>
                        </m:e>
                      </m:d>
                    </m:oMath>
                  </m:oMathPara>
                </a14:m>
                <a:endParaRPr lang="en-US"/>
              </a:p>
              <a:p>
                <a:r>
                  <a:rPr lang="en-US"/>
                  <a:t>Bayes Rule</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e>
                          <m:r>
                            <a:rPr lang="en-US" b="0" i="1" smtClean="0">
                              <a:latin typeface="Cambria Math" panose="02040503050406030204" pitchFamily="18" charset="0"/>
                            </a:rPr>
                            <m:t>𝐹</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𝐹</m:t>
                              </m:r>
                            </m:e>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𝐹</m:t>
                              </m:r>
                            </m:e>
                          </m:d>
                        </m:den>
                      </m:f>
                    </m:oMath>
                  </m:oMathPara>
                </a14:m>
                <a:endParaRPr lang="en-US"/>
              </a:p>
              <a:p>
                <a:r>
                  <a:rPr lang="en-US"/>
                  <a:t>General Bayes Rule:</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𝐹</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𝐹</m:t>
                                  </m:r>
                                </m:e>
                                <m:sub>
                                  <m:r>
                                    <a:rPr lang="en-US" b="0" i="1" smtClean="0">
                                      <a:solidFill>
                                        <a:srgbClr val="FF0000"/>
                                      </a:solidFill>
                                      <a:latin typeface="Cambria Math" panose="02040503050406030204" pitchFamily="18" charset="0"/>
                                    </a:rPr>
                                    <m:t>𝑛</m:t>
                                  </m:r>
                                </m:sub>
                              </m:sSub>
                            </m:e>
                            <m:e>
                              <m:r>
                                <a:rPr lang="en-US" b="0" i="1" smtClean="0">
                                  <a:solidFill>
                                    <a:srgbClr val="FF0000"/>
                                  </a:solidFill>
                                  <a:latin typeface="Cambria Math" panose="02040503050406030204" pitchFamily="18" charset="0"/>
                                </a:rPr>
                                <m:t>𝐶</m:t>
                              </m:r>
                            </m:e>
                          </m:d>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𝐶</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𝑛</m:t>
                                  </m:r>
                                </m:sub>
                              </m:sSub>
                            </m:e>
                          </m:d>
                        </m:den>
                      </m:f>
                    </m:oMath>
                  </m:oMathPara>
                </a14:m>
                <a:endParaRPr lang="en-US"/>
              </a:p>
              <a:p>
                <a:pPr marL="0" indent="0">
                  <a:buNone/>
                </a:pPr>
                <a:endParaRPr lang="en-US"/>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e>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𝑛</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𝐹</m:t>
                              </m:r>
                            </m:e>
                            <m:sub>
                              <m:r>
                                <a:rPr lang="en-US" i="1">
                                  <a:solidFill>
                                    <a:srgbClr val="FF0000"/>
                                  </a:solidFill>
                                  <a:latin typeface="Cambria Math" panose="02040503050406030204" pitchFamily="18" charset="0"/>
                                </a:rPr>
                                <m:t>1</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𝐹</m:t>
                              </m:r>
                            </m:e>
                            <m:sub>
                              <m:r>
                                <a:rPr lang="en-US" i="1">
                                  <a:solidFill>
                                    <a:srgbClr val="FF0000"/>
                                  </a:solidFill>
                                  <a:latin typeface="Cambria Math" panose="02040503050406030204" pitchFamily="18" charset="0"/>
                                </a:rPr>
                                <m:t>𝑛</m:t>
                              </m:r>
                            </m:sub>
                          </m:sSub>
                        </m:e>
                      </m:d>
                    </m:oMath>
                  </m:oMathPara>
                </a14:m>
                <a:endParaRPr lang="en-US"/>
              </a:p>
            </p:txBody>
          </p:sp>
        </mc:Choice>
        <mc:Fallback>
          <p:sp>
            <p:nvSpPr>
              <p:cNvPr id="3" name="Content Placeholder 2"/>
              <p:cNvSpPr>
                <a:spLocks noGrp="1"/>
              </p:cNvSpPr>
              <p:nvPr>
                <p:ph idx="1"/>
              </p:nvPr>
            </p:nvSpPr>
            <p:spPr/>
            <p:txBody>
              <a:bodyPr>
                <a:normAutofit lnSpcReduction="10000"/>
              </a:bodyPr>
              <a:lstStyle/>
              <a:p>
                <a:r>
                  <a:rPr lang="en-US"/>
                  <a:t>Recall</a:t>
                </a:r>
              </a:p>
              <a:p>
                <a:pPr marL="0" indent="0">
                  <a:buNone/>
                </a:pPr>
                <a:r>
                  <a:rPr/>
                  <a:t>𝑃𝐴𝐵∗𝑃𝐵=𝑃𝐴,𝐵=𝑃𝐵,𝐴</a:t>
                </a:r>
                <a:endParaRPr lang="en-US"/>
              </a:p>
              <a:p>
                <a:r>
                  <a:rPr lang="en-US"/>
                  <a:t>Bayes Rule</a:t>
                </a:r>
              </a:p>
              <a:p>
                <a:pPr marL="0" indent="0">
                  <a:buNone/>
                </a:pPr>
                <a:r>
                  <a:rPr/>
                  <a:t>𝑃𝐶𝐹=𝑃𝐹𝐶∗𝑃𝐶𝑃𝐹</a:t>
                </a:r>
                <a:endParaRPr lang="en-US"/>
              </a:p>
              <a:p>
                <a:r>
                  <a:rPr lang="en-US"/>
                  <a:t>General Bayes Rule:</a:t>
                </a:r>
              </a:p>
              <a:p>
                <a:pPr marL="0" indent="0">
                  <a:buNone/>
                </a:pPr>
                <a:r>
                  <a:rPr/>
                  <a:t>𝑃𝐶𝐹1,…,𝐹𝑛=𝑃𝐹1,…,𝐹𝑛𝐶∗𝑃𝐶𝑃𝐹1,…,𝐹𝑛</a:t>
                </a:r>
                <a:endParaRPr lang="en-US"/>
              </a:p>
              <a:p>
                <a:pPr marL="0" indent="0">
                  <a:buNone/>
                </a:pPr>
                <a:endParaRPr lang="en-US"/>
              </a:p>
              <a:p>
                <a:pPr marL="0" indent="0">
                  <a:buNone/>
                </a:pPr>
                <a:r>
                  <a:rPr/>
                  <a:t>𝑃𝐶𝐹1,…,𝐹𝑛∗𝑃𝐶=𝑃𝐶,𝐹1,…,𝐹𝑛</a:t>
                </a:r>
                <a:endParaRPr lang="en-US"/>
              </a:p>
            </p:txBody>
          </p:sp>
        </mc:Fallback>
      </mc:AlternateContent>
      <p:sp>
        <p:nvSpPr>
          <p:cNvPr id="7" name="Curved Left Arrow 6"/>
          <p:cNvSpPr/>
          <p:nvPr/>
        </p:nvSpPr>
        <p:spPr>
          <a:xfrm>
            <a:off x="9340948" y="2278966"/>
            <a:ext cx="1420837" cy="389799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Naïve Bayes Rule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10515600" cy="4701784"/>
              </a:xfrm>
              <a:prstGeom prst="rect">
                <a:avLst/>
              </a:prstGeom>
            </p:spPr>
            <p:txBody>
              <a:bodyPr>
                <a:normAutofit lnSpcReduction="10000"/>
              </a:bodyPr>
              <a:lstStyle/>
              <a:p>
                <a:r>
                  <a:rPr lang="en-US"/>
                  <a:t>Can be re-written using </a:t>
                </a:r>
                <a:r>
                  <a:rPr lang="en-US" b="1" u="sng"/>
                  <a:t>chain rule</a:t>
                </a:r>
                <a:r>
                  <a:rPr lang="en-US"/>
                  <a:t>:</a:t>
                </a:r>
              </a:p>
              <a:p>
                <a:pPr lvl="1"/>
                <a:r>
                  <a:rPr lang="en-US"/>
                  <a:t>Consider two variable case as an example:</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m:t>
                              </m:r>
                            </m:sub>
                          </m:sSub>
                        </m:e>
                        <m:e>
                          <m:r>
                            <a:rPr lang="en-US" b="0" i="1" smtClean="0">
                              <a:latin typeface="Cambria Math" panose="02040503050406030204" pitchFamily="18" charset="0"/>
                            </a:rPr>
                            <m:t>𝐶</m:t>
                          </m:r>
                        </m:e>
                      </m:d>
                    </m:oMath>
                  </m:oMathPara>
                </a14:m>
                <a:endParaRPr lang="en-US" b="0"/>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e>
                        <m:e>
                          <m:r>
                            <a:rPr lang="en-US" i="1">
                              <a:latin typeface="Cambria Math" panose="02040503050406030204" pitchFamily="18" charset="0"/>
                            </a:rPr>
                            <m:t>𝐶</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2</m:t>
                              </m:r>
                            </m:sub>
                          </m:sSub>
                        </m:e>
                        <m:e>
                          <m:r>
                            <a:rPr lang="en-US" i="1">
                              <a:latin typeface="Cambria Math" panose="02040503050406030204" pitchFamily="18" charset="0"/>
                            </a:rPr>
                            <m:t>𝐶</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e>
                      </m:d>
                    </m:oMath>
                  </m:oMathPara>
                </a14:m>
                <a:endParaRPr lang="en-US"/>
              </a:p>
              <a:p>
                <a:r>
                  <a:rPr lang="en-US"/>
                  <a:t>For General case</a:t>
                </a:r>
              </a:p>
              <a:p>
                <a:pPr lvl="1"/>
                <a14:m xmlns:a14="http://schemas.microsoft.com/office/drawing/2010/main">
                  <m:oMath xmlns:m="http://schemas.openxmlformats.org/officeDocument/2006/math">
                    <m:r>
                      <a:rPr lang="en-US" i="1" smtClean="0">
                        <a:solidFill>
                          <a:schemeClr val="tx1"/>
                        </a:solidFill>
                        <a:latin typeface="Cambria Math" panose="02040503050406030204" pitchFamily="18" charset="0"/>
                      </a:rPr>
                      <m:t>𝑃</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𝐶</m:t>
                        </m:r>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𝐹</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𝐹</m:t>
                            </m:r>
                          </m:e>
                          <m:sub>
                            <m:r>
                              <a:rPr lang="en-US" i="1">
                                <a:solidFill>
                                  <a:schemeClr val="tx1"/>
                                </a:solidFill>
                                <a:latin typeface="Cambria Math" panose="02040503050406030204" pitchFamily="18" charset="0"/>
                              </a:rPr>
                              <m:t>𝑛</m:t>
                            </m:r>
                          </m:sub>
                        </m:sSub>
                      </m:e>
                    </m:d>
                    <m:r>
                      <a:rPr lang="en-US" b="0" i="1" smtClean="0">
                        <a:solidFill>
                          <a:schemeClr val="tx1"/>
                        </a:solidFill>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𝑛</m:t>
                            </m:r>
                          </m:sub>
                        </m:sSub>
                      </m:e>
                      <m:e>
                        <m:r>
                          <a:rPr lang="en-US" i="1">
                            <a:latin typeface="Cambria Math" panose="02040503050406030204" pitchFamily="18" charset="0"/>
                          </a:rPr>
                          <m:t>𝐶</m:t>
                        </m:r>
                      </m:e>
                    </m:d>
                  </m:oMath>
                </a14:m>
                <a:endParaRPr lang="en-US"/>
              </a:p>
              <a:p>
                <a:pPr lvl="1"/>
                <a:endParaRPr lang="en-US"/>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𝑛</m:t>
                            </m:r>
                          </m:sub>
                        </m:sSub>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e>
                      <m:e>
                        <m:r>
                          <a:rPr lang="en-US" i="1">
                            <a:latin typeface="Cambria Math" panose="02040503050406030204" pitchFamily="18" charset="0"/>
                          </a:rPr>
                          <m:t>𝐶</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𝑛</m:t>
                            </m:r>
                          </m:sub>
                        </m:sSub>
                      </m:e>
                      <m:e>
                        <m:r>
                          <a:rPr lang="en-US" i="1">
                            <a:latin typeface="Cambria Math" panose="02040503050406030204" pitchFamily="18" charset="0"/>
                          </a:rPr>
                          <m:t>𝐶</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e>
                    </m:d>
                  </m:oMath>
                </a14:m>
                <a:endParaRPr lang="en-US"/>
              </a:p>
              <a:p>
                <a:pPr lvl="1"/>
                <a:endParaRPr lang="en-US"/>
              </a:p>
              <a:p>
                <a:pPr lvl="1"/>
                <a14:m xmlns:a14="http://schemas.microsoft.com/office/drawing/2010/main">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𝑛</m:t>
                            </m:r>
                          </m:sub>
                        </m:sSub>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𝐶</m:t>
                        </m:r>
                      </m:e>
                    </m:d>
                    <m:r>
                      <a:rPr lang="en-US" i="1">
                        <a:latin typeface="Cambria Math" panose="02040503050406030204" pitchFamily="18" charset="0"/>
                      </a:rPr>
                      <m:t>∗</m:t>
                    </m:r>
                    <m:r>
                      <a:rPr lang="en-US" i="1" smtClean="0">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e>
                      <m:e>
                        <m:r>
                          <a:rPr lang="en-US" i="1">
                            <a:latin typeface="Cambria Math" panose="02040503050406030204" pitchFamily="18" charset="0"/>
                          </a:rPr>
                          <m:t>𝐶</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2</m:t>
                            </m:r>
                          </m:sub>
                        </m:sSub>
                      </m:e>
                      <m:e>
                        <m:r>
                          <a:rPr lang="en-US" i="1">
                            <a:latin typeface="Cambria Math" panose="02040503050406030204" pitchFamily="18" charset="0"/>
                          </a:rPr>
                          <m:t>𝐶</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𝑛</m:t>
                            </m:r>
                          </m:sub>
                        </m:sSub>
                      </m:e>
                      <m:e>
                        <m:r>
                          <a:rPr lang="en-US" i="1">
                            <a:latin typeface="Cambria Math" panose="02040503050406030204" pitchFamily="18" charset="0"/>
                          </a:rPr>
                          <m:t>𝐶</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2</m:t>
                            </m:r>
                          </m:sub>
                        </m:sSub>
                      </m:e>
                    </m:d>
                  </m:oMath>
                </a14:m>
                <a:endParaRPr lang="en-US"/>
              </a:p>
              <a:p>
                <a:pPr lvl="1"/>
                <a:endParaRPr lang="en-US" b="0" i="1">
                  <a:solidFill>
                    <a:srgbClr val="FF0000"/>
                  </a:solidFill>
                  <a:latin typeface="Cambria Math"/>
                </a:endParaRPr>
              </a:p>
              <a:p>
                <a:pPr lvl="1"/>
                <a:r>
                  <a:rPr lang="en-US" b="0">
                    <a:solidFill>
                      <a:srgbClr val="FF0000"/>
                    </a:solidFill>
                  </a:rPr>
                  <a:t>                            </a:t>
                </a:r>
                <a14:m xmlns:a14="http://schemas.microsoft.com/office/drawing/2010/main">
                  <m:oMath xmlns:m="http://schemas.openxmlformats.org/officeDocument/2006/math">
                    <m:r>
                      <a:rPr lang="en-US" b="0" i="1" smtClean="0">
                        <a:solidFill>
                          <a:srgbClr val="FF0000"/>
                        </a:solidFill>
                        <a:latin typeface="Cambria Math" panose="02040503050406030204" pitchFamily="18" charset="0"/>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r>
                          <a:rPr lang="en-US" i="1">
                            <a:solidFill>
                              <a:srgbClr val="FF0000"/>
                            </a:solidFill>
                            <a:latin typeface="Cambria Math"/>
                          </a:rPr>
                          <m:t>𝐶</m:t>
                        </m:r>
                      </m:e>
                    </m:d>
                    <m:r>
                      <a:rPr lang="en-US" i="1">
                        <a:solidFill>
                          <a:srgbClr val="FF0000"/>
                        </a:solidFill>
                        <a:latin typeface="Cambria Math"/>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1</m:t>
                            </m:r>
                          </m:sub>
                        </m:sSub>
                      </m:e>
                      <m:e>
                        <m:r>
                          <a:rPr lang="en-US" i="1">
                            <a:solidFill>
                              <a:srgbClr val="FF0000"/>
                            </a:solidFill>
                            <a:latin typeface="Cambria Math"/>
                          </a:rPr>
                          <m:t>𝐶</m:t>
                        </m:r>
                      </m:e>
                    </m:d>
                    <m:r>
                      <a:rPr lang="en-US" i="1">
                        <a:solidFill>
                          <a:srgbClr val="FF0000"/>
                        </a:solidFill>
                        <a:latin typeface="Cambria Math"/>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2</m:t>
                            </m:r>
                          </m:sub>
                        </m:sSub>
                      </m:e>
                      <m:e>
                        <m:r>
                          <a:rPr lang="en-US" i="1">
                            <a:solidFill>
                              <a:srgbClr val="FF0000"/>
                            </a:solidFill>
                            <a:latin typeface="Cambria Math"/>
                          </a:rPr>
                          <m:t>𝐶</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1</m:t>
                            </m:r>
                          </m:sub>
                        </m:sSub>
                      </m:e>
                    </m:d>
                    <m:r>
                      <a:rPr lang="en-US" i="1">
                        <a:solidFill>
                          <a:srgbClr val="FF0000"/>
                        </a:solidFill>
                        <a:latin typeface="Cambria Math"/>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𝑛</m:t>
                            </m:r>
                          </m:sub>
                        </m:sSub>
                      </m:e>
                      <m:e>
                        <m:r>
                          <a:rPr lang="en-US" i="1">
                            <a:solidFill>
                              <a:srgbClr val="FF0000"/>
                            </a:solidFill>
                            <a:latin typeface="Cambria Math"/>
                          </a:rPr>
                          <m:t>𝐶</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𝑛</m:t>
                            </m:r>
                            <m:r>
                              <a:rPr lang="en-US" i="1">
                                <a:solidFill>
                                  <a:srgbClr val="FF0000"/>
                                </a:solidFill>
                                <a:latin typeface="Cambria Math"/>
                              </a:rPr>
                              <m:t>−1</m:t>
                            </m:r>
                          </m:sub>
                        </m:sSub>
                      </m:e>
                    </m:d>
                  </m:oMath>
                </a14:m>
                <a:endParaRPr lang="en-US"/>
              </a:p>
            </p:txBody>
          </p:sp>
        </mc:Choice>
        <mc:Fallback>
          <p:sp>
            <p:nvSpPr>
              <p:cNvPr id="3" name="Content Placeholder 2"/>
              <p:cNvSpPr>
                <a:spLocks noGrp="1"/>
              </p:cNvSpPr>
              <p:nvPr>
                <p:ph idx="1"/>
              </p:nvPr>
            </p:nvSpPr>
            <p:spPr>
              <a:xfrm>
                <a:off x="838200" y="1825625"/>
                <a:ext cx="10515600" cy="4701784"/>
              </a:xfrm>
              <a:prstGeom prst="rect">
                <a:avLst/>
              </a:prstGeom>
            </p:spPr>
            <p:txBody>
              <a:bodyPr>
                <a:normAutofit lnSpcReduction="10000"/>
              </a:bodyPr>
              <a:lstStyle/>
              <a:p>
                <a:r>
                  <a:rPr lang="en-US"/>
                  <a:t>Can be re-written using </a:t>
                </a:r>
                <a:r>
                  <a:rPr lang="en-US" b="1" u="sng"/>
                  <a:t>chain rule</a:t>
                </a:r>
                <a:r>
                  <a:rPr lang="en-US"/>
                  <a:t>:</a:t>
                </a:r>
              </a:p>
              <a:p>
                <a:pPr lvl="1"/>
                <a:r>
                  <a:rPr lang="en-US"/>
                  <a:t>Consider two variable case as an example:</a:t>
                </a:r>
              </a:p>
              <a:p>
                <a:pPr marL="0" indent="0">
                  <a:buNone/>
                </a:pPr>
                <a:r>
                  <a:rPr/>
                  <a:t>𝑃𝐶,𝐹1,𝐹2=𝑃𝐶∗𝑃𝐹1,𝐹2𝐶</a:t>
                </a:r>
                <a:endParaRPr lang="en-US" b="0"/>
              </a:p>
              <a:p>
                <a:pPr marL="0" indent="0">
                  <a:buNone/>
                </a:pPr>
                <a:r>
                  <a:rPr/>
                  <a:t>                                           =𝑃𝐶∗𝑃𝐹1𝐶∗𝑃𝐹2𝐶,𝐹1</a:t>
                </a:r>
                <a:endParaRPr lang="en-US"/>
              </a:p>
              <a:p>
                <a:r>
                  <a:rPr lang="en-US"/>
                  <a:t>For General case</a:t>
                </a:r>
              </a:p>
              <a:p>
                <a:pPr lvl="1"/>
                <a:r>
                  <a:rPr/>
                  <a:t>𝑃𝐶,𝐹1,…,𝐹𝑛=𝑃𝐶∗𝑃𝐹1,…,𝐹𝑛𝐶</a:t>
                </a:r>
                <a:endParaRPr lang="en-US"/>
              </a:p>
              <a:p>
                <a:pPr lvl="1"/>
                <a:endParaRPr lang="en-US"/>
              </a:p>
              <a:p>
                <a:pPr lvl="1"/>
                <a:r>
                  <a:rPr/>
                  <a:t>𝑃𝐶,𝐹1,…,𝐹𝑛=𝑃𝐶∗𝑃𝐹1𝐶∗𝑃𝐹2,…,𝐹𝑛𝐶,𝐹1</a:t>
                </a:r>
                <a:endParaRPr lang="en-US"/>
              </a:p>
              <a:p>
                <a:pPr lvl="1"/>
                <a:endParaRPr lang="en-US"/>
              </a:p>
              <a:p>
                <a:pPr lvl="1"/>
                <a:r>
                  <a:rPr/>
                  <a:t>𝑃𝐶,𝐹1,…,𝐹𝑛=𝑃𝐶∗𝑃𝐹1𝐶∗𝑃𝐹2𝐶,𝐹1∗𝑃𝐹3,…,𝐹𝑛𝐶,𝐹1,𝐹2</a:t>
                </a:r>
                <a:endParaRPr lang="en-US"/>
              </a:p>
              <a:p>
                <a:pPr lvl="1"/>
                <a:endParaRPr lang="en-US" b="0" i="1">
                  <a:solidFill>
                    <a:srgbClr val="FF0000"/>
                  </a:solidFill>
                  <a:latin typeface="Cambria Math"/>
                </a:endParaRPr>
              </a:p>
              <a:p>
                <a:pPr lvl="1"/>
                <a:r>
                  <a:rPr lang="en-US" b="0">
                    <a:solidFill>
                      <a:srgbClr val="FF0000"/>
                    </a:solidFill>
                  </a:rPr>
                  <a:t>                            </a:t>
                </a:r>
                <a:r>
                  <a:rPr/>
                  <a:t>=𝑃𝐶×𝑃𝐹1𝐶×𝑃𝐹2𝐶,𝐹1×…×𝑃𝐹𝑛𝐶,𝐹1,…,𝐹𝑛−1</a:t>
                </a:r>
                <a:endParaRPr lang="en-US"/>
              </a:p>
            </p:txBody>
          </p:sp>
        </mc:Fallback>
      </mc:AlternateContent>
      <p:sp>
        <p:nvSpPr>
          <p:cNvPr id="5" name="Rectangle 4"/>
          <p:cNvSpPr/>
          <p:nvPr/>
        </p:nvSpPr>
        <p:spPr>
          <a:xfrm>
            <a:off x="6842942" y="2519748"/>
            <a:ext cx="17526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280160" y="4487594"/>
            <a:ext cx="2208628" cy="19272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solidFill>
              </a:ln>
            </a:endParaRPr>
          </a:p>
        </p:txBody>
      </p:sp>
      <p:sp>
        <p:nvSpPr>
          <p:cNvPr id="13" name="Rectangle 12"/>
          <p:cNvSpPr/>
          <p:nvPr/>
        </p:nvSpPr>
        <p:spPr>
          <a:xfrm>
            <a:off x="4786714" y="3787134"/>
            <a:ext cx="189544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988037" y="4498493"/>
            <a:ext cx="250885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719242" y="5325915"/>
            <a:ext cx="3170911" cy="4156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Naïve Bayes assumption</a:t>
            </a:r>
            <a:endParaRPr lang="en-GB"/>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20000"/>
              </a:bodyPr>
              <a:lstStyle/>
              <a:p>
                <a:r>
                  <a:rPr lang="en-US"/>
                  <a:t>Let </a:t>
                </a:r>
              </a:p>
              <a:p>
                <a:pPr lvl="1"/>
                <a14:m xmlns:a14="http://schemas.microsoft.com/office/drawing/2010/main">
                  <m:oMath xmlns:m="http://schemas.openxmlformats.org/officeDocument/2006/math">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i="1">
                                <a:latin typeface="Cambria Math"/>
                              </a:rPr>
                              <m:t>2</m:t>
                            </m:r>
                          </m:sub>
                        </m:sSub>
                      </m:e>
                      <m:e>
                        <m:r>
                          <a:rPr lang="en-US" i="1">
                            <a:latin typeface="Cambria Math"/>
                          </a:rPr>
                          <m:t>𝐶</m:t>
                        </m:r>
                        <m:r>
                          <a:rPr lang="en-US" i="1">
                            <a:latin typeface="Cambria Math"/>
                          </a:rPr>
                          <m:t>,</m:t>
                        </m:r>
                        <m:sSub>
                          <m:sSubPr>
                            <m:ctrlPr>
                              <a:rPr lang="en-US" i="1">
                                <a:latin typeface="Cambria Math" panose="02040503050406030204" pitchFamily="18" charset="0"/>
                              </a:rPr>
                            </m:ctrlPr>
                          </m:sSubPr>
                          <m:e>
                            <m:r>
                              <a:rPr lang="en-US" i="1">
                                <a:latin typeface="Cambria Math"/>
                              </a:rPr>
                              <m:t>𝐹</m:t>
                            </m:r>
                          </m:e>
                          <m:sub>
                            <m:r>
                              <a:rPr lang="en-US" i="1">
                                <a:latin typeface="Cambria Math"/>
                              </a:rPr>
                              <m:t>1</m:t>
                            </m:r>
                          </m:sub>
                        </m:sSub>
                      </m:e>
                    </m:d>
                    <m:r>
                      <a:rPr lang="en-US" b="0" i="1" smtClean="0">
                        <a:latin typeface="Cambria Math"/>
                      </a:rPr>
                      <m:t>=</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i="1">
                                <a:latin typeface="Cambria Math"/>
                              </a:rPr>
                              <m:t>2</m:t>
                            </m:r>
                          </m:sub>
                        </m:sSub>
                      </m:e>
                      <m:e>
                        <m:r>
                          <a:rPr lang="en-US" i="1">
                            <a:latin typeface="Cambria Math"/>
                          </a:rPr>
                          <m:t>𝐶</m:t>
                        </m:r>
                      </m:e>
                    </m:d>
                  </m:oMath>
                </a14:m>
                <a:r>
                  <a:rPr lang="en-US"/>
                  <a:t> and </a:t>
                </a:r>
              </a:p>
              <a:p>
                <a:pPr lvl="1"/>
                <a14:m xmlns:a14="http://schemas.microsoft.com/office/drawing/2010/main">
                  <m:oMath xmlns:m="http://schemas.openxmlformats.org/officeDocument/2006/math">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i="1">
                                <a:latin typeface="Cambria Math"/>
                              </a:rPr>
                              <m:t>𝑛</m:t>
                            </m:r>
                          </m:sub>
                        </m:sSub>
                      </m:e>
                      <m:e>
                        <m:r>
                          <a:rPr lang="en-US" i="1">
                            <a:latin typeface="Cambria Math"/>
                          </a:rPr>
                          <m:t>𝐶</m:t>
                        </m:r>
                        <m:r>
                          <a:rPr lang="en-US" i="1">
                            <a:latin typeface="Cambria Math"/>
                          </a:rPr>
                          <m:t>,</m:t>
                        </m:r>
                        <m:sSub>
                          <m:sSubPr>
                            <m:ctrlPr>
                              <a:rPr lang="en-US" i="1">
                                <a:latin typeface="Cambria Math" panose="02040503050406030204" pitchFamily="18" charset="0"/>
                              </a:rPr>
                            </m:ctrlPr>
                          </m:sSubPr>
                          <m:e>
                            <m:r>
                              <a:rPr lang="en-US" i="1">
                                <a:latin typeface="Cambria Math"/>
                              </a:rPr>
                              <m:t>𝐹</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𝐹</m:t>
                            </m:r>
                          </m:e>
                          <m:sub>
                            <m:r>
                              <a:rPr lang="en-US" i="1">
                                <a:latin typeface="Cambria Math"/>
                              </a:rPr>
                              <m:t>𝑛</m:t>
                            </m:r>
                            <m:r>
                              <a:rPr lang="en-US" i="1">
                                <a:latin typeface="Cambria Math"/>
                              </a:rPr>
                              <m:t>−1</m:t>
                            </m:r>
                          </m:sub>
                        </m:sSub>
                      </m:e>
                    </m:d>
                    <m:r>
                      <a:rPr lang="en-US" b="0" i="1" smtClean="0">
                        <a:latin typeface="Cambria Math"/>
                      </a:rPr>
                      <m:t>=</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i="1">
                                <a:latin typeface="Cambria Math"/>
                              </a:rPr>
                              <m:t>𝑛</m:t>
                            </m:r>
                          </m:sub>
                        </m:sSub>
                      </m:e>
                      <m:e>
                        <m:r>
                          <a:rPr lang="en-US" i="1">
                            <a:latin typeface="Cambria Math"/>
                          </a:rPr>
                          <m:t>𝐶</m:t>
                        </m:r>
                      </m:e>
                    </m:d>
                  </m:oMath>
                </a14:m>
                <a:endParaRPr lang="en-GB"/>
              </a:p>
              <a:p>
                <a:endParaRPr lang="en-GB" i="1">
                  <a:solidFill>
                    <a:srgbClr val="FF0000"/>
                  </a:solidFill>
                  <a:latin typeface="Cambria Math"/>
                </a:endParaRPr>
              </a:p>
              <a:p>
                <a14:m xmlns:a14="http://schemas.microsoft.com/office/drawing/2010/main">
                  <m:oMath xmlns:m="http://schemas.openxmlformats.org/officeDocument/2006/math">
                    <m:r>
                      <a:rPr lang="en-GB" i="1" dirty="0" smtClean="0">
                        <a:solidFill>
                          <a:srgbClr val="FF0000"/>
                        </a:solidFill>
                        <a:latin typeface="Cambria Math"/>
                      </a:rPr>
                      <m:t>𝑷</m:t>
                    </m:r>
                    <m:d>
                      <m:dPr>
                        <m:ctrlPr>
                          <a:rPr lang="en-GB" i="1" dirty="0">
                            <a:solidFill>
                              <a:srgbClr val="FF0000"/>
                            </a:solidFill>
                            <a:latin typeface="Cambria Math" panose="02040503050406030204" pitchFamily="18" charset="0"/>
                          </a:rPr>
                        </m:ctrlPr>
                      </m:dPr>
                      <m:e>
                        <m:r>
                          <a:rPr lang="en-GB" i="1" dirty="0">
                            <a:solidFill>
                              <a:srgbClr val="FF0000"/>
                            </a:solidFill>
                            <a:latin typeface="Cambria Math"/>
                          </a:rPr>
                          <m:t>𝑪</m:t>
                        </m:r>
                        <m:r>
                          <a:rPr lang="en-GB" i="1" dirty="0">
                            <a:solidFill>
                              <a:srgbClr val="FF0000"/>
                            </a:solidFill>
                            <a:latin typeface="Cambria Math"/>
                          </a:rPr>
                          <m:t>,</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a:rPr>
                              <m:t>𝑭</m:t>
                            </m:r>
                          </m:e>
                          <m:sub>
                            <m:r>
                              <a:rPr lang="en-GB" i="1" dirty="0">
                                <a:solidFill>
                                  <a:srgbClr val="FF0000"/>
                                </a:solidFill>
                                <a:latin typeface="Cambria Math"/>
                              </a:rPr>
                              <m:t>𝟏</m:t>
                            </m:r>
                          </m:sub>
                        </m:sSub>
                        <m:r>
                          <a:rPr lang="en-GB" i="1" dirty="0">
                            <a:solidFill>
                              <a:srgbClr val="FF0000"/>
                            </a:solidFill>
                            <a:latin typeface="Cambria Math"/>
                          </a:rPr>
                          <m:t>,…,</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a:rPr>
                              <m:t>𝑭</m:t>
                            </m:r>
                          </m:e>
                          <m:sub>
                            <m:r>
                              <a:rPr lang="en-GB" i="1" dirty="0">
                                <a:solidFill>
                                  <a:srgbClr val="FF0000"/>
                                </a:solidFill>
                                <a:latin typeface="Cambria Math"/>
                              </a:rPr>
                              <m:t>𝒏</m:t>
                            </m:r>
                          </m:sub>
                        </m:sSub>
                      </m:e>
                    </m:d>
                    <m:r>
                      <a:rPr lang="en-US" i="1" dirty="0">
                        <a:solidFill>
                          <a:srgbClr val="FF0000"/>
                        </a:solidFill>
                        <a:latin typeface="Cambria Math"/>
                      </a:rPr>
                      <m:t>=</m:t>
                    </m:r>
                  </m:oMath>
                </a14:m>
                <a:r>
                  <a:rPr lang="en-US">
                    <a:solidFill>
                      <a:srgbClr val="FF0000"/>
                    </a:solidFill>
                  </a:rPr>
                  <a:t> </a:t>
                </a:r>
                <a14:m xmlns:a14="http://schemas.microsoft.com/office/drawing/2010/main">
                  <m:oMath xmlns:m="http://schemas.openxmlformats.org/officeDocument/2006/math">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r>
                          <a:rPr lang="en-US" i="1">
                            <a:solidFill>
                              <a:srgbClr val="FF0000"/>
                            </a:solidFill>
                            <a:latin typeface="Cambria Math"/>
                          </a:rPr>
                          <m:t>𝐶</m:t>
                        </m:r>
                      </m:e>
                    </m:d>
                    <m:r>
                      <a:rPr lang="en-US" i="1">
                        <a:solidFill>
                          <a:srgbClr val="FF0000"/>
                        </a:solidFill>
                        <a:latin typeface="Cambria Math"/>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1</m:t>
                            </m:r>
                          </m:sub>
                        </m:sSub>
                      </m:e>
                      <m:e>
                        <m:r>
                          <a:rPr lang="en-US" i="1">
                            <a:solidFill>
                              <a:srgbClr val="FF0000"/>
                            </a:solidFill>
                            <a:latin typeface="Cambria Math"/>
                          </a:rPr>
                          <m:t>𝐶</m:t>
                        </m:r>
                      </m:e>
                    </m:d>
                    <m:r>
                      <a:rPr lang="en-US" i="1">
                        <a:solidFill>
                          <a:srgbClr val="FF0000"/>
                        </a:solidFill>
                        <a:latin typeface="Cambria Math"/>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2</m:t>
                            </m:r>
                          </m:sub>
                        </m:sSub>
                      </m:e>
                      <m:e>
                        <m:r>
                          <a:rPr lang="en-US" i="1">
                            <a:solidFill>
                              <a:srgbClr val="FF0000"/>
                            </a:solidFill>
                            <a:latin typeface="Cambria Math"/>
                          </a:rPr>
                          <m:t>𝐶</m:t>
                        </m:r>
                      </m:e>
                    </m:d>
                    <m:r>
                      <a:rPr lang="en-US" i="1">
                        <a:solidFill>
                          <a:srgbClr val="FF0000"/>
                        </a:solidFill>
                        <a:latin typeface="Cambria Math"/>
                      </a:rPr>
                      <m:t>×…×</m:t>
                    </m:r>
                    <m:r>
                      <a:rPr lang="en-US" i="1">
                        <a:solidFill>
                          <a:srgbClr val="FF0000"/>
                        </a:solidFill>
                        <a:latin typeface="Cambria Math"/>
                      </a:rPr>
                      <m:t>𝑃</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𝑛</m:t>
                            </m:r>
                          </m:sub>
                        </m:sSub>
                      </m:e>
                      <m:e>
                        <m:r>
                          <a:rPr lang="en-US" i="1">
                            <a:solidFill>
                              <a:srgbClr val="FF0000"/>
                            </a:solidFill>
                            <a:latin typeface="Cambria Math"/>
                          </a:rPr>
                          <m:t>𝐶</m:t>
                        </m:r>
                      </m:e>
                    </m:d>
                  </m:oMath>
                </a14:m>
                <a:endParaRPr lang="en-GB"/>
              </a:p>
              <a:p>
                <a:endParaRPr lang="en-GB" i="1">
                  <a:solidFill>
                    <a:schemeClr val="accent3">
                      <a:lumMod val="50000"/>
                    </a:schemeClr>
                  </a:solidFill>
                  <a:latin typeface="Cambria Math"/>
                </a:endParaRPr>
              </a:p>
              <a:p>
                <a14:m xmlns:a14="http://schemas.microsoft.com/office/drawing/2010/main">
                  <m:oMath xmlns:m="http://schemas.openxmlformats.org/officeDocument/2006/math">
                    <m:r>
                      <a:rPr lang="en-GB" i="1" dirty="0" smtClean="0">
                        <a:solidFill>
                          <a:schemeClr val="accent3">
                            <a:lumMod val="50000"/>
                          </a:schemeClr>
                        </a:solidFill>
                        <a:latin typeface="Cambria Math"/>
                      </a:rPr>
                      <m:t>𝑷</m:t>
                    </m:r>
                    <m:d>
                      <m:dPr>
                        <m:ctrlPr>
                          <a:rPr lang="en-GB" i="1" dirty="0">
                            <a:solidFill>
                              <a:schemeClr val="accent3">
                                <a:lumMod val="50000"/>
                              </a:schemeClr>
                            </a:solidFill>
                            <a:latin typeface="Cambria Math" panose="02040503050406030204" pitchFamily="18" charset="0"/>
                          </a:rPr>
                        </m:ctrlPr>
                      </m:dPr>
                      <m:e>
                        <m:r>
                          <a:rPr lang="en-GB" i="1" dirty="0">
                            <a:solidFill>
                              <a:schemeClr val="accent3">
                                <a:lumMod val="50000"/>
                              </a:schemeClr>
                            </a:solidFill>
                            <a:latin typeface="Cambria Math"/>
                          </a:rPr>
                          <m:t>𝑪</m:t>
                        </m:r>
                        <m:r>
                          <a:rPr lang="en-GB" i="1" dirty="0">
                            <a:solidFill>
                              <a:schemeClr val="accent3">
                                <a:lumMod val="50000"/>
                              </a:schemeClr>
                            </a:solidFill>
                            <a:latin typeface="Cambria Math"/>
                          </a:rPr>
                          <m:t>,</m:t>
                        </m:r>
                        <m:sSub>
                          <m:sSubPr>
                            <m:ctrlPr>
                              <a:rPr lang="en-GB" i="1" dirty="0">
                                <a:solidFill>
                                  <a:schemeClr val="accent3">
                                    <a:lumMod val="50000"/>
                                  </a:schemeClr>
                                </a:solidFill>
                                <a:latin typeface="Cambria Math" panose="02040503050406030204" pitchFamily="18" charset="0"/>
                              </a:rPr>
                            </m:ctrlPr>
                          </m:sSubPr>
                          <m:e>
                            <m:r>
                              <a:rPr lang="en-GB" i="1" dirty="0">
                                <a:solidFill>
                                  <a:schemeClr val="accent3">
                                    <a:lumMod val="50000"/>
                                  </a:schemeClr>
                                </a:solidFill>
                                <a:latin typeface="Cambria Math"/>
                              </a:rPr>
                              <m:t>𝑭</m:t>
                            </m:r>
                          </m:e>
                          <m:sub>
                            <m:r>
                              <a:rPr lang="en-GB" i="1" dirty="0">
                                <a:solidFill>
                                  <a:schemeClr val="accent3">
                                    <a:lumMod val="50000"/>
                                  </a:schemeClr>
                                </a:solidFill>
                                <a:latin typeface="Cambria Math"/>
                              </a:rPr>
                              <m:t>𝟏</m:t>
                            </m:r>
                          </m:sub>
                        </m:sSub>
                        <m:r>
                          <a:rPr lang="en-GB" i="1" dirty="0">
                            <a:solidFill>
                              <a:schemeClr val="accent3">
                                <a:lumMod val="50000"/>
                              </a:schemeClr>
                            </a:solidFill>
                            <a:latin typeface="Cambria Math"/>
                          </a:rPr>
                          <m:t>,…,</m:t>
                        </m:r>
                        <m:sSub>
                          <m:sSubPr>
                            <m:ctrlPr>
                              <a:rPr lang="en-GB" i="1" dirty="0">
                                <a:solidFill>
                                  <a:schemeClr val="accent3">
                                    <a:lumMod val="50000"/>
                                  </a:schemeClr>
                                </a:solidFill>
                                <a:latin typeface="Cambria Math" panose="02040503050406030204" pitchFamily="18" charset="0"/>
                              </a:rPr>
                            </m:ctrlPr>
                          </m:sSubPr>
                          <m:e>
                            <m:r>
                              <a:rPr lang="en-GB" i="1" dirty="0">
                                <a:solidFill>
                                  <a:schemeClr val="accent3">
                                    <a:lumMod val="50000"/>
                                  </a:schemeClr>
                                </a:solidFill>
                                <a:latin typeface="Cambria Math"/>
                              </a:rPr>
                              <m:t>𝑭</m:t>
                            </m:r>
                          </m:e>
                          <m:sub>
                            <m:r>
                              <a:rPr lang="en-GB" i="1" dirty="0">
                                <a:solidFill>
                                  <a:schemeClr val="accent3">
                                    <a:lumMod val="50000"/>
                                  </a:schemeClr>
                                </a:solidFill>
                                <a:latin typeface="Cambria Math"/>
                              </a:rPr>
                              <m:t>𝒏</m:t>
                            </m:r>
                          </m:sub>
                        </m:sSub>
                      </m:e>
                    </m:d>
                    <m:r>
                      <a:rPr lang="en-US" i="1" dirty="0">
                        <a:solidFill>
                          <a:schemeClr val="accent3">
                            <a:lumMod val="50000"/>
                          </a:schemeClr>
                        </a:solidFill>
                        <a:latin typeface="Cambria Math"/>
                      </a:rPr>
                      <m:t>=</m:t>
                    </m:r>
                  </m:oMath>
                </a14:m>
                <a:r>
                  <a:rPr lang="en-US">
                    <a:solidFill>
                      <a:schemeClr val="accent3">
                        <a:lumMod val="50000"/>
                      </a:schemeClr>
                    </a:solidFill>
                  </a:rPr>
                  <a:t> </a:t>
                </a:r>
                <a14:m xmlns:a14="http://schemas.microsoft.com/office/drawing/2010/main">
                  <m:oMath xmlns:m="http://schemas.openxmlformats.org/officeDocument/2006/math">
                    <m:r>
                      <a:rPr lang="en-US" i="1">
                        <a:solidFill>
                          <a:schemeClr val="accent3">
                            <a:lumMod val="50000"/>
                          </a:schemeClr>
                        </a:solidFill>
                        <a:latin typeface="Cambria Math"/>
                      </a:rPr>
                      <m:t>𝑃</m:t>
                    </m:r>
                    <m:d>
                      <m:dPr>
                        <m:ctrlPr>
                          <a:rPr lang="en-US" i="1">
                            <a:solidFill>
                              <a:schemeClr val="accent3">
                                <a:lumMod val="50000"/>
                              </a:schemeClr>
                            </a:solidFill>
                            <a:latin typeface="Cambria Math" panose="02040503050406030204" pitchFamily="18" charset="0"/>
                          </a:rPr>
                        </m:ctrlPr>
                      </m:dPr>
                      <m:e>
                        <m:r>
                          <a:rPr lang="en-US" i="1">
                            <a:solidFill>
                              <a:schemeClr val="accent3">
                                <a:lumMod val="50000"/>
                              </a:schemeClr>
                            </a:solidFill>
                            <a:latin typeface="Cambria Math"/>
                          </a:rPr>
                          <m:t>𝐶</m:t>
                        </m:r>
                      </m:e>
                    </m:d>
                    <m:r>
                      <a:rPr lang="en-US" i="1">
                        <a:solidFill>
                          <a:schemeClr val="accent3">
                            <a:lumMod val="50000"/>
                          </a:schemeClr>
                        </a:solidFill>
                        <a:latin typeface="Cambria Math"/>
                      </a:rPr>
                      <m:t>×</m:t>
                    </m:r>
                    <m:r>
                      <a:rPr lang="en-US" b="0" i="1" smtClean="0">
                        <a:solidFill>
                          <a:schemeClr val="accent3">
                            <a:lumMod val="50000"/>
                          </a:schemeClr>
                        </a:solidFill>
                        <a:latin typeface="Cambria Math"/>
                      </a:rPr>
                      <m:t> </m:t>
                    </m:r>
                    <m:nary>
                      <m:naryPr>
                        <m:chr m:val="∏"/>
                        <m:ctrlPr>
                          <a:rPr lang="en-US" b="0" i="1" smtClean="0">
                            <a:solidFill>
                              <a:schemeClr val="accent3">
                                <a:lumMod val="50000"/>
                              </a:schemeClr>
                            </a:solidFill>
                            <a:latin typeface="Cambria Math" panose="02040503050406030204" pitchFamily="18" charset="0"/>
                          </a:rPr>
                        </m:ctrlPr>
                      </m:naryPr>
                      <m:sub>
                        <m:r>
                          <m:rPr>
                            <m:brk m:alnAt="23"/>
                          </m:rPr>
                          <a:rPr lang="en-US" b="0" i="1" smtClean="0">
                            <a:solidFill>
                              <a:schemeClr val="accent3">
                                <a:lumMod val="50000"/>
                              </a:schemeClr>
                            </a:solidFill>
                            <a:latin typeface="Cambria Math"/>
                          </a:rPr>
                          <m:t>𝑖</m:t>
                        </m:r>
                        <m:r>
                          <a:rPr lang="en-US" b="0" i="1" smtClean="0">
                            <a:solidFill>
                              <a:schemeClr val="accent3">
                                <a:lumMod val="50000"/>
                              </a:schemeClr>
                            </a:solidFill>
                            <a:latin typeface="Cambria Math"/>
                          </a:rPr>
                          <m:t>=1</m:t>
                        </m:r>
                      </m:sub>
                      <m:sup>
                        <m:r>
                          <a:rPr lang="en-US" b="0" i="1" smtClean="0">
                            <a:solidFill>
                              <a:schemeClr val="accent3">
                                <a:lumMod val="50000"/>
                              </a:schemeClr>
                            </a:solidFill>
                            <a:latin typeface="Cambria Math"/>
                          </a:rPr>
                          <m:t>𝑛</m:t>
                        </m:r>
                      </m:sup>
                      <m:e>
                        <m:r>
                          <a:rPr lang="en-US" b="0" i="1" smtClean="0">
                            <a:solidFill>
                              <a:schemeClr val="accent3">
                                <a:lumMod val="50000"/>
                              </a:schemeClr>
                            </a:solidFill>
                            <a:latin typeface="Cambria Math"/>
                          </a:rPr>
                          <m:t>𝑃</m:t>
                        </m:r>
                        <m:r>
                          <a:rPr lang="en-US" b="0" i="1" smtClean="0">
                            <a:solidFill>
                              <a:schemeClr val="accent3">
                                <a:lumMod val="50000"/>
                              </a:schemeClr>
                            </a:solidFill>
                            <a:latin typeface="Cambria Math"/>
                          </a:rPr>
                          <m:t>(</m:t>
                        </m:r>
                        <m:sSub>
                          <m:sSubPr>
                            <m:ctrlPr>
                              <a:rPr lang="en-US" b="0" i="1" smtClean="0">
                                <a:solidFill>
                                  <a:schemeClr val="accent3">
                                    <a:lumMod val="50000"/>
                                  </a:schemeClr>
                                </a:solidFill>
                                <a:latin typeface="Cambria Math" panose="02040503050406030204" pitchFamily="18" charset="0"/>
                              </a:rPr>
                            </m:ctrlPr>
                          </m:sSubPr>
                          <m:e>
                            <m:r>
                              <a:rPr lang="en-US" b="0" i="1" smtClean="0">
                                <a:solidFill>
                                  <a:schemeClr val="accent3">
                                    <a:lumMod val="50000"/>
                                  </a:schemeClr>
                                </a:solidFill>
                                <a:latin typeface="Cambria Math"/>
                              </a:rPr>
                              <m:t>𝐹</m:t>
                            </m:r>
                          </m:e>
                          <m:sub>
                            <m:r>
                              <a:rPr lang="en-US" b="0" i="1" smtClean="0">
                                <a:solidFill>
                                  <a:schemeClr val="accent3">
                                    <a:lumMod val="50000"/>
                                  </a:schemeClr>
                                </a:solidFill>
                                <a:latin typeface="Cambria Math"/>
                              </a:rPr>
                              <m:t>𝑖</m:t>
                            </m:r>
                          </m:sub>
                        </m:sSub>
                        <m:r>
                          <a:rPr lang="en-US" b="0" i="1" smtClean="0">
                            <a:solidFill>
                              <a:schemeClr val="accent3">
                                <a:lumMod val="50000"/>
                              </a:schemeClr>
                            </a:solidFill>
                            <a:latin typeface="Cambria Math"/>
                          </a:rPr>
                          <m:t>|</m:t>
                        </m:r>
                        <m:r>
                          <a:rPr lang="en-US" b="0" i="1" smtClean="0">
                            <a:solidFill>
                              <a:schemeClr val="accent3">
                                <a:lumMod val="50000"/>
                              </a:schemeClr>
                            </a:solidFill>
                            <a:latin typeface="Cambria Math"/>
                          </a:rPr>
                          <m:t>𝐶</m:t>
                        </m:r>
                        <m:r>
                          <a:rPr lang="en-US" b="0" i="1" smtClean="0">
                            <a:solidFill>
                              <a:schemeClr val="accent3">
                                <a:lumMod val="50000"/>
                              </a:schemeClr>
                            </a:solidFill>
                            <a:latin typeface="Cambria Math"/>
                          </a:rPr>
                          <m:t>)</m:t>
                        </m:r>
                      </m:e>
                    </m:nary>
                  </m:oMath>
                </a14:m>
                <a:r>
                  <a:rPr lang="en-GB">
                    <a:solidFill>
                      <a:schemeClr val="accent3">
                        <a:lumMod val="50000"/>
                      </a:schemeClr>
                    </a:solidFill>
                  </a:rPr>
                  <a:t> </a:t>
                </a:r>
                <a:endParaRPr lang="en-GB"/>
              </a:p>
              <a:p>
                <a:endParaRPr lang="en-US"/>
              </a:p>
              <a:p>
                <a:r>
                  <a:rPr lang="en-US"/>
                  <a:t>Naïve yet a very useful assumption</a:t>
                </a:r>
              </a:p>
              <a:p>
                <a:r>
                  <a:rPr lang="en-US"/>
                  <a:t>It dramatically reduces the number of parameters in the model, while still leading to a model that can be </a:t>
                </a:r>
                <a:r>
                  <a:rPr lang="en-US">
                    <a:solidFill>
                      <a:srgbClr val="FF0000"/>
                    </a:solidFill>
                  </a:rPr>
                  <a:t>quite effective in practice</a:t>
                </a:r>
                <a:r>
                  <a:rPr lang="en-US"/>
                  <a:t>.</a:t>
                </a:r>
              </a:p>
            </p:txBody>
          </p:sp>
        </mc:Choice>
        <mc:Fallback>
          <p:sp>
            <p:nvSpPr>
              <p:cNvPr id="3" name="Content Placeholder 2"/>
              <p:cNvSpPr>
                <a:spLocks noGrp="1"/>
              </p:cNvSpPr>
              <p:nvPr>
                <p:ph idx="1"/>
              </p:nvPr>
            </p:nvSpPr>
            <p:spPr/>
            <p:txBody>
              <a:bodyPr>
                <a:normAutofit fontScale="92500" lnSpcReduction="20000"/>
              </a:bodyPr>
              <a:lstStyle/>
              <a:p>
                <a:r>
                  <a:rPr lang="en-US"/>
                  <a:t>Let </a:t>
                </a:r>
              </a:p>
              <a:p>
                <a:pPr lvl="1"/>
                <a:r>
                  <a:rPr/>
                  <a:t>𝑃𝐹2𝐶,𝐹1=𝑃𝐹2𝐶</a:t>
                </a:r>
                <a:r>
                  <a:rPr lang="en-US"/>
                  <a:t> and </a:t>
                </a:r>
              </a:p>
              <a:p>
                <a:pPr lvl="1"/>
                <a:r>
                  <a:rPr/>
                  <a:t>𝑃𝐹𝑛𝐶,𝐹1,…,𝐹𝑛−1=𝑃𝐹𝑛𝐶</a:t>
                </a:r>
                <a:endParaRPr lang="en-GB"/>
              </a:p>
              <a:p>
                <a:endParaRPr lang="en-GB" i="1">
                  <a:solidFill>
                    <a:srgbClr val="FF0000"/>
                  </a:solidFill>
                  <a:latin typeface="Cambria Math"/>
                </a:endParaRPr>
              </a:p>
              <a:p>
                <a:r>
                  <a:rPr/>
                  <a:t>𝑷𝑪,𝑭𝟏,…,𝑭𝒏=</a:t>
                </a:r>
                <a:r>
                  <a:rPr lang="en-US">
                    <a:solidFill>
                      <a:srgbClr val="FF0000"/>
                    </a:solidFill>
                  </a:rPr>
                  <a:t> </a:t>
                </a:r>
                <a:r>
                  <a:rPr/>
                  <a:t>𝑃𝐶×𝑃𝐹1𝐶×𝑃𝐹2𝐶×…×𝑃𝐹𝑛𝐶</a:t>
                </a:r>
                <a:endParaRPr lang="en-GB"/>
              </a:p>
              <a:p>
                <a:endParaRPr lang="en-GB" i="1">
                  <a:solidFill>
                    <a:schemeClr val="accent3">
                      <a:lumMod val="50000"/>
                    </a:schemeClr>
                  </a:solidFill>
                  <a:latin typeface="Cambria Math"/>
                </a:endParaRPr>
              </a:p>
              <a:p>
                <a:r>
                  <a:rPr/>
                  <a:t>𝑷𝑪,𝑭𝟏,…,𝑭𝒏=</a:t>
                </a:r>
                <a:r>
                  <a:rPr lang="en-US">
                    <a:solidFill>
                      <a:schemeClr val="accent3">
                        <a:lumMod val="50000"/>
                      </a:schemeClr>
                    </a:solidFill>
                  </a:rPr>
                  <a:t> </a:t>
                </a:r>
                <a:r>
                  <a:rPr/>
                  <a:t>𝑃𝐶× 𝑖=1𝑛𝑃(𝐹𝑖|𝐶)</a:t>
                </a:r>
                <a:r>
                  <a:rPr lang="en-GB">
                    <a:solidFill>
                      <a:schemeClr val="accent3">
                        <a:lumMod val="50000"/>
                      </a:schemeClr>
                    </a:solidFill>
                  </a:rPr>
                  <a:t> </a:t>
                </a:r>
                <a:endParaRPr lang="en-GB"/>
              </a:p>
              <a:p>
                <a:endParaRPr lang="en-US"/>
              </a:p>
              <a:p>
                <a:r>
                  <a:rPr lang="en-US"/>
                  <a:t>Naïve yet a very useful assumption</a:t>
                </a:r>
              </a:p>
              <a:p>
                <a:r>
                  <a:rPr lang="en-US"/>
                  <a:t>It dramatically reduces the number of parameters in the model, while still leading to a model that can be </a:t>
                </a:r>
                <a:r>
                  <a:rPr lang="en-US">
                    <a:solidFill>
                      <a:srgbClr val="FF0000"/>
                    </a:solidFill>
                  </a:rPr>
                  <a:t>quite effective in practice</a:t>
                </a:r>
                <a:r>
                  <a:rPr lang="en-US"/>
                  <a:t>.</a:t>
                </a:r>
              </a:p>
            </p:txBody>
          </p:sp>
        </mc:Fallback>
      </mc:AlternateContent>
      <p:sp>
        <p:nvSpPr>
          <p:cNvPr id="4" name="Slide Number Placeholder 3"/>
          <p:cNvSpPr>
            <a:spLocks noGrp="1"/>
          </p:cNvSpPr>
          <p:nvPr>
            <p:ph type="sldNum" sz="quarter" idx="12"/>
          </p:nvPr>
        </p:nvSpPr>
        <p:spPr/>
        <p:txBody>
          <a:bodyPr/>
          <a:lstStyle/>
          <a:p>
            <a:fld id="{A25D75BB-123F-4917-80B9-1E1597FFA67E}" type="slidenum">
              <a:rPr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76246" y="5106572"/>
            <a:ext cx="5514536" cy="12497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a:t>Naïve Bayes Rule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55094"/>
                <a:ext cx="10515600" cy="4658247"/>
              </a:xfrm>
              <a:prstGeom prst="rect">
                <a:avLst/>
              </a:prstGeom>
            </p:spPr>
            <p:txBody>
              <a:bodyPr>
                <a:normAutofit fontScale="77500" lnSpcReduction="20000"/>
              </a:bodyPr>
              <a:lstStyle/>
              <a:p>
                <a:pPr>
                  <a:lnSpc>
                    <a:spcPct val="120000"/>
                  </a:lnSpc>
                </a:pPr>
                <a:r>
                  <a:rPr lang="en-US"/>
                  <a:t>To simplify the task</a:t>
                </a:r>
                <a:r>
                  <a:rPr lang="en-US"/>
                  <a:t>, Naïve </a:t>
                </a:r>
                <a:r>
                  <a:rPr lang="en-US"/>
                  <a:t>Bayesian classifiers assume attributes have independent distributions, and thereby estimate</a:t>
                </a:r>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𝐶</m:t>
                          </m:r>
                        </m:e>
                        <m:e>
                          <m:sSub>
                            <m:sSubPr>
                              <m:ctrlPr>
                                <a:rPr lang="en-US" i="1">
                                  <a:latin typeface="Cambria Math" panose="02040503050406030204" pitchFamily="18" charset="0"/>
                                </a:rPr>
                              </m:ctrlPr>
                            </m:sSubPr>
                            <m:e>
                              <m:r>
                                <a:rPr lang="en-US" i="1">
                                  <a:latin typeface="Cambria Math"/>
                                </a:rPr>
                                <m:t>𝐹</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𝐹</m:t>
                              </m:r>
                            </m:e>
                            <m:sub>
                              <m:r>
                                <a:rPr lang="en-US" i="1">
                                  <a:latin typeface="Cambria Math"/>
                                </a:rPr>
                                <m:t>𝑛</m:t>
                              </m:r>
                            </m:sub>
                          </m:sSub>
                        </m:e>
                      </m:d>
                      <m:r>
                        <a:rPr lang="en-US" i="1">
                          <a:latin typeface="Cambria Math"/>
                        </a:rPr>
                        <m:t>=</m:t>
                      </m:r>
                      <m:f>
                        <m:fPr>
                          <m:ctrlPr>
                            <a:rPr lang="en-US" b="1" i="1">
                              <a:latin typeface="Cambria Math" panose="02040503050406030204" pitchFamily="18" charset="0"/>
                            </a:rPr>
                          </m:ctrlPr>
                        </m:fPr>
                        <m:num>
                          <m:r>
                            <a:rPr lang="en-US" b="1" i="1">
                              <a:solidFill>
                                <a:srgbClr val="FF0000"/>
                              </a:solidFill>
                              <a:latin typeface="Cambria Math"/>
                            </a:rPr>
                            <m:t>𝑷</m:t>
                          </m:r>
                          <m:d>
                            <m:dPr>
                              <m:ctrlPr>
                                <a:rPr lang="en-US" b="1" i="1">
                                  <a:solidFill>
                                    <a:srgbClr val="FF0000"/>
                                  </a:solidFill>
                                  <a:latin typeface="Cambria Math" panose="02040503050406030204" pitchFamily="18" charset="0"/>
                                </a:rPr>
                              </m:ctrlPr>
                            </m:dPr>
                            <m:e>
                              <m:sSub>
                                <m:sSubPr>
                                  <m:ctrlPr>
                                    <a:rPr lang="en-US" b="1" i="1">
                                      <a:solidFill>
                                        <a:srgbClr val="FF0000"/>
                                      </a:solidFill>
                                      <a:latin typeface="Cambria Math" panose="02040503050406030204" pitchFamily="18" charset="0"/>
                                    </a:rPr>
                                  </m:ctrlPr>
                                </m:sSubPr>
                                <m:e>
                                  <m:r>
                                    <a:rPr lang="en-US" b="1" i="1">
                                      <a:solidFill>
                                        <a:srgbClr val="FF0000"/>
                                      </a:solidFill>
                                      <a:latin typeface="Cambria Math"/>
                                    </a:rPr>
                                    <m:t>𝑭</m:t>
                                  </m:r>
                                </m:e>
                                <m:sub>
                                  <m:r>
                                    <a:rPr lang="en-US" b="1" i="1">
                                      <a:solidFill>
                                        <a:srgbClr val="FF0000"/>
                                      </a:solidFill>
                                      <a:latin typeface="Cambria Math"/>
                                    </a:rPr>
                                    <m:t>𝟏</m:t>
                                  </m:r>
                                </m:sub>
                              </m:sSub>
                              <m:r>
                                <a:rPr lang="en-US" b="1" i="1">
                                  <a:solidFill>
                                    <a:srgbClr val="FF0000"/>
                                  </a:solidFill>
                                  <a:latin typeface="Cambria Math"/>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a:rPr>
                                    <m:t>𝑭</m:t>
                                  </m:r>
                                </m:e>
                                <m:sub>
                                  <m:r>
                                    <a:rPr lang="en-US" b="1" i="1">
                                      <a:solidFill>
                                        <a:srgbClr val="FF0000"/>
                                      </a:solidFill>
                                      <a:latin typeface="Cambria Math"/>
                                    </a:rPr>
                                    <m:t>𝒏</m:t>
                                  </m:r>
                                </m:sub>
                              </m:sSub>
                              <m:r>
                                <a:rPr lang="en-US" b="1" i="1">
                                  <a:solidFill>
                                    <a:srgbClr val="FF0000"/>
                                  </a:solidFill>
                                  <a:latin typeface="Cambria Math"/>
                                </a:rPr>
                                <m:t>|</m:t>
                              </m:r>
                              <m:r>
                                <a:rPr lang="en-US" b="1" i="1">
                                  <a:solidFill>
                                    <a:srgbClr val="FF0000"/>
                                  </a:solidFill>
                                  <a:latin typeface="Cambria Math"/>
                                </a:rPr>
                                <m:t>𝑪</m:t>
                              </m:r>
                            </m:e>
                          </m:d>
                          <m:r>
                            <a:rPr lang="en-US" b="1" i="1">
                              <a:solidFill>
                                <a:srgbClr val="FF0000"/>
                              </a:solidFill>
                              <a:latin typeface="Cambria Math"/>
                            </a:rPr>
                            <m:t>×</m:t>
                          </m:r>
                          <m:r>
                            <a:rPr lang="en-US" b="1" i="1">
                              <a:solidFill>
                                <a:srgbClr val="FF0000"/>
                              </a:solidFill>
                              <a:latin typeface="Cambria Math"/>
                            </a:rPr>
                            <m:t>𝑷</m:t>
                          </m:r>
                          <m:r>
                            <a:rPr lang="en-US" b="1" i="1">
                              <a:solidFill>
                                <a:srgbClr val="FF0000"/>
                              </a:solidFill>
                              <a:latin typeface="Cambria Math"/>
                            </a:rPr>
                            <m:t>(</m:t>
                          </m:r>
                          <m:r>
                            <a:rPr lang="en-US" b="1" i="1">
                              <a:solidFill>
                                <a:srgbClr val="FF0000"/>
                              </a:solidFill>
                              <a:latin typeface="Cambria Math"/>
                            </a:rPr>
                            <m:t>𝑪</m:t>
                          </m:r>
                          <m:r>
                            <a:rPr lang="en-US" b="1" i="1">
                              <a:solidFill>
                                <a:srgbClr val="FF0000"/>
                              </a:solidFill>
                              <a:latin typeface="Cambria Math"/>
                            </a:rPr>
                            <m:t>)</m:t>
                          </m:r>
                        </m:num>
                        <m:den>
                          <m:r>
                            <a:rPr lang="en-US" b="1" i="1">
                              <a:latin typeface="Cambria Math"/>
                            </a:rPr>
                            <m:t>𝑷</m:t>
                          </m:r>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a:rPr>
                                    <m:t>𝑭</m:t>
                                  </m:r>
                                </m:e>
                                <m:sub>
                                  <m:r>
                                    <a:rPr lang="en-US" b="1" i="1">
                                      <a:latin typeface="Cambria Math"/>
                                    </a:rPr>
                                    <m:t>𝟏</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m:t>
                                  </m:r>
                                  <m:r>
                                    <a:rPr lang="en-US" b="1" i="1">
                                      <a:latin typeface="Cambria Math"/>
                                    </a:rPr>
                                    <m:t>𝑭</m:t>
                                  </m:r>
                                </m:e>
                                <m:sub>
                                  <m:r>
                                    <a:rPr lang="en-US" b="1" i="1">
                                      <a:latin typeface="Cambria Math"/>
                                    </a:rPr>
                                    <m:t>𝒏</m:t>
                                  </m:r>
                                </m:sub>
                              </m:sSub>
                            </m:e>
                          </m:d>
                        </m:den>
                      </m:f>
                    </m:oMath>
                  </m:oMathPara>
                </a14:m>
                <a:endParaRPr lang="en-GB"/>
              </a:p>
              <a:p>
                <a:pPr marL="0" indent="0">
                  <a:buNone/>
                </a:pPr>
                <a:endParaRPr lang="en-GB"/>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i="1">
                          <a:latin typeface="Cambria Math"/>
                        </a:rPr>
                        <m:t>𝑃</m:t>
                      </m:r>
                      <m:d>
                        <m:dPr>
                          <m:ctrlPr>
                            <a:rPr lang="en-US" i="1">
                              <a:latin typeface="Cambria Math" panose="02040503050406030204" pitchFamily="18" charset="0"/>
                            </a:rPr>
                          </m:ctrlPr>
                        </m:dPr>
                        <m:e>
                          <m:r>
                            <a:rPr lang="en-US" i="1">
                              <a:latin typeface="Cambria Math"/>
                            </a:rPr>
                            <m:t>𝐶</m:t>
                          </m:r>
                        </m:e>
                        <m:e>
                          <m:sSub>
                            <m:sSubPr>
                              <m:ctrlPr>
                                <a:rPr lang="en-US" i="1">
                                  <a:latin typeface="Cambria Math" panose="02040503050406030204" pitchFamily="18" charset="0"/>
                                </a:rPr>
                              </m:ctrlPr>
                            </m:sSubPr>
                            <m:e>
                              <m:r>
                                <a:rPr lang="en-US" i="1">
                                  <a:latin typeface="Cambria Math"/>
                                </a:rPr>
                                <m:t>𝐹</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𝐹</m:t>
                              </m:r>
                            </m:e>
                            <m:sub>
                              <m:r>
                                <a:rPr lang="en-US" i="1">
                                  <a:latin typeface="Cambria Math"/>
                                </a:rPr>
                                <m:t>𝑛</m:t>
                              </m:r>
                            </m:sub>
                          </m:sSub>
                        </m:e>
                      </m:d>
                      <m:r>
                        <a:rPr lang="en-US" i="1">
                          <a:latin typeface="Cambria Math"/>
                        </a:rPr>
                        <m:t>=</m:t>
                      </m:r>
                      <m:f>
                        <m:fPr>
                          <m:ctrlPr>
                            <a:rPr lang="en-US" b="1" i="1">
                              <a:latin typeface="Cambria Math" panose="02040503050406030204" pitchFamily="18" charset="0"/>
                            </a:rPr>
                          </m:ctrlPr>
                        </m:fPr>
                        <m:num>
                          <m:r>
                            <a:rPr lang="en-US" i="1">
                              <a:latin typeface="Cambria Math"/>
                            </a:rPr>
                            <m:t>𝑃</m:t>
                          </m:r>
                          <m:d>
                            <m:dPr>
                              <m:ctrlPr>
                                <a:rPr lang="en-US" i="1">
                                  <a:latin typeface="Cambria Math" panose="02040503050406030204" pitchFamily="18" charset="0"/>
                                </a:rPr>
                              </m:ctrlPr>
                            </m:dPr>
                            <m:e>
                              <m:r>
                                <a:rPr lang="en-US" i="1">
                                  <a:latin typeface="Cambria Math"/>
                                </a:rPr>
                                <m:t>𝐶</m:t>
                              </m:r>
                            </m:e>
                          </m:d>
                          <m:r>
                            <a:rPr lang="en-US" i="1">
                              <a:latin typeface="Cambria Math"/>
                            </a:rPr>
                            <m:t>×</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i="1">
                                      <a:latin typeface="Cambria Math"/>
                                    </a:rPr>
                                    <m:t>1</m:t>
                                  </m:r>
                                </m:sub>
                              </m:sSub>
                            </m:e>
                            <m:e>
                              <m:r>
                                <a:rPr lang="en-US" i="1">
                                  <a:latin typeface="Cambria Math"/>
                                </a:rPr>
                                <m:t>𝐶</m:t>
                              </m:r>
                            </m:e>
                          </m:d>
                          <m:r>
                            <a:rPr lang="en-US" i="1">
                              <a:latin typeface="Cambria Math"/>
                            </a:rPr>
                            <m:t>×</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i="1">
                                      <a:latin typeface="Cambria Math"/>
                                    </a:rPr>
                                    <m:t>2</m:t>
                                  </m:r>
                                </m:sub>
                              </m:sSub>
                            </m:e>
                            <m:e>
                              <m:r>
                                <a:rPr lang="en-US" i="1">
                                  <a:latin typeface="Cambria Math"/>
                                </a:rPr>
                                <m:t>𝐶</m:t>
                              </m:r>
                            </m:e>
                          </m:d>
                          <m:r>
                            <a:rPr lang="en-US" i="1">
                              <a:latin typeface="Cambria Math"/>
                            </a:rPr>
                            <m:t>×…</m:t>
                          </m:r>
                          <m:r>
                            <a:rPr lang="en-US" b="0" i="1" smtClean="0">
                              <a:latin typeface="Cambria Math"/>
                            </a:rPr>
                            <m:t>×</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𝐹</m:t>
                                  </m:r>
                                </m:e>
                                <m:sub>
                                  <m:r>
                                    <a:rPr lang="en-US" b="0" i="1" smtClean="0">
                                      <a:latin typeface="Cambria Math"/>
                                    </a:rPr>
                                    <m:t>𝑛</m:t>
                                  </m:r>
                                </m:sub>
                              </m:sSub>
                            </m:e>
                            <m:e>
                              <m:r>
                                <a:rPr lang="en-US" i="1">
                                  <a:latin typeface="Cambria Math"/>
                                </a:rPr>
                                <m:t>𝐶</m:t>
                              </m:r>
                            </m:e>
                          </m:d>
                        </m:num>
                        <m:den>
                          <m:r>
                            <a:rPr lang="en-US" b="1" i="1">
                              <a:latin typeface="Cambria Math"/>
                            </a:rPr>
                            <m:t>𝑷</m:t>
                          </m:r>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a:rPr>
                                    <m:t>𝑭</m:t>
                                  </m:r>
                                </m:e>
                                <m:sub>
                                  <m:r>
                                    <a:rPr lang="en-US" b="1" i="1">
                                      <a:latin typeface="Cambria Math"/>
                                    </a:rPr>
                                    <m:t>𝟏</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m:t>
                                  </m:r>
                                  <m:r>
                                    <a:rPr lang="en-US" b="1" i="1">
                                      <a:latin typeface="Cambria Math"/>
                                    </a:rPr>
                                    <m:t>𝑭</m:t>
                                  </m:r>
                                </m:e>
                                <m:sub>
                                  <m:r>
                                    <a:rPr lang="en-US" b="1" i="1">
                                      <a:latin typeface="Cambria Math"/>
                                    </a:rPr>
                                    <m:t>𝒏</m:t>
                                  </m:r>
                                </m:sub>
                              </m:sSub>
                            </m:e>
                          </m:d>
                        </m:den>
                      </m:f>
                    </m:oMath>
                  </m:oMathPara>
                </a14:m>
                <a:endParaRPr lang="en-GB"/>
              </a:p>
              <a:p>
                <a:pPr marL="0"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i="1">
                          <a:latin typeface="Cambria Math"/>
                        </a:rPr>
                        <m:t>=</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𝐶</m:t>
                              </m:r>
                            </m:e>
                            <m:sub>
                              <m:r>
                                <a:rPr lang="en-US" i="1">
                                  <a:latin typeface="Cambria Math"/>
                                </a:rPr>
                                <m:t>𝑖</m:t>
                              </m:r>
                            </m:sub>
                          </m:sSub>
                        </m:e>
                      </m:d>
                      <m:r>
                        <a:rPr lang="en-US" i="1">
                          <a:latin typeface="Cambria Math"/>
                        </a:rPr>
                        <m:t>.</m:t>
                      </m:r>
                      <m:nary>
                        <m:naryPr>
                          <m:chr m:val="∏"/>
                          <m:ctrlPr>
                            <a:rPr lang="en-US" i="1">
                              <a:latin typeface="Cambria Math" panose="02040503050406030204" pitchFamily="18" charset="0"/>
                            </a:rPr>
                          </m:ctrlPr>
                        </m:naryPr>
                        <m:sub>
                          <m:r>
                            <m:rPr>
                              <m:brk m:alnAt="23"/>
                            </m:rPr>
                            <a:rPr lang="en-US" i="1">
                              <a:latin typeface="Cambria Math"/>
                            </a:rPr>
                            <m:t>𝑗</m:t>
                          </m:r>
                          <m:r>
                            <a:rPr lang="en-US" i="1">
                              <a:latin typeface="Cambria Math"/>
                            </a:rPr>
                            <m:t>=1</m:t>
                          </m:r>
                        </m:sub>
                        <m:sup>
                          <m:r>
                            <a:rPr lang="en-US" i="1">
                              <a:latin typeface="Cambria Math"/>
                            </a:rPr>
                            <m:t>𝑛</m:t>
                          </m:r>
                        </m:sup>
                        <m:e>
                          <m:r>
                            <a:rPr lang="en-US" i="1">
                              <a:latin typeface="Cambria Math"/>
                            </a:rPr>
                            <m:t>𝑃</m:t>
                          </m:r>
                          <m:r>
                            <a:rPr lang="en-US" i="1">
                              <a:latin typeface="Cambria Math"/>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a:rPr>
                                <m:t>𝑗</m:t>
                              </m:r>
                            </m:sub>
                          </m:sSub>
                          <m:r>
                            <a:rPr lang="en-US" i="1">
                              <a:latin typeface="Cambria Math"/>
                            </a:rPr>
                            <m:t>|</m:t>
                          </m:r>
                          <m:sSub>
                            <m:sSubPr>
                              <m:ctrlPr>
                                <a:rPr lang="en-US" i="1">
                                  <a:latin typeface="Cambria Math" panose="02040503050406030204" pitchFamily="18" charset="0"/>
                                </a:rPr>
                              </m:ctrlPr>
                            </m:sSubPr>
                            <m:e>
                              <m:r>
                                <a:rPr lang="en-US" b="0" i="1" smtClean="0">
                                  <a:latin typeface="Cambria Math" panose="02040503050406030204" pitchFamily="18" charset="0"/>
                                </a:rPr>
                                <m:t>𝐶</m:t>
                              </m:r>
                            </m:e>
                            <m:sub>
                              <m:r>
                                <a:rPr lang="en-US" i="1">
                                  <a:latin typeface="Cambria Math"/>
                                </a:rPr>
                                <m:t>𝑖</m:t>
                              </m:r>
                            </m:sub>
                          </m:sSub>
                          <m:r>
                            <a:rPr lang="en-US" i="1">
                              <a:latin typeface="Cambria Math"/>
                            </a:rPr>
                            <m:t>)</m:t>
                          </m:r>
                        </m:e>
                      </m:nary>
                    </m:oMath>
                  </m:oMathPara>
                </a14:m>
                <a:endParaRPr lang="en-GB"/>
              </a:p>
              <a:p>
                <a:pPr marL="0" indent="0">
                  <a:buNone/>
                </a:pPr>
                <a:endParaRPr lang="en-GB"/>
              </a:p>
              <a:p>
                <a:pPr marL="0" indent="0">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a:rPr>
                            <m:t>Classifier</m:t>
                          </m:r>
                        </m:e>
                        <m:sub>
                          <m:r>
                            <m:rPr>
                              <m:sty m:val="p"/>
                            </m:rPr>
                            <a:rPr lang="en-US">
                              <a:latin typeface="Cambria Math"/>
                            </a:rPr>
                            <m:t>NB</m:t>
                          </m:r>
                        </m:sub>
                      </m:sSub>
                      <m:r>
                        <a:rPr lang="en-US" i="1">
                          <a:latin typeface="Cambria Math"/>
                        </a:rPr>
                        <m:t>=</m:t>
                      </m:r>
                      <m:r>
                        <a:rPr lang="en-US" i="1">
                          <a:latin typeface="Cambria Math"/>
                        </a:rPr>
                        <m:t>𝑎𝑟𝑔𝑚𝑎𝑥</m:t>
                      </m:r>
                      <m:r>
                        <a:rPr lang="en-US" i="1">
                          <a:latin typeface="Cambria Math"/>
                        </a:rPr>
                        <m:t> </m:t>
                      </m:r>
                      <m:r>
                        <a:rPr lang="en-US" i="1">
                          <a:latin typeface="Cambria Math"/>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𝑐</m:t>
                              </m:r>
                            </m:e>
                            <m:sub>
                              <m:r>
                                <a:rPr lang="en-US" i="1">
                                  <a:latin typeface="Cambria Math"/>
                                </a:rPr>
                                <m:t>𝑖</m:t>
                              </m:r>
                            </m:sub>
                          </m:sSub>
                        </m:e>
                      </m:d>
                      <m:r>
                        <a:rPr lang="en-US" i="1">
                          <a:latin typeface="Cambria Math"/>
                        </a:rPr>
                        <m:t>.</m:t>
                      </m:r>
                      <m:nary>
                        <m:naryPr>
                          <m:chr m:val="∏"/>
                          <m:ctrlPr>
                            <a:rPr lang="en-US" i="1">
                              <a:latin typeface="Cambria Math" panose="02040503050406030204" pitchFamily="18" charset="0"/>
                            </a:rPr>
                          </m:ctrlPr>
                        </m:naryPr>
                        <m:sub>
                          <m:r>
                            <m:rPr>
                              <m:brk m:alnAt="23"/>
                            </m:rPr>
                            <a:rPr lang="en-US" i="1">
                              <a:latin typeface="Cambria Math"/>
                            </a:rPr>
                            <m:t>𝑗</m:t>
                          </m:r>
                          <m:r>
                            <a:rPr lang="en-US" i="1">
                              <a:latin typeface="Cambria Math"/>
                            </a:rPr>
                            <m:t>=1</m:t>
                          </m:r>
                        </m:sub>
                        <m:sup>
                          <m:r>
                            <a:rPr lang="en-US" i="1">
                              <a:latin typeface="Cambria Math"/>
                            </a:rPr>
                            <m:t>𝑛</m:t>
                          </m:r>
                        </m:sup>
                        <m:e>
                          <m:r>
                            <a:rPr lang="en-US" i="1">
                              <a:latin typeface="Cambria Math"/>
                            </a:rPr>
                            <m:t>𝑃</m:t>
                          </m:r>
                          <m:r>
                            <a:rPr lang="en-US" i="1">
                              <a:latin typeface="Cambria Math"/>
                            </a:rPr>
                            <m:t>(</m:t>
                          </m:r>
                          <m:sSub>
                            <m:sSubPr>
                              <m:ctrlPr>
                                <a:rPr lang="en-US" i="1">
                                  <a:latin typeface="Cambria Math" panose="02040503050406030204" pitchFamily="18" charset="0"/>
                                </a:rPr>
                              </m:ctrlPr>
                            </m:sSubPr>
                            <m:e>
                              <m:r>
                                <a:rPr lang="en-US" i="1">
                                  <a:latin typeface="Cambria Math"/>
                                </a:rPr>
                                <m:t>𝑓</m:t>
                              </m:r>
                            </m:e>
                            <m:sub>
                              <m:r>
                                <a:rPr lang="en-US" i="1">
                                  <a:latin typeface="Cambria Math"/>
                                </a:rPr>
                                <m:t>𝑗</m:t>
                              </m:r>
                            </m:sub>
                          </m:sSub>
                          <m:r>
                            <a:rPr lang="en-US" i="1">
                              <a:latin typeface="Cambria Math"/>
                            </a:rPr>
                            <m:t>|</m:t>
                          </m:r>
                          <m:sSub>
                            <m:sSubPr>
                              <m:ctrlPr>
                                <a:rPr lang="en-US" i="1">
                                  <a:latin typeface="Cambria Math" panose="02040503050406030204" pitchFamily="18" charset="0"/>
                                </a:rPr>
                              </m:ctrlPr>
                            </m:sSubPr>
                            <m:e>
                              <m:r>
                                <a:rPr lang="en-US" i="1">
                                  <a:latin typeface="Cambria Math"/>
                                </a:rPr>
                                <m:t>𝑐</m:t>
                              </m:r>
                            </m:e>
                            <m:sub>
                              <m:r>
                                <a:rPr lang="en-US" i="1">
                                  <a:latin typeface="Cambria Math"/>
                                </a:rPr>
                                <m:t>𝑖</m:t>
                              </m:r>
                            </m:sub>
                          </m:sSub>
                          <m:r>
                            <a:rPr lang="en-US" i="1">
                              <a:latin typeface="Cambria Math"/>
                            </a:rPr>
                            <m:t>)</m:t>
                          </m:r>
                        </m:e>
                      </m:nary>
                    </m:oMath>
                  </m:oMathPara>
                </a14:m>
                <a:endParaRPr lang="en-US"/>
              </a:p>
            </p:txBody>
          </p:sp>
        </mc:Choice>
        <mc:Fallback>
          <p:sp>
            <p:nvSpPr>
              <p:cNvPr id="3" name="Content Placeholder 2"/>
              <p:cNvSpPr>
                <a:spLocks noGrp="1"/>
              </p:cNvSpPr>
              <p:nvPr>
                <p:ph idx="1"/>
              </p:nvPr>
            </p:nvSpPr>
            <p:spPr>
              <a:xfrm>
                <a:off x="838200" y="1855094"/>
                <a:ext cx="10515600" cy="4658247"/>
              </a:xfrm>
              <a:prstGeom prst="rect">
                <a:avLst/>
              </a:prstGeom>
            </p:spPr>
            <p:txBody>
              <a:bodyPr>
                <a:normAutofit fontScale="77500" lnSpcReduction="20000"/>
              </a:bodyPr>
              <a:lstStyle/>
              <a:p>
                <a:pPr>
                  <a:lnSpc>
                    <a:spcPct val="120000"/>
                  </a:lnSpc>
                </a:pPr>
                <a:r>
                  <a:rPr lang="en-US"/>
                  <a:t>To simplify the task</a:t>
                </a:r>
                <a:r>
                  <a:rPr lang="en-US"/>
                  <a:t>, Naïve </a:t>
                </a:r>
                <a:r>
                  <a:rPr lang="en-US"/>
                  <a:t>Bayesian classifiers assume attributes have independent distributions, and thereby estimate</a:t>
                </a:r>
              </a:p>
              <a:p>
                <a:pPr marL="0" indent="0">
                  <a:buNone/>
                </a:pPr>
                <a:r>
                  <a:rPr/>
                  <a:t>𝑃𝐶𝐹1,…,𝐹𝑛=𝑷𝑭𝟏,…,𝑭𝒏|𝑪×𝑷(𝑪)𝑷𝑭𝟏,…,𝑭𝒏</a:t>
                </a:r>
                <a:endParaRPr lang="en-GB"/>
              </a:p>
              <a:p>
                <a:pPr marL="0" indent="0">
                  <a:buNone/>
                </a:pPr>
                <a:endParaRPr lang="en-GB"/>
              </a:p>
              <a:p>
                <a:pPr marL="0" indent="0">
                  <a:buNone/>
                </a:pPr>
                <a:r>
                  <a:rPr/>
                  <a:t>                                     𝑃𝐶𝐹1,…,𝐹𝑛=𝑃𝐶×𝑃𝐹1𝐶×𝑃𝐹2𝐶×…×𝑃𝐹𝑛𝐶𝑷𝑭𝟏,…,𝑭𝒏</a:t>
                </a:r>
                <a:endParaRPr lang="en-GB"/>
              </a:p>
              <a:p>
                <a:pPr marL="0" indent="0">
                  <a:buNone/>
                </a:pPr>
                <a:r>
                  <a:rPr/>
                  <a:t>                     =𝑃𝐶𝑖.𝑗=1𝑛𝑃(𝐹𝑗|𝐶𝑖)</a:t>
                </a:r>
                <a:endParaRPr lang="en-GB"/>
              </a:p>
              <a:p>
                <a:pPr marL="0" indent="0">
                  <a:buNone/>
                </a:pPr>
                <a:endParaRPr lang="en-GB"/>
              </a:p>
              <a:p>
                <a:pPr marL="0" indent="0">
                  <a:buNone/>
                </a:pPr>
                <a:r>
                  <a:rPr/>
                  <a:t>ClassifierNB=𝑎𝑟𝑔𝑚𝑎𝑥 𝑃𝑐𝑖.𝑗=1𝑛𝑃(𝑓𝑗|𝑐𝑖)</a:t>
                </a:r>
                <a:endParaRPr lang="en-US"/>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Naïve Bayes classifier - Example</a:t>
            </a:r>
          </a:p>
        </p:txBody>
      </p:sp>
      <p:sp>
        <p:nvSpPr>
          <p:cNvPr id="3" name="Content Placeholder 2"/>
          <p:cNvSpPr>
            <a:spLocks noGrp="1"/>
          </p:cNvSpPr>
          <p:nvPr>
            <p:ph idx="1"/>
          </p:nvPr>
        </p:nvSpPr>
        <p:spPr>
          <a:xfrm>
            <a:off x="838200" y="1825625"/>
            <a:ext cx="3353972" cy="4351338"/>
          </a:xfrm>
          <a:prstGeom prst="rect">
            <a:avLst/>
          </a:prstGeom>
        </p:spPr>
        <p:txBody>
          <a:bodyPr>
            <a:normAutofit/>
          </a:bodyPr>
          <a:lstStyle/>
          <a:p>
            <a:r>
              <a:rPr lang="en-US"/>
              <a:t>Suppose that data items consists of the attributes </a:t>
            </a:r>
            <a:r>
              <a:rPr lang="en-US" i="1"/>
              <a:t>x</a:t>
            </a:r>
            <a:r>
              <a:rPr lang="en-US"/>
              <a:t>, </a:t>
            </a:r>
            <a:r>
              <a:rPr lang="en-US" i="1"/>
              <a:t>y</a:t>
            </a:r>
            <a:r>
              <a:rPr lang="en-US"/>
              <a:t>, </a:t>
            </a:r>
            <a:r>
              <a:rPr lang="en-US" i="1"/>
              <a:t>z</a:t>
            </a:r>
            <a:endParaRPr lang="en-US"/>
          </a:p>
          <a:p>
            <a:pPr lvl="1"/>
            <a:r>
              <a:rPr lang="en-US" i="1"/>
              <a:t>x</a:t>
            </a:r>
            <a:r>
              <a:rPr lang="en-US"/>
              <a:t>, </a:t>
            </a:r>
            <a:r>
              <a:rPr lang="en-US" i="1"/>
              <a:t>y</a:t>
            </a:r>
            <a:r>
              <a:rPr lang="en-US"/>
              <a:t>, and </a:t>
            </a:r>
            <a:r>
              <a:rPr lang="en-US" i="1"/>
              <a:t>z </a:t>
            </a:r>
            <a:r>
              <a:rPr lang="en-US"/>
              <a:t>are each integers in the range 1 to 4.</a:t>
            </a:r>
          </a:p>
          <a:p>
            <a:r>
              <a:rPr lang="en-US"/>
              <a:t>The available </a:t>
            </a:r>
            <a:r>
              <a:rPr lang="en-US">
                <a:solidFill>
                  <a:srgbClr val="FF0000"/>
                </a:solidFill>
              </a:rPr>
              <a:t>classifications are </a:t>
            </a:r>
            <a:r>
              <a:rPr lang="en-US" i="1">
                <a:solidFill>
                  <a:srgbClr val="FF0000"/>
                </a:solidFill>
              </a:rPr>
              <a:t>A</a:t>
            </a:r>
            <a:r>
              <a:rPr lang="en-US">
                <a:solidFill>
                  <a:srgbClr val="FF0000"/>
                </a:solidFill>
              </a:rPr>
              <a:t>, </a:t>
            </a:r>
            <a:r>
              <a:rPr lang="en-US" i="1">
                <a:solidFill>
                  <a:srgbClr val="FF0000"/>
                </a:solidFill>
              </a:rPr>
              <a:t>B</a:t>
            </a:r>
            <a:r>
              <a:rPr lang="en-US">
                <a:solidFill>
                  <a:srgbClr val="FF0000"/>
                </a:solidFill>
              </a:rPr>
              <a:t>, and </a:t>
            </a:r>
            <a:r>
              <a:rPr lang="en-US" i="1">
                <a:solidFill>
                  <a:srgbClr val="FF0000"/>
                </a:solidFill>
              </a:rPr>
              <a:t>C</a:t>
            </a:r>
            <a:r>
              <a:rPr lang="en-US"/>
              <a:t>. </a:t>
            </a:r>
          </a:p>
        </p:txBody>
      </p:sp>
      <p:pic>
        <p:nvPicPr>
          <p:cNvPr id="22530" name="Picture 2"/>
          <p:cNvPicPr>
            <a:picLocks noChangeAspect="1"/>
          </p:cNvPicPr>
          <p:nvPr/>
        </p:nvPicPr>
        <p:blipFill rotWithShape="1">
          <a:blip r:embed="rId2"/>
          <a:stretch>
            <a:fillRect/>
          </a:stretch>
        </p:blipFill>
        <p:spPr>
          <a:xfrm>
            <a:off x="4532380" y="1690995"/>
            <a:ext cx="6821420" cy="4495800"/>
          </a:xfrm>
          <a:prstGeom prst="rect">
            <a:avLst/>
          </a:prstGeom>
          <a:noFill/>
          <a:ln>
            <a:noFill/>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Naïve Bayes classifier - Example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US"/>
                  <a:t>15 pieces of training data, each of which has been classified.</a:t>
                </a:r>
              </a:p>
              <a:p>
                <a:r>
                  <a:rPr lang="en-US"/>
                  <a:t>Eight of the training data are classified as </a:t>
                </a:r>
                <a:r>
                  <a:rPr lang="en-US" i="1"/>
                  <a:t>A</a:t>
                </a:r>
                <a:r>
                  <a:rPr lang="en-US"/>
                  <a:t>, four as </a:t>
                </a:r>
                <a:r>
                  <a:rPr lang="en-US" i="1"/>
                  <a:t>B</a:t>
                </a:r>
                <a:r>
                  <a:rPr lang="en-US"/>
                  <a:t>, and three as </a:t>
                </a:r>
                <a:r>
                  <a:rPr lang="en-US" i="1"/>
                  <a:t>C</a:t>
                </a:r>
                <a:r>
                  <a:rPr lang="en-US"/>
                  <a:t>.</a:t>
                </a:r>
              </a:p>
              <a:p>
                <a:r>
                  <a:rPr lang="en-US"/>
                  <a:t>Suppose that we are presented with a new piece of data.</a:t>
                </a:r>
              </a:p>
              <a:p>
                <a:pPr marL="457200" lvl="1" indent="0">
                  <a:buNone/>
                </a:pPr>
                <a14:m xmlns:a14="http://schemas.microsoft.com/office/drawing/2010/main">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=2, </m:t>
                      </m:r>
                      <m:r>
                        <a:rPr lang="en-US" b="0" i="1" smtClean="0">
                          <a:latin typeface="Cambria Math" panose="02040503050406030204" pitchFamily="18" charset="0"/>
                        </a:rPr>
                        <m:t>𝑦</m:t>
                      </m:r>
                      <m:r>
                        <a:rPr lang="en-US" b="0" i="1" smtClean="0">
                          <a:latin typeface="Cambria Math" panose="02040503050406030204" pitchFamily="18" charset="0"/>
                        </a:rPr>
                        <m:t>=3, </m:t>
                      </m:r>
                      <m:r>
                        <a:rPr lang="en-US" b="0" i="1" smtClean="0">
                          <a:latin typeface="Cambria Math" panose="02040503050406030204" pitchFamily="18" charset="0"/>
                        </a:rPr>
                        <m:t>𝑧</m:t>
                      </m:r>
                      <m:r>
                        <a:rPr lang="en-US" b="0" i="1" smtClean="0">
                          <a:latin typeface="Cambria Math" panose="02040503050406030204" pitchFamily="18" charset="0"/>
                        </a:rPr>
                        <m:t>=4</m:t>
                      </m:r>
                    </m:oMath>
                  </m:oMathPara>
                </a14:m>
                <a:endParaRPr lang="en-US"/>
              </a:p>
              <a:p>
                <a:r>
                  <a:rPr lang="en-US"/>
                  <a:t>Classify it using Naïve Bayes</a:t>
                </a:r>
              </a:p>
              <a:p>
                <a:endParaRPr lang="en-US"/>
              </a:p>
              <a:p>
                <a:r>
                  <a:rPr lang="en-US"/>
                  <a:t>First: we must now calculate each of the following:</a:t>
                </a:r>
              </a:p>
              <a:p>
                <a:pPr lvl="1"/>
                <a:r>
                  <a:rPr lang="en-US"/>
                  <a:t>P(</a:t>
                </a:r>
                <a:r>
                  <a:rPr lang="en-US"/>
                  <a:t>A|x,y,z</a:t>
                </a:r>
                <a:r>
                  <a:rPr lang="en-US"/>
                  <a:t>) = </a:t>
                </a:r>
                <a:r>
                  <a:rPr lang="en-US" i="1"/>
                  <a:t>P</a:t>
                </a:r>
                <a:r>
                  <a:rPr lang="en-US"/>
                  <a:t>(</a:t>
                </a:r>
                <a:r>
                  <a:rPr lang="en-US" i="1"/>
                  <a:t>A</a:t>
                </a:r>
                <a:r>
                  <a:rPr lang="en-US"/>
                  <a:t>) . </a:t>
                </a:r>
                <a:r>
                  <a:rPr lang="en-US" i="1"/>
                  <a:t>P</a:t>
                </a:r>
                <a:r>
                  <a:rPr lang="en-US"/>
                  <a:t>(</a:t>
                </a:r>
                <a:r>
                  <a:rPr lang="en-US" i="1"/>
                  <a:t>x </a:t>
                </a:r>
                <a:r>
                  <a:rPr lang="en-US"/>
                  <a:t>= 2|</a:t>
                </a:r>
                <a:r>
                  <a:rPr lang="en-US" i="1"/>
                  <a:t>A</a:t>
                </a:r>
                <a:r>
                  <a:rPr lang="en-US"/>
                  <a:t>) . </a:t>
                </a:r>
                <a:r>
                  <a:rPr lang="en-US" i="1"/>
                  <a:t>P</a:t>
                </a:r>
                <a:r>
                  <a:rPr lang="en-US"/>
                  <a:t>(</a:t>
                </a:r>
                <a:r>
                  <a:rPr lang="en-US" i="1"/>
                  <a:t>y </a:t>
                </a:r>
                <a:r>
                  <a:rPr lang="en-US"/>
                  <a:t>= 3|</a:t>
                </a:r>
                <a:r>
                  <a:rPr lang="en-US" i="1"/>
                  <a:t>A</a:t>
                </a:r>
                <a:r>
                  <a:rPr lang="en-US"/>
                  <a:t>) . </a:t>
                </a:r>
                <a:r>
                  <a:rPr lang="en-US" i="1"/>
                  <a:t>P</a:t>
                </a:r>
                <a:r>
                  <a:rPr lang="en-US"/>
                  <a:t>(</a:t>
                </a:r>
                <a:r>
                  <a:rPr lang="en-US" i="1"/>
                  <a:t>z </a:t>
                </a:r>
                <a:r>
                  <a:rPr lang="en-US"/>
                  <a:t>= 4|</a:t>
                </a:r>
                <a:r>
                  <a:rPr lang="en-US" i="1"/>
                  <a:t>A</a:t>
                </a:r>
                <a:r>
                  <a:rPr lang="en-US"/>
                  <a:t>)</a:t>
                </a:r>
              </a:p>
              <a:p>
                <a:pPr lvl="1"/>
                <a:r>
                  <a:rPr lang="en-US"/>
                  <a:t>P(</a:t>
                </a:r>
                <a:r>
                  <a:rPr lang="en-US"/>
                  <a:t>B|x,y,z</a:t>
                </a:r>
                <a:r>
                  <a:rPr lang="en-US"/>
                  <a:t>) = </a:t>
                </a:r>
                <a:r>
                  <a:rPr lang="en-US" i="1"/>
                  <a:t>P</a:t>
                </a:r>
                <a:r>
                  <a:rPr lang="en-US"/>
                  <a:t>(</a:t>
                </a:r>
                <a:r>
                  <a:rPr lang="en-US" i="1"/>
                  <a:t>B</a:t>
                </a:r>
                <a:r>
                  <a:rPr lang="en-US"/>
                  <a:t>) . </a:t>
                </a:r>
                <a:r>
                  <a:rPr lang="en-US" i="1"/>
                  <a:t>P</a:t>
                </a:r>
                <a:r>
                  <a:rPr lang="en-US"/>
                  <a:t>(</a:t>
                </a:r>
                <a:r>
                  <a:rPr lang="en-US" i="1"/>
                  <a:t>x </a:t>
                </a:r>
                <a:r>
                  <a:rPr lang="en-US"/>
                  <a:t>= 2|</a:t>
                </a:r>
                <a:r>
                  <a:rPr lang="en-US" i="1"/>
                  <a:t>B</a:t>
                </a:r>
                <a:r>
                  <a:rPr lang="en-US"/>
                  <a:t>) . </a:t>
                </a:r>
                <a:r>
                  <a:rPr lang="en-US" i="1"/>
                  <a:t>P</a:t>
                </a:r>
                <a:r>
                  <a:rPr lang="en-US"/>
                  <a:t>(</a:t>
                </a:r>
                <a:r>
                  <a:rPr lang="en-US" i="1"/>
                  <a:t>y </a:t>
                </a:r>
                <a:r>
                  <a:rPr lang="en-US"/>
                  <a:t>= 3|</a:t>
                </a:r>
                <a:r>
                  <a:rPr lang="en-US" i="1"/>
                  <a:t>B</a:t>
                </a:r>
                <a:r>
                  <a:rPr lang="en-US"/>
                  <a:t>) . </a:t>
                </a:r>
                <a:r>
                  <a:rPr lang="en-US" i="1"/>
                  <a:t>P</a:t>
                </a:r>
                <a:r>
                  <a:rPr lang="en-US"/>
                  <a:t>(</a:t>
                </a:r>
                <a:r>
                  <a:rPr lang="en-US" i="1"/>
                  <a:t>z </a:t>
                </a:r>
                <a:r>
                  <a:rPr lang="en-US"/>
                  <a:t>= 4|</a:t>
                </a:r>
                <a:r>
                  <a:rPr lang="en-US" i="1"/>
                  <a:t>B</a:t>
                </a:r>
                <a:r>
                  <a:rPr lang="en-US"/>
                  <a:t>)</a:t>
                </a:r>
              </a:p>
              <a:p>
                <a:pPr lvl="1"/>
                <a:r>
                  <a:rPr lang="en-US"/>
                  <a:t>P(</a:t>
                </a:r>
                <a:r>
                  <a:rPr lang="en-US"/>
                  <a:t>C|x,y,z</a:t>
                </a:r>
                <a:r>
                  <a:rPr lang="en-US"/>
                  <a:t>) = </a:t>
                </a:r>
                <a:r>
                  <a:rPr lang="en-US" i="1"/>
                  <a:t>P</a:t>
                </a:r>
                <a:r>
                  <a:rPr lang="en-US"/>
                  <a:t>(</a:t>
                </a:r>
                <a:r>
                  <a:rPr lang="en-US" i="1"/>
                  <a:t>C</a:t>
                </a:r>
                <a:r>
                  <a:rPr lang="en-US"/>
                  <a:t>) . </a:t>
                </a:r>
                <a:r>
                  <a:rPr lang="en-US" i="1"/>
                  <a:t>P</a:t>
                </a:r>
                <a:r>
                  <a:rPr lang="en-US"/>
                  <a:t>(</a:t>
                </a:r>
                <a:r>
                  <a:rPr lang="en-US" i="1"/>
                  <a:t>x </a:t>
                </a:r>
                <a:r>
                  <a:rPr lang="en-US"/>
                  <a:t>= 2|</a:t>
                </a:r>
                <a:r>
                  <a:rPr lang="en-US" i="1"/>
                  <a:t>C</a:t>
                </a:r>
                <a:r>
                  <a:rPr lang="en-US"/>
                  <a:t>) . </a:t>
                </a:r>
                <a:r>
                  <a:rPr lang="en-US" i="1"/>
                  <a:t>P</a:t>
                </a:r>
                <a:r>
                  <a:rPr lang="en-US"/>
                  <a:t>(</a:t>
                </a:r>
                <a:r>
                  <a:rPr lang="en-US" i="1"/>
                  <a:t>y </a:t>
                </a:r>
                <a:r>
                  <a:rPr lang="en-US"/>
                  <a:t>= 3|</a:t>
                </a:r>
                <a:r>
                  <a:rPr lang="en-US" i="1"/>
                  <a:t>C</a:t>
                </a:r>
                <a:r>
                  <a:rPr lang="en-US"/>
                  <a:t>) . </a:t>
                </a:r>
                <a:r>
                  <a:rPr lang="en-US" i="1"/>
                  <a:t>P</a:t>
                </a:r>
                <a:r>
                  <a:rPr lang="en-US"/>
                  <a:t>(</a:t>
                </a:r>
                <a:r>
                  <a:rPr lang="en-US" i="1"/>
                  <a:t>z </a:t>
                </a:r>
                <a:r>
                  <a:rPr lang="en-US"/>
                  <a:t>= 4|</a:t>
                </a:r>
                <a:r>
                  <a:rPr lang="en-US" i="1"/>
                  <a:t>C</a:t>
                </a:r>
                <a:r>
                  <a:rPr lang="en-US"/>
                  <a:t>)</a:t>
                </a:r>
              </a:p>
            </p:txBody>
          </p:sp>
        </mc:Choice>
        <mc:Fallback>
          <p:sp>
            <p:nvSpPr>
              <p:cNvPr id="3" name="Content Placeholder 2"/>
              <p:cNvSpPr>
                <a:spLocks noGrp="1"/>
              </p:cNvSpPr>
              <p:nvPr>
                <p:ph idx="1"/>
              </p:nvPr>
            </p:nvSpPr>
            <p:spPr/>
            <p:txBody>
              <a:bodyPr>
                <a:normAutofit lnSpcReduction="10000"/>
              </a:bodyPr>
              <a:lstStyle/>
              <a:p>
                <a:r>
                  <a:rPr lang="en-US"/>
                  <a:t>15 pieces of training data, each of which has been classified.</a:t>
                </a:r>
              </a:p>
              <a:p>
                <a:r>
                  <a:rPr lang="en-US"/>
                  <a:t>Eight of the training data are classified as </a:t>
                </a:r>
                <a:r>
                  <a:rPr lang="en-US" i="1"/>
                  <a:t>A</a:t>
                </a:r>
                <a:r>
                  <a:rPr lang="en-US"/>
                  <a:t>, four as </a:t>
                </a:r>
                <a:r>
                  <a:rPr lang="en-US" i="1"/>
                  <a:t>B</a:t>
                </a:r>
                <a:r>
                  <a:rPr lang="en-US"/>
                  <a:t>, and three as </a:t>
                </a:r>
                <a:r>
                  <a:rPr lang="en-US" i="1"/>
                  <a:t>C</a:t>
                </a:r>
                <a:r>
                  <a:rPr lang="en-US"/>
                  <a:t>.</a:t>
                </a:r>
              </a:p>
              <a:p>
                <a:r>
                  <a:rPr lang="en-US"/>
                  <a:t>Suppose that we are presented with a new piece of data.</a:t>
                </a:r>
              </a:p>
              <a:p>
                <a:pPr marL="457200" lvl="1" indent="0">
                  <a:buNone/>
                </a:pPr>
                <a:r>
                  <a:rPr/>
                  <a:t>𝑥=2, 𝑦=3, 𝑧=4</a:t>
                </a:r>
                <a:endParaRPr lang="en-US"/>
              </a:p>
              <a:p>
                <a:r>
                  <a:rPr lang="en-US"/>
                  <a:t>Classify it using Naïve Bayes</a:t>
                </a:r>
              </a:p>
              <a:p>
                <a:endParaRPr lang="en-US"/>
              </a:p>
              <a:p>
                <a:r>
                  <a:rPr lang="en-US"/>
                  <a:t>First: we must now calculate each of the following:</a:t>
                </a:r>
              </a:p>
              <a:p>
                <a:pPr lvl="1"/>
                <a:r>
                  <a:rPr lang="en-US"/>
                  <a:t>P(</a:t>
                </a:r>
                <a:r>
                  <a:rPr lang="en-US"/>
                  <a:t>A|x,y,z</a:t>
                </a:r>
                <a:r>
                  <a:rPr lang="en-US"/>
                  <a:t>) = </a:t>
                </a:r>
                <a:r>
                  <a:rPr lang="en-US" i="1"/>
                  <a:t>P</a:t>
                </a:r>
                <a:r>
                  <a:rPr lang="en-US"/>
                  <a:t>(</a:t>
                </a:r>
                <a:r>
                  <a:rPr lang="en-US" i="1"/>
                  <a:t>A</a:t>
                </a:r>
                <a:r>
                  <a:rPr lang="en-US"/>
                  <a:t>) . </a:t>
                </a:r>
                <a:r>
                  <a:rPr lang="en-US" i="1"/>
                  <a:t>P</a:t>
                </a:r>
                <a:r>
                  <a:rPr lang="en-US"/>
                  <a:t>(</a:t>
                </a:r>
                <a:r>
                  <a:rPr lang="en-US" i="1"/>
                  <a:t>x </a:t>
                </a:r>
                <a:r>
                  <a:rPr lang="en-US"/>
                  <a:t>= 2|</a:t>
                </a:r>
                <a:r>
                  <a:rPr lang="en-US" i="1"/>
                  <a:t>A</a:t>
                </a:r>
                <a:r>
                  <a:rPr lang="en-US"/>
                  <a:t>) . </a:t>
                </a:r>
                <a:r>
                  <a:rPr lang="en-US" i="1"/>
                  <a:t>P</a:t>
                </a:r>
                <a:r>
                  <a:rPr lang="en-US"/>
                  <a:t>(</a:t>
                </a:r>
                <a:r>
                  <a:rPr lang="en-US" i="1"/>
                  <a:t>y </a:t>
                </a:r>
                <a:r>
                  <a:rPr lang="en-US"/>
                  <a:t>= 3|</a:t>
                </a:r>
                <a:r>
                  <a:rPr lang="en-US" i="1"/>
                  <a:t>A</a:t>
                </a:r>
                <a:r>
                  <a:rPr lang="en-US"/>
                  <a:t>) . </a:t>
                </a:r>
                <a:r>
                  <a:rPr lang="en-US" i="1"/>
                  <a:t>P</a:t>
                </a:r>
                <a:r>
                  <a:rPr lang="en-US"/>
                  <a:t>(</a:t>
                </a:r>
                <a:r>
                  <a:rPr lang="en-US" i="1"/>
                  <a:t>z </a:t>
                </a:r>
                <a:r>
                  <a:rPr lang="en-US"/>
                  <a:t>= 4|</a:t>
                </a:r>
                <a:r>
                  <a:rPr lang="en-US" i="1"/>
                  <a:t>A</a:t>
                </a:r>
                <a:r>
                  <a:rPr lang="en-US"/>
                  <a:t>)</a:t>
                </a:r>
              </a:p>
              <a:p>
                <a:pPr lvl="1"/>
                <a:r>
                  <a:rPr lang="en-US"/>
                  <a:t>P(</a:t>
                </a:r>
                <a:r>
                  <a:rPr lang="en-US"/>
                  <a:t>B|x,y,z</a:t>
                </a:r>
                <a:r>
                  <a:rPr lang="en-US"/>
                  <a:t>) = </a:t>
                </a:r>
                <a:r>
                  <a:rPr lang="en-US" i="1"/>
                  <a:t>P</a:t>
                </a:r>
                <a:r>
                  <a:rPr lang="en-US"/>
                  <a:t>(</a:t>
                </a:r>
                <a:r>
                  <a:rPr lang="en-US" i="1"/>
                  <a:t>B</a:t>
                </a:r>
                <a:r>
                  <a:rPr lang="en-US"/>
                  <a:t>) . </a:t>
                </a:r>
                <a:r>
                  <a:rPr lang="en-US" i="1"/>
                  <a:t>P</a:t>
                </a:r>
                <a:r>
                  <a:rPr lang="en-US"/>
                  <a:t>(</a:t>
                </a:r>
                <a:r>
                  <a:rPr lang="en-US" i="1"/>
                  <a:t>x </a:t>
                </a:r>
                <a:r>
                  <a:rPr lang="en-US"/>
                  <a:t>= 2|</a:t>
                </a:r>
                <a:r>
                  <a:rPr lang="en-US" i="1"/>
                  <a:t>B</a:t>
                </a:r>
                <a:r>
                  <a:rPr lang="en-US"/>
                  <a:t>) . </a:t>
                </a:r>
                <a:r>
                  <a:rPr lang="en-US" i="1"/>
                  <a:t>P</a:t>
                </a:r>
                <a:r>
                  <a:rPr lang="en-US"/>
                  <a:t>(</a:t>
                </a:r>
                <a:r>
                  <a:rPr lang="en-US" i="1"/>
                  <a:t>y </a:t>
                </a:r>
                <a:r>
                  <a:rPr lang="en-US"/>
                  <a:t>= 3|</a:t>
                </a:r>
                <a:r>
                  <a:rPr lang="en-US" i="1"/>
                  <a:t>B</a:t>
                </a:r>
                <a:r>
                  <a:rPr lang="en-US"/>
                  <a:t>) . </a:t>
                </a:r>
                <a:r>
                  <a:rPr lang="en-US" i="1"/>
                  <a:t>P</a:t>
                </a:r>
                <a:r>
                  <a:rPr lang="en-US"/>
                  <a:t>(</a:t>
                </a:r>
                <a:r>
                  <a:rPr lang="en-US" i="1"/>
                  <a:t>z </a:t>
                </a:r>
                <a:r>
                  <a:rPr lang="en-US"/>
                  <a:t>= 4|</a:t>
                </a:r>
                <a:r>
                  <a:rPr lang="en-US" i="1"/>
                  <a:t>B</a:t>
                </a:r>
                <a:r>
                  <a:rPr lang="en-US"/>
                  <a:t>)</a:t>
                </a:r>
              </a:p>
              <a:p>
                <a:pPr lvl="1"/>
                <a:r>
                  <a:rPr lang="en-US"/>
                  <a:t>P(</a:t>
                </a:r>
                <a:r>
                  <a:rPr lang="en-US"/>
                  <a:t>C|x,y,z</a:t>
                </a:r>
                <a:r>
                  <a:rPr lang="en-US"/>
                  <a:t>) = </a:t>
                </a:r>
                <a:r>
                  <a:rPr lang="en-US" i="1"/>
                  <a:t>P</a:t>
                </a:r>
                <a:r>
                  <a:rPr lang="en-US"/>
                  <a:t>(</a:t>
                </a:r>
                <a:r>
                  <a:rPr lang="en-US" i="1"/>
                  <a:t>C</a:t>
                </a:r>
                <a:r>
                  <a:rPr lang="en-US"/>
                  <a:t>) . </a:t>
                </a:r>
                <a:r>
                  <a:rPr lang="en-US" i="1"/>
                  <a:t>P</a:t>
                </a:r>
                <a:r>
                  <a:rPr lang="en-US"/>
                  <a:t>(</a:t>
                </a:r>
                <a:r>
                  <a:rPr lang="en-US" i="1"/>
                  <a:t>x </a:t>
                </a:r>
                <a:r>
                  <a:rPr lang="en-US"/>
                  <a:t>= 2|</a:t>
                </a:r>
                <a:r>
                  <a:rPr lang="en-US" i="1"/>
                  <a:t>C</a:t>
                </a:r>
                <a:r>
                  <a:rPr lang="en-US"/>
                  <a:t>) . </a:t>
                </a:r>
                <a:r>
                  <a:rPr lang="en-US" i="1"/>
                  <a:t>P</a:t>
                </a:r>
                <a:r>
                  <a:rPr lang="en-US"/>
                  <a:t>(</a:t>
                </a:r>
                <a:r>
                  <a:rPr lang="en-US" i="1"/>
                  <a:t>y </a:t>
                </a:r>
                <a:r>
                  <a:rPr lang="en-US"/>
                  <a:t>= 3|</a:t>
                </a:r>
                <a:r>
                  <a:rPr lang="en-US" i="1"/>
                  <a:t>C</a:t>
                </a:r>
                <a:r>
                  <a:rPr lang="en-US"/>
                  <a:t>) . </a:t>
                </a:r>
                <a:r>
                  <a:rPr lang="en-US" i="1"/>
                  <a:t>P</a:t>
                </a:r>
                <a:r>
                  <a:rPr lang="en-US"/>
                  <a:t>(</a:t>
                </a:r>
                <a:r>
                  <a:rPr lang="en-US" i="1"/>
                  <a:t>z </a:t>
                </a:r>
                <a:r>
                  <a:rPr lang="en-US"/>
                  <a:t>= 4|</a:t>
                </a:r>
                <a:r>
                  <a:rPr lang="en-US" i="1"/>
                  <a:t>C</a:t>
                </a:r>
                <a:r>
                  <a:rPr lang="en-US"/>
                  <a:t>)</a:t>
                </a:r>
              </a:p>
            </p:txBody>
          </p:sp>
        </mc:Fallback>
      </mc:AlternateContent>
      <p:pic>
        <p:nvPicPr>
          <p:cNvPr id="4" name="Ink 3"/>
          <p:cNvPicPr>
            <a:picLocks noChangeAspect="1"/>
          </p:cNvPicPr>
          <p:nvPr/>
        </p:nvPicPr>
        <p:blipFill rotWithShape="1">
          <a:blip r:embed="rId2"/>
          <a:stretch>
            <a:fillRect/>
          </a:stretch>
        </p:blipFill>
        <p:spPr>
          <a:xfrm>
            <a:off x="4589640" y="3182400"/>
            <a:ext cx="2627640" cy="270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Naïve Bayes classifier - Example</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10515600" cy="4786190"/>
              </a:xfrm>
              <a:prstGeom prst="rect">
                <a:avLst/>
              </a:prstGeom>
            </p:spPr>
            <p:txBody>
              <a:bodyPr>
                <a:normAutofit fontScale="92500" lnSpcReduction="20000"/>
              </a:bodyPr>
              <a:lstStyle/>
              <a:p>
                <a:r>
                  <a:rPr lang="en-US"/>
                  <a:t>Probabilities will be calculated from training set:</a:t>
                </a:r>
              </a:p>
              <a:p>
                <a:r>
                  <a:rPr lang="en-US"/>
                  <a:t>The posterior probability of A, i.e. P(</a:t>
                </a:r>
                <a:r>
                  <a:rPr lang="en-US"/>
                  <a:t>A|x,y,z</a:t>
                </a:r>
                <a:r>
                  <a:rPr lang="en-US"/>
                  <a:t>):</a:t>
                </a:r>
              </a:p>
              <a:p>
                <a:pPr lvl="1"/>
                <a:r>
                  <a:rPr lang="en-US"/>
                  <a:t>P(A).P(x = 2|A).P(y = 3|A).P(z = 4|A) </a:t>
                </a:r>
              </a:p>
              <a:p>
                <a:pPr lvl="1"/>
                <a:r>
                  <a:rPr lang="en-US"/>
                  <a:t>=</a:t>
                </a:r>
                <a14:m xmlns:a14="http://schemas.microsoft.com/office/drawing/2010/main">
                  <m:oMath xmlns:m="http://schemas.openxmlformats.org/officeDocument/2006/math">
                    <m:f>
                      <m:fPr>
                        <m:ctrlPr>
                          <a:rPr lang="en-US" i="1" smtClean="0">
                            <a:latin typeface="Cambria Math" panose="02040503050406030204" pitchFamily="18" charset="0"/>
                          </a:rPr>
                        </m:ctrlPr>
                      </m:fPr>
                      <m:num>
                        <m:r>
                          <a:rPr lang="en-US" smtClean="0">
                            <a:latin typeface="Cambria Math"/>
                          </a:rPr>
                          <m:t>8</m:t>
                        </m:r>
                      </m:num>
                      <m:den>
                        <m:r>
                          <a:rPr lang="en-US" smtClean="0">
                            <a:latin typeface="Cambria Math"/>
                          </a:rPr>
                          <m:t>15</m:t>
                        </m:r>
                      </m:den>
                    </m:f>
                    <m:r>
                      <a:rPr lang="en-US" smtClean="0">
                        <a:latin typeface="Cambria Math"/>
                      </a:rPr>
                      <m:t>.</m:t>
                    </m:r>
                    <m:f>
                      <m:fPr>
                        <m:ctrlPr>
                          <a:rPr lang="en-US" i="1" smtClean="0">
                            <a:latin typeface="Cambria Math" panose="02040503050406030204" pitchFamily="18" charset="0"/>
                          </a:rPr>
                        </m:ctrlPr>
                      </m:fPr>
                      <m:num>
                        <m:r>
                          <a:rPr lang="en-US" smtClean="0">
                            <a:latin typeface="Cambria Math"/>
                          </a:rPr>
                          <m:t>5</m:t>
                        </m:r>
                      </m:num>
                      <m:den>
                        <m:r>
                          <a:rPr lang="en-US" smtClean="0">
                            <a:latin typeface="Cambria Math"/>
                          </a:rPr>
                          <m:t>8</m:t>
                        </m:r>
                      </m:den>
                    </m:f>
                    <m:r>
                      <a:rPr lang="en-US" smtClean="0">
                        <a:latin typeface="Cambria Math"/>
                      </a:rPr>
                      <m:t>.</m:t>
                    </m:r>
                    <m:f>
                      <m:fPr>
                        <m:ctrlPr>
                          <a:rPr lang="en-US" i="1" smtClean="0">
                            <a:latin typeface="Cambria Math" panose="02040503050406030204" pitchFamily="18" charset="0"/>
                          </a:rPr>
                        </m:ctrlPr>
                      </m:fPr>
                      <m:num>
                        <m:r>
                          <a:rPr lang="en-US" smtClean="0">
                            <a:latin typeface="Cambria Math"/>
                          </a:rPr>
                          <m:t>2</m:t>
                        </m:r>
                      </m:num>
                      <m:den>
                        <m:r>
                          <a:rPr lang="en-US" smtClean="0">
                            <a:latin typeface="Cambria Math"/>
                          </a:rPr>
                          <m:t>8</m:t>
                        </m:r>
                      </m:den>
                    </m:f>
                    <m:r>
                      <a:rPr lang="en-US" smtClean="0">
                        <a:latin typeface="Cambria Math"/>
                      </a:rPr>
                      <m:t>.</m:t>
                    </m:r>
                    <m:f>
                      <m:fPr>
                        <m:ctrlPr>
                          <a:rPr lang="en-US" i="1" smtClean="0">
                            <a:latin typeface="Cambria Math" panose="02040503050406030204" pitchFamily="18" charset="0"/>
                          </a:rPr>
                        </m:ctrlPr>
                      </m:fPr>
                      <m:num>
                        <m:r>
                          <a:rPr lang="en-US" smtClean="0">
                            <a:latin typeface="Cambria Math"/>
                          </a:rPr>
                          <m:t>4</m:t>
                        </m:r>
                      </m:num>
                      <m:den>
                        <m:r>
                          <a:rPr lang="en-US" smtClean="0">
                            <a:latin typeface="Cambria Math"/>
                          </a:rPr>
                          <m:t>8</m:t>
                        </m:r>
                      </m:den>
                    </m:f>
                    <m:r>
                      <a:rPr lang="en-US" smtClean="0">
                        <a:latin typeface="Cambria Math"/>
                      </a:rPr>
                      <m:t>=0.0417</m:t>
                    </m:r>
                  </m:oMath>
                </a14:m>
                <a:endParaRPr lang="en-US"/>
              </a:p>
              <a:p>
                <a:r>
                  <a:rPr lang="en-US"/>
                  <a:t>The posterior probability for B, i.e. P(</a:t>
                </a:r>
                <a:r>
                  <a:rPr lang="en-US"/>
                  <a:t>B|x,y,z</a:t>
                </a:r>
                <a:r>
                  <a:rPr lang="en-US"/>
                  <a:t>):</a:t>
                </a:r>
              </a:p>
              <a:p>
                <a:pPr lvl="1"/>
                <a:r>
                  <a:rPr lang="en-US"/>
                  <a:t> </a:t>
                </a:r>
                <a:r>
                  <a:rPr lang="en-US" i="1"/>
                  <a:t>P</a:t>
                </a:r>
                <a:r>
                  <a:rPr lang="en-US"/>
                  <a:t>(</a:t>
                </a:r>
                <a:r>
                  <a:rPr lang="en-US" i="1"/>
                  <a:t>B</a:t>
                </a:r>
                <a:r>
                  <a:rPr lang="en-US"/>
                  <a:t>) . </a:t>
                </a:r>
                <a:r>
                  <a:rPr lang="en-US" i="1"/>
                  <a:t>P</a:t>
                </a:r>
                <a:r>
                  <a:rPr lang="en-US"/>
                  <a:t>(</a:t>
                </a:r>
                <a:r>
                  <a:rPr lang="en-US" i="1"/>
                  <a:t>x </a:t>
                </a:r>
                <a:r>
                  <a:rPr lang="en-US"/>
                  <a:t>= 2|</a:t>
                </a:r>
                <a:r>
                  <a:rPr lang="en-US" i="1"/>
                  <a:t>B</a:t>
                </a:r>
                <a:r>
                  <a:rPr lang="en-US"/>
                  <a:t>) . </a:t>
                </a:r>
                <a:r>
                  <a:rPr lang="en-US" i="1"/>
                  <a:t>P</a:t>
                </a:r>
                <a:r>
                  <a:rPr lang="en-US"/>
                  <a:t>(</a:t>
                </a:r>
                <a:r>
                  <a:rPr lang="en-US" i="1"/>
                  <a:t>y </a:t>
                </a:r>
                <a:r>
                  <a:rPr lang="en-US"/>
                  <a:t>= 3|</a:t>
                </a:r>
                <a:r>
                  <a:rPr lang="en-US" i="1"/>
                  <a:t>B</a:t>
                </a:r>
                <a:r>
                  <a:rPr lang="en-US"/>
                  <a:t>) . </a:t>
                </a:r>
                <a:r>
                  <a:rPr lang="en-US" i="1"/>
                  <a:t>P</a:t>
                </a:r>
                <a:r>
                  <a:rPr lang="en-US"/>
                  <a:t>(</a:t>
                </a:r>
                <a:r>
                  <a:rPr lang="en-US" i="1"/>
                  <a:t>z </a:t>
                </a:r>
                <a:r>
                  <a:rPr lang="en-US"/>
                  <a:t>= 4|</a:t>
                </a:r>
                <a:r>
                  <a:rPr lang="en-US" i="1"/>
                  <a:t>B</a:t>
                </a:r>
                <a:r>
                  <a:rPr lang="en-US"/>
                  <a:t>)</a:t>
                </a:r>
              </a:p>
              <a:p>
                <a:pPr lvl="1"/>
                <a:r>
                  <a:rPr lang="en-US"/>
                  <a:t>= </a:t>
                </a:r>
                <a14:m xmlns:a14="http://schemas.microsoft.com/office/drawing/2010/main">
                  <m:oMath xmlns:m="http://schemas.openxmlformats.org/officeDocument/2006/math">
                    <m:f>
                      <m:fPr>
                        <m:ctrlPr>
                          <a:rPr lang="en-US" i="1" smtClean="0">
                            <a:latin typeface="Cambria Math" panose="02040503050406030204" pitchFamily="18" charset="0"/>
                          </a:rPr>
                        </m:ctrlPr>
                      </m:fPr>
                      <m:num>
                        <m:r>
                          <a:rPr lang="en-US" b="0" i="1" smtClean="0">
                            <a:latin typeface="Cambria Math"/>
                          </a:rPr>
                          <m:t>4</m:t>
                        </m:r>
                      </m:num>
                      <m:den>
                        <m:r>
                          <a:rPr lang="en-US" b="0" i="1" smtClean="0">
                            <a:latin typeface="Cambria Math"/>
                          </a:rPr>
                          <m:t>15</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4</m:t>
                        </m:r>
                      </m:den>
                    </m:f>
                    <m:r>
                      <a:rPr lang="en-US" b="0" i="1" smtClean="0">
                        <a:latin typeface="Cambria Math"/>
                      </a:rPr>
                      <m:t>=0.0083</m:t>
                    </m:r>
                  </m:oMath>
                </a14:m>
                <a:endParaRPr lang="en-US"/>
              </a:p>
              <a:p>
                <a:r>
                  <a:rPr lang="en-US"/>
                  <a:t>The posterior probability for C, i.e. P(</a:t>
                </a:r>
                <a:r>
                  <a:rPr lang="en-US"/>
                  <a:t>C|x,y,z</a:t>
                </a:r>
                <a:r>
                  <a:rPr lang="en-US"/>
                  <a:t>):</a:t>
                </a:r>
              </a:p>
              <a:p>
                <a:pPr lvl="1"/>
                <a:r>
                  <a:rPr lang="en-US"/>
                  <a:t>P(</a:t>
                </a:r>
                <a:r>
                  <a:rPr lang="en-US"/>
                  <a:t>C|x,y,z</a:t>
                </a:r>
                <a:r>
                  <a:rPr lang="en-US"/>
                  <a:t>) = </a:t>
                </a:r>
                <a:r>
                  <a:rPr lang="en-US" i="1"/>
                  <a:t>P</a:t>
                </a:r>
                <a:r>
                  <a:rPr lang="en-US"/>
                  <a:t>(</a:t>
                </a:r>
                <a:r>
                  <a:rPr lang="en-US" i="1"/>
                  <a:t>C</a:t>
                </a:r>
                <a:r>
                  <a:rPr lang="en-US"/>
                  <a:t>) . </a:t>
                </a:r>
                <a:r>
                  <a:rPr lang="en-US" i="1"/>
                  <a:t>P</a:t>
                </a:r>
                <a:r>
                  <a:rPr lang="en-US"/>
                  <a:t>(</a:t>
                </a:r>
                <a:r>
                  <a:rPr lang="en-US" i="1"/>
                  <a:t>x </a:t>
                </a:r>
                <a:r>
                  <a:rPr lang="en-US"/>
                  <a:t>= 2|</a:t>
                </a:r>
                <a:r>
                  <a:rPr lang="en-US" i="1"/>
                  <a:t>C</a:t>
                </a:r>
                <a:r>
                  <a:rPr lang="en-US"/>
                  <a:t>) . </a:t>
                </a:r>
                <a:r>
                  <a:rPr lang="en-US" i="1"/>
                  <a:t>P</a:t>
                </a:r>
                <a:r>
                  <a:rPr lang="en-US"/>
                  <a:t>(</a:t>
                </a:r>
                <a:r>
                  <a:rPr lang="en-US" i="1"/>
                  <a:t>y </a:t>
                </a:r>
                <a:r>
                  <a:rPr lang="en-US"/>
                  <a:t>= 3|</a:t>
                </a:r>
                <a:r>
                  <a:rPr lang="en-US" i="1"/>
                  <a:t>C</a:t>
                </a:r>
                <a:r>
                  <a:rPr lang="en-US"/>
                  <a:t>) . </a:t>
                </a:r>
                <a:r>
                  <a:rPr lang="en-US" i="1"/>
                  <a:t>P</a:t>
                </a:r>
                <a:r>
                  <a:rPr lang="en-US"/>
                  <a:t>(</a:t>
                </a:r>
                <a:r>
                  <a:rPr lang="en-US" i="1"/>
                  <a:t>z </a:t>
                </a:r>
                <a:r>
                  <a:rPr lang="en-US"/>
                  <a:t>= 4|</a:t>
                </a:r>
                <a:r>
                  <a:rPr lang="en-US" i="1"/>
                  <a:t>C</a:t>
                </a:r>
                <a:r>
                  <a:rPr lang="en-US"/>
                  <a:t>) </a:t>
                </a:r>
              </a:p>
              <a:p>
                <a:pPr lvl="1"/>
                <a:r>
                  <a:rPr lang="en-US"/>
                  <a:t>= </a:t>
                </a:r>
                <a14:m xmlns:a14="http://schemas.microsoft.com/office/drawing/2010/main">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3</m:t>
                        </m:r>
                      </m:num>
                      <m:den>
                        <m:r>
                          <a:rPr lang="en-US" b="0" i="1" smtClean="0">
                            <a:latin typeface="Cambria Math"/>
                          </a:rPr>
                          <m:t>15</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3</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3</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3</m:t>
                        </m:r>
                      </m:den>
                    </m:f>
                    <m:r>
                      <a:rPr lang="en-US" b="0" i="1" smtClean="0">
                        <a:latin typeface="Cambria Math"/>
                      </a:rPr>
                      <m:t>=0.015</m:t>
                    </m:r>
                  </m:oMath>
                </a14:m>
                <a:endParaRPr lang="en-US"/>
              </a:p>
              <a:p>
                <a:r>
                  <a:rPr lang="en-US" sz="3300">
                    <a:solidFill>
                      <a:srgbClr val="FF0000"/>
                    </a:solidFill>
                  </a:rPr>
                  <a:t>Hence, category A is chosen as the best category </a:t>
                </a:r>
                <a:r>
                  <a:rPr lang="en-US"/>
                  <a:t>for this new piece of data, with category C as the second best choice.</a:t>
                </a:r>
              </a:p>
            </p:txBody>
          </p:sp>
        </mc:Choice>
        <mc:Fallback>
          <p:sp>
            <p:nvSpPr>
              <p:cNvPr id="3" name="Content Placeholder 2"/>
              <p:cNvSpPr>
                <a:spLocks noGrp="1"/>
              </p:cNvSpPr>
              <p:nvPr>
                <p:ph idx="1"/>
              </p:nvPr>
            </p:nvSpPr>
            <p:spPr>
              <a:xfrm>
                <a:off x="838200" y="1825625"/>
                <a:ext cx="10515600" cy="4786190"/>
              </a:xfrm>
              <a:prstGeom prst="rect">
                <a:avLst/>
              </a:prstGeom>
            </p:spPr>
            <p:txBody>
              <a:bodyPr>
                <a:normAutofit fontScale="92500" lnSpcReduction="20000"/>
              </a:bodyPr>
              <a:lstStyle/>
              <a:p>
                <a:r>
                  <a:rPr lang="en-US"/>
                  <a:t>Probabilities will be calculated from training set:</a:t>
                </a:r>
              </a:p>
              <a:p>
                <a:r>
                  <a:rPr lang="en-US"/>
                  <a:t>The posterior probability of A, i.e. P(</a:t>
                </a:r>
                <a:r>
                  <a:rPr lang="en-US"/>
                  <a:t>A|x,y,z</a:t>
                </a:r>
                <a:r>
                  <a:rPr lang="en-US"/>
                  <a:t>):</a:t>
                </a:r>
              </a:p>
              <a:p>
                <a:pPr lvl="1"/>
                <a:r>
                  <a:rPr lang="en-US"/>
                  <a:t>P(A).P(x = 2|A).P(y = 3|A).P(z = 4|A) </a:t>
                </a:r>
              </a:p>
              <a:p>
                <a:pPr lvl="1"/>
                <a:r>
                  <a:rPr lang="en-US"/>
                  <a:t>=</a:t>
                </a:r>
                <a:r>
                  <a:rPr/>
                  <a:t>815.58.28.48=0.0417</a:t>
                </a:r>
                <a:endParaRPr lang="en-US"/>
              </a:p>
              <a:p>
                <a:r>
                  <a:rPr lang="en-US"/>
                  <a:t>The posterior probability for B, i.e. P(</a:t>
                </a:r>
                <a:r>
                  <a:rPr lang="en-US"/>
                  <a:t>B|x,y,z</a:t>
                </a:r>
                <a:r>
                  <a:rPr lang="en-US"/>
                  <a:t>):</a:t>
                </a:r>
              </a:p>
              <a:p>
                <a:pPr lvl="1"/>
                <a:r>
                  <a:rPr lang="en-US"/>
                  <a:t> </a:t>
                </a:r>
                <a:r>
                  <a:rPr lang="en-US" i="1"/>
                  <a:t>P</a:t>
                </a:r>
                <a:r>
                  <a:rPr lang="en-US"/>
                  <a:t>(</a:t>
                </a:r>
                <a:r>
                  <a:rPr lang="en-US" i="1"/>
                  <a:t>B</a:t>
                </a:r>
                <a:r>
                  <a:rPr lang="en-US"/>
                  <a:t>) . </a:t>
                </a:r>
                <a:r>
                  <a:rPr lang="en-US" i="1"/>
                  <a:t>P</a:t>
                </a:r>
                <a:r>
                  <a:rPr lang="en-US"/>
                  <a:t>(</a:t>
                </a:r>
                <a:r>
                  <a:rPr lang="en-US" i="1"/>
                  <a:t>x </a:t>
                </a:r>
                <a:r>
                  <a:rPr lang="en-US"/>
                  <a:t>= 2|</a:t>
                </a:r>
                <a:r>
                  <a:rPr lang="en-US" i="1"/>
                  <a:t>B</a:t>
                </a:r>
                <a:r>
                  <a:rPr lang="en-US"/>
                  <a:t>) . </a:t>
                </a:r>
                <a:r>
                  <a:rPr lang="en-US" i="1"/>
                  <a:t>P</a:t>
                </a:r>
                <a:r>
                  <a:rPr lang="en-US"/>
                  <a:t>(</a:t>
                </a:r>
                <a:r>
                  <a:rPr lang="en-US" i="1"/>
                  <a:t>y </a:t>
                </a:r>
                <a:r>
                  <a:rPr lang="en-US"/>
                  <a:t>= 3|</a:t>
                </a:r>
                <a:r>
                  <a:rPr lang="en-US" i="1"/>
                  <a:t>B</a:t>
                </a:r>
                <a:r>
                  <a:rPr lang="en-US"/>
                  <a:t>) . </a:t>
                </a:r>
                <a:r>
                  <a:rPr lang="en-US" i="1"/>
                  <a:t>P</a:t>
                </a:r>
                <a:r>
                  <a:rPr lang="en-US"/>
                  <a:t>(</a:t>
                </a:r>
                <a:r>
                  <a:rPr lang="en-US" i="1"/>
                  <a:t>z </a:t>
                </a:r>
                <a:r>
                  <a:rPr lang="en-US"/>
                  <a:t>= 4|</a:t>
                </a:r>
                <a:r>
                  <a:rPr lang="en-US" i="1"/>
                  <a:t>B</a:t>
                </a:r>
                <a:r>
                  <a:rPr lang="en-US"/>
                  <a:t>)</a:t>
                </a:r>
              </a:p>
              <a:p>
                <a:pPr lvl="1"/>
                <a:r>
                  <a:rPr lang="en-US"/>
                  <a:t>= </a:t>
                </a:r>
                <a:r>
                  <a:rPr/>
                  <a:t>415.14.14.24=0.0083</a:t>
                </a:r>
                <a:endParaRPr lang="en-US"/>
              </a:p>
              <a:p>
                <a:r>
                  <a:rPr lang="en-US"/>
                  <a:t>The posterior probability for C, i.e. P(</a:t>
                </a:r>
                <a:r>
                  <a:rPr lang="en-US"/>
                  <a:t>C|x,y,z</a:t>
                </a:r>
                <a:r>
                  <a:rPr lang="en-US"/>
                  <a:t>):</a:t>
                </a:r>
              </a:p>
              <a:p>
                <a:pPr lvl="1"/>
                <a:r>
                  <a:rPr lang="en-US"/>
                  <a:t>P(</a:t>
                </a:r>
                <a:r>
                  <a:rPr lang="en-US"/>
                  <a:t>C|x,y,z</a:t>
                </a:r>
                <a:r>
                  <a:rPr lang="en-US"/>
                  <a:t>) = </a:t>
                </a:r>
                <a:r>
                  <a:rPr lang="en-US" i="1"/>
                  <a:t>P</a:t>
                </a:r>
                <a:r>
                  <a:rPr lang="en-US"/>
                  <a:t>(</a:t>
                </a:r>
                <a:r>
                  <a:rPr lang="en-US" i="1"/>
                  <a:t>C</a:t>
                </a:r>
                <a:r>
                  <a:rPr lang="en-US"/>
                  <a:t>) . </a:t>
                </a:r>
                <a:r>
                  <a:rPr lang="en-US" i="1"/>
                  <a:t>P</a:t>
                </a:r>
                <a:r>
                  <a:rPr lang="en-US"/>
                  <a:t>(</a:t>
                </a:r>
                <a:r>
                  <a:rPr lang="en-US" i="1"/>
                  <a:t>x </a:t>
                </a:r>
                <a:r>
                  <a:rPr lang="en-US"/>
                  <a:t>= 2|</a:t>
                </a:r>
                <a:r>
                  <a:rPr lang="en-US" i="1"/>
                  <a:t>C</a:t>
                </a:r>
                <a:r>
                  <a:rPr lang="en-US"/>
                  <a:t>) . </a:t>
                </a:r>
                <a:r>
                  <a:rPr lang="en-US" i="1"/>
                  <a:t>P</a:t>
                </a:r>
                <a:r>
                  <a:rPr lang="en-US"/>
                  <a:t>(</a:t>
                </a:r>
                <a:r>
                  <a:rPr lang="en-US" i="1"/>
                  <a:t>y </a:t>
                </a:r>
                <a:r>
                  <a:rPr lang="en-US"/>
                  <a:t>= 3|</a:t>
                </a:r>
                <a:r>
                  <a:rPr lang="en-US" i="1"/>
                  <a:t>C</a:t>
                </a:r>
                <a:r>
                  <a:rPr lang="en-US"/>
                  <a:t>) . </a:t>
                </a:r>
                <a:r>
                  <a:rPr lang="en-US" i="1"/>
                  <a:t>P</a:t>
                </a:r>
                <a:r>
                  <a:rPr lang="en-US"/>
                  <a:t>(</a:t>
                </a:r>
                <a:r>
                  <a:rPr lang="en-US" i="1"/>
                  <a:t>z </a:t>
                </a:r>
                <a:r>
                  <a:rPr lang="en-US"/>
                  <a:t>= 4|</a:t>
                </a:r>
                <a:r>
                  <a:rPr lang="en-US" i="1"/>
                  <a:t>C</a:t>
                </a:r>
                <a:r>
                  <a:rPr lang="en-US"/>
                  <a:t>) </a:t>
                </a:r>
              </a:p>
              <a:p>
                <a:pPr lvl="1"/>
                <a:r>
                  <a:rPr lang="en-US"/>
                  <a:t>= </a:t>
                </a:r>
                <a:r>
                  <a:rPr/>
                  <a:t>315.13.23.13=0.015</a:t>
                </a:r>
                <a:endParaRPr lang="en-US"/>
              </a:p>
              <a:p>
                <a:r>
                  <a:rPr lang="en-US" sz="3300">
                    <a:solidFill>
                      <a:srgbClr val="FF0000"/>
                    </a:solidFill>
                  </a:rPr>
                  <a:t>Hence, category A is chosen as the best category </a:t>
                </a:r>
                <a:r>
                  <a:rPr lang="en-US"/>
                  <a:t>for this new piece of data, with category C as the second best choice.</a:t>
                </a:r>
              </a:p>
            </p:txBody>
          </p:sp>
        </mc:Fallback>
      </mc:AlternateContent>
      <p:pic>
        <p:nvPicPr>
          <p:cNvPr id="4" name="Picture 2"/>
          <p:cNvPicPr>
            <a:picLocks noChangeAspect="1"/>
          </p:cNvPicPr>
          <p:nvPr/>
        </p:nvPicPr>
        <p:blipFill rotWithShape="1">
          <a:blip r:embed="rId2"/>
          <a:stretch>
            <a:fillRect/>
          </a:stretch>
        </p:blipFill>
        <p:spPr>
          <a:xfrm>
            <a:off x="7996936" y="1690995"/>
            <a:ext cx="3356863" cy="2212411"/>
          </a:xfrm>
          <a:prstGeom prst="rect">
            <a:avLst/>
          </a:prstGeom>
          <a:noFill/>
          <a:ln>
            <a:noFill/>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Example: Training Dataset</a:t>
            </a:r>
          </a:p>
        </p:txBody>
      </p:sp>
      <p:pic>
        <p:nvPicPr>
          <p:cNvPr id="6" name="Picture 5"/>
          <p:cNvPicPr>
            <a:picLocks noChangeAspect="1"/>
          </p:cNvPicPr>
          <p:nvPr/>
        </p:nvPicPr>
        <p:blipFill rotWithShape="1">
          <a:blip r:embed="rId2"/>
          <a:stretch>
            <a:fillRect/>
          </a:stretch>
        </p:blipFill>
        <p:spPr>
          <a:xfrm>
            <a:off x="2402315" y="1690688"/>
            <a:ext cx="7387370" cy="499848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Supervised Classification</a:t>
            </a:r>
          </a:p>
        </p:txBody>
      </p:sp>
      <p:sp>
        <p:nvSpPr>
          <p:cNvPr id="3" name="Content Placeholder 2"/>
          <p:cNvSpPr>
            <a:spLocks noGrp="1"/>
          </p:cNvSpPr>
          <p:nvPr>
            <p:ph idx="1"/>
          </p:nvPr>
        </p:nvSpPr>
        <p:spPr>
          <a:xfrm>
            <a:off x="838200" y="1825625"/>
            <a:ext cx="10515600" cy="3632640"/>
          </a:xfrm>
          <a:prstGeom prst="rect">
            <a:avLst/>
          </a:prstGeom>
        </p:spPr>
        <p:txBody>
          <a:bodyPr>
            <a:normAutofit fontScale="70000" lnSpcReduction="20000"/>
          </a:bodyPr>
          <a:lstStyle/>
          <a:p>
            <a:r>
              <a:rPr lang="en-US"/>
              <a:t>Now assume that we have to classify the following new instance:</a:t>
            </a:r>
          </a:p>
          <a:p>
            <a:endParaRPr lang="en-US"/>
          </a:p>
          <a:p>
            <a:endParaRPr lang="en-US"/>
          </a:p>
          <a:p>
            <a:endParaRPr lang="en-US" b="1"/>
          </a:p>
          <a:p>
            <a:r>
              <a:rPr lang="en-US" b="1"/>
              <a:t>Key idea</a:t>
            </a:r>
            <a:r>
              <a:rPr lang="en-US"/>
              <a:t>: compute a probability for each class based on the probability distribution in the training data.</a:t>
            </a:r>
          </a:p>
          <a:p>
            <a:r>
              <a:rPr lang="en-US"/>
              <a:t>First take into account the probability of each attribute. Treat all attributes </a:t>
            </a:r>
            <a:r>
              <a:rPr lang="en-US" b="1"/>
              <a:t>equally important</a:t>
            </a:r>
            <a:r>
              <a:rPr lang="en-US"/>
              <a:t>, i.e., multiply the probabilities.</a:t>
            </a:r>
          </a:p>
          <a:p>
            <a:r>
              <a:rPr lang="en-US"/>
              <a:t>Now take into account the </a:t>
            </a:r>
            <a:r>
              <a:rPr lang="en-US" b="1"/>
              <a:t>overall probability </a:t>
            </a:r>
            <a:r>
              <a:rPr lang="en-US"/>
              <a:t>of a given class. Multiply it with the probabilities of the attributes.</a:t>
            </a:r>
          </a:p>
          <a:p>
            <a:r>
              <a:rPr lang="en-US"/>
              <a:t>Now choose the class so that it </a:t>
            </a:r>
            <a:r>
              <a:rPr lang="en-US" b="1"/>
              <a:t>maximizes this probability</a:t>
            </a:r>
            <a:r>
              <a:rPr lang="en-US"/>
              <a:t>. This means that the new instance will be classified as YES or </a:t>
            </a:r>
            <a:r>
              <a:rPr lang="en-US" b="1"/>
              <a:t>NO</a:t>
            </a:r>
            <a:r>
              <a:rPr lang="en-US"/>
              <a:t>.</a:t>
            </a:r>
          </a:p>
        </p:txBody>
      </p:sp>
      <p:graphicFrame>
        <p:nvGraphicFramePr>
          <p:cNvPr id="8" name="Table 7"/>
          <p:cNvGraphicFramePr>
            <a:graphicFrameLocks noGrp="1"/>
          </p:cNvGraphicFramePr>
          <p:nvPr/>
        </p:nvGraphicFramePr>
        <p:xfrm>
          <a:off x="2288540" y="2246972"/>
          <a:ext cx="8128000" cy="73660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325363">
                <a:tc>
                  <a:txBody>
                    <a:bodyPr/>
                    <a:lstStyle/>
                    <a:p>
                      <a:pPr algn="ctr"/>
                      <a:r>
                        <a:rPr lang="en-US"/>
                        <a:t>Outlook</a:t>
                      </a:r>
                    </a:p>
                  </a:txBody>
                  <a:tcPr/>
                </a:tc>
                <a:tc>
                  <a:txBody>
                    <a:bodyPr/>
                    <a:lstStyle/>
                    <a:p>
                      <a:pPr algn="ctr"/>
                      <a:r>
                        <a:rPr lang="en-US"/>
                        <a:t>Temperature</a:t>
                      </a:r>
                    </a:p>
                  </a:txBody>
                  <a:tcPr/>
                </a:tc>
                <a:tc>
                  <a:txBody>
                    <a:bodyPr/>
                    <a:lstStyle/>
                    <a:p>
                      <a:pPr algn="ctr"/>
                      <a:r>
                        <a:rPr lang="en-US"/>
                        <a:t>Humidity</a:t>
                      </a:r>
                    </a:p>
                  </a:txBody>
                  <a:tcPr/>
                </a:tc>
                <a:tc>
                  <a:txBody>
                    <a:bodyPr/>
                    <a:lstStyle/>
                    <a:p>
                      <a:pPr algn="ctr"/>
                      <a:r>
                        <a:rPr lang="en-US"/>
                        <a:t>Windy</a:t>
                      </a:r>
                    </a:p>
                  </a:txBody>
                  <a:tcPr/>
                </a:tc>
                <a:tc>
                  <a:txBody>
                    <a:bodyPr/>
                    <a:lstStyle/>
                    <a:p>
                      <a:pPr algn="ctr"/>
                      <a:r>
                        <a:rPr lang="en-US"/>
                        <a:t>Play</a:t>
                      </a:r>
                    </a:p>
                  </a:txBody>
                  <a:tcPr/>
                </a:tc>
              </a:tr>
              <a:tr h="370840">
                <a:tc>
                  <a:txBody>
                    <a:bodyPr/>
                    <a:lstStyle/>
                    <a:p>
                      <a:pPr algn="ctr"/>
                      <a:r>
                        <a:rPr lang="en-US"/>
                        <a:t>Sunny</a:t>
                      </a:r>
                    </a:p>
                  </a:txBody>
                  <a:tcPr/>
                </a:tc>
                <a:tc>
                  <a:txBody>
                    <a:bodyPr/>
                    <a:lstStyle/>
                    <a:p>
                      <a:pPr algn="ctr"/>
                      <a:r>
                        <a:rPr lang="en-US"/>
                        <a:t>Cool</a:t>
                      </a:r>
                    </a:p>
                  </a:txBody>
                  <a:tcPr/>
                </a:tc>
                <a:tc>
                  <a:txBody>
                    <a:bodyPr/>
                    <a:lstStyle/>
                    <a:p>
                      <a:pPr algn="ctr"/>
                      <a:r>
                        <a:rPr lang="en-US"/>
                        <a:t>High</a:t>
                      </a:r>
                    </a:p>
                  </a:txBody>
                  <a:tcPr/>
                </a:tc>
                <a:tc>
                  <a:txBody>
                    <a:bodyPr/>
                    <a:lstStyle/>
                    <a:p>
                      <a:pPr algn="ctr"/>
                      <a:r>
                        <a:rPr lang="en-US"/>
                        <a:t>Strong</a:t>
                      </a:r>
                    </a:p>
                  </a:txBody>
                  <a:tcPr/>
                </a:tc>
                <a:tc>
                  <a:txBody>
                    <a:bodyPr/>
                    <a:lstStyle/>
                    <a:p>
                      <a:pPr algn="ctr"/>
                      <a:r>
                        <a:rPr lang="en-US" b="1"/>
                        <a:t>?</a:t>
                      </a:r>
                    </a:p>
                  </a:txBody>
                  <a:tcPr/>
                </a:tc>
              </a:tr>
            </a:tbl>
          </a:graphicData>
        </a:graphic>
      </p:graphicFrame>
      <p:pic>
        <p:nvPicPr>
          <p:cNvPr id="4" name="Object 3"/>
          <p:cNvPicPr>
            <a:picLocks noChangeAspect="1"/>
          </p:cNvPicPr>
          <p:nvPr/>
        </p:nvPicPr>
        <p:blipFill rotWithShape="1">
          <a:blip r:embed="rId2"/>
          <a:stretch>
            <a:fillRect/>
          </a:stretch>
        </p:blipFill>
        <p:spPr>
          <a:xfrm>
            <a:off x="429481" y="5553184"/>
            <a:ext cx="11067334" cy="10748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244941" y="444093"/>
          <a:ext cx="3632264" cy="2225040"/>
        </p:xfrm>
        <a:graphic>
          <a:graphicData uri="http://schemas.openxmlformats.org/drawingml/2006/table">
            <a:tbl>
              <a:tblPr firstRow="1" bandRow="1">
                <a:tableStyleId>{5C22544A-7EE6-4342-B048-85BDC9FD1C3A}</a:tableStyleId>
              </a:tblPr>
              <a:tblGrid>
                <a:gridCol w="1044385"/>
                <a:gridCol w="533210"/>
                <a:gridCol w="503555"/>
                <a:gridCol w="790384"/>
                <a:gridCol w="760730"/>
              </a:tblGrid>
              <a:tr h="370840">
                <a:tc gridSpan="5">
                  <a:txBody>
                    <a:bodyPr/>
                    <a:lstStyle/>
                    <a:p>
                      <a:pPr algn="ctr"/>
                      <a:r>
                        <a:rPr lang="en-US"/>
                        <a:t>Outlook</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endParaRPr lang="en-US" b="1"/>
                    </a:p>
                  </a:txBody>
                  <a:tcPr/>
                </a:tc>
                <a:tc>
                  <a:txBody>
                    <a:bodyPr/>
                    <a:lstStyle/>
                    <a:p>
                      <a:pPr algn="ctr"/>
                      <a:r>
                        <a:rPr lang="en-US" b="1"/>
                        <a:t>Yes</a:t>
                      </a:r>
                    </a:p>
                  </a:txBody>
                  <a:tcPr/>
                </a:tc>
                <a:tc>
                  <a:txBody>
                    <a:bodyPr/>
                    <a:lstStyle/>
                    <a:p>
                      <a:pPr algn="ctr"/>
                      <a:r>
                        <a:rPr lang="en-US" b="1"/>
                        <a:t>No</a:t>
                      </a:r>
                    </a:p>
                  </a:txBody>
                  <a:tcPr/>
                </a:tc>
                <a:tc>
                  <a:txBody>
                    <a:bodyPr/>
                    <a:lstStyle/>
                    <a:p>
                      <a:pPr algn="ctr"/>
                      <a:r>
                        <a:rPr lang="en-US" b="1"/>
                        <a:t>P(Yes)</a:t>
                      </a:r>
                    </a:p>
                  </a:txBody>
                  <a:tcPr/>
                </a:tc>
                <a:tc>
                  <a:txBody>
                    <a:bodyPr/>
                    <a:lstStyle/>
                    <a:p>
                      <a:pPr algn="ctr"/>
                      <a:r>
                        <a:rPr lang="en-US" b="1"/>
                        <a:t>P(No)</a:t>
                      </a:r>
                    </a:p>
                  </a:txBody>
                  <a:tcPr/>
                </a:tc>
              </a:tr>
              <a:tr h="370840">
                <a:tc>
                  <a:txBody>
                    <a:bodyPr/>
                    <a:lstStyle/>
                    <a:p>
                      <a:r>
                        <a:rPr lang="en-US"/>
                        <a:t>Sunny</a:t>
                      </a:r>
                    </a:p>
                  </a:txBody>
                  <a:tcPr/>
                </a:tc>
                <a:tc>
                  <a:txBody>
                    <a:bodyPr/>
                    <a:lstStyle/>
                    <a:p>
                      <a:pPr algn="ctr"/>
                      <a:r>
                        <a:rPr lang="en-US"/>
                        <a:t>2</a:t>
                      </a:r>
                    </a:p>
                  </a:txBody>
                  <a:tcPr/>
                </a:tc>
                <a:tc>
                  <a:txBody>
                    <a:bodyPr/>
                    <a:lstStyle/>
                    <a:p>
                      <a:pPr algn="ctr"/>
                      <a:r>
                        <a:rPr lang="en-US"/>
                        <a:t>3</a:t>
                      </a:r>
                    </a:p>
                  </a:txBody>
                  <a:tcPr/>
                </a:tc>
                <a:tc>
                  <a:txBody>
                    <a:bodyPr/>
                    <a:lstStyle/>
                    <a:p>
                      <a:pPr algn="ctr"/>
                      <a:r>
                        <a:rPr lang="en-US"/>
                        <a:t>2/9</a:t>
                      </a:r>
                    </a:p>
                  </a:txBody>
                  <a:tcPr/>
                </a:tc>
                <a:tc>
                  <a:txBody>
                    <a:bodyPr/>
                    <a:lstStyle/>
                    <a:p>
                      <a:pPr algn="ctr"/>
                      <a:r>
                        <a:rPr lang="en-US"/>
                        <a:t>3/5</a:t>
                      </a:r>
                    </a:p>
                  </a:txBody>
                  <a:tcPr/>
                </a:tc>
              </a:tr>
              <a:tr h="370840">
                <a:tc>
                  <a:txBody>
                    <a:bodyPr/>
                    <a:lstStyle/>
                    <a:p>
                      <a:r>
                        <a:rPr lang="en-US"/>
                        <a:t>Overcast</a:t>
                      </a:r>
                    </a:p>
                  </a:txBody>
                  <a:tcPr/>
                </a:tc>
                <a:tc>
                  <a:txBody>
                    <a:bodyPr/>
                    <a:lstStyle/>
                    <a:p>
                      <a:pPr algn="ctr"/>
                      <a:r>
                        <a:rPr lang="en-US"/>
                        <a:t>4</a:t>
                      </a:r>
                    </a:p>
                  </a:txBody>
                  <a:tcPr/>
                </a:tc>
                <a:tc>
                  <a:txBody>
                    <a:bodyPr/>
                    <a:lstStyle/>
                    <a:p>
                      <a:pPr algn="ctr"/>
                      <a:r>
                        <a:rPr lang="en-US"/>
                        <a:t>0</a:t>
                      </a:r>
                    </a:p>
                  </a:txBody>
                  <a:tcPr/>
                </a:tc>
                <a:tc>
                  <a:txBody>
                    <a:bodyPr/>
                    <a:lstStyle/>
                    <a:p>
                      <a:pPr algn="ctr"/>
                      <a:r>
                        <a:rPr lang="en-US"/>
                        <a:t>4/9</a:t>
                      </a:r>
                    </a:p>
                  </a:txBody>
                  <a:tcPr/>
                </a:tc>
                <a:tc>
                  <a:txBody>
                    <a:bodyPr/>
                    <a:lstStyle/>
                    <a:p>
                      <a:pPr algn="ctr"/>
                      <a:r>
                        <a:rPr lang="en-US"/>
                        <a:t>0/5</a:t>
                      </a:r>
                    </a:p>
                  </a:txBody>
                  <a:tcPr/>
                </a:tc>
              </a:tr>
              <a:tr h="370840">
                <a:tc>
                  <a:txBody>
                    <a:bodyPr/>
                    <a:lstStyle/>
                    <a:p>
                      <a:r>
                        <a:rPr lang="en-US"/>
                        <a:t>Rainy</a:t>
                      </a:r>
                    </a:p>
                  </a:txBody>
                  <a:tcPr/>
                </a:tc>
                <a:tc>
                  <a:txBody>
                    <a:bodyPr/>
                    <a:lstStyle/>
                    <a:p>
                      <a:pPr algn="ctr"/>
                      <a:r>
                        <a:rPr lang="en-US"/>
                        <a:t>3</a:t>
                      </a:r>
                    </a:p>
                  </a:txBody>
                  <a:tcPr/>
                </a:tc>
                <a:tc>
                  <a:txBody>
                    <a:bodyPr/>
                    <a:lstStyle/>
                    <a:p>
                      <a:pPr algn="ctr"/>
                      <a:r>
                        <a:rPr lang="en-US"/>
                        <a:t>2</a:t>
                      </a:r>
                    </a:p>
                  </a:txBody>
                  <a:tcPr/>
                </a:tc>
                <a:tc>
                  <a:txBody>
                    <a:bodyPr/>
                    <a:lstStyle/>
                    <a:p>
                      <a:pPr algn="ctr"/>
                      <a:r>
                        <a:rPr lang="en-US"/>
                        <a:t>3/9</a:t>
                      </a:r>
                    </a:p>
                  </a:txBody>
                  <a:tcPr/>
                </a:tc>
                <a:tc>
                  <a:txBody>
                    <a:bodyPr/>
                    <a:lstStyle/>
                    <a:p>
                      <a:pPr algn="ctr"/>
                      <a:r>
                        <a:rPr lang="en-US"/>
                        <a:t>2/5</a:t>
                      </a:r>
                    </a:p>
                  </a:txBody>
                  <a:tcPr/>
                </a:tc>
              </a:tr>
              <a:tr h="370840">
                <a:tc>
                  <a:txBody>
                    <a:bodyPr/>
                    <a:lstStyle/>
                    <a:p>
                      <a:pPr algn="r"/>
                      <a:r>
                        <a:rPr lang="en-US" b="1"/>
                        <a:t>Total</a:t>
                      </a:r>
                    </a:p>
                  </a:txBody>
                  <a:tcPr/>
                </a:tc>
                <a:tc>
                  <a:txBody>
                    <a:bodyPr/>
                    <a:lstStyle/>
                    <a:p>
                      <a:pPr algn="ctr"/>
                      <a:r>
                        <a:rPr lang="en-US" b="1"/>
                        <a:t>9</a:t>
                      </a:r>
                    </a:p>
                  </a:txBody>
                  <a:tcPr/>
                </a:tc>
                <a:tc>
                  <a:txBody>
                    <a:bodyPr/>
                    <a:lstStyle/>
                    <a:p>
                      <a:pPr algn="ctr"/>
                      <a:r>
                        <a:rPr lang="en-US" b="1"/>
                        <a:t>5</a:t>
                      </a:r>
                    </a:p>
                  </a:txBody>
                  <a:tcPr/>
                </a:tc>
                <a:tc>
                  <a:txBody>
                    <a:bodyPr/>
                    <a:lstStyle/>
                    <a:p>
                      <a:pPr algn="ctr"/>
                      <a:r>
                        <a:rPr lang="en-US" b="1"/>
                        <a:t>100%</a:t>
                      </a:r>
                    </a:p>
                  </a:txBody>
                  <a:tcPr/>
                </a:tc>
                <a:tc>
                  <a:txBody>
                    <a:bodyPr/>
                    <a:lstStyle/>
                    <a:p>
                      <a:pPr algn="ctr"/>
                      <a:r>
                        <a:rPr lang="en-US" b="1"/>
                        <a:t>100%</a:t>
                      </a:r>
                    </a:p>
                  </a:txBody>
                  <a:tcPr/>
                </a:tc>
              </a:tr>
            </a:tbl>
          </a:graphicData>
        </a:graphic>
      </p:graphicFrame>
      <p:graphicFrame>
        <p:nvGraphicFramePr>
          <p:cNvPr id="5" name="Table 4"/>
          <p:cNvGraphicFramePr>
            <a:graphicFrameLocks noGrp="1"/>
          </p:cNvGraphicFramePr>
          <p:nvPr/>
        </p:nvGraphicFramePr>
        <p:xfrm>
          <a:off x="6067468" y="458708"/>
          <a:ext cx="3632264" cy="2225040"/>
        </p:xfrm>
        <a:graphic>
          <a:graphicData uri="http://schemas.openxmlformats.org/drawingml/2006/table">
            <a:tbl>
              <a:tblPr firstRow="1" bandRow="1">
                <a:tableStyleId>{5C22544A-7EE6-4342-B048-85BDC9FD1C3A}</a:tableStyleId>
              </a:tblPr>
              <a:tblGrid>
                <a:gridCol w="1044385"/>
                <a:gridCol w="533210"/>
                <a:gridCol w="503555"/>
                <a:gridCol w="790384"/>
                <a:gridCol w="760730"/>
              </a:tblGrid>
              <a:tr h="370840">
                <a:tc gridSpan="5">
                  <a:txBody>
                    <a:bodyPr/>
                    <a:lstStyle/>
                    <a:p>
                      <a:pPr algn="ctr"/>
                      <a:r>
                        <a:rPr lang="en-US"/>
                        <a:t>Temperature</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endParaRPr lang="en-US" b="1"/>
                    </a:p>
                  </a:txBody>
                  <a:tcPr/>
                </a:tc>
                <a:tc>
                  <a:txBody>
                    <a:bodyPr/>
                    <a:lstStyle/>
                    <a:p>
                      <a:pPr algn="ctr"/>
                      <a:r>
                        <a:rPr lang="en-US" b="1"/>
                        <a:t>Yes</a:t>
                      </a:r>
                    </a:p>
                  </a:txBody>
                  <a:tcPr/>
                </a:tc>
                <a:tc>
                  <a:txBody>
                    <a:bodyPr/>
                    <a:lstStyle/>
                    <a:p>
                      <a:pPr algn="ctr"/>
                      <a:r>
                        <a:rPr lang="en-US" b="1"/>
                        <a:t>No</a:t>
                      </a:r>
                    </a:p>
                  </a:txBody>
                  <a:tcPr/>
                </a:tc>
                <a:tc>
                  <a:txBody>
                    <a:bodyPr/>
                    <a:lstStyle/>
                    <a:p>
                      <a:pPr algn="ctr"/>
                      <a:r>
                        <a:rPr lang="en-US" b="1"/>
                        <a:t>P(Yes)</a:t>
                      </a:r>
                    </a:p>
                  </a:txBody>
                  <a:tcPr/>
                </a:tc>
                <a:tc>
                  <a:txBody>
                    <a:bodyPr/>
                    <a:lstStyle/>
                    <a:p>
                      <a:pPr algn="ctr"/>
                      <a:r>
                        <a:rPr lang="en-US" b="1"/>
                        <a:t>P(No)</a:t>
                      </a:r>
                    </a:p>
                  </a:txBody>
                  <a:tcPr/>
                </a:tc>
              </a:tr>
              <a:tr h="370840">
                <a:tc>
                  <a:txBody>
                    <a:bodyPr/>
                    <a:lstStyle/>
                    <a:p>
                      <a:r>
                        <a:rPr lang="en-US"/>
                        <a:t>Hot</a:t>
                      </a:r>
                    </a:p>
                  </a:txBody>
                  <a:tcPr/>
                </a:tc>
                <a:tc>
                  <a:txBody>
                    <a:bodyPr/>
                    <a:lstStyle/>
                    <a:p>
                      <a:pPr algn="ctr"/>
                      <a:r>
                        <a:rPr lang="en-US"/>
                        <a:t>2</a:t>
                      </a:r>
                    </a:p>
                  </a:txBody>
                  <a:tcPr/>
                </a:tc>
                <a:tc>
                  <a:txBody>
                    <a:bodyPr/>
                    <a:lstStyle/>
                    <a:p>
                      <a:pPr algn="ctr"/>
                      <a:r>
                        <a:rPr lang="en-US"/>
                        <a:t>2</a:t>
                      </a:r>
                    </a:p>
                  </a:txBody>
                  <a:tcPr/>
                </a:tc>
                <a:tc>
                  <a:txBody>
                    <a:bodyPr/>
                    <a:lstStyle/>
                    <a:p>
                      <a:pPr algn="ctr"/>
                      <a:r>
                        <a:rPr lang="en-US"/>
                        <a:t>2/9</a:t>
                      </a:r>
                    </a:p>
                  </a:txBody>
                  <a:tcPr/>
                </a:tc>
                <a:tc>
                  <a:txBody>
                    <a:bodyPr/>
                    <a:lstStyle/>
                    <a:p>
                      <a:pPr algn="ctr"/>
                      <a:r>
                        <a:rPr lang="en-US"/>
                        <a:t>2/5</a:t>
                      </a:r>
                    </a:p>
                  </a:txBody>
                  <a:tcPr/>
                </a:tc>
              </a:tr>
              <a:tr h="370840">
                <a:tc>
                  <a:txBody>
                    <a:bodyPr/>
                    <a:lstStyle/>
                    <a:p>
                      <a:r>
                        <a:rPr lang="en-US"/>
                        <a:t>Mild</a:t>
                      </a:r>
                    </a:p>
                  </a:txBody>
                  <a:tcPr/>
                </a:tc>
                <a:tc>
                  <a:txBody>
                    <a:bodyPr/>
                    <a:lstStyle/>
                    <a:p>
                      <a:pPr algn="ctr"/>
                      <a:r>
                        <a:rPr lang="en-US"/>
                        <a:t>4</a:t>
                      </a:r>
                    </a:p>
                  </a:txBody>
                  <a:tcPr/>
                </a:tc>
                <a:tc>
                  <a:txBody>
                    <a:bodyPr/>
                    <a:lstStyle/>
                    <a:p>
                      <a:pPr algn="ctr"/>
                      <a:r>
                        <a:rPr lang="en-US"/>
                        <a:t>2</a:t>
                      </a:r>
                    </a:p>
                  </a:txBody>
                  <a:tcPr/>
                </a:tc>
                <a:tc>
                  <a:txBody>
                    <a:bodyPr/>
                    <a:lstStyle/>
                    <a:p>
                      <a:pPr algn="ctr"/>
                      <a:r>
                        <a:rPr lang="en-US"/>
                        <a:t>4/9</a:t>
                      </a:r>
                    </a:p>
                  </a:txBody>
                  <a:tcPr/>
                </a:tc>
                <a:tc>
                  <a:txBody>
                    <a:bodyPr/>
                    <a:lstStyle/>
                    <a:p>
                      <a:pPr algn="ctr"/>
                      <a:r>
                        <a:rPr lang="en-US"/>
                        <a:t>2/5</a:t>
                      </a:r>
                    </a:p>
                  </a:txBody>
                  <a:tcPr/>
                </a:tc>
              </a:tr>
              <a:tr h="370840">
                <a:tc>
                  <a:txBody>
                    <a:bodyPr/>
                    <a:lstStyle/>
                    <a:p>
                      <a:r>
                        <a:rPr lang="en-US"/>
                        <a:t>Cool</a:t>
                      </a:r>
                    </a:p>
                  </a:txBody>
                  <a:tcPr/>
                </a:tc>
                <a:tc>
                  <a:txBody>
                    <a:bodyPr/>
                    <a:lstStyle/>
                    <a:p>
                      <a:pPr algn="ctr"/>
                      <a:r>
                        <a:rPr lang="en-US"/>
                        <a:t>3</a:t>
                      </a:r>
                    </a:p>
                  </a:txBody>
                  <a:tcPr/>
                </a:tc>
                <a:tc>
                  <a:txBody>
                    <a:bodyPr/>
                    <a:lstStyle/>
                    <a:p>
                      <a:pPr algn="ctr"/>
                      <a:r>
                        <a:rPr lang="en-US"/>
                        <a:t>1</a:t>
                      </a:r>
                    </a:p>
                  </a:txBody>
                  <a:tcPr/>
                </a:tc>
                <a:tc>
                  <a:txBody>
                    <a:bodyPr/>
                    <a:lstStyle/>
                    <a:p>
                      <a:pPr algn="ctr"/>
                      <a:r>
                        <a:rPr lang="en-US"/>
                        <a:t>3/9</a:t>
                      </a:r>
                    </a:p>
                  </a:txBody>
                  <a:tcPr/>
                </a:tc>
                <a:tc>
                  <a:txBody>
                    <a:bodyPr/>
                    <a:lstStyle/>
                    <a:p>
                      <a:pPr algn="ctr"/>
                      <a:r>
                        <a:rPr lang="en-US"/>
                        <a:t>1/5</a:t>
                      </a:r>
                    </a:p>
                  </a:txBody>
                  <a:tcPr/>
                </a:tc>
              </a:tr>
              <a:tr h="370840">
                <a:tc>
                  <a:txBody>
                    <a:bodyPr/>
                    <a:lstStyle/>
                    <a:p>
                      <a:pPr algn="r"/>
                      <a:r>
                        <a:rPr lang="en-US" b="1"/>
                        <a:t>Total</a:t>
                      </a:r>
                    </a:p>
                  </a:txBody>
                  <a:tcPr/>
                </a:tc>
                <a:tc>
                  <a:txBody>
                    <a:bodyPr/>
                    <a:lstStyle/>
                    <a:p>
                      <a:pPr algn="ctr"/>
                      <a:r>
                        <a:rPr lang="en-US" b="1"/>
                        <a:t>9</a:t>
                      </a:r>
                    </a:p>
                  </a:txBody>
                  <a:tcPr/>
                </a:tc>
                <a:tc>
                  <a:txBody>
                    <a:bodyPr/>
                    <a:lstStyle/>
                    <a:p>
                      <a:pPr algn="ctr"/>
                      <a:r>
                        <a:rPr lang="en-US" b="1"/>
                        <a:t>5</a:t>
                      </a:r>
                    </a:p>
                  </a:txBody>
                  <a:tcPr/>
                </a:tc>
                <a:tc>
                  <a:txBody>
                    <a:bodyPr/>
                    <a:lstStyle/>
                    <a:p>
                      <a:pPr algn="ctr"/>
                      <a:r>
                        <a:rPr lang="en-US" b="1"/>
                        <a:t>100%</a:t>
                      </a:r>
                    </a:p>
                  </a:txBody>
                  <a:tcPr/>
                </a:tc>
                <a:tc>
                  <a:txBody>
                    <a:bodyPr/>
                    <a:lstStyle/>
                    <a:p>
                      <a:pPr algn="ctr"/>
                      <a:r>
                        <a:rPr lang="en-US" b="1"/>
                        <a:t>100%</a:t>
                      </a:r>
                    </a:p>
                  </a:txBody>
                  <a:tcPr/>
                </a:tc>
              </a:tr>
            </a:tbl>
          </a:graphicData>
        </a:graphic>
      </p:graphicFrame>
      <p:graphicFrame>
        <p:nvGraphicFramePr>
          <p:cNvPr id="7" name="Table 6"/>
          <p:cNvGraphicFramePr>
            <a:graphicFrameLocks noGrp="1"/>
          </p:cNvGraphicFramePr>
          <p:nvPr/>
        </p:nvGraphicFramePr>
        <p:xfrm>
          <a:off x="2300234" y="2999046"/>
          <a:ext cx="3555938" cy="1854200"/>
        </p:xfrm>
        <a:graphic>
          <a:graphicData uri="http://schemas.openxmlformats.org/drawingml/2006/table">
            <a:tbl>
              <a:tblPr firstRow="1" bandRow="1">
                <a:tableStyleId>{5C22544A-7EE6-4342-B048-85BDC9FD1C3A}</a:tableStyleId>
              </a:tblPr>
              <a:tblGrid>
                <a:gridCol w="927418"/>
                <a:gridCol w="540830"/>
                <a:gridCol w="508318"/>
                <a:gridCol w="805942"/>
                <a:gridCol w="773430"/>
              </a:tblGrid>
              <a:tr h="370840">
                <a:tc gridSpan="5">
                  <a:txBody>
                    <a:bodyPr/>
                    <a:lstStyle/>
                    <a:p>
                      <a:pPr algn="ctr"/>
                      <a:r>
                        <a:rPr lang="en-US"/>
                        <a:t>Humidity</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endParaRPr lang="en-US" b="1"/>
                    </a:p>
                  </a:txBody>
                  <a:tcPr/>
                </a:tc>
                <a:tc>
                  <a:txBody>
                    <a:bodyPr/>
                    <a:lstStyle/>
                    <a:p>
                      <a:r>
                        <a:rPr lang="en-US" b="1"/>
                        <a:t>Yes</a:t>
                      </a:r>
                    </a:p>
                  </a:txBody>
                  <a:tcPr/>
                </a:tc>
                <a:tc>
                  <a:txBody>
                    <a:bodyPr/>
                    <a:lstStyle/>
                    <a:p>
                      <a:r>
                        <a:rPr lang="en-US" b="1"/>
                        <a:t>No</a:t>
                      </a:r>
                    </a:p>
                  </a:txBody>
                  <a:tcPr/>
                </a:tc>
                <a:tc>
                  <a:txBody>
                    <a:bodyPr/>
                    <a:lstStyle/>
                    <a:p>
                      <a:r>
                        <a:rPr lang="en-US" b="1"/>
                        <a:t>P(Yes)</a:t>
                      </a:r>
                    </a:p>
                  </a:txBody>
                  <a:tcPr/>
                </a:tc>
                <a:tc>
                  <a:txBody>
                    <a:bodyPr/>
                    <a:lstStyle/>
                    <a:p>
                      <a:r>
                        <a:rPr lang="en-US" b="1"/>
                        <a:t>P(No)</a:t>
                      </a:r>
                    </a:p>
                  </a:txBody>
                  <a:tcPr/>
                </a:tc>
              </a:tr>
              <a:tr h="370840">
                <a:tc>
                  <a:txBody>
                    <a:bodyPr/>
                    <a:lstStyle/>
                    <a:p>
                      <a:r>
                        <a:rPr lang="en-US"/>
                        <a:t>High</a:t>
                      </a:r>
                    </a:p>
                  </a:txBody>
                  <a:tcPr/>
                </a:tc>
                <a:tc>
                  <a:txBody>
                    <a:bodyPr/>
                    <a:lstStyle/>
                    <a:p>
                      <a:r>
                        <a:rPr lang="en-US"/>
                        <a:t>3</a:t>
                      </a:r>
                    </a:p>
                  </a:txBody>
                  <a:tcPr/>
                </a:tc>
                <a:tc>
                  <a:txBody>
                    <a:bodyPr/>
                    <a:lstStyle/>
                    <a:p>
                      <a:r>
                        <a:rPr lang="en-US"/>
                        <a:t>4</a:t>
                      </a:r>
                    </a:p>
                  </a:txBody>
                  <a:tcPr/>
                </a:tc>
                <a:tc>
                  <a:txBody>
                    <a:bodyPr/>
                    <a:lstStyle/>
                    <a:p>
                      <a:r>
                        <a:rPr lang="en-US"/>
                        <a:t>3/9</a:t>
                      </a:r>
                    </a:p>
                  </a:txBody>
                  <a:tcPr/>
                </a:tc>
                <a:tc>
                  <a:txBody>
                    <a:bodyPr/>
                    <a:lstStyle/>
                    <a:p>
                      <a:r>
                        <a:rPr lang="en-US"/>
                        <a:t>4/5</a:t>
                      </a:r>
                    </a:p>
                  </a:txBody>
                  <a:tcPr/>
                </a:tc>
              </a:tr>
              <a:tr h="370840">
                <a:tc>
                  <a:txBody>
                    <a:bodyPr/>
                    <a:lstStyle/>
                    <a:p>
                      <a:r>
                        <a:rPr lang="en-US"/>
                        <a:t>Normal</a:t>
                      </a:r>
                    </a:p>
                  </a:txBody>
                  <a:tcPr/>
                </a:tc>
                <a:tc>
                  <a:txBody>
                    <a:bodyPr/>
                    <a:lstStyle/>
                    <a:p>
                      <a:r>
                        <a:rPr lang="en-US"/>
                        <a:t>6</a:t>
                      </a:r>
                    </a:p>
                  </a:txBody>
                  <a:tcPr/>
                </a:tc>
                <a:tc>
                  <a:txBody>
                    <a:bodyPr/>
                    <a:lstStyle/>
                    <a:p>
                      <a:r>
                        <a:rPr lang="en-US"/>
                        <a:t>1</a:t>
                      </a:r>
                    </a:p>
                  </a:txBody>
                  <a:tcPr/>
                </a:tc>
                <a:tc>
                  <a:txBody>
                    <a:bodyPr/>
                    <a:lstStyle/>
                    <a:p>
                      <a:r>
                        <a:rPr lang="en-US"/>
                        <a:t>6/9</a:t>
                      </a:r>
                    </a:p>
                  </a:txBody>
                  <a:tcPr/>
                </a:tc>
                <a:tc>
                  <a:txBody>
                    <a:bodyPr/>
                    <a:lstStyle/>
                    <a:p>
                      <a:r>
                        <a:rPr lang="en-US"/>
                        <a:t>1/5</a:t>
                      </a:r>
                    </a:p>
                  </a:txBody>
                  <a:tcPr/>
                </a:tc>
              </a:tr>
              <a:tr h="370840">
                <a:tc>
                  <a:txBody>
                    <a:bodyPr/>
                    <a:lstStyle/>
                    <a:p>
                      <a:pPr algn="r"/>
                      <a:r>
                        <a:rPr lang="en-US" b="1"/>
                        <a:t>Total</a:t>
                      </a:r>
                    </a:p>
                  </a:txBody>
                  <a:tcPr/>
                </a:tc>
                <a:tc>
                  <a:txBody>
                    <a:bodyPr/>
                    <a:lstStyle/>
                    <a:p>
                      <a:r>
                        <a:rPr lang="en-US" b="1"/>
                        <a:t>9</a:t>
                      </a:r>
                    </a:p>
                  </a:txBody>
                  <a:tcPr/>
                </a:tc>
                <a:tc>
                  <a:txBody>
                    <a:bodyPr/>
                    <a:lstStyle/>
                    <a:p>
                      <a:r>
                        <a:rPr lang="en-US" b="1"/>
                        <a:t>5</a:t>
                      </a:r>
                    </a:p>
                  </a:txBody>
                  <a:tcPr/>
                </a:tc>
                <a:tc>
                  <a:txBody>
                    <a:bodyPr/>
                    <a:lstStyle/>
                    <a:p>
                      <a:r>
                        <a:rPr lang="en-US" b="1"/>
                        <a:t>100%</a:t>
                      </a:r>
                    </a:p>
                  </a:txBody>
                  <a:tcPr/>
                </a:tc>
                <a:tc>
                  <a:txBody>
                    <a:bodyPr/>
                    <a:lstStyle/>
                    <a:p>
                      <a:r>
                        <a:rPr lang="en-US" b="1"/>
                        <a:t>100%</a:t>
                      </a:r>
                    </a:p>
                  </a:txBody>
                  <a:tcPr/>
                </a:tc>
              </a:tr>
            </a:tbl>
          </a:graphicData>
        </a:graphic>
      </p:graphicFrame>
      <p:graphicFrame>
        <p:nvGraphicFramePr>
          <p:cNvPr id="8" name="Table 7"/>
          <p:cNvGraphicFramePr>
            <a:graphicFrameLocks noGrp="1"/>
          </p:cNvGraphicFramePr>
          <p:nvPr/>
        </p:nvGraphicFramePr>
        <p:xfrm>
          <a:off x="6112382" y="2978945"/>
          <a:ext cx="3555938" cy="1854200"/>
        </p:xfrm>
        <a:graphic>
          <a:graphicData uri="http://schemas.openxmlformats.org/drawingml/2006/table">
            <a:tbl>
              <a:tblPr firstRow="1" bandRow="1">
                <a:tableStyleId>{5C22544A-7EE6-4342-B048-85BDC9FD1C3A}</a:tableStyleId>
              </a:tblPr>
              <a:tblGrid>
                <a:gridCol w="927418"/>
                <a:gridCol w="540830"/>
                <a:gridCol w="508318"/>
                <a:gridCol w="805942"/>
                <a:gridCol w="773430"/>
              </a:tblGrid>
              <a:tr h="370840">
                <a:tc gridSpan="5">
                  <a:txBody>
                    <a:bodyPr/>
                    <a:lstStyle/>
                    <a:p>
                      <a:pPr algn="ctr"/>
                      <a:r>
                        <a:rPr lang="en-US"/>
                        <a:t>Wind</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endParaRPr lang="en-US" b="1"/>
                    </a:p>
                  </a:txBody>
                  <a:tcPr/>
                </a:tc>
                <a:tc>
                  <a:txBody>
                    <a:bodyPr/>
                    <a:lstStyle/>
                    <a:p>
                      <a:r>
                        <a:rPr lang="en-US" b="1"/>
                        <a:t>Yes</a:t>
                      </a:r>
                    </a:p>
                  </a:txBody>
                  <a:tcPr/>
                </a:tc>
                <a:tc>
                  <a:txBody>
                    <a:bodyPr/>
                    <a:lstStyle/>
                    <a:p>
                      <a:r>
                        <a:rPr lang="en-US" b="1"/>
                        <a:t>No</a:t>
                      </a:r>
                    </a:p>
                  </a:txBody>
                  <a:tcPr/>
                </a:tc>
                <a:tc>
                  <a:txBody>
                    <a:bodyPr/>
                    <a:lstStyle/>
                    <a:p>
                      <a:r>
                        <a:rPr lang="en-US" b="1"/>
                        <a:t>P(Yes)</a:t>
                      </a:r>
                    </a:p>
                  </a:txBody>
                  <a:tcPr/>
                </a:tc>
                <a:tc>
                  <a:txBody>
                    <a:bodyPr/>
                    <a:lstStyle/>
                    <a:p>
                      <a:r>
                        <a:rPr lang="en-US" b="1"/>
                        <a:t>P(No)</a:t>
                      </a:r>
                    </a:p>
                  </a:txBody>
                  <a:tcPr/>
                </a:tc>
              </a:tr>
              <a:tr h="370840">
                <a:tc>
                  <a:txBody>
                    <a:bodyPr/>
                    <a:lstStyle/>
                    <a:p>
                      <a:r>
                        <a:rPr lang="en-US"/>
                        <a:t>False</a:t>
                      </a:r>
                    </a:p>
                  </a:txBody>
                  <a:tcPr/>
                </a:tc>
                <a:tc>
                  <a:txBody>
                    <a:bodyPr/>
                    <a:lstStyle/>
                    <a:p>
                      <a:r>
                        <a:rPr lang="en-US"/>
                        <a:t>6</a:t>
                      </a:r>
                    </a:p>
                  </a:txBody>
                  <a:tcPr/>
                </a:tc>
                <a:tc>
                  <a:txBody>
                    <a:bodyPr/>
                    <a:lstStyle/>
                    <a:p>
                      <a:r>
                        <a:rPr lang="en-US"/>
                        <a:t>2</a:t>
                      </a:r>
                    </a:p>
                  </a:txBody>
                  <a:tcPr/>
                </a:tc>
                <a:tc>
                  <a:txBody>
                    <a:bodyPr/>
                    <a:lstStyle/>
                    <a:p>
                      <a:r>
                        <a:rPr lang="en-US"/>
                        <a:t>6/9</a:t>
                      </a:r>
                    </a:p>
                  </a:txBody>
                  <a:tcPr/>
                </a:tc>
                <a:tc>
                  <a:txBody>
                    <a:bodyPr/>
                    <a:lstStyle/>
                    <a:p>
                      <a:r>
                        <a:rPr lang="en-US"/>
                        <a:t>2/5</a:t>
                      </a:r>
                    </a:p>
                  </a:txBody>
                  <a:tcPr/>
                </a:tc>
              </a:tr>
              <a:tr h="370840">
                <a:tc>
                  <a:txBody>
                    <a:bodyPr/>
                    <a:lstStyle/>
                    <a:p>
                      <a:r>
                        <a:rPr lang="en-US"/>
                        <a:t>True</a:t>
                      </a:r>
                    </a:p>
                  </a:txBody>
                  <a:tcPr/>
                </a:tc>
                <a:tc>
                  <a:txBody>
                    <a:bodyPr/>
                    <a:lstStyle/>
                    <a:p>
                      <a:r>
                        <a:rPr lang="en-US"/>
                        <a:t>3</a:t>
                      </a:r>
                    </a:p>
                  </a:txBody>
                  <a:tcPr/>
                </a:tc>
                <a:tc>
                  <a:txBody>
                    <a:bodyPr/>
                    <a:lstStyle/>
                    <a:p>
                      <a:r>
                        <a:rPr lang="en-US"/>
                        <a:t>3</a:t>
                      </a:r>
                    </a:p>
                  </a:txBody>
                  <a:tcPr/>
                </a:tc>
                <a:tc>
                  <a:txBody>
                    <a:bodyPr/>
                    <a:lstStyle/>
                    <a:p>
                      <a:r>
                        <a:rPr lang="en-US"/>
                        <a:t>3/9</a:t>
                      </a:r>
                    </a:p>
                  </a:txBody>
                  <a:tcPr/>
                </a:tc>
                <a:tc>
                  <a:txBody>
                    <a:bodyPr/>
                    <a:lstStyle/>
                    <a:p>
                      <a:r>
                        <a:rPr lang="en-US"/>
                        <a:t>3/5</a:t>
                      </a:r>
                    </a:p>
                  </a:txBody>
                  <a:tcPr/>
                </a:tc>
              </a:tr>
              <a:tr h="370840">
                <a:tc>
                  <a:txBody>
                    <a:bodyPr/>
                    <a:lstStyle/>
                    <a:p>
                      <a:pPr algn="r"/>
                      <a:r>
                        <a:rPr lang="en-US" b="1"/>
                        <a:t>Total</a:t>
                      </a:r>
                    </a:p>
                  </a:txBody>
                  <a:tcPr/>
                </a:tc>
                <a:tc>
                  <a:txBody>
                    <a:bodyPr/>
                    <a:lstStyle/>
                    <a:p>
                      <a:r>
                        <a:rPr lang="en-US" b="1"/>
                        <a:t>9</a:t>
                      </a:r>
                    </a:p>
                  </a:txBody>
                  <a:tcPr/>
                </a:tc>
                <a:tc>
                  <a:txBody>
                    <a:bodyPr/>
                    <a:lstStyle/>
                    <a:p>
                      <a:r>
                        <a:rPr lang="en-US" b="1"/>
                        <a:t>5</a:t>
                      </a:r>
                    </a:p>
                  </a:txBody>
                  <a:tcPr/>
                </a:tc>
                <a:tc>
                  <a:txBody>
                    <a:bodyPr/>
                    <a:lstStyle/>
                    <a:p>
                      <a:r>
                        <a:rPr lang="en-US" b="1"/>
                        <a:t>100%</a:t>
                      </a:r>
                    </a:p>
                  </a:txBody>
                  <a:tcPr/>
                </a:tc>
                <a:tc>
                  <a:txBody>
                    <a:bodyPr/>
                    <a:lstStyle/>
                    <a:p>
                      <a:r>
                        <a:rPr lang="en-US" b="1"/>
                        <a:t>100%</a:t>
                      </a:r>
                    </a:p>
                  </a:txBody>
                  <a:tcPr/>
                </a:tc>
              </a:tr>
            </a:tbl>
          </a:graphicData>
        </a:graphic>
      </p:graphicFrame>
      <p:graphicFrame>
        <p:nvGraphicFramePr>
          <p:cNvPr id="11" name="Table 10"/>
          <p:cNvGraphicFramePr>
            <a:graphicFrameLocks noGrp="1"/>
          </p:cNvGraphicFramePr>
          <p:nvPr/>
        </p:nvGraphicFramePr>
        <p:xfrm>
          <a:off x="4662466" y="5116301"/>
          <a:ext cx="2710243" cy="1483360"/>
        </p:xfrm>
        <a:graphic>
          <a:graphicData uri="http://schemas.openxmlformats.org/drawingml/2006/table">
            <a:tbl>
              <a:tblPr firstRow="1" bandRow="1">
                <a:tableStyleId>{5C22544A-7EE6-4342-B048-85BDC9FD1C3A}</a:tableStyleId>
              </a:tblPr>
              <a:tblGrid>
                <a:gridCol w="695897"/>
                <a:gridCol w="467042"/>
                <a:gridCol w="1547304"/>
              </a:tblGrid>
              <a:tr h="370840">
                <a:tc gridSpan="2">
                  <a:txBody>
                    <a:bodyPr/>
                    <a:lstStyle/>
                    <a:p>
                      <a:pPr algn="ctr"/>
                      <a:r>
                        <a:rPr lang="en-US"/>
                        <a:t>Play</a:t>
                      </a:r>
                    </a:p>
                  </a:txBody>
                  <a:tcPr/>
                </a:tc>
                <a:tc hMerge="1">
                  <a:txBody>
                    <a:bodyPr/>
                    <a:lstStyle/>
                    <a:p>
                      <a:endParaRPr lang="en-US"/>
                    </a:p>
                  </a:txBody>
                  <a:tcPr/>
                </a:tc>
                <a:tc>
                  <a:txBody>
                    <a:bodyPr/>
                    <a:lstStyle/>
                    <a:p>
                      <a:pPr algn="ctr"/>
                      <a:r>
                        <a:rPr lang="en-US"/>
                        <a:t>P(Yes) / P(No)</a:t>
                      </a:r>
                    </a:p>
                  </a:txBody>
                  <a:tcPr/>
                </a:tc>
              </a:tr>
              <a:tr h="370840">
                <a:tc>
                  <a:txBody>
                    <a:bodyPr/>
                    <a:lstStyle/>
                    <a:p>
                      <a:r>
                        <a:rPr lang="en-US"/>
                        <a:t>Yes</a:t>
                      </a:r>
                    </a:p>
                  </a:txBody>
                  <a:tcPr/>
                </a:tc>
                <a:tc>
                  <a:txBody>
                    <a:bodyPr/>
                    <a:lstStyle/>
                    <a:p>
                      <a:pPr algn="ctr"/>
                      <a:r>
                        <a:rPr lang="en-US"/>
                        <a:t>9</a:t>
                      </a:r>
                    </a:p>
                  </a:txBody>
                  <a:tcPr/>
                </a:tc>
                <a:tc>
                  <a:txBody>
                    <a:bodyPr/>
                    <a:lstStyle/>
                    <a:p>
                      <a:pPr algn="ctr"/>
                      <a:r>
                        <a:rPr lang="en-US"/>
                        <a:t>9/14</a:t>
                      </a:r>
                    </a:p>
                  </a:txBody>
                  <a:tcPr/>
                </a:tc>
              </a:tr>
              <a:tr h="370840">
                <a:tc>
                  <a:txBody>
                    <a:bodyPr/>
                    <a:lstStyle/>
                    <a:p>
                      <a:r>
                        <a:rPr lang="en-US"/>
                        <a:t>No</a:t>
                      </a:r>
                    </a:p>
                  </a:txBody>
                  <a:tcPr/>
                </a:tc>
                <a:tc>
                  <a:txBody>
                    <a:bodyPr/>
                    <a:lstStyle/>
                    <a:p>
                      <a:pPr algn="ctr"/>
                      <a:r>
                        <a:rPr lang="en-US"/>
                        <a:t>5</a:t>
                      </a:r>
                    </a:p>
                  </a:txBody>
                  <a:tcPr/>
                </a:tc>
                <a:tc>
                  <a:txBody>
                    <a:bodyPr/>
                    <a:lstStyle/>
                    <a:p>
                      <a:pPr algn="ctr"/>
                      <a:r>
                        <a:rPr lang="en-US"/>
                        <a:t>5/14</a:t>
                      </a:r>
                    </a:p>
                  </a:txBody>
                  <a:tcPr/>
                </a:tc>
              </a:tr>
              <a:tr h="370840">
                <a:tc>
                  <a:txBody>
                    <a:bodyPr/>
                    <a:lstStyle/>
                    <a:p>
                      <a:pPr algn="r"/>
                      <a:r>
                        <a:rPr lang="en-US" b="1"/>
                        <a:t>Total</a:t>
                      </a:r>
                    </a:p>
                  </a:txBody>
                  <a:tcPr/>
                </a:tc>
                <a:tc>
                  <a:txBody>
                    <a:bodyPr/>
                    <a:lstStyle/>
                    <a:p>
                      <a:pPr algn="ctr"/>
                      <a:r>
                        <a:rPr lang="en-US" b="1"/>
                        <a:t>14</a:t>
                      </a:r>
                    </a:p>
                  </a:txBody>
                  <a:tcPr/>
                </a:tc>
                <a:tc>
                  <a:txBody>
                    <a:bodyPr/>
                    <a:lstStyle/>
                    <a:p>
                      <a:pPr algn="ctr"/>
                      <a:r>
                        <a:rPr lang="en-US" b="1"/>
                        <a:t>100%</a:t>
                      </a:r>
                    </a:p>
                  </a:txBody>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Supervised Classification: Using Naïve Bayes </a:t>
            </a:r>
          </a:p>
        </p:txBody>
      </p:sp>
      <p:pic>
        <p:nvPicPr>
          <p:cNvPr id="4" name="Object 3"/>
          <p:cNvPicPr>
            <a:picLocks noChangeAspect="1"/>
          </p:cNvPicPr>
          <p:nvPr/>
        </p:nvPicPr>
        <p:blipFill rotWithShape="1">
          <a:blip r:embed="rId2"/>
          <a:stretch>
            <a:fillRect/>
          </a:stretch>
        </p:blipFill>
        <p:spPr>
          <a:xfrm>
            <a:off x="1763486" y="1825625"/>
            <a:ext cx="3553097" cy="2462542"/>
          </a:xfrm>
          <a:prstGeom prst="rect">
            <a:avLst/>
          </a:prstGeom>
        </p:spPr>
      </p:pic>
      <p:pic>
        <p:nvPicPr>
          <p:cNvPr id="5" name="Object 4"/>
          <p:cNvPicPr>
            <a:picLocks noChangeAspect="1"/>
          </p:cNvPicPr>
          <p:nvPr/>
        </p:nvPicPr>
        <p:blipFill rotWithShape="1">
          <a:blip r:embed="rId3"/>
          <a:stretch>
            <a:fillRect/>
          </a:stretch>
        </p:blipFill>
        <p:spPr>
          <a:xfrm>
            <a:off x="6292701" y="1825625"/>
            <a:ext cx="3535507" cy="2462542"/>
          </a:xfrm>
          <a:prstGeom prst="rect">
            <a:avLst/>
          </a:prstGeom>
        </p:spPr>
      </p:pic>
      <p:pic>
        <p:nvPicPr>
          <p:cNvPr id="7" name="Object 6"/>
          <p:cNvPicPr>
            <a:picLocks noChangeAspect="1"/>
          </p:cNvPicPr>
          <p:nvPr/>
        </p:nvPicPr>
        <p:blipFill rotWithShape="1">
          <a:blip r:embed="rId4"/>
          <a:stretch>
            <a:fillRect/>
          </a:stretch>
        </p:blipFill>
        <p:spPr>
          <a:xfrm>
            <a:off x="838200" y="4612633"/>
            <a:ext cx="5872020" cy="444850"/>
          </a:xfrm>
          <a:prstGeom prst="rect">
            <a:avLst/>
          </a:prstGeom>
        </p:spPr>
      </p:pic>
      <p:pic>
        <p:nvPicPr>
          <p:cNvPr id="8" name="Object 7"/>
          <p:cNvPicPr>
            <a:picLocks noChangeAspect="1"/>
          </p:cNvPicPr>
          <p:nvPr/>
        </p:nvPicPr>
        <p:blipFill rotWithShape="1">
          <a:blip r:embed="rId5"/>
          <a:stretch>
            <a:fillRect/>
          </a:stretch>
        </p:blipFill>
        <p:spPr>
          <a:xfrm>
            <a:off x="2701925" y="5110163"/>
            <a:ext cx="7107238" cy="1787525"/>
          </a:xfrm>
          <a:prstGeom prst="rect">
            <a:avLst/>
          </a:prstGeom>
        </p:spPr>
      </p:pic>
      <p:pic>
        <p:nvPicPr>
          <p:cNvPr id="2" name="Object 1"/>
          <p:cNvPicPr>
            <a:picLocks noChangeAspect="1"/>
          </p:cNvPicPr>
          <p:nvPr/>
        </p:nvPicPr>
        <p:blipFill rotWithShape="1">
          <a:blip r:embed="rId6"/>
          <a:stretch>
            <a:fillRect/>
          </a:stretch>
        </p:blipFill>
        <p:spPr>
          <a:xfrm>
            <a:off x="7904163" y="4505325"/>
            <a:ext cx="3811587" cy="4762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Supervised </a:t>
            </a:r>
            <a:r>
              <a:rPr lang="en-US"/>
              <a:t>Classifeir</a:t>
            </a:r>
            <a:r>
              <a:rPr lang="en-US"/>
              <a:t>: Using Bayes </a:t>
            </a:r>
          </a:p>
        </p:txBody>
      </p:sp>
      <p:sp>
        <p:nvSpPr>
          <p:cNvPr id="5" name="Content Placeholder 4"/>
          <p:cNvSpPr>
            <a:spLocks noGrp="1"/>
          </p:cNvSpPr>
          <p:nvPr>
            <p:ph idx="1"/>
          </p:nvPr>
        </p:nvSpPr>
        <p:spPr/>
        <p:txBody>
          <a:bodyPr/>
          <a:lstStyle/>
          <a:p>
            <a:endParaRPr lang="en-US"/>
          </a:p>
          <a:p>
            <a:endParaRPr lang="en-US"/>
          </a:p>
          <a:p>
            <a:endParaRPr lang="en-US"/>
          </a:p>
          <a:p>
            <a:r>
              <a:rPr lang="en-US"/>
              <a:t>Dividing the result by overall evidence</a:t>
            </a:r>
          </a:p>
        </p:txBody>
      </p:sp>
      <p:pic>
        <p:nvPicPr>
          <p:cNvPr id="4" name="Object 3"/>
          <p:cNvPicPr>
            <a:picLocks noChangeAspect="1"/>
          </p:cNvPicPr>
          <p:nvPr/>
        </p:nvPicPr>
        <p:blipFill rotWithShape="1">
          <a:blip r:embed="rId2"/>
          <a:stretch>
            <a:fillRect/>
          </a:stretch>
        </p:blipFill>
        <p:spPr>
          <a:xfrm>
            <a:off x="2021286" y="1690689"/>
            <a:ext cx="7628309" cy="1559378"/>
          </a:xfrm>
          <a:prstGeom prst="rect">
            <a:avLst/>
          </a:prstGeom>
        </p:spPr>
      </p:pic>
      <p:pic>
        <p:nvPicPr>
          <p:cNvPr id="6" name="Object 5"/>
          <p:cNvPicPr>
            <a:picLocks noChangeAspect="1"/>
          </p:cNvPicPr>
          <p:nvPr/>
        </p:nvPicPr>
        <p:blipFill rotWithShape="1">
          <a:blip r:embed="rId3"/>
          <a:stretch>
            <a:fillRect/>
          </a:stretch>
        </p:blipFill>
        <p:spPr>
          <a:xfrm>
            <a:off x="6571914" y="4957360"/>
            <a:ext cx="4600918" cy="1566270"/>
          </a:xfrm>
          <a:prstGeom prst="rect">
            <a:avLst/>
          </a:prstGeom>
        </p:spPr>
      </p:pic>
      <p:pic>
        <p:nvPicPr>
          <p:cNvPr id="8" name="Object 7"/>
          <p:cNvPicPr>
            <a:picLocks noChangeAspect="1"/>
          </p:cNvPicPr>
          <p:nvPr/>
        </p:nvPicPr>
        <p:blipFill rotWithShape="1">
          <a:blip r:embed="rId4"/>
          <a:stretch>
            <a:fillRect/>
          </a:stretch>
        </p:blipFill>
        <p:spPr>
          <a:xfrm>
            <a:off x="1034325" y="4155216"/>
            <a:ext cx="10319475" cy="160428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7391524" y="1825625"/>
          <a:ext cx="3598737" cy="4079240"/>
        </p:xfrm>
        <a:graphic>
          <a:graphicData uri="http://schemas.openxmlformats.org/drawingml/2006/table">
            <a:tbl>
              <a:tblPr firstRow="1" bandRow="1">
                <a:tableStyleId>{5C22544A-7EE6-4342-B048-85BDC9FD1C3A}</a:tableStyleId>
              </a:tblPr>
              <a:tblGrid>
                <a:gridCol w="832358"/>
                <a:gridCol w="825818"/>
                <a:gridCol w="1105853"/>
                <a:gridCol w="834708"/>
              </a:tblGrid>
              <a:tr h="370840">
                <a:tc>
                  <a:txBody>
                    <a:bodyPr/>
                    <a:lstStyle/>
                    <a:p>
                      <a:pPr algn="ctr"/>
                      <a:r>
                        <a:rPr lang="en-US"/>
                        <a:t>Color</a:t>
                      </a:r>
                    </a:p>
                  </a:txBody>
                  <a:tcPr/>
                </a:tc>
                <a:tc>
                  <a:txBody>
                    <a:bodyPr/>
                    <a:lstStyle/>
                    <a:p>
                      <a:pPr algn="ctr"/>
                      <a:r>
                        <a:rPr lang="en-US"/>
                        <a:t>Type</a:t>
                      </a:r>
                    </a:p>
                  </a:txBody>
                  <a:tcPr/>
                </a:tc>
                <a:tc>
                  <a:txBody>
                    <a:bodyPr/>
                    <a:lstStyle/>
                    <a:p>
                      <a:pPr algn="ctr"/>
                      <a:r>
                        <a:rPr lang="en-US"/>
                        <a:t>Origin</a:t>
                      </a:r>
                    </a:p>
                  </a:txBody>
                  <a:tcPr/>
                </a:tc>
                <a:tc>
                  <a:txBody>
                    <a:bodyPr/>
                    <a:lstStyle/>
                    <a:p>
                      <a:pPr algn="ctr"/>
                      <a:r>
                        <a:rPr lang="en-US"/>
                        <a:t>Stolen</a:t>
                      </a:r>
                    </a:p>
                  </a:txBody>
                  <a:tcPr/>
                </a:tc>
              </a:tr>
              <a:tr h="370840">
                <a:tc>
                  <a:txBody>
                    <a:bodyPr/>
                    <a:lstStyle/>
                    <a:p>
                      <a:r>
                        <a:rPr lang="en-US"/>
                        <a:t>Red</a:t>
                      </a:r>
                    </a:p>
                  </a:txBody>
                  <a:tcPr/>
                </a:tc>
                <a:tc>
                  <a:txBody>
                    <a:bodyPr/>
                    <a:lstStyle/>
                    <a:p>
                      <a:r>
                        <a:rPr lang="en-US"/>
                        <a:t>Sports</a:t>
                      </a:r>
                    </a:p>
                  </a:txBody>
                  <a:tcPr/>
                </a:tc>
                <a:tc>
                  <a:txBody>
                    <a:bodyPr/>
                    <a:lstStyle/>
                    <a:p>
                      <a:r>
                        <a:rPr lang="en-US"/>
                        <a:t>Domestic</a:t>
                      </a:r>
                    </a:p>
                  </a:txBody>
                  <a:tcPr/>
                </a:tc>
                <a:tc>
                  <a:txBody>
                    <a:bodyPr/>
                    <a:lstStyle/>
                    <a:p>
                      <a:r>
                        <a:rPr lang="en-US"/>
                        <a:t>Yes</a:t>
                      </a:r>
                    </a:p>
                  </a:txBody>
                  <a:tcPr/>
                </a:tc>
              </a:tr>
              <a:tr h="370840">
                <a:tc>
                  <a:txBody>
                    <a:bodyPr/>
                    <a:lstStyle/>
                    <a:p>
                      <a:r>
                        <a:rPr lang="en-US"/>
                        <a:t>Red</a:t>
                      </a:r>
                    </a:p>
                  </a:txBody>
                  <a:tcPr/>
                </a:tc>
                <a:tc>
                  <a:txBody>
                    <a:bodyPr/>
                    <a:lstStyle/>
                    <a:p>
                      <a:r>
                        <a:rPr lang="en-US"/>
                        <a:t>Sports</a:t>
                      </a:r>
                    </a:p>
                  </a:txBody>
                  <a:tcPr/>
                </a:tc>
                <a:tc>
                  <a:txBody>
                    <a:bodyPr/>
                    <a:lstStyle/>
                    <a:p>
                      <a:r>
                        <a:rPr lang="en-US"/>
                        <a:t>Domestic</a:t>
                      </a:r>
                    </a:p>
                  </a:txBody>
                  <a:tcPr/>
                </a:tc>
                <a:tc>
                  <a:txBody>
                    <a:bodyPr/>
                    <a:lstStyle/>
                    <a:p>
                      <a:r>
                        <a:rPr lang="en-US"/>
                        <a:t>No</a:t>
                      </a:r>
                    </a:p>
                  </a:txBody>
                  <a:tcPr/>
                </a:tc>
              </a:tr>
              <a:tr h="370840">
                <a:tc>
                  <a:txBody>
                    <a:bodyPr/>
                    <a:lstStyle/>
                    <a:p>
                      <a:r>
                        <a:rPr lang="en-US"/>
                        <a:t>Red</a:t>
                      </a:r>
                    </a:p>
                  </a:txBody>
                  <a:tcPr/>
                </a:tc>
                <a:tc>
                  <a:txBody>
                    <a:bodyPr/>
                    <a:lstStyle/>
                    <a:p>
                      <a:r>
                        <a:rPr lang="en-US"/>
                        <a:t>Sports</a:t>
                      </a:r>
                    </a:p>
                  </a:txBody>
                  <a:tcPr/>
                </a:tc>
                <a:tc>
                  <a:txBody>
                    <a:bodyPr/>
                    <a:lstStyle/>
                    <a:p>
                      <a:r>
                        <a:rPr lang="en-US"/>
                        <a:t>Domestic</a:t>
                      </a:r>
                    </a:p>
                  </a:txBody>
                  <a:tcPr/>
                </a:tc>
                <a:tc>
                  <a:txBody>
                    <a:bodyPr/>
                    <a:lstStyle/>
                    <a:p>
                      <a:r>
                        <a:rPr lang="en-US"/>
                        <a:t>Yes</a:t>
                      </a:r>
                    </a:p>
                  </a:txBody>
                  <a:tcPr/>
                </a:tc>
              </a:tr>
              <a:tr h="370840">
                <a:tc>
                  <a:txBody>
                    <a:bodyPr/>
                    <a:lstStyle/>
                    <a:p>
                      <a:r>
                        <a:rPr lang="en-US"/>
                        <a:t>Yellow</a:t>
                      </a:r>
                    </a:p>
                  </a:txBody>
                  <a:tcPr/>
                </a:tc>
                <a:tc>
                  <a:txBody>
                    <a:bodyPr/>
                    <a:lstStyle/>
                    <a:p>
                      <a:r>
                        <a:rPr lang="en-US"/>
                        <a:t>Sports</a:t>
                      </a:r>
                    </a:p>
                  </a:txBody>
                  <a:tcPr/>
                </a:tc>
                <a:tc>
                  <a:txBody>
                    <a:bodyPr/>
                    <a:lstStyle/>
                    <a:p>
                      <a:r>
                        <a:rPr lang="en-US"/>
                        <a:t>Domestic</a:t>
                      </a:r>
                    </a:p>
                  </a:txBody>
                  <a:tcPr/>
                </a:tc>
                <a:tc>
                  <a:txBody>
                    <a:bodyPr/>
                    <a:lstStyle/>
                    <a:p>
                      <a:r>
                        <a:rPr lang="en-US"/>
                        <a:t>No</a:t>
                      </a:r>
                    </a:p>
                  </a:txBody>
                  <a:tcPr/>
                </a:tc>
              </a:tr>
              <a:tr h="370840">
                <a:tc>
                  <a:txBody>
                    <a:bodyPr/>
                    <a:lstStyle/>
                    <a:p>
                      <a:r>
                        <a:rPr lang="en-US"/>
                        <a:t>Yellow</a:t>
                      </a:r>
                    </a:p>
                  </a:txBody>
                  <a:tcPr/>
                </a:tc>
                <a:tc>
                  <a:txBody>
                    <a:bodyPr/>
                    <a:lstStyle/>
                    <a:p>
                      <a:r>
                        <a:rPr lang="en-US"/>
                        <a:t>Sports</a:t>
                      </a:r>
                    </a:p>
                  </a:txBody>
                  <a:tcPr/>
                </a:tc>
                <a:tc>
                  <a:txBody>
                    <a:bodyPr/>
                    <a:lstStyle/>
                    <a:p>
                      <a:r>
                        <a:rPr lang="en-US"/>
                        <a:t>Imported</a:t>
                      </a:r>
                    </a:p>
                  </a:txBody>
                  <a:tcPr/>
                </a:tc>
                <a:tc>
                  <a:txBody>
                    <a:bodyPr/>
                    <a:lstStyle/>
                    <a:p>
                      <a:r>
                        <a:rPr lang="en-US"/>
                        <a:t>Yes</a:t>
                      </a:r>
                    </a:p>
                  </a:txBody>
                  <a:tcPr/>
                </a:tc>
              </a:tr>
              <a:tr h="370840">
                <a:tc>
                  <a:txBody>
                    <a:bodyPr/>
                    <a:lstStyle/>
                    <a:p>
                      <a:r>
                        <a:rPr lang="en-US"/>
                        <a:t>Yellow</a:t>
                      </a:r>
                    </a:p>
                  </a:txBody>
                  <a:tcPr/>
                </a:tc>
                <a:tc>
                  <a:txBody>
                    <a:bodyPr/>
                    <a:lstStyle/>
                    <a:p>
                      <a:r>
                        <a:rPr lang="en-US"/>
                        <a:t>SUV</a:t>
                      </a:r>
                    </a:p>
                  </a:txBody>
                  <a:tcPr/>
                </a:tc>
                <a:tc>
                  <a:txBody>
                    <a:bodyPr/>
                    <a:lstStyle/>
                    <a:p>
                      <a:r>
                        <a:rPr lang="en-US"/>
                        <a:t>Imported</a:t>
                      </a:r>
                    </a:p>
                  </a:txBody>
                  <a:tcPr/>
                </a:tc>
                <a:tc>
                  <a:txBody>
                    <a:bodyPr/>
                    <a:lstStyle/>
                    <a:p>
                      <a:r>
                        <a:rPr lang="en-US"/>
                        <a:t>No</a:t>
                      </a:r>
                    </a:p>
                  </a:txBody>
                  <a:tcPr/>
                </a:tc>
              </a:tr>
              <a:tr h="370840">
                <a:tc>
                  <a:txBody>
                    <a:bodyPr/>
                    <a:lstStyle/>
                    <a:p>
                      <a:r>
                        <a:rPr lang="en-US"/>
                        <a:t>Yellow</a:t>
                      </a:r>
                    </a:p>
                  </a:txBody>
                  <a:tcPr/>
                </a:tc>
                <a:tc>
                  <a:txBody>
                    <a:bodyPr/>
                    <a:lstStyle/>
                    <a:p>
                      <a:r>
                        <a:rPr lang="en-US"/>
                        <a:t>SUV</a:t>
                      </a:r>
                    </a:p>
                  </a:txBody>
                  <a:tcPr/>
                </a:tc>
                <a:tc>
                  <a:txBody>
                    <a:bodyPr/>
                    <a:lstStyle/>
                    <a:p>
                      <a:r>
                        <a:rPr lang="en-US"/>
                        <a:t>Imported</a:t>
                      </a:r>
                    </a:p>
                  </a:txBody>
                  <a:tcPr/>
                </a:tc>
                <a:tc>
                  <a:txBody>
                    <a:bodyPr/>
                    <a:lstStyle/>
                    <a:p>
                      <a:r>
                        <a:rPr lang="en-US"/>
                        <a:t>Yes</a:t>
                      </a:r>
                    </a:p>
                  </a:txBody>
                  <a:tcPr/>
                </a:tc>
              </a:tr>
              <a:tr h="370840">
                <a:tc>
                  <a:txBody>
                    <a:bodyPr/>
                    <a:lstStyle/>
                    <a:p>
                      <a:r>
                        <a:rPr lang="en-US"/>
                        <a:t>Yellow</a:t>
                      </a:r>
                    </a:p>
                  </a:txBody>
                  <a:tcPr/>
                </a:tc>
                <a:tc>
                  <a:txBody>
                    <a:bodyPr/>
                    <a:lstStyle/>
                    <a:p>
                      <a:r>
                        <a:rPr lang="en-US"/>
                        <a:t>SUV</a:t>
                      </a:r>
                    </a:p>
                  </a:txBody>
                  <a:tcPr/>
                </a:tc>
                <a:tc>
                  <a:txBody>
                    <a:bodyPr/>
                    <a:lstStyle/>
                    <a:p>
                      <a:r>
                        <a:rPr lang="en-US"/>
                        <a:t>Domestic</a:t>
                      </a:r>
                    </a:p>
                  </a:txBody>
                  <a:tcPr/>
                </a:tc>
                <a:tc>
                  <a:txBody>
                    <a:bodyPr/>
                    <a:lstStyle/>
                    <a:p>
                      <a:r>
                        <a:rPr lang="en-US"/>
                        <a:t>No</a:t>
                      </a:r>
                    </a:p>
                  </a:txBody>
                  <a:tcPr/>
                </a:tc>
              </a:tr>
              <a:tr h="370840">
                <a:tc>
                  <a:txBody>
                    <a:bodyPr/>
                    <a:lstStyle/>
                    <a:p>
                      <a:r>
                        <a:rPr lang="en-US"/>
                        <a:t>Red</a:t>
                      </a:r>
                    </a:p>
                  </a:txBody>
                  <a:tcPr/>
                </a:tc>
                <a:tc>
                  <a:txBody>
                    <a:bodyPr/>
                    <a:lstStyle/>
                    <a:p>
                      <a:r>
                        <a:rPr lang="en-US"/>
                        <a:t>SUV</a:t>
                      </a:r>
                    </a:p>
                  </a:txBody>
                  <a:tcPr/>
                </a:tc>
                <a:tc>
                  <a:txBody>
                    <a:bodyPr/>
                    <a:lstStyle/>
                    <a:p>
                      <a:r>
                        <a:rPr lang="en-US"/>
                        <a:t>Imported</a:t>
                      </a:r>
                    </a:p>
                  </a:txBody>
                  <a:tcPr/>
                </a:tc>
                <a:tc>
                  <a:txBody>
                    <a:bodyPr/>
                    <a:lstStyle/>
                    <a:p>
                      <a:r>
                        <a:rPr lang="en-US"/>
                        <a:t>No</a:t>
                      </a:r>
                    </a:p>
                  </a:txBody>
                  <a:tcPr/>
                </a:tc>
              </a:tr>
              <a:tr h="370840">
                <a:tc>
                  <a:txBody>
                    <a:bodyPr/>
                    <a:lstStyle/>
                    <a:p>
                      <a:r>
                        <a:rPr lang="en-US"/>
                        <a:t>Red</a:t>
                      </a:r>
                    </a:p>
                  </a:txBody>
                  <a:tcPr/>
                </a:tc>
                <a:tc>
                  <a:txBody>
                    <a:bodyPr/>
                    <a:lstStyle/>
                    <a:p>
                      <a:r>
                        <a:rPr lang="en-US"/>
                        <a:t>Sports</a:t>
                      </a:r>
                    </a:p>
                  </a:txBody>
                  <a:tcPr/>
                </a:tc>
                <a:tc>
                  <a:txBody>
                    <a:bodyPr/>
                    <a:lstStyle/>
                    <a:p>
                      <a:r>
                        <a:rPr lang="en-US"/>
                        <a:t>Imported</a:t>
                      </a:r>
                    </a:p>
                  </a:txBody>
                  <a:tcPr/>
                </a:tc>
                <a:tc>
                  <a:txBody>
                    <a:bodyPr/>
                    <a:lstStyle/>
                    <a:p>
                      <a:r>
                        <a:rPr lang="en-US"/>
                        <a:t>Yes</a:t>
                      </a:r>
                    </a:p>
                  </a:txBody>
                  <a:tcPr/>
                </a:tc>
              </a:tr>
            </a:tbl>
          </a:graphicData>
        </a:graphic>
      </p:graphicFrame>
      <p:sp>
        <p:nvSpPr>
          <p:cNvPr id="7" name="Title 6"/>
          <p:cNvSpPr>
            <a:spLocks noGrp="1"/>
          </p:cNvSpPr>
          <p:nvPr>
            <p:ph type="title"/>
          </p:nvPr>
        </p:nvSpPr>
        <p:spPr/>
        <p:txBody>
          <a:bodyPr/>
          <a:lstStyle/>
          <a:p>
            <a:r>
              <a:rPr lang="en-US"/>
              <a:t>Question</a:t>
            </a:r>
          </a:p>
        </p:txBody>
      </p:sp>
      <mc:AlternateContent xmlns:mc="http://schemas.openxmlformats.org/markup-compatibility/2006">
        <mc:Choice xmlns:a14="http://schemas.microsoft.com/office/drawing/2010/main" Requires="a14">
          <p:sp>
            <p:nvSpPr>
              <p:cNvPr id="8" name="Content Placeholder 7"/>
              <p:cNvSpPr>
                <a:spLocks noGrp="1"/>
              </p:cNvSpPr>
              <p:nvPr>
                <p:ph idx="1"/>
              </p:nvPr>
            </p:nvSpPr>
            <p:spPr>
              <a:xfrm>
                <a:off x="838200" y="1825625"/>
                <a:ext cx="5323449" cy="4351338"/>
              </a:xfrm>
              <a:prstGeom prst="rect">
                <a:avLst/>
              </a:prstGeom>
            </p:spPr>
            <p:txBody>
              <a:bodyPr/>
              <a:lstStyle/>
              <a:p>
                <a:r>
                  <a:rPr lang="en-US"/>
                  <a:t>For the given dataset, apply naïve Bayes algorithm to compute the prediction for a car with attributes</a:t>
                </a:r>
              </a:p>
              <a:p>
                <a:pPr lvl="1"/>
                <a:r>
                  <a:rPr lang="en-US"/>
                  <a:t> </a:t>
                </a:r>
                <a14:m xmlns:a14="http://schemas.microsoft.com/office/drawing/2010/main">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𝑅𝑒𝑑</m:t>
                        </m:r>
                        <m:r>
                          <a:rPr lang="en-US" b="0" i="1" smtClean="0">
                            <a:latin typeface="Cambria Math" panose="02040503050406030204" pitchFamily="18" charset="0"/>
                          </a:rPr>
                          <m:t>, </m:t>
                        </m:r>
                        <m:r>
                          <a:rPr lang="en-US" b="0" i="1" smtClean="0">
                            <a:latin typeface="Cambria Math" panose="02040503050406030204" pitchFamily="18" charset="0"/>
                          </a:rPr>
                          <m:t>𝐷𝑜𝑚𝑒𝑠𝑡𝑖𝑐</m:t>
                        </m:r>
                        <m:r>
                          <a:rPr lang="en-US" b="0" i="1" smtClean="0">
                            <a:latin typeface="Cambria Math" panose="02040503050406030204" pitchFamily="18" charset="0"/>
                          </a:rPr>
                          <m:t>, </m:t>
                        </m:r>
                        <m:r>
                          <a:rPr lang="en-US" b="0" i="1" smtClean="0">
                            <a:latin typeface="Cambria Math" panose="02040503050406030204" pitchFamily="18" charset="0"/>
                          </a:rPr>
                          <m:t>𝑆𝑈𝑉</m:t>
                        </m:r>
                      </m:e>
                    </m:d>
                  </m:oMath>
                </a14:m>
                <a:endParaRPr lang="en-US"/>
              </a:p>
              <a:p>
                <a:endParaRPr lang="en-US"/>
              </a:p>
            </p:txBody>
          </p:sp>
        </mc:Choice>
        <mc:Fallback>
          <p:sp>
            <p:nvSpPr>
              <p:cNvPr id="8" name="Content Placeholder 7"/>
              <p:cNvSpPr>
                <a:spLocks noGrp="1"/>
              </p:cNvSpPr>
              <p:nvPr>
                <p:ph idx="1"/>
              </p:nvPr>
            </p:nvSpPr>
            <p:spPr>
              <a:xfrm>
                <a:off x="838200" y="1825625"/>
                <a:ext cx="5323449" cy="4351338"/>
              </a:xfrm>
              <a:prstGeom prst="rect">
                <a:avLst/>
              </a:prstGeom>
            </p:spPr>
            <p:txBody>
              <a:bodyPr/>
              <a:lstStyle/>
              <a:p>
                <a:r>
                  <a:rPr lang="en-US"/>
                  <a:t>For the given dataset, apply naïve Bayes algorithm to compute the prediction for a car with attributes</a:t>
                </a:r>
              </a:p>
              <a:p>
                <a:pPr lvl="1"/>
                <a:r>
                  <a:rPr lang="en-US"/>
                  <a:t> </a:t>
                </a:r>
                <a:r>
                  <a:rPr/>
                  <a:t>𝑅𝑒𝑑, 𝐷𝑜𝑚𝑒𝑠𝑡𝑖𝑐, 𝑆𝑈𝑉</a:t>
                </a:r>
                <a:endParaRPr lang="en-US"/>
              </a:p>
              <a:p>
                <a:endParaRPr lang="en-US"/>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Question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a:t>Consider the given dataset. Apply Naïve Bayes Algorithm and predict that if a fruit with following properties </a:t>
                </a:r>
                <a14:m xmlns:a14="http://schemas.microsoft.com/office/drawing/2010/main">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𝑌𝑒𝑙𝑙𝑜𝑤</m:t>
                        </m:r>
                        <m:r>
                          <a:rPr lang="en-US" b="0" i="1" smtClean="0">
                            <a:latin typeface="Cambria Math" panose="02040503050406030204" pitchFamily="18" charset="0"/>
                          </a:rPr>
                          <m:t>, </m:t>
                        </m:r>
                        <m:r>
                          <a:rPr lang="en-US" b="0" i="1" smtClean="0">
                            <a:latin typeface="Cambria Math" panose="02040503050406030204" pitchFamily="18" charset="0"/>
                          </a:rPr>
                          <m:t>𝑆𝑤𝑒𝑒𝑡</m:t>
                        </m:r>
                        <m:r>
                          <a:rPr lang="en-US" b="0" i="1" smtClean="0">
                            <a:latin typeface="Cambria Math" panose="02040503050406030204" pitchFamily="18" charset="0"/>
                          </a:rPr>
                          <m:t>, </m:t>
                        </m:r>
                        <m:r>
                          <a:rPr lang="en-US" b="0" i="1" smtClean="0">
                            <a:latin typeface="Cambria Math" panose="02040503050406030204" pitchFamily="18" charset="0"/>
                          </a:rPr>
                          <m:t>𝐿𝑜𝑛𝑔</m:t>
                        </m:r>
                      </m:e>
                    </m:d>
                  </m:oMath>
                </a14:m>
                <a:endParaRPr lang="en-US"/>
              </a:p>
            </p:txBody>
          </p:sp>
        </mc:Choice>
        <mc:Fallback>
          <p:sp>
            <p:nvSpPr>
              <p:cNvPr id="3" name="Content Placeholder 2"/>
              <p:cNvSpPr>
                <a:spLocks noGrp="1"/>
              </p:cNvSpPr>
              <p:nvPr>
                <p:ph idx="1"/>
              </p:nvPr>
            </p:nvSpPr>
            <p:spPr/>
            <p:txBody>
              <a:bodyPr/>
              <a:lstStyle/>
              <a:p>
                <a:r>
                  <a:rPr lang="en-US"/>
                  <a:t>Consider the given dataset. Apply Naïve Bayes Algorithm and predict that if a fruit with following properties </a:t>
                </a:r>
                <a:r>
                  <a:rPr/>
                  <a:t>𝑌𝑒𝑙𝑙𝑜𝑤, 𝑆𝑤𝑒𝑒𝑡, 𝐿𝑜𝑛𝑔</a:t>
                </a:r>
                <a:endParaRPr lang="en-US"/>
              </a:p>
            </p:txBody>
          </p:sp>
        </mc:Fallback>
      </mc:AlternateContent>
      <p:graphicFrame>
        <p:nvGraphicFramePr>
          <p:cNvPr id="5" name="Table 4"/>
          <p:cNvGraphicFramePr>
            <a:graphicFrameLocks noGrp="1"/>
          </p:cNvGraphicFramePr>
          <p:nvPr/>
        </p:nvGraphicFramePr>
        <p:xfrm>
          <a:off x="4044632" y="3074194"/>
          <a:ext cx="4102735" cy="1854200"/>
        </p:xfrm>
        <a:graphic>
          <a:graphicData uri="http://schemas.openxmlformats.org/drawingml/2006/table">
            <a:tbl>
              <a:tblPr firstRow="1" bandRow="1">
                <a:tableStyleId>{5C22544A-7EE6-4342-B048-85BDC9FD1C3A}</a:tableStyleId>
              </a:tblPr>
              <a:tblGrid>
                <a:gridCol w="929005"/>
                <a:gridCol w="853122"/>
                <a:gridCol w="815594"/>
                <a:gridCol w="684530"/>
                <a:gridCol w="820484"/>
              </a:tblGrid>
              <a:tr h="370840">
                <a:tc>
                  <a:txBody>
                    <a:bodyPr/>
                    <a:lstStyle/>
                    <a:p>
                      <a:pPr algn="ctr"/>
                      <a:r>
                        <a:rPr lang="en-US"/>
                        <a:t>Fruit</a:t>
                      </a:r>
                    </a:p>
                  </a:txBody>
                  <a:tcPr/>
                </a:tc>
                <a:tc>
                  <a:txBody>
                    <a:bodyPr/>
                    <a:lstStyle/>
                    <a:p>
                      <a:pPr algn="ctr"/>
                      <a:r>
                        <a:rPr lang="en-US"/>
                        <a:t>Yellow</a:t>
                      </a:r>
                    </a:p>
                  </a:txBody>
                  <a:tcPr/>
                </a:tc>
                <a:tc>
                  <a:txBody>
                    <a:bodyPr/>
                    <a:lstStyle/>
                    <a:p>
                      <a:pPr algn="ctr"/>
                      <a:r>
                        <a:rPr lang="en-US"/>
                        <a:t>Sweet</a:t>
                      </a:r>
                    </a:p>
                  </a:txBody>
                  <a:tcPr/>
                </a:tc>
                <a:tc>
                  <a:txBody>
                    <a:bodyPr/>
                    <a:lstStyle/>
                    <a:p>
                      <a:pPr algn="ctr"/>
                      <a:r>
                        <a:rPr lang="en-US"/>
                        <a:t>Long</a:t>
                      </a:r>
                    </a:p>
                  </a:txBody>
                  <a:tcPr/>
                </a:tc>
                <a:tc>
                  <a:txBody>
                    <a:bodyPr/>
                    <a:lstStyle/>
                    <a:p>
                      <a:pPr algn="ctr"/>
                      <a:r>
                        <a:rPr lang="en-US"/>
                        <a:t>TOTAL</a:t>
                      </a:r>
                    </a:p>
                  </a:txBody>
                  <a:tcPr/>
                </a:tc>
              </a:tr>
              <a:tr h="370840">
                <a:tc>
                  <a:txBody>
                    <a:bodyPr/>
                    <a:lstStyle/>
                    <a:p>
                      <a:r>
                        <a:rPr lang="en-US"/>
                        <a:t>Mango</a:t>
                      </a:r>
                    </a:p>
                  </a:txBody>
                  <a:tcPr/>
                </a:tc>
                <a:tc>
                  <a:txBody>
                    <a:bodyPr/>
                    <a:lstStyle/>
                    <a:p>
                      <a:r>
                        <a:rPr lang="en-US"/>
                        <a:t>350</a:t>
                      </a:r>
                    </a:p>
                  </a:txBody>
                  <a:tcPr/>
                </a:tc>
                <a:tc>
                  <a:txBody>
                    <a:bodyPr/>
                    <a:lstStyle/>
                    <a:p>
                      <a:r>
                        <a:rPr lang="en-US"/>
                        <a:t>450</a:t>
                      </a:r>
                    </a:p>
                  </a:txBody>
                  <a:tcPr/>
                </a:tc>
                <a:tc>
                  <a:txBody>
                    <a:bodyPr/>
                    <a:lstStyle/>
                    <a:p>
                      <a:r>
                        <a:rPr lang="en-US"/>
                        <a:t>0</a:t>
                      </a:r>
                    </a:p>
                  </a:txBody>
                  <a:tcPr/>
                </a:tc>
                <a:tc>
                  <a:txBody>
                    <a:bodyPr/>
                    <a:lstStyle/>
                    <a:p>
                      <a:pPr algn="r"/>
                      <a:r>
                        <a:rPr lang="en-US" b="1"/>
                        <a:t>650</a:t>
                      </a:r>
                    </a:p>
                  </a:txBody>
                  <a:tcPr/>
                </a:tc>
              </a:tr>
              <a:tr h="370840">
                <a:tc>
                  <a:txBody>
                    <a:bodyPr/>
                    <a:lstStyle/>
                    <a:p>
                      <a:r>
                        <a:rPr lang="en-US"/>
                        <a:t>Banana</a:t>
                      </a:r>
                    </a:p>
                  </a:txBody>
                  <a:tcPr/>
                </a:tc>
                <a:tc>
                  <a:txBody>
                    <a:bodyPr/>
                    <a:lstStyle/>
                    <a:p>
                      <a:r>
                        <a:rPr lang="en-US"/>
                        <a:t>400</a:t>
                      </a:r>
                    </a:p>
                  </a:txBody>
                  <a:tcPr/>
                </a:tc>
                <a:tc>
                  <a:txBody>
                    <a:bodyPr/>
                    <a:lstStyle/>
                    <a:p>
                      <a:r>
                        <a:rPr lang="en-US"/>
                        <a:t>300</a:t>
                      </a:r>
                    </a:p>
                  </a:txBody>
                  <a:tcPr/>
                </a:tc>
                <a:tc>
                  <a:txBody>
                    <a:bodyPr/>
                    <a:lstStyle/>
                    <a:p>
                      <a:r>
                        <a:rPr lang="en-US"/>
                        <a:t>350</a:t>
                      </a:r>
                    </a:p>
                  </a:txBody>
                  <a:tcPr/>
                </a:tc>
                <a:tc>
                  <a:txBody>
                    <a:bodyPr/>
                    <a:lstStyle/>
                    <a:p>
                      <a:pPr algn="r"/>
                      <a:r>
                        <a:rPr lang="en-US" b="1"/>
                        <a:t>400</a:t>
                      </a:r>
                    </a:p>
                  </a:txBody>
                  <a:tcPr/>
                </a:tc>
              </a:tr>
              <a:tr h="370840">
                <a:tc>
                  <a:txBody>
                    <a:bodyPr/>
                    <a:lstStyle/>
                    <a:p>
                      <a:r>
                        <a:rPr lang="en-US"/>
                        <a:t>Others</a:t>
                      </a:r>
                    </a:p>
                  </a:txBody>
                  <a:tcPr/>
                </a:tc>
                <a:tc>
                  <a:txBody>
                    <a:bodyPr/>
                    <a:lstStyle/>
                    <a:p>
                      <a:r>
                        <a:rPr lang="en-US"/>
                        <a:t>50</a:t>
                      </a:r>
                    </a:p>
                  </a:txBody>
                  <a:tcPr/>
                </a:tc>
                <a:tc>
                  <a:txBody>
                    <a:bodyPr/>
                    <a:lstStyle/>
                    <a:p>
                      <a:r>
                        <a:rPr lang="en-US"/>
                        <a:t>100</a:t>
                      </a:r>
                    </a:p>
                  </a:txBody>
                  <a:tcPr/>
                </a:tc>
                <a:tc>
                  <a:txBody>
                    <a:bodyPr/>
                    <a:lstStyle/>
                    <a:p>
                      <a:r>
                        <a:rPr lang="en-US"/>
                        <a:t>50</a:t>
                      </a:r>
                    </a:p>
                  </a:txBody>
                  <a:tcPr/>
                </a:tc>
                <a:tc>
                  <a:txBody>
                    <a:bodyPr/>
                    <a:lstStyle/>
                    <a:p>
                      <a:pPr algn="r"/>
                      <a:r>
                        <a:rPr lang="en-US" b="1"/>
                        <a:t>150</a:t>
                      </a:r>
                    </a:p>
                  </a:txBody>
                  <a:tcPr/>
                </a:tc>
              </a:tr>
              <a:tr h="370840">
                <a:tc>
                  <a:txBody>
                    <a:bodyPr/>
                    <a:lstStyle/>
                    <a:p>
                      <a:pPr algn="r"/>
                      <a:r>
                        <a:rPr lang="en-US" b="1"/>
                        <a:t>TOTAL</a:t>
                      </a:r>
                    </a:p>
                  </a:txBody>
                  <a:tcPr/>
                </a:tc>
                <a:tc>
                  <a:txBody>
                    <a:bodyPr/>
                    <a:lstStyle/>
                    <a:p>
                      <a:pPr algn="r"/>
                      <a:r>
                        <a:rPr lang="en-US" b="1"/>
                        <a:t>800</a:t>
                      </a:r>
                    </a:p>
                  </a:txBody>
                  <a:tcPr/>
                </a:tc>
                <a:tc>
                  <a:txBody>
                    <a:bodyPr/>
                    <a:lstStyle/>
                    <a:p>
                      <a:pPr algn="r"/>
                      <a:r>
                        <a:rPr lang="en-US" b="1"/>
                        <a:t>850</a:t>
                      </a:r>
                    </a:p>
                  </a:txBody>
                  <a:tcPr/>
                </a:tc>
                <a:tc>
                  <a:txBody>
                    <a:bodyPr/>
                    <a:lstStyle/>
                    <a:p>
                      <a:pPr algn="r"/>
                      <a:r>
                        <a:rPr lang="en-US" b="1"/>
                        <a:t>400</a:t>
                      </a:r>
                    </a:p>
                  </a:txBody>
                  <a:tcPr/>
                </a:tc>
                <a:tc>
                  <a:txBody>
                    <a:bodyPr/>
                    <a:lstStyle/>
                    <a:p>
                      <a:pPr algn="r"/>
                      <a:r>
                        <a:rPr lang="en-US" b="1"/>
                        <a:t>1200</a:t>
                      </a:r>
                    </a:p>
                  </a:txBody>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Witness Reliability</a:t>
            </a:r>
          </a:p>
        </p:txBody>
      </p:sp>
      <p:sp>
        <p:nvSpPr>
          <p:cNvPr id="3" name="Content Placeholder 2"/>
          <p:cNvSpPr>
            <a:spLocks noGrp="1"/>
          </p:cNvSpPr>
          <p:nvPr>
            <p:ph idx="1"/>
          </p:nvPr>
        </p:nvSpPr>
        <p:spPr/>
        <p:txBody>
          <a:bodyPr>
            <a:normAutofit lnSpcReduction="10000"/>
          </a:bodyPr>
          <a:lstStyle/>
          <a:p>
            <a:r>
              <a:rPr lang="en-US"/>
              <a:t>In the city of Cambridge, there are two taxi companies. One taxi company uses yellow taxis, and the other uses white taxis. The yellow taxi company has 90 cars, and the white taxi company has just 10 cars. A hit-and-run incident has been reported, and an eye witness has stated that she is certain that the car was a white taxi. experts have asserted that given the foggy weather at the time of the incident, the witness had a 75% chance of correctly identifying the taxi. </a:t>
            </a:r>
          </a:p>
          <a:p>
            <a:endParaRPr lang="en-US"/>
          </a:p>
          <a:p>
            <a:r>
              <a:rPr lang="en-US"/>
              <a:t>Given that the lady has said that the taxi was white, what is the likelihood that she is right?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Witness Reliability</a:t>
            </a:r>
          </a:p>
        </p:txBody>
      </p:sp>
      <p:sp>
        <p:nvSpPr>
          <p:cNvPr id="3" name="Content Placeholder 2"/>
          <p:cNvSpPr>
            <a:spLocks noGrp="1"/>
          </p:cNvSpPr>
          <p:nvPr>
            <p:ph idx="1"/>
          </p:nvPr>
        </p:nvSpPr>
        <p:spPr/>
        <p:txBody>
          <a:bodyPr>
            <a:normAutofit fontScale="77500" lnSpcReduction="20000"/>
          </a:bodyPr>
          <a:lstStyle/>
          <a:p>
            <a:r>
              <a:rPr lang="en-US"/>
              <a:t>P(Y) = 0.9 (the probability of any particular taxi being yellow)</a:t>
            </a:r>
          </a:p>
          <a:p>
            <a:r>
              <a:rPr lang="en-US"/>
              <a:t>P(W) = 0.1 (the probability of any particular taxi being white)</a:t>
            </a:r>
          </a:p>
          <a:p>
            <a:endParaRPr lang="en-US"/>
          </a:p>
          <a:p>
            <a:r>
              <a:rPr lang="en-US"/>
              <a:t>Let us denote by</a:t>
            </a:r>
          </a:p>
          <a:p>
            <a:pPr lvl="1"/>
            <a:r>
              <a:rPr lang="en-US" sz="2800" b="1"/>
              <a:t>P(C</a:t>
            </a:r>
            <a:r>
              <a:rPr lang="en-US" sz="2800" b="1" baseline="-25000"/>
              <a:t>W</a:t>
            </a:r>
            <a:r>
              <a:rPr lang="en-US" sz="2800" b="1"/>
              <a:t>)  </a:t>
            </a:r>
            <a:r>
              <a:rPr lang="en-US" sz="2800"/>
              <a:t>the probability that the culprit was driving a white taxi</a:t>
            </a:r>
          </a:p>
          <a:p>
            <a:pPr lvl="1"/>
            <a:r>
              <a:rPr lang="en-US" sz="2800" b="1"/>
              <a:t>P(C</a:t>
            </a:r>
            <a:r>
              <a:rPr lang="en-US" sz="2800" b="1" baseline="-25000"/>
              <a:t>Y</a:t>
            </a:r>
            <a:r>
              <a:rPr lang="en-US" sz="2800" b="1"/>
              <a:t>)   </a:t>
            </a:r>
            <a:r>
              <a:rPr lang="en-US" sz="2800"/>
              <a:t>the probability that it was a yellow car </a:t>
            </a:r>
          </a:p>
          <a:p>
            <a:pPr lvl="1"/>
            <a:r>
              <a:rPr lang="en-US" sz="2800" b="1"/>
              <a:t>P(W</a:t>
            </a:r>
            <a:r>
              <a:rPr lang="en-US" sz="2800" b="1" baseline="-25000"/>
              <a:t>W</a:t>
            </a:r>
            <a:r>
              <a:rPr lang="en-US" sz="2800" b="1"/>
              <a:t>) </a:t>
            </a:r>
            <a:r>
              <a:rPr lang="en-US" sz="2800"/>
              <a:t>to denote the probability that the witness says she saw a white car</a:t>
            </a:r>
          </a:p>
          <a:p>
            <a:pPr lvl="1"/>
            <a:r>
              <a:rPr lang="en-US" sz="2800" b="1"/>
              <a:t>P(W</a:t>
            </a:r>
            <a:r>
              <a:rPr lang="en-US" sz="2800" b="1" baseline="-25000"/>
              <a:t>Y</a:t>
            </a:r>
            <a:r>
              <a:rPr lang="en-US" sz="2800" b="1"/>
              <a:t>)  </a:t>
            </a:r>
            <a:r>
              <a:rPr lang="en-US" sz="2800"/>
              <a:t>to denote that she says she saw a yellow car</a:t>
            </a:r>
          </a:p>
          <a:p>
            <a:pPr lvl="1"/>
            <a:endParaRPr lang="en-US" sz="2800"/>
          </a:p>
          <a:p>
            <a:r>
              <a:rPr lang="en-US"/>
              <a:t>Now, if the witness really saw a yellow car, she would say that it was yellow 75% of the time, and if she says she saw a white car, she would say it was white 75% of the time, So</a:t>
            </a:r>
          </a:p>
          <a:p>
            <a:pPr lvl="1"/>
            <a:r>
              <a:rPr lang="en-US" sz="2800"/>
              <a:t>P(W</a:t>
            </a:r>
            <a:r>
              <a:rPr lang="en-US" sz="2800" baseline="-25000"/>
              <a:t>W</a:t>
            </a:r>
            <a:r>
              <a:rPr lang="en-US" sz="2800"/>
              <a:t>| C</a:t>
            </a:r>
            <a:r>
              <a:rPr lang="en-US" sz="2800" baseline="-25000"/>
              <a:t>W</a:t>
            </a:r>
            <a:r>
              <a:rPr lang="en-US" sz="2800"/>
              <a:t>) =0.75</a:t>
            </a:r>
          </a:p>
          <a:p>
            <a:pPr lvl="1"/>
            <a:r>
              <a:rPr lang="en-US" sz="2800"/>
              <a:t>P(W</a:t>
            </a:r>
            <a:r>
              <a:rPr lang="en-US" sz="2800" baseline="-25000"/>
              <a:t>Y</a:t>
            </a:r>
            <a:r>
              <a:rPr lang="en-US" sz="2800"/>
              <a:t> | C</a:t>
            </a:r>
            <a:r>
              <a:rPr lang="en-US" sz="2800" baseline="-25000"/>
              <a:t>Y</a:t>
            </a:r>
            <a:r>
              <a:rPr lang="en-US" sz="2800"/>
              <a:t>) = 0.75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Witness Reliability</a:t>
            </a:r>
          </a:p>
        </p:txBody>
      </p:sp>
      <p:sp>
        <p:nvSpPr>
          <p:cNvPr id="3" name="Content Placeholder 2"/>
          <p:cNvSpPr>
            <a:spLocks noGrp="1"/>
          </p:cNvSpPr>
          <p:nvPr>
            <p:ph idx="1"/>
          </p:nvPr>
        </p:nvSpPr>
        <p:spPr/>
        <p:txBody>
          <a:bodyPr>
            <a:normAutofit fontScale="70000" lnSpcReduction="20000"/>
          </a:bodyPr>
          <a:lstStyle/>
          <a:p>
            <a:r>
              <a:rPr lang="en-US"/>
              <a:t>we can apply Bayes’ theorem to find the probability, given that she is saying that the car was white, that she is correct:</a:t>
            </a:r>
          </a:p>
          <a:p>
            <a:endParaRPr lang="en-US"/>
          </a:p>
          <a:p>
            <a:endParaRPr lang="en-US"/>
          </a:p>
          <a:p>
            <a:endParaRPr lang="en-US"/>
          </a:p>
          <a:p>
            <a:r>
              <a:rPr lang="en-US" b="1"/>
              <a:t>We now need to calculate </a:t>
            </a:r>
            <a:r>
              <a:rPr lang="en-US" b="1" i="1"/>
              <a:t>P</a:t>
            </a:r>
            <a:r>
              <a:rPr lang="en-US" b="1"/>
              <a:t>(</a:t>
            </a:r>
            <a:r>
              <a:rPr lang="en-US" b="1" i="1"/>
              <a:t>WW</a:t>
            </a:r>
            <a:r>
              <a:rPr lang="en-US" b="1"/>
              <a:t>)—the prior probability that the lady would say she saw a white car. </a:t>
            </a:r>
          </a:p>
          <a:p>
            <a:endParaRPr lang="en-US"/>
          </a:p>
          <a:p>
            <a:r>
              <a:rPr lang="en-US"/>
              <a:t>Suppose that the lady is shown a random sequence of 1000 cars. </a:t>
            </a:r>
          </a:p>
          <a:p>
            <a:r>
              <a:rPr lang="en-US"/>
              <a:t>We expect 900 of these cars to be yellow and 100 of them to be white. </a:t>
            </a:r>
          </a:p>
          <a:p>
            <a:r>
              <a:rPr lang="en-US"/>
              <a:t>The witness will misidentify 250 of the cars:</a:t>
            </a:r>
          </a:p>
          <a:p>
            <a:pPr lvl="1"/>
            <a:r>
              <a:rPr lang="en-US" sz="2800"/>
              <a:t>Of the 900 yellow cars, she will incorrectly say that 225 are white.</a:t>
            </a:r>
          </a:p>
          <a:p>
            <a:pPr lvl="1"/>
            <a:r>
              <a:rPr lang="en-US" sz="2800"/>
              <a:t>Of the 100 white cars, she will incorrectly say that 25 are yellow. </a:t>
            </a:r>
          </a:p>
          <a:p>
            <a:pPr lvl="1"/>
            <a:r>
              <a:rPr lang="en-US" sz="2800"/>
              <a:t>Hence, in total, she will believe she sees 300 white</a:t>
            </a:r>
          </a:p>
        </p:txBody>
      </p:sp>
      <p:pic>
        <p:nvPicPr>
          <p:cNvPr id="3074" name="Picture 2"/>
          <p:cNvPicPr>
            <a:picLocks noChangeAspect="1"/>
          </p:cNvPicPr>
          <p:nvPr/>
        </p:nvPicPr>
        <p:blipFill rotWithShape="1">
          <a:blip r:embed="rId2"/>
          <a:stretch>
            <a:fillRect/>
          </a:stretch>
        </p:blipFill>
        <p:spPr>
          <a:xfrm>
            <a:off x="4569270" y="2401223"/>
            <a:ext cx="3053459" cy="923925"/>
          </a:xfrm>
          <a:prstGeom prst="rect">
            <a:avLst/>
          </a:prstGeom>
          <a:noFill/>
          <a:ln>
            <a:noFill/>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Witness Reliability</a:t>
            </a:r>
          </a:p>
        </p:txBody>
      </p:sp>
      <p:sp>
        <p:nvSpPr>
          <p:cNvPr id="3" name="Content Placeholder 2"/>
          <p:cNvSpPr>
            <a:spLocks noGrp="1"/>
          </p:cNvSpPr>
          <p:nvPr>
            <p:ph idx="1"/>
          </p:nvPr>
        </p:nvSpPr>
        <p:spPr/>
        <p:txBody>
          <a:bodyPr>
            <a:normAutofit fontScale="55000" lnSpcReduction="20000"/>
          </a:bodyPr>
          <a:lstStyle/>
          <a:p>
            <a:r>
              <a:rPr lang="en-US"/>
              <a:t>we can apply Bayes’ theorem to find the probability, given that she is saying that the car was white, that she is correct:</a:t>
            </a:r>
          </a:p>
          <a:p>
            <a:endParaRPr lang="en-US"/>
          </a:p>
          <a:p>
            <a:endParaRPr lang="en-US"/>
          </a:p>
          <a:p>
            <a:endParaRPr lang="en-US"/>
          </a:p>
          <a:p>
            <a:r>
              <a:rPr lang="en-US" b="1"/>
              <a:t>We now need to calculate </a:t>
            </a:r>
            <a:r>
              <a:rPr lang="en-US" b="1" i="1"/>
              <a:t>P</a:t>
            </a:r>
            <a:r>
              <a:rPr lang="en-US" b="1"/>
              <a:t>(</a:t>
            </a:r>
            <a:r>
              <a:rPr lang="en-US" b="1" i="1"/>
              <a:t>W</a:t>
            </a:r>
            <a:r>
              <a:rPr lang="en-US" b="1" i="1" baseline="-25000"/>
              <a:t>W</a:t>
            </a:r>
            <a:r>
              <a:rPr lang="en-US" b="1"/>
              <a:t>)—the prior probability that the lady would say she saw a white car. </a:t>
            </a:r>
          </a:p>
          <a:p>
            <a:endParaRPr lang="en-US"/>
          </a:p>
          <a:p>
            <a:r>
              <a:rPr lang="en-US"/>
              <a:t>Suppose that the lady is shown a random sequence of 1000 cars. </a:t>
            </a:r>
          </a:p>
          <a:p>
            <a:r>
              <a:rPr lang="en-US"/>
              <a:t>We expect 900 of these cars to be yellow and 100 of them to be white. </a:t>
            </a:r>
          </a:p>
          <a:p>
            <a:r>
              <a:rPr lang="en-US"/>
              <a:t>The witness will misidentify 250 of the cars:</a:t>
            </a:r>
          </a:p>
          <a:p>
            <a:pPr lvl="1"/>
            <a:r>
              <a:rPr lang="en-US" sz="2800"/>
              <a:t>Of the 900 yellow cars, she will incorrectly say that 225 are white.</a:t>
            </a:r>
          </a:p>
          <a:p>
            <a:pPr lvl="1"/>
            <a:r>
              <a:rPr lang="en-US" sz="2800"/>
              <a:t>Of the 100 white cars, she will incorrectly say that 25 are yellow. </a:t>
            </a:r>
          </a:p>
          <a:p>
            <a:pPr lvl="1"/>
            <a:r>
              <a:rPr lang="en-US" sz="2800"/>
              <a:t>Hence, in total, she will believe she sees 300 white cars instead of 100.</a:t>
            </a:r>
          </a:p>
          <a:p>
            <a:pPr lvl="1"/>
            <a:endParaRPr lang="en-US" sz="2800"/>
          </a:p>
          <a:p>
            <a:r>
              <a:rPr lang="en-US"/>
              <a:t>P(W</a:t>
            </a:r>
            <a:r>
              <a:rPr lang="en-US" baseline="-25000"/>
              <a:t>W</a:t>
            </a:r>
            <a:r>
              <a:rPr lang="en-US"/>
              <a:t>) is 300/1000 = 0.3.</a:t>
            </a:r>
          </a:p>
        </p:txBody>
      </p:sp>
      <p:pic>
        <p:nvPicPr>
          <p:cNvPr id="3074" name="Picture 2"/>
          <p:cNvPicPr>
            <a:picLocks noChangeAspect="1"/>
          </p:cNvPicPr>
          <p:nvPr/>
        </p:nvPicPr>
        <p:blipFill rotWithShape="1">
          <a:blip r:embed="rId2"/>
          <a:stretch>
            <a:fillRect/>
          </a:stretch>
        </p:blipFill>
        <p:spPr>
          <a:xfrm>
            <a:off x="4569270" y="2169942"/>
            <a:ext cx="3053459" cy="705394"/>
          </a:xfrm>
          <a:prstGeom prst="rect">
            <a:avLst/>
          </a:prstGeom>
          <a:noFill/>
          <a:ln>
            <a:noFill/>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Witness Reliability</a:t>
            </a:r>
            <a:endParaRPr lang="en-US"/>
          </a:p>
        </p:txBody>
      </p:sp>
      <p:sp>
        <p:nvSpPr>
          <p:cNvPr id="3" name="Content Placeholder 2"/>
          <p:cNvSpPr>
            <a:spLocks noGrp="1"/>
          </p:cNvSpPr>
          <p:nvPr>
            <p:ph idx="1"/>
          </p:nvPr>
        </p:nvSpPr>
        <p:spPr/>
        <p:txBody>
          <a:bodyPr>
            <a:noAutofit/>
          </a:bodyPr>
          <a:lstStyle/>
          <a:p>
            <a:r>
              <a:rPr lang="en-US"/>
              <a:t>We can now complete our equation to find </a:t>
            </a:r>
            <a:r>
              <a:rPr lang="en-US" i="1"/>
              <a:t>P</a:t>
            </a:r>
            <a:r>
              <a:rPr lang="en-US"/>
              <a:t>(</a:t>
            </a:r>
            <a:r>
              <a:rPr lang="en-US" i="1"/>
              <a:t>C</a:t>
            </a:r>
            <a:r>
              <a:rPr lang="en-US" i="1" baseline="-25000"/>
              <a:t>W</a:t>
            </a:r>
            <a:r>
              <a:rPr lang="en-US"/>
              <a:t>|</a:t>
            </a:r>
            <a:r>
              <a:rPr lang="en-US" i="1"/>
              <a:t>W</a:t>
            </a:r>
            <a:r>
              <a:rPr lang="en-US" i="1" baseline="-25000"/>
              <a:t>W</a:t>
            </a:r>
            <a:r>
              <a:rPr lang="en-US"/>
              <a:t>):</a:t>
            </a:r>
          </a:p>
          <a:p>
            <a:endParaRPr lang="en-US"/>
          </a:p>
          <a:p>
            <a:endParaRPr lang="en-US"/>
          </a:p>
          <a:p>
            <a:endParaRPr lang="en-US"/>
          </a:p>
          <a:p>
            <a:r>
              <a:rPr lang="en-US"/>
              <a:t>In other words, if the lady says that the car was white, the probability that it was in fact white is only 0.25</a:t>
            </a:r>
          </a:p>
          <a:p>
            <a:endParaRPr lang="en-US"/>
          </a:p>
          <a:p>
            <a:r>
              <a:rPr lang="en-US"/>
              <a:t>It is three times more likely that it was actually yellow!</a:t>
            </a:r>
          </a:p>
        </p:txBody>
      </p:sp>
      <p:pic>
        <p:nvPicPr>
          <p:cNvPr id="4098" name="Picture 2"/>
          <p:cNvPicPr>
            <a:picLocks noChangeAspect="1"/>
          </p:cNvPicPr>
          <p:nvPr/>
        </p:nvPicPr>
        <p:blipFill rotWithShape="1">
          <a:blip r:embed="rId2"/>
          <a:stretch>
            <a:fillRect/>
          </a:stretch>
        </p:blipFill>
        <p:spPr>
          <a:xfrm>
            <a:off x="4586287" y="2305198"/>
            <a:ext cx="3019425" cy="1343025"/>
          </a:xfrm>
          <a:prstGeom prst="rect">
            <a:avLst/>
          </a:prstGeom>
          <a:noFill/>
          <a:ln>
            <a:noFill/>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graphicFrame>
        <p:nvGraphicFramePr>
          <p:cNvPr id="8" name="Content Placeholder 7"/>
          <p:cNvGraphicFramePr>
            <a:graphicFrameLocks noGrp="1"/>
          </p:cNvGraphicFramePr>
          <p:nvPr>
            <p:ph idx="1"/>
          </p:nvPr>
        </p:nvGraphicFramePr>
        <p:xfrm>
          <a:off x="838200" y="1825625"/>
          <a:ext cx="10515600" cy="4079240"/>
        </p:xfrm>
        <a:graphic>
          <a:graphicData uri="http://schemas.openxmlformats.org/drawingml/2006/table">
            <a:tbl>
              <a:tblPr firstRow="1" bandRow="1">
                <a:tableStyleId>{5C22544A-7EE6-4342-B048-85BDC9FD1C3A}</a:tableStyleId>
              </a:tblPr>
              <a:tblGrid>
                <a:gridCol w="2628900"/>
                <a:gridCol w="2628900"/>
                <a:gridCol w="2628900"/>
                <a:gridCol w="2628900"/>
              </a:tblGrid>
              <a:tr h="370840">
                <a:tc>
                  <a:txBody>
                    <a:bodyPr/>
                    <a:lstStyle/>
                    <a:p>
                      <a:r>
                        <a:rPr lang="en-US"/>
                        <a:t>person</a:t>
                      </a:r>
                    </a:p>
                  </a:txBody>
                  <a:tcPr/>
                </a:tc>
                <a:tc>
                  <a:txBody>
                    <a:bodyPr/>
                    <a:lstStyle/>
                    <a:p>
                      <a:r>
                        <a:rPr lang="en-US"/>
                        <a:t>Covid(yes/no)</a:t>
                      </a:r>
                    </a:p>
                  </a:txBody>
                  <a:tcPr/>
                </a:tc>
                <a:tc>
                  <a:txBody>
                    <a:bodyPr/>
                    <a:lstStyle/>
                    <a:p>
                      <a:r>
                        <a:rPr lang="en-US"/>
                        <a:t>Flu(yes/no)</a:t>
                      </a:r>
                    </a:p>
                  </a:txBody>
                  <a:tcPr/>
                </a:tc>
                <a:tc>
                  <a:txBody>
                    <a:bodyPr/>
                    <a:lstStyle/>
                    <a:p>
                      <a:r>
                        <a:rPr lang="en-US"/>
                        <a:t>Fever(yes/no)</a:t>
                      </a:r>
                    </a:p>
                  </a:txBody>
                  <a:tcPr/>
                </a:tc>
              </a:tr>
              <a:tr h="370840">
                <a:tc>
                  <a:txBody>
                    <a:bodyPr/>
                    <a:lstStyle/>
                    <a:p>
                      <a:r>
                        <a:rPr lang="en-US"/>
                        <a:t>1</a:t>
                      </a:r>
                    </a:p>
                  </a:txBody>
                  <a:tcPr/>
                </a:tc>
                <a:tc>
                  <a:txBody>
                    <a:bodyPr/>
                    <a:lstStyle/>
                    <a:p>
                      <a:r>
                        <a:rPr lang="en-US"/>
                        <a:t>Yes</a:t>
                      </a:r>
                    </a:p>
                  </a:txBody>
                  <a:tcPr/>
                </a:tc>
                <a:tc>
                  <a:txBody>
                    <a:bodyPr/>
                    <a:lstStyle/>
                    <a:p>
                      <a:r>
                        <a:rPr lang="en-US"/>
                        <a:t>No</a:t>
                      </a:r>
                    </a:p>
                  </a:txBody>
                  <a:tcPr/>
                </a:tc>
                <a:tc>
                  <a:txBody>
                    <a:bodyPr/>
                    <a:lstStyle/>
                    <a:p>
                      <a:r>
                        <a:rPr lang="en-US"/>
                        <a:t>Yes</a:t>
                      </a:r>
                    </a:p>
                  </a:txBody>
                  <a:tcPr/>
                </a:tc>
              </a:tr>
              <a:tr h="370840">
                <a:tc>
                  <a:txBody>
                    <a:bodyPr/>
                    <a:lstStyle/>
                    <a:p>
                      <a:r>
                        <a:rPr lang="en-US"/>
                        <a:t>2</a:t>
                      </a:r>
                    </a:p>
                  </a:txBody>
                  <a:tcPr/>
                </a:tc>
                <a:tc>
                  <a:txBody>
                    <a:bodyPr/>
                    <a:lstStyle/>
                    <a:p>
                      <a:r>
                        <a:rPr lang="en-US"/>
                        <a:t>No</a:t>
                      </a:r>
                    </a:p>
                  </a:txBody>
                  <a:tcPr/>
                </a:tc>
                <a:tc>
                  <a:txBody>
                    <a:bodyPr/>
                    <a:lstStyle/>
                    <a:p>
                      <a:r>
                        <a:rPr lang="en-US"/>
                        <a:t>Yes</a:t>
                      </a:r>
                    </a:p>
                  </a:txBody>
                  <a:tcPr/>
                </a:tc>
                <a:tc>
                  <a:txBody>
                    <a:bodyPr/>
                    <a:lstStyle/>
                    <a:p>
                      <a:r>
                        <a:rPr lang="en-US"/>
                        <a:t>Yes</a:t>
                      </a:r>
                    </a:p>
                  </a:txBody>
                  <a:tcPr/>
                </a:tc>
              </a:tr>
              <a:tr h="370840">
                <a:tc>
                  <a:txBody>
                    <a:bodyPr/>
                    <a:lstStyle/>
                    <a:p>
                      <a:r>
                        <a:rPr lang="en-US"/>
                        <a:t>3</a:t>
                      </a:r>
                    </a:p>
                  </a:txBody>
                  <a:tcPr/>
                </a:tc>
                <a:tc>
                  <a:txBody>
                    <a:bodyPr/>
                    <a:lstStyle/>
                    <a:p>
                      <a:r>
                        <a:rPr lang="en-US"/>
                        <a:t>Yes</a:t>
                      </a:r>
                    </a:p>
                  </a:txBody>
                  <a:tcPr/>
                </a:tc>
                <a:tc>
                  <a:txBody>
                    <a:bodyPr/>
                    <a:lstStyle/>
                    <a:p>
                      <a:r>
                        <a:rPr lang="en-US"/>
                        <a:t>Yes</a:t>
                      </a:r>
                    </a:p>
                  </a:txBody>
                  <a:tcPr/>
                </a:tc>
                <a:tc>
                  <a:txBody>
                    <a:bodyPr/>
                    <a:lstStyle/>
                    <a:p>
                      <a:r>
                        <a:rPr lang="en-US"/>
                        <a:t>Yes</a:t>
                      </a:r>
                    </a:p>
                  </a:txBody>
                  <a:tcPr/>
                </a:tc>
              </a:tr>
              <a:tr h="370840">
                <a:tc>
                  <a:txBody>
                    <a:bodyPr/>
                    <a:lstStyle/>
                    <a:p>
                      <a:r>
                        <a:rPr lang="en-US"/>
                        <a:t>4</a:t>
                      </a:r>
                    </a:p>
                  </a:txBody>
                  <a:tcPr/>
                </a:tc>
                <a:tc>
                  <a:txBody>
                    <a:bodyPr/>
                    <a:lstStyle/>
                    <a:p>
                      <a:r>
                        <a:rPr lang="en-US"/>
                        <a:t>No</a:t>
                      </a:r>
                    </a:p>
                  </a:txBody>
                  <a:tcPr/>
                </a:tc>
                <a:tc>
                  <a:txBody>
                    <a:bodyPr/>
                    <a:lstStyle/>
                    <a:p>
                      <a:r>
                        <a:rPr lang="en-US"/>
                        <a:t>No</a:t>
                      </a:r>
                    </a:p>
                  </a:txBody>
                  <a:tcPr/>
                </a:tc>
                <a:tc>
                  <a:txBody>
                    <a:bodyPr/>
                    <a:lstStyle/>
                    <a:p>
                      <a:r>
                        <a:rPr lang="en-US"/>
                        <a:t>No</a:t>
                      </a:r>
                    </a:p>
                  </a:txBody>
                  <a:tcPr/>
                </a:tc>
              </a:tr>
              <a:tr h="370840">
                <a:tc>
                  <a:txBody>
                    <a:bodyPr/>
                    <a:lstStyle/>
                    <a:p>
                      <a:r>
                        <a:rPr lang="en-US"/>
                        <a:t>5</a:t>
                      </a:r>
                    </a:p>
                  </a:txBody>
                  <a:tcPr/>
                </a:tc>
                <a:tc>
                  <a:txBody>
                    <a:bodyPr/>
                    <a:lstStyle/>
                    <a:p>
                      <a:r>
                        <a:rPr lang="en-US"/>
                        <a:t>Yes</a:t>
                      </a:r>
                    </a:p>
                  </a:txBody>
                  <a:tcPr/>
                </a:tc>
                <a:tc>
                  <a:txBody>
                    <a:bodyPr/>
                    <a:lstStyle/>
                    <a:p>
                      <a:r>
                        <a:rPr lang="en-US"/>
                        <a:t>No</a:t>
                      </a:r>
                    </a:p>
                  </a:txBody>
                  <a:tcPr/>
                </a:tc>
                <a:tc>
                  <a:txBody>
                    <a:bodyPr/>
                    <a:lstStyle/>
                    <a:p>
                      <a:r>
                        <a:rPr lang="en-US"/>
                        <a:t>Yes</a:t>
                      </a:r>
                    </a:p>
                  </a:txBody>
                  <a:tcPr/>
                </a:tc>
              </a:tr>
              <a:tr h="370840">
                <a:tc>
                  <a:txBody>
                    <a:bodyPr/>
                    <a:lstStyle/>
                    <a:p>
                      <a:r>
                        <a:rPr lang="en-US"/>
                        <a:t>6</a:t>
                      </a:r>
                    </a:p>
                  </a:txBody>
                  <a:tcPr/>
                </a:tc>
                <a:tc>
                  <a:txBody>
                    <a:bodyPr/>
                    <a:lstStyle/>
                    <a:p>
                      <a:r>
                        <a:rPr lang="en-US"/>
                        <a:t>No</a:t>
                      </a:r>
                    </a:p>
                  </a:txBody>
                  <a:tcPr/>
                </a:tc>
                <a:tc>
                  <a:txBody>
                    <a:bodyPr/>
                    <a:lstStyle/>
                    <a:p>
                      <a:r>
                        <a:rPr lang="en-US"/>
                        <a:t>No</a:t>
                      </a:r>
                    </a:p>
                  </a:txBody>
                  <a:tcPr/>
                </a:tc>
                <a:tc>
                  <a:txBody>
                    <a:bodyPr/>
                    <a:lstStyle/>
                    <a:p>
                      <a:r>
                        <a:rPr lang="en-US"/>
                        <a:t>Yes</a:t>
                      </a:r>
                    </a:p>
                  </a:txBody>
                  <a:tcPr/>
                </a:tc>
              </a:tr>
              <a:tr h="370840">
                <a:tc>
                  <a:txBody>
                    <a:bodyPr/>
                    <a:lstStyle/>
                    <a:p>
                      <a:r>
                        <a:rPr lang="en-US"/>
                        <a:t>7</a:t>
                      </a:r>
                    </a:p>
                  </a:txBody>
                  <a:tcPr/>
                </a:tc>
                <a:tc>
                  <a:txBody>
                    <a:bodyPr/>
                    <a:lstStyle/>
                    <a:p>
                      <a:r>
                        <a:rPr lang="en-US"/>
                        <a:t>Yes</a:t>
                      </a:r>
                    </a:p>
                  </a:txBody>
                  <a:tcPr/>
                </a:tc>
                <a:tc>
                  <a:txBody>
                    <a:bodyPr/>
                    <a:lstStyle/>
                    <a:p>
                      <a:r>
                        <a:rPr lang="en-US"/>
                        <a:t>No</a:t>
                      </a:r>
                    </a:p>
                  </a:txBody>
                  <a:tcPr/>
                </a:tc>
                <a:tc>
                  <a:txBody>
                    <a:bodyPr/>
                    <a:lstStyle/>
                    <a:p>
                      <a:r>
                        <a:rPr lang="en-US"/>
                        <a:t>Yes</a:t>
                      </a:r>
                    </a:p>
                  </a:txBody>
                  <a:tcPr/>
                </a:tc>
              </a:tr>
              <a:tr h="370840">
                <a:tc>
                  <a:txBody>
                    <a:bodyPr/>
                    <a:lstStyle/>
                    <a:p>
                      <a:r>
                        <a:rPr lang="en-US"/>
                        <a:t>8</a:t>
                      </a:r>
                    </a:p>
                  </a:txBody>
                  <a:tcPr/>
                </a:tc>
                <a:tc>
                  <a:txBody>
                    <a:bodyPr/>
                    <a:lstStyle/>
                    <a:p>
                      <a:r>
                        <a:rPr lang="en-US"/>
                        <a:t>Yes</a:t>
                      </a:r>
                    </a:p>
                  </a:txBody>
                  <a:tcPr/>
                </a:tc>
                <a:tc>
                  <a:txBody>
                    <a:bodyPr/>
                    <a:lstStyle/>
                    <a:p>
                      <a:r>
                        <a:rPr lang="en-US"/>
                        <a:t>No</a:t>
                      </a:r>
                    </a:p>
                  </a:txBody>
                  <a:tcPr/>
                </a:tc>
                <a:tc>
                  <a:txBody>
                    <a:bodyPr/>
                    <a:lstStyle/>
                    <a:p>
                      <a:r>
                        <a:rPr lang="en-US"/>
                        <a:t>No</a:t>
                      </a:r>
                    </a:p>
                  </a:txBody>
                  <a:tcPr/>
                </a:tc>
              </a:tr>
              <a:tr h="370840">
                <a:tc>
                  <a:txBody>
                    <a:bodyPr/>
                    <a:lstStyle/>
                    <a:p>
                      <a:r>
                        <a:rPr lang="en-US"/>
                        <a:t>9</a:t>
                      </a:r>
                    </a:p>
                  </a:txBody>
                  <a:tcPr/>
                </a:tc>
                <a:tc>
                  <a:txBody>
                    <a:bodyPr/>
                    <a:lstStyle/>
                    <a:p>
                      <a:r>
                        <a:rPr lang="en-US"/>
                        <a:t>No</a:t>
                      </a:r>
                    </a:p>
                  </a:txBody>
                  <a:tcPr/>
                </a:tc>
                <a:tc>
                  <a:txBody>
                    <a:bodyPr/>
                    <a:lstStyle/>
                    <a:p>
                      <a:r>
                        <a:rPr lang="en-US"/>
                        <a:t>Yes</a:t>
                      </a:r>
                    </a:p>
                  </a:txBody>
                  <a:tcPr/>
                </a:tc>
                <a:tc>
                  <a:txBody>
                    <a:bodyPr/>
                    <a:lstStyle/>
                    <a:p>
                      <a:r>
                        <a:rPr lang="en-US"/>
                        <a:t>Yes</a:t>
                      </a:r>
                    </a:p>
                  </a:txBody>
                  <a:tcPr/>
                </a:tc>
              </a:tr>
              <a:tr h="370840">
                <a:tc>
                  <a:txBody>
                    <a:bodyPr/>
                    <a:lstStyle/>
                    <a:p>
                      <a:r>
                        <a:rPr lang="en-US"/>
                        <a:t>10</a:t>
                      </a:r>
                    </a:p>
                  </a:txBody>
                  <a:tcPr/>
                </a:tc>
                <a:tc>
                  <a:txBody>
                    <a:bodyPr/>
                    <a:lstStyle/>
                    <a:p>
                      <a:r>
                        <a:rPr lang="en-US"/>
                        <a:t>no</a:t>
                      </a:r>
                    </a:p>
                  </a:txBody>
                  <a:tcPr/>
                </a:tc>
                <a:tc>
                  <a:txBody>
                    <a:bodyPr/>
                    <a:lstStyle/>
                    <a:p>
                      <a:r>
                        <a:rPr lang="en-US"/>
                        <a:t>yes</a:t>
                      </a:r>
                    </a:p>
                  </a:txBody>
                  <a:tcPr/>
                </a:tc>
                <a:tc>
                  <a:txBody>
                    <a:bodyPr/>
                    <a:lstStyle/>
                    <a:p>
                      <a:r>
                        <a:rPr lang="en-US"/>
                        <a:t>no</a:t>
                      </a:r>
                    </a:p>
                  </a:txBody>
                  <a:tcPr/>
                </a:tc>
              </a:tr>
            </a:tbl>
          </a:graphicData>
        </a:graphic>
      </p:graphicFrame>
      <p:sp>
        <p:nvSpPr>
          <p:cNvPr id="10" name="Rectangle 9"/>
          <p:cNvSpPr/>
          <p:nvPr/>
        </p:nvSpPr>
        <p:spPr>
          <a:xfrm>
            <a:off x="1206230" y="6099243"/>
            <a:ext cx="4163438" cy="5155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Given: </a:t>
            </a:r>
            <a:r>
              <a:rPr lang="en-US"/>
              <a:t>flu,covid</a:t>
            </a:r>
            <a:r>
              <a:rPr lang="en-US"/>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ChangeAspect="1" noGrp="1"/>
          </p:cNvPicPr>
          <p:nvPr>
            <p:ph idx="1"/>
          </p:nvPr>
        </p:nvPicPr>
        <p:blipFill rotWithShape="1">
          <a:blip r:embed="rId2"/>
          <a:srcRect l="5113" t="69537" r="6148" b="9715"/>
          <a:stretch>
            <a:fillRect/>
          </a:stretch>
        </p:blipFill>
        <p:spPr>
          <a:xfrm>
            <a:off x="1729694" y="2045409"/>
            <a:ext cx="8027150" cy="3336587"/>
          </a:xfrm>
          <a:prstGeom prst="rect">
            <a:avLst/>
          </a:prstGeom>
        </p:spPr>
      </p:pic>
      <p:sp>
        <p:nvSpPr>
          <p:cNvPr id="7" name="Oval 6"/>
          <p:cNvSpPr/>
          <p:nvPr/>
        </p:nvSpPr>
        <p:spPr>
          <a:xfrm>
            <a:off x="1729695" y="1945533"/>
            <a:ext cx="2608842" cy="418288"/>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ChangeAspect="1" noGrp="1"/>
          </p:cNvPicPr>
          <p:nvPr>
            <p:ph idx="1"/>
          </p:nvPr>
        </p:nvPicPr>
        <p:blipFill rotWithShape="1">
          <a:blip r:embed="rId2"/>
          <a:stretch>
            <a:fillRect/>
          </a:stretch>
        </p:blipFill>
        <p:spPr>
          <a:xfrm>
            <a:off x="1359937" y="1848949"/>
            <a:ext cx="9121930" cy="4168501"/>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solidFill>
            <a:schemeClr val="phClr"/>
          </a:solidFill>
          <a:prstDash val="solid"/>
          <a:miter/>
        </a:ln>
        <a:ln w="12700" cap="flat" cmpd="sng">
          <a:solidFill>
            <a:schemeClr val="phClr"/>
          </a:solidFill>
          <a:prstDash val="solid"/>
          <a:miter/>
        </a:ln>
        <a:ln w="19050" cap="flat" cmpd="sng">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xmlns:a="http://schemas.openxmlformats.org/drawingml/2006/main"/>
  <a:extraClrSchemeLst xmlns:a="http://schemas.openxmlformats.org/drawingml/2006/main"/>
</a:theme>
</file>

<file path=docProps/app.xml><?xml version="1.0" encoding="utf-8"?>
<Properties xmlns="http://schemas.openxmlformats.org/officeDocument/2006/extended-properties" xmlns:vt="http://schemas.openxmlformats.org/officeDocument/2006/docPropsVTypes">
  <Application>DeckCraft</Application>
  <Slides>44</Slides>
  <Notes>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Classifier</dc:title>
  <dc:creator>FARHAN DAWOOD</dc:creator>
  <cp:lastModifiedBy>Hina Tahir</cp:lastModifiedBy>
  <cp:revision>69</cp:revision>
  <dcterms:created xsi:type="dcterms:W3CDTF">2019-06-19T06:26:36Z</dcterms:created>
  <dcterms:modified xsi:type="dcterms:W3CDTF">2026-06-16T19:30:48Z</dcterms:modified>
</cp:coreProperties>
</file>