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7" r:id="rId5"/>
    <p:sldId id="389" r:id="rId6"/>
    <p:sldId id="411" r:id="rId7"/>
    <p:sldId id="390" r:id="rId8"/>
    <p:sldId id="391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2D126-55FE-4001-B627-EDD247B9D96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E54B3-AF0A-40B4-A85E-05EE43421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1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TP (Unhealthy correctly detected)</a:t>
            </a:r>
            <a:r>
              <a:rPr lang="en-US" dirty="0"/>
              <a:t> = 0 </a:t>
            </a:r>
            <a:r>
              <a:rPr lang="en-US" b="1" dirty="0"/>
              <a:t>TN (Healthy correctly detected)</a:t>
            </a:r>
            <a:r>
              <a:rPr lang="en-US" dirty="0"/>
              <a:t> = 95 </a:t>
            </a:r>
            <a:r>
              <a:rPr lang="en-US" b="1" dirty="0"/>
              <a:t>FP (Healthy predicted as unhealthy)</a:t>
            </a:r>
            <a:r>
              <a:rPr lang="en-US" dirty="0"/>
              <a:t> = 0 </a:t>
            </a:r>
            <a:r>
              <a:rPr lang="en-US" b="1" dirty="0"/>
              <a:t>FN (Unhealthy predicted as healthy)</a:t>
            </a:r>
            <a:r>
              <a:rPr lang="en-US" dirty="0"/>
              <a:t> =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E54B3-AF0A-40B4-A85E-05EE43421F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65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unhealthy case it will be 0/0+0=0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E54B3-AF0A-40B4-A85E-05EE43421F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12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unhealthy case it will be 0/0+5=0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E54B3-AF0A-40B4-A85E-05EE43421F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79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 = 60 FN = 20 FP = 15 TN = 105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E54B3-AF0A-40B4-A85E-05EE43421FD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71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 = 70 FN = 12 FP = 8 TN = 110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E54B3-AF0A-40B4-A85E-05EE43421F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00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3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4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9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1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89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5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1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8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CCB37-02EC-494A-A8EB-FCABA6DCE6F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A27A-8D36-5433-A51A-560F5EC9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Measure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CE04-2DF9-2F6A-FD1E-846E518B2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measures are used to evaluate how well a classification model is working.</a:t>
            </a:r>
          </a:p>
          <a:p>
            <a:r>
              <a:rPr lang="en-US" dirty="0"/>
              <a:t>The most common measures are based on the </a:t>
            </a:r>
            <a:r>
              <a:rPr lang="en-US" b="1" dirty="0"/>
              <a:t>Confusion Matrix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98881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4BBB-108E-4766-9721-AC9DDA7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Confusion Matrix (</a:t>
            </a:r>
            <a:r>
              <a:rPr lang="fr-FR" dirty="0" err="1"/>
              <a:t>Binary</a:t>
            </a:r>
            <a:r>
              <a:rPr lang="fr-FR" dirty="0"/>
              <a:t> Classification)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64942-093C-79A6-DEC9-853FCAF69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84404" cy="4273618"/>
          </a:xfrm>
        </p:spPr>
        <p:txBody>
          <a:bodyPr/>
          <a:lstStyle/>
          <a:p>
            <a:r>
              <a:rPr lang="en-US" dirty="0"/>
              <a:t>Binary classification means there are only </a:t>
            </a:r>
            <a:r>
              <a:rPr lang="en-US" b="1" dirty="0"/>
              <a:t>2 classes</a:t>
            </a:r>
            <a:r>
              <a:rPr lang="en-US" dirty="0"/>
              <a:t>:</a:t>
            </a:r>
          </a:p>
          <a:p>
            <a:r>
              <a:rPr lang="en-US" dirty="0"/>
              <a:t>Yes / No </a:t>
            </a:r>
          </a:p>
          <a:p>
            <a:r>
              <a:rPr lang="en-US" dirty="0"/>
              <a:t>Spam / Not Spam </a:t>
            </a:r>
          </a:p>
          <a:p>
            <a:r>
              <a:rPr lang="en-US" dirty="0"/>
              <a:t>Disease / Healthy</a:t>
            </a:r>
          </a:p>
          <a:p>
            <a:pPr fontAlgn="base"/>
            <a:r>
              <a:rPr lang="en-US" dirty="0"/>
              <a:t>Suppose we built a model to detect </a:t>
            </a:r>
            <a:r>
              <a:rPr lang="en-US" b="1" dirty="0"/>
              <a:t>Spam Emails</a:t>
            </a:r>
            <a:r>
              <a:rPr lang="en-US" dirty="0"/>
              <a:t>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0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C133-1A64-740B-F73B-6F17F928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A3E78-B454-58EE-AE17-E5C1ABD2F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TP = Actual Positive &amp; Predicted Positive</a:t>
            </a:r>
          </a:p>
          <a:p>
            <a:r>
              <a:rPr lang="en-US" dirty="0"/>
              <a:t>TN = Actual Negative &amp; Predicted Negative</a:t>
            </a:r>
          </a:p>
          <a:p>
            <a:r>
              <a:rPr lang="en-US" dirty="0"/>
              <a:t>FP = Actual Negative but Predicted Positive</a:t>
            </a:r>
          </a:p>
          <a:p>
            <a:r>
              <a:rPr lang="en-US" dirty="0"/>
              <a:t>FN = Actual Positive but Predicted Negative</a:t>
            </a:r>
          </a:p>
        </p:txBody>
      </p:sp>
    </p:spTree>
    <p:extLst>
      <p:ext uri="{BB962C8B-B14F-4D97-AF65-F5344CB8AC3E}">
        <p14:creationId xmlns:p14="http://schemas.microsoft.com/office/powerpoint/2010/main" val="207728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4BBB-108E-4766-9721-AC9DDA771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981335" cy="8835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F7B5C8-ECDF-90F8-CC36-113B911E841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65040536"/>
              </p:ext>
            </p:extLst>
          </p:nvPr>
        </p:nvGraphicFramePr>
        <p:xfrm>
          <a:off x="838200" y="1265188"/>
          <a:ext cx="5181600" cy="1291548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72402766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9385893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36174150"/>
                    </a:ext>
                  </a:extLst>
                </a:gridCol>
              </a:tblGrid>
              <a:tr h="340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Actual / Predicted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Spam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Not Spam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905412"/>
                  </a:ext>
                </a:extLst>
              </a:tr>
              <a:tr h="340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Spam(40)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40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10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102257"/>
                  </a:ext>
                </a:extLst>
              </a:tr>
              <a:tr h="340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Not Spam (45)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45</a:t>
                      </a:r>
                    </a:p>
                  </a:txBody>
                  <a:tcPr marL="85076" marR="85076" marT="42538" marB="42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617121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303371-C6D1-53BE-7DFC-C317E7BAC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074850"/>
            <a:ext cx="5257800" cy="567334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False Positive (FP)</a:t>
            </a:r>
          </a:p>
          <a:p>
            <a:r>
              <a:rPr lang="en-US" dirty="0"/>
              <a:t>Model predicted Spam, but actually it was Not Spam.</a:t>
            </a:r>
          </a:p>
          <a:p>
            <a:pPr marL="0" indent="0">
              <a:buNone/>
            </a:pPr>
            <a:r>
              <a:rPr lang="en-US" dirty="0"/>
              <a:t>FP = 5</a:t>
            </a:r>
          </a:p>
          <a:p>
            <a:pPr marL="0" indent="0">
              <a:buNone/>
            </a:pPr>
            <a:r>
              <a:rPr lang="en-US" dirty="0"/>
              <a:t>Also called:</a:t>
            </a:r>
          </a:p>
          <a:p>
            <a:r>
              <a:rPr lang="en-US" dirty="0"/>
              <a:t>Type I Error </a:t>
            </a:r>
          </a:p>
          <a:p>
            <a:r>
              <a:rPr lang="en-US" dirty="0"/>
              <a:t>False Alarm</a:t>
            </a:r>
          </a:p>
          <a:p>
            <a:pPr marL="0" indent="0">
              <a:buNone/>
            </a:pPr>
            <a:r>
              <a:rPr lang="en-US" b="1" dirty="0"/>
              <a:t>False Negative (FN)</a:t>
            </a:r>
          </a:p>
          <a:p>
            <a:r>
              <a:rPr lang="en-US" dirty="0"/>
              <a:t>Model predicted Not Spam, but actually it was Spam.</a:t>
            </a:r>
          </a:p>
          <a:p>
            <a:pPr marL="0" indent="0">
              <a:buNone/>
            </a:pPr>
            <a:r>
              <a:rPr lang="en-US" dirty="0"/>
              <a:t>FN = 10</a:t>
            </a:r>
          </a:p>
          <a:p>
            <a:pPr marL="0" indent="0">
              <a:buNone/>
            </a:pPr>
            <a:r>
              <a:rPr lang="en-US" dirty="0"/>
              <a:t>Also called:</a:t>
            </a:r>
          </a:p>
          <a:p>
            <a:r>
              <a:rPr lang="en-US" dirty="0"/>
              <a:t>Type II Error </a:t>
            </a:r>
          </a:p>
          <a:p>
            <a:r>
              <a:rPr lang="en-US" dirty="0"/>
              <a:t>Missed Detection</a:t>
            </a:r>
          </a:p>
          <a:p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B953D07-506D-16A5-C243-837D8B56AE30}"/>
              </a:ext>
            </a:extLst>
          </p:cNvPr>
          <p:cNvSpPr txBox="1">
            <a:spLocks/>
          </p:cNvSpPr>
          <p:nvPr/>
        </p:nvSpPr>
        <p:spPr>
          <a:xfrm>
            <a:off x="685800" y="3015214"/>
            <a:ext cx="4333568" cy="34976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b="1" dirty="0"/>
              <a:t>True Positive (TP)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Model predicted </a:t>
            </a:r>
            <a:r>
              <a:rPr lang="en-US" b="1" dirty="0"/>
              <a:t>Spam</a:t>
            </a:r>
            <a:r>
              <a:rPr lang="en-US" dirty="0"/>
              <a:t>, and actually it was Spam.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TP = 40</a:t>
            </a:r>
          </a:p>
          <a:p>
            <a:pPr marL="0" indent="0">
              <a:buNone/>
            </a:pPr>
            <a:r>
              <a:rPr lang="en-US" b="1" dirty="0"/>
              <a:t>True Negative (TN)</a:t>
            </a:r>
          </a:p>
          <a:p>
            <a:r>
              <a:rPr lang="en-US" dirty="0"/>
              <a:t>Model predicted </a:t>
            </a:r>
            <a:r>
              <a:rPr lang="en-US" b="1" dirty="0"/>
              <a:t>Not Spam</a:t>
            </a:r>
            <a:r>
              <a:rPr lang="en-US" dirty="0"/>
              <a:t>, and actually it was Not Spam.</a:t>
            </a:r>
          </a:p>
          <a:p>
            <a:pPr marL="0" indent="0">
              <a:buNone/>
            </a:pPr>
            <a:r>
              <a:rPr lang="en-US" dirty="0"/>
              <a:t>TN = 45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36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4BBB-108E-4766-9721-AC9DDA7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2-Accuracy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64942-093C-79A6-DEC9-853FCAF69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84404" cy="4273618"/>
          </a:xfrm>
        </p:spPr>
        <p:txBody>
          <a:bodyPr/>
          <a:lstStyle/>
          <a:p>
            <a:r>
              <a:rPr lang="en-US" dirty="0">
                <a:highlight>
                  <a:srgbClr val="FFFFFF"/>
                </a:highlight>
              </a:rPr>
              <a:t>Accuracy tells:</a:t>
            </a:r>
          </a:p>
          <a:p>
            <a:r>
              <a:rPr lang="en-US" dirty="0">
                <a:highlight>
                  <a:srgbClr val="FFFFFF"/>
                </a:highlight>
              </a:rPr>
              <a:t>Out of all predictions, how many were correct?</a:t>
            </a:r>
          </a:p>
          <a:p>
            <a:endParaRPr lang="en-US" dirty="0">
              <a:highlight>
                <a:srgbClr val="FFFFFF"/>
              </a:highlight>
            </a:endParaRPr>
          </a:p>
          <a:p>
            <a:endParaRPr lang="en-US" dirty="0">
              <a:highlight>
                <a:srgbClr val="FFFFFF"/>
              </a:highlight>
            </a:endParaRPr>
          </a:p>
          <a:p>
            <a:endParaRPr lang="en-US" dirty="0">
              <a:highlight>
                <a:srgbClr val="FFFFFF"/>
              </a:highlight>
            </a:endParaRPr>
          </a:p>
          <a:p>
            <a:endParaRPr lang="en-US" dirty="0">
              <a:highlight>
                <a:srgbClr val="FFFFFF"/>
              </a:highlight>
            </a:endParaRPr>
          </a:p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>
                <a:highlight>
                  <a:srgbClr val="FFFFFF"/>
                </a:highlight>
              </a:rPr>
              <a:t>Accuracy 85%</a:t>
            </a:r>
          </a:p>
          <a:p>
            <a:endParaRPr lang="en-US" dirty="0">
              <a:highlight>
                <a:srgbClr val="FFFFFF"/>
              </a:highlight>
            </a:endParaRPr>
          </a:p>
          <a:p>
            <a:pPr algn="l" fontAlgn="base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7A271-B1DA-4898-8E8B-F8A70AB90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951" y="2914578"/>
            <a:ext cx="3134162" cy="51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CE1617-0F6F-3646-8B26-898F5F98A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06" y="3563937"/>
            <a:ext cx="3886742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06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D09C-6790-C5C0-1E22-F190AE0BE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Accuracy?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E6E4D-788B-406B-1DCC-D83D94D398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Use Accuracy when:</a:t>
            </a:r>
          </a:p>
          <a:p>
            <a:r>
              <a:rPr lang="en-US" dirty="0"/>
              <a:t> Classes are balanced</a:t>
            </a:r>
          </a:p>
          <a:p>
            <a:r>
              <a:rPr lang="en-US" dirty="0"/>
              <a:t>Both errors are equally important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480441-79FD-56D2-CEB8-287EFFB85C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When NOT to Use Accuracy?</a:t>
                </a:r>
              </a:p>
              <a:p>
                <a:pPr marL="0" indent="0">
                  <a:buNone/>
                </a:pPr>
                <a:r>
                  <a:rPr lang="en-US" dirty="0"/>
                  <a:t>Suppose:</a:t>
                </a:r>
              </a:p>
              <a:p>
                <a:r>
                  <a:rPr lang="en-US" dirty="0"/>
                  <a:t>95 patients are healthy </a:t>
                </a:r>
              </a:p>
              <a:p>
                <a:r>
                  <a:rPr lang="en-US" dirty="0"/>
                  <a:t>5 patients have cancer </a:t>
                </a:r>
              </a:p>
              <a:p>
                <a:pPr marL="0" indent="0">
                  <a:buNone/>
                </a:pPr>
                <a:r>
                  <a:rPr lang="en-US" dirty="0"/>
                  <a:t>Model predicts:</a:t>
                </a:r>
              </a:p>
              <a:p>
                <a:r>
                  <a:rPr lang="en-US" dirty="0"/>
                  <a:t>Everyone is healthy</a:t>
                </a:r>
              </a:p>
              <a:p>
                <a:pPr marL="0" indent="0">
                  <a:buNone/>
                </a:pPr>
                <a:r>
                  <a:rPr lang="en-US" dirty="0"/>
                  <a:t>Accuracy becomes: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95%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But model completely failed to detect cancer.</a:t>
                </a:r>
              </a:p>
              <a:p>
                <a:r>
                  <a:rPr lang="en-US" dirty="0"/>
                  <a:t>So accuracy becomes misleading in </a:t>
                </a:r>
                <a:r>
                  <a:rPr lang="en-US" b="1" dirty="0"/>
                  <a:t>imbalanced datasets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480441-79FD-56D2-CEB8-287EFFB85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82" t="-3221" r="-1059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D2AAB21-EE17-9499-3BED-6E18D33E1F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8790116"/>
              </p:ext>
            </p:extLst>
          </p:nvPr>
        </p:nvGraphicFramePr>
        <p:xfrm>
          <a:off x="484239" y="4106710"/>
          <a:ext cx="5181600" cy="163570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2402766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9385893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36174150"/>
                    </a:ext>
                  </a:extLst>
                </a:gridCol>
              </a:tblGrid>
              <a:tr h="340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Actual / Predicted</a:t>
                      </a:r>
                    </a:p>
                  </a:txBody>
                  <a:tcPr marL="85076" marR="85076" marT="42538" marB="425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TP</a:t>
                      </a:r>
                    </a:p>
                  </a:txBody>
                  <a:tcPr marL="85076" marR="85076" marT="42538" marB="425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TN</a:t>
                      </a:r>
                    </a:p>
                  </a:txBody>
                  <a:tcPr marL="85076" marR="85076" marT="42538" marB="42538" anchor="ctr"/>
                </a:tc>
                <a:extLst>
                  <a:ext uri="{0D108BD9-81ED-4DB2-BD59-A6C34878D82A}">
                    <a16:rowId xmlns:a16="http://schemas.microsoft.com/office/drawing/2014/main" val="2345905412"/>
                  </a:ext>
                </a:extLst>
              </a:tr>
              <a:tr h="340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healthy(95)  N</a:t>
                      </a:r>
                    </a:p>
                  </a:txBody>
                  <a:tcPr marL="85076" marR="85076" marT="42538" marB="425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0</a:t>
                      </a:r>
                    </a:p>
                  </a:txBody>
                  <a:tcPr marL="85076" marR="85076" marT="42538" marB="425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95</a:t>
                      </a:r>
                    </a:p>
                  </a:txBody>
                  <a:tcPr marL="85076" marR="85076" marT="42538" marB="42538" anchor="ctr"/>
                </a:tc>
                <a:extLst>
                  <a:ext uri="{0D108BD9-81ED-4DB2-BD59-A6C34878D82A}">
                    <a16:rowId xmlns:a16="http://schemas.microsoft.com/office/drawing/2014/main" val="2594102257"/>
                  </a:ext>
                </a:extLst>
              </a:tr>
              <a:tr h="340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unhealthy (5) P</a:t>
                      </a:r>
                    </a:p>
                  </a:txBody>
                  <a:tcPr marL="85076" marR="85076" marT="42538" marB="425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0</a:t>
                      </a:r>
                    </a:p>
                  </a:txBody>
                  <a:tcPr marL="85076" marR="85076" marT="42538" marB="425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5</a:t>
                      </a:r>
                    </a:p>
                  </a:txBody>
                  <a:tcPr marL="85076" marR="85076" marT="42538" marB="42538" anchor="ctr"/>
                </a:tc>
                <a:extLst>
                  <a:ext uri="{0D108BD9-81ED-4DB2-BD59-A6C34878D82A}">
                    <a16:rowId xmlns:a16="http://schemas.microsoft.com/office/drawing/2014/main" val="1522617121"/>
                  </a:ext>
                </a:extLst>
              </a:tr>
              <a:tr h="34030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076" marR="85076" marT="42538" marB="425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FP</a:t>
                      </a:r>
                    </a:p>
                  </a:txBody>
                  <a:tcPr marL="85076" marR="85076" marT="42538" marB="425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FN</a:t>
                      </a:r>
                    </a:p>
                  </a:txBody>
                  <a:tcPr marL="85076" marR="85076" marT="42538" marB="42538" anchor="ctr"/>
                </a:tc>
                <a:extLst>
                  <a:ext uri="{0D108BD9-81ED-4DB2-BD59-A6C34878D82A}">
                    <a16:rowId xmlns:a16="http://schemas.microsoft.com/office/drawing/2014/main" val="3372496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19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26E4-3E42-BE28-16CF-162F702C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2448-00BA-56C4-A013-24ECDFD696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Precision tells:</a:t>
            </a:r>
          </a:p>
          <a:p>
            <a:r>
              <a:rPr lang="en-US" dirty="0"/>
              <a:t>Out of all predicted positive cases, how many were actually positive?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93AD65-5AB8-A9AC-4EC1-5494ABE0B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11782"/>
            <a:ext cx="5334000" cy="51810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Meaning of Precision</a:t>
            </a:r>
          </a:p>
          <a:p>
            <a:pPr marL="0" indent="0">
              <a:buNone/>
            </a:pPr>
            <a:r>
              <a:rPr lang="en-US" dirty="0"/>
              <a:t>When model says: “This email is Spam”</a:t>
            </a:r>
          </a:p>
          <a:p>
            <a:r>
              <a:rPr lang="en-US" dirty="0"/>
              <a:t>How often is it correct?</a:t>
            </a:r>
          </a:p>
          <a:p>
            <a:pPr marL="0" indent="0">
              <a:buNone/>
            </a:pPr>
            <a:r>
              <a:rPr lang="en-US" b="1" dirty="0"/>
              <a:t>When to Use Precision?</a:t>
            </a:r>
          </a:p>
          <a:p>
            <a:r>
              <a:rPr lang="en-US" dirty="0"/>
              <a:t>Use Precision when:</a:t>
            </a:r>
          </a:p>
          <a:p>
            <a:r>
              <a:rPr lang="en-US" dirty="0"/>
              <a:t>False Positives are dangerous</a:t>
            </a:r>
          </a:p>
          <a:p>
            <a:pPr marL="0" indent="0">
              <a:buNone/>
            </a:pPr>
            <a:r>
              <a:rPr lang="en-US" b="1" dirty="0"/>
              <a:t>Fraud Detection</a:t>
            </a:r>
          </a:p>
          <a:p>
            <a:r>
              <a:rPr lang="en-US" dirty="0"/>
              <a:t>If innocent people are flagged as fraud:</a:t>
            </a:r>
          </a:p>
          <a:p>
            <a:r>
              <a:rPr lang="en-US" dirty="0"/>
              <a:t>Accounts may freeze unnecessarily </a:t>
            </a:r>
          </a:p>
          <a:p>
            <a:r>
              <a:rPr lang="en-US" dirty="0"/>
              <a:t>Need high precision.</a:t>
            </a:r>
          </a:p>
          <a:p>
            <a:endParaRPr lang="en-US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4633A5F8-BDB7-8461-8C7C-5EEDB85BF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30978"/>
            <a:ext cx="5181600" cy="221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6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084C3-FA34-7569-206D-8CE9E6B3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4.Recall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934FA-C738-4FD7-0D8E-7D764F770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387" y="1324179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Recall tells:</a:t>
            </a:r>
          </a:p>
          <a:p>
            <a:r>
              <a:rPr lang="en-US" dirty="0"/>
              <a:t>Out of all actual positive cases, how many did the model correctly find?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4F4488-D43B-9AB0-E157-40A4C28974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8" y="3247371"/>
            <a:ext cx="5181600" cy="25500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D9810B-AB94-F263-9DE1-C5998522929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57426" y="1553343"/>
            <a:ext cx="5183187" cy="32153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Meaning:</a:t>
            </a:r>
          </a:p>
          <a:p>
            <a:pPr marL="0" indent="0">
              <a:buNone/>
            </a:pPr>
            <a:r>
              <a:rPr lang="en-US" dirty="0"/>
              <a:t>Out of all spam emails:</a:t>
            </a:r>
          </a:p>
          <a:p>
            <a:r>
              <a:rPr lang="en-US" dirty="0"/>
              <a:t>How many did we actually detect?</a:t>
            </a:r>
          </a:p>
          <a:p>
            <a:pPr marL="0" indent="0">
              <a:buNone/>
            </a:pPr>
            <a:r>
              <a:rPr lang="en-US" b="1" dirty="0"/>
              <a:t>Use Recall when:</a:t>
            </a:r>
          </a:p>
          <a:p>
            <a:r>
              <a:rPr lang="en-US" dirty="0"/>
              <a:t> Missing positive cases is dangerous</a:t>
            </a:r>
          </a:p>
          <a:p>
            <a:pPr marL="0" indent="0">
              <a:buNone/>
            </a:pPr>
            <a:r>
              <a:rPr lang="en-US" b="1" dirty="0"/>
              <a:t>Disease Detection</a:t>
            </a:r>
          </a:p>
          <a:p>
            <a:r>
              <a:rPr lang="en-US" dirty="0"/>
              <a:t>Missing cancer patient is very risky.</a:t>
            </a:r>
          </a:p>
          <a:p>
            <a:r>
              <a:rPr lang="en-US" dirty="0"/>
              <a:t>Need high recall.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3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C0E9D-6233-5914-09D2-127D760E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08A4-76CB-C7A3-7FF7-B40777B2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F1 Score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CA19E-6010-18B6-C6C6-A4DE9F9CD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387" y="1324179"/>
            <a:ext cx="5181600" cy="4351338"/>
          </a:xfrm>
        </p:spPr>
        <p:txBody>
          <a:bodyPr/>
          <a:lstStyle/>
          <a:p>
            <a:r>
              <a:rPr lang="en-US" dirty="0"/>
              <a:t>F1 Score balances both:</a:t>
            </a:r>
          </a:p>
          <a:p>
            <a:r>
              <a:rPr lang="en-US" dirty="0"/>
              <a:t>Precision </a:t>
            </a:r>
          </a:p>
          <a:p>
            <a:r>
              <a:rPr lang="en-US" dirty="0"/>
              <a:t>Recall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5BA87-410A-09BC-7EFE-E9930C8D24A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61536" y="1179871"/>
            <a:ext cx="5279077" cy="44956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Sometimes:</a:t>
            </a:r>
          </a:p>
          <a:p>
            <a:r>
              <a:rPr lang="en-US" dirty="0"/>
              <a:t>Precision is high </a:t>
            </a:r>
          </a:p>
          <a:p>
            <a:r>
              <a:rPr lang="en-US" dirty="0"/>
              <a:t>Recall is low 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r>
              <a:rPr lang="en-US" dirty="0"/>
              <a:t>Recall is high </a:t>
            </a:r>
          </a:p>
          <a:p>
            <a:r>
              <a:rPr lang="en-US" dirty="0"/>
              <a:t>Precision is low </a:t>
            </a:r>
          </a:p>
          <a:p>
            <a:r>
              <a:rPr lang="en-US" dirty="0"/>
              <a:t>F1 gives a balanced value.</a:t>
            </a:r>
          </a:p>
          <a:p>
            <a:pPr marL="0" indent="0">
              <a:buNone/>
            </a:pPr>
            <a:r>
              <a:rPr lang="en-US" dirty="0"/>
              <a:t>Use F1 when:</a:t>
            </a:r>
          </a:p>
          <a:p>
            <a:r>
              <a:rPr lang="en-US" dirty="0"/>
              <a:t>Dataset is imbalanced</a:t>
            </a:r>
          </a:p>
          <a:p>
            <a:r>
              <a:rPr lang="en-US" dirty="0"/>
              <a:t>Need balance between Precision and Recall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A88AEB-CE3A-5508-EC67-B6CA267359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93" y="2836911"/>
            <a:ext cx="5109473" cy="283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2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5A20-F412-C9B9-CC07-3C30B6AC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7CF0-FD81-9C32-EE05-BB48DD866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Binary confusion matrix has:</a:t>
            </a:r>
          </a:p>
          <a:p>
            <a:r>
              <a:rPr lang="en-US" dirty="0"/>
              <a:t>2 classes </a:t>
            </a:r>
          </a:p>
          <a:p>
            <a:pPr marL="0" indent="0">
              <a:buNone/>
            </a:pPr>
            <a:r>
              <a:rPr lang="en-US" dirty="0"/>
              <a:t>Multi-class confusion matrix has:</a:t>
            </a:r>
          </a:p>
          <a:p>
            <a:r>
              <a:rPr lang="en-US" dirty="0"/>
              <a:t>3 or more classes </a:t>
            </a:r>
          </a:p>
          <a:p>
            <a:pPr marL="0" indent="0">
              <a:buNone/>
            </a:pPr>
            <a:r>
              <a:rPr lang="en-US" dirty="0"/>
              <a:t>Suppose we have a model that classifies fruits into:</a:t>
            </a:r>
          </a:p>
          <a:p>
            <a:r>
              <a:rPr lang="en-US" dirty="0"/>
              <a:t>Class A = Apple </a:t>
            </a:r>
          </a:p>
          <a:p>
            <a:r>
              <a:rPr lang="en-US" dirty="0"/>
              <a:t>Class B = Banana </a:t>
            </a:r>
          </a:p>
          <a:p>
            <a:r>
              <a:rPr lang="en-US" dirty="0"/>
              <a:t>Class C = Cherry </a:t>
            </a:r>
          </a:p>
          <a:p>
            <a:r>
              <a:rPr lang="en-US" dirty="0"/>
              <a:t>We test it on </a:t>
            </a:r>
            <a:r>
              <a:rPr lang="en-US" b="1" dirty="0"/>
              <a:t>30 samples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515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4871-1EDB-948F-96A1-8B0DF1F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C642E-AFA0-F02D-4322-3427E5ED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618FF-0427-8A22-4B9E-EDA36D956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58" y="2585883"/>
            <a:ext cx="10360742" cy="3591079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Class A (Apple)</a:t>
            </a:r>
          </a:p>
          <a:p>
            <a:pPr marL="0" indent="0">
              <a:buNone/>
            </a:pPr>
            <a:r>
              <a:rPr lang="en-US" b="1" dirty="0"/>
              <a:t>True Positives (TP) = 8</a:t>
            </a:r>
          </a:p>
          <a:p>
            <a:r>
              <a:rPr lang="en-US" b="1" dirty="0"/>
              <a:t>False Positives (FP) = predicted Apple but wrong</a:t>
            </a:r>
          </a:p>
          <a:p>
            <a:pPr marL="0" indent="0">
              <a:buNone/>
            </a:pPr>
            <a:r>
              <a:rPr lang="en-US" dirty="0"/>
              <a:t>= 2 (</a:t>
            </a:r>
            <a:r>
              <a:rPr lang="en-US" dirty="0" err="1"/>
              <a:t>Banana→Apple</a:t>
            </a:r>
            <a:r>
              <a:rPr lang="en-US" dirty="0"/>
              <a:t>) + 1 (</a:t>
            </a:r>
            <a:r>
              <a:rPr lang="en-US" dirty="0" err="1"/>
              <a:t>Cherry→Apple</a:t>
            </a:r>
            <a:r>
              <a:rPr lang="en-US" dirty="0"/>
              <a:t>) = </a:t>
            </a:r>
            <a:r>
              <a:rPr lang="en-US" b="1" dirty="0"/>
              <a:t>3</a:t>
            </a:r>
            <a:endParaRPr lang="en-US" dirty="0"/>
          </a:p>
          <a:p>
            <a:r>
              <a:rPr lang="en-US" b="1" dirty="0"/>
              <a:t>False Negatives (FN) = actual Apple but missed</a:t>
            </a:r>
          </a:p>
          <a:p>
            <a:pPr marL="0" indent="0">
              <a:buNone/>
            </a:pPr>
            <a:r>
              <a:rPr lang="en-US" dirty="0"/>
              <a:t>= 1 (</a:t>
            </a:r>
            <a:r>
              <a:rPr lang="en-US" dirty="0" err="1"/>
              <a:t>Apple→Banana</a:t>
            </a:r>
            <a:r>
              <a:rPr lang="en-US" dirty="0"/>
              <a:t>) + 1 (</a:t>
            </a:r>
            <a:r>
              <a:rPr lang="en-US" dirty="0" err="1"/>
              <a:t>Apple→Cherry</a:t>
            </a:r>
            <a:r>
              <a:rPr lang="en-US" dirty="0"/>
              <a:t>) = </a:t>
            </a:r>
            <a:r>
              <a:rPr lang="en-US" b="1" dirty="0"/>
              <a:t>2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3702A9-0C24-3704-E217-4295AD21D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974140"/>
              </p:ext>
            </p:extLst>
          </p:nvPr>
        </p:nvGraphicFramePr>
        <p:xfrm>
          <a:off x="730046" y="1269605"/>
          <a:ext cx="9947788" cy="1955375"/>
        </p:xfrm>
        <a:graphic>
          <a:graphicData uri="http://schemas.openxmlformats.org/drawingml/2006/table">
            <a:tbl>
              <a:tblPr/>
              <a:tblGrid>
                <a:gridCol w="2486947">
                  <a:extLst>
                    <a:ext uri="{9D8B030D-6E8A-4147-A177-3AD203B41FA5}">
                      <a16:colId xmlns:a16="http://schemas.microsoft.com/office/drawing/2014/main" val="1165516745"/>
                    </a:ext>
                  </a:extLst>
                </a:gridCol>
                <a:gridCol w="2486947">
                  <a:extLst>
                    <a:ext uri="{9D8B030D-6E8A-4147-A177-3AD203B41FA5}">
                      <a16:colId xmlns:a16="http://schemas.microsoft.com/office/drawing/2014/main" val="1922462189"/>
                    </a:ext>
                  </a:extLst>
                </a:gridCol>
                <a:gridCol w="2486947">
                  <a:extLst>
                    <a:ext uri="{9D8B030D-6E8A-4147-A177-3AD203B41FA5}">
                      <a16:colId xmlns:a16="http://schemas.microsoft.com/office/drawing/2014/main" val="609448353"/>
                    </a:ext>
                  </a:extLst>
                </a:gridCol>
                <a:gridCol w="2486947">
                  <a:extLst>
                    <a:ext uri="{9D8B030D-6E8A-4147-A177-3AD203B41FA5}">
                      <a16:colId xmlns:a16="http://schemas.microsoft.com/office/drawing/2014/main" val="2466510158"/>
                    </a:ext>
                  </a:extLst>
                </a:gridCol>
              </a:tblGrid>
              <a:tr h="72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Actual \ Predicted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Apple (A)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Banana (B)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Cherry (C)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02228"/>
                  </a:ext>
                </a:extLst>
              </a:tr>
              <a:tr h="41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Apple (A)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995157"/>
                  </a:ext>
                </a:extLst>
              </a:tr>
              <a:tr h="41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Banana (B)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55666"/>
                  </a:ext>
                </a:extLst>
              </a:tr>
              <a:tr h="41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Cherry (C)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03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738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7AA6F-FCDF-DA89-7540-F11AFE70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035A-64BC-AFF5-C3F2-47DF86BD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D554-26C8-B42B-3355-EC87A9A73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19" y="1633460"/>
            <a:ext cx="10515599" cy="4787005"/>
          </a:xfrm>
        </p:spPr>
        <p:txBody>
          <a:bodyPr>
            <a:normAutofit/>
          </a:bodyPr>
          <a:lstStyle/>
          <a:p>
            <a:r>
              <a:rPr lang="en-US" b="1" dirty="0"/>
              <a:t>Class B (Banana)</a:t>
            </a:r>
          </a:p>
          <a:p>
            <a:r>
              <a:rPr lang="en-US" dirty="0"/>
              <a:t>TP = 6</a:t>
            </a:r>
          </a:p>
          <a:p>
            <a:r>
              <a:rPr lang="en-US" dirty="0"/>
              <a:t>FP = 1 (</a:t>
            </a:r>
            <a:r>
              <a:rPr lang="en-US" dirty="0" err="1"/>
              <a:t>Apple→Banana</a:t>
            </a:r>
            <a:r>
              <a:rPr lang="en-US" dirty="0"/>
              <a:t>) + 1 (</a:t>
            </a:r>
            <a:r>
              <a:rPr lang="en-US" dirty="0" err="1"/>
              <a:t>Cherry→Banana</a:t>
            </a:r>
            <a:r>
              <a:rPr lang="en-US" dirty="0"/>
              <a:t>) = 2</a:t>
            </a:r>
          </a:p>
          <a:p>
            <a:r>
              <a:rPr lang="en-US" dirty="0"/>
              <a:t>FN = 2 (</a:t>
            </a:r>
            <a:r>
              <a:rPr lang="en-US" dirty="0" err="1"/>
              <a:t>Banana→Apple</a:t>
            </a:r>
            <a:r>
              <a:rPr lang="en-US" dirty="0"/>
              <a:t>) + 2 (</a:t>
            </a:r>
            <a:r>
              <a:rPr lang="en-US" dirty="0" err="1"/>
              <a:t>Banana→Cherry</a:t>
            </a:r>
            <a:r>
              <a:rPr lang="en-US" dirty="0"/>
              <a:t>) = 4</a:t>
            </a:r>
            <a:endParaRPr lang="en-US" b="1" dirty="0"/>
          </a:p>
          <a:p>
            <a:r>
              <a:rPr lang="en-US" b="1" dirty="0"/>
              <a:t>Class C (Cherry)</a:t>
            </a:r>
          </a:p>
          <a:p>
            <a:r>
              <a:rPr lang="en-US" dirty="0"/>
              <a:t>TP = 8</a:t>
            </a:r>
          </a:p>
          <a:p>
            <a:r>
              <a:rPr lang="en-US" dirty="0"/>
              <a:t>FP = 1 (</a:t>
            </a:r>
            <a:r>
              <a:rPr lang="en-US" dirty="0" err="1"/>
              <a:t>Apple→Cherry</a:t>
            </a:r>
            <a:r>
              <a:rPr lang="en-US" dirty="0"/>
              <a:t>) + 2 (</a:t>
            </a:r>
            <a:r>
              <a:rPr lang="en-US" dirty="0" err="1"/>
              <a:t>Banana→Cherry</a:t>
            </a:r>
            <a:r>
              <a:rPr lang="en-US" dirty="0"/>
              <a:t>) = 3</a:t>
            </a:r>
          </a:p>
          <a:p>
            <a:r>
              <a:rPr lang="en-US" dirty="0"/>
              <a:t>FN = 1 (</a:t>
            </a:r>
            <a:r>
              <a:rPr lang="en-US" dirty="0" err="1"/>
              <a:t>Cherry→Apple</a:t>
            </a:r>
            <a:r>
              <a:rPr lang="en-US" dirty="0"/>
              <a:t>) + 1 (</a:t>
            </a:r>
            <a:r>
              <a:rPr lang="en-US" dirty="0" err="1"/>
              <a:t>Cherry→Banana</a:t>
            </a:r>
            <a:r>
              <a:rPr lang="en-US" dirty="0"/>
              <a:t>) = 2</a:t>
            </a:r>
          </a:p>
          <a:p>
            <a:r>
              <a:rPr lang="en-US" dirty="0"/>
              <a:t>Find the other terms as well.</a:t>
            </a:r>
          </a:p>
        </p:txBody>
      </p:sp>
    </p:spTree>
    <p:extLst>
      <p:ext uri="{BB962C8B-B14F-4D97-AF65-F5344CB8AC3E}">
        <p14:creationId xmlns:p14="http://schemas.microsoft.com/office/powerpoint/2010/main" val="262563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E214-9F88-9629-0BA7-BA719D50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 : Disease Prediction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56D6C-182E-E9C9-DDCB-B837DCA6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model predicts whether a patient has a disease.</a:t>
            </a:r>
          </a:p>
          <a:p>
            <a:pPr marL="0" indent="0">
              <a:buNone/>
            </a:pPr>
            <a:r>
              <a:rPr lang="en-US" dirty="0"/>
              <a:t>40 sick patients were correctly predicted as sick. </a:t>
            </a:r>
          </a:p>
          <a:p>
            <a:pPr marL="0" indent="0">
              <a:buNone/>
            </a:pPr>
            <a:r>
              <a:rPr lang="en-US" dirty="0"/>
              <a:t>15 sick patients were predicted healthy. </a:t>
            </a:r>
          </a:p>
          <a:p>
            <a:pPr marL="0" indent="0">
              <a:buNone/>
            </a:pPr>
            <a:r>
              <a:rPr lang="en-US" dirty="0"/>
              <a:t>10 healthy patients were predicted sick. </a:t>
            </a:r>
          </a:p>
          <a:p>
            <a:pPr marL="0" indent="0">
              <a:buNone/>
            </a:pPr>
            <a:r>
              <a:rPr lang="en-US" dirty="0"/>
              <a:t>135 healthy patients were correctly predicted healthy. </a:t>
            </a:r>
          </a:p>
          <a:p>
            <a:pPr marL="0" indent="0">
              <a:buNone/>
            </a:pPr>
            <a:r>
              <a:rPr lang="en-US" b="1" dirty="0"/>
              <a:t>Task</a:t>
            </a:r>
          </a:p>
          <a:p>
            <a:pPr marL="0" indent="0">
              <a:buNone/>
            </a:pPr>
            <a:r>
              <a:rPr lang="en-US" dirty="0"/>
              <a:t>Construct the confusion matrix.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25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DC640-65A1-B517-25F5-6E57F4E0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8D3DEA-0316-F608-3FB7-760A0A186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314693"/>
              </p:ext>
            </p:extLst>
          </p:nvPr>
        </p:nvGraphicFramePr>
        <p:xfrm>
          <a:off x="838200" y="2212258"/>
          <a:ext cx="10515600" cy="233767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346932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369829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8446398"/>
                    </a:ext>
                  </a:extLst>
                </a:gridCol>
              </a:tblGrid>
              <a:tr h="7792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Predicted Sick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Predicted Healthy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237589"/>
                  </a:ext>
                </a:extLst>
              </a:tr>
              <a:tr h="779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Actual Sick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40 (TP)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 (FN)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208508"/>
                  </a:ext>
                </a:extLst>
              </a:tr>
              <a:tr h="779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Actual Healthy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 (FP)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135 (TN)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513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58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663C-C219-42AC-9E56-5C9AD896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: </a:t>
            </a:r>
            <a:r>
              <a:rPr lang="fr-FR" dirty="0" err="1"/>
              <a:t>Student</a:t>
            </a:r>
            <a:r>
              <a:rPr lang="fr-FR" dirty="0"/>
              <a:t> </a:t>
            </a:r>
            <a:r>
              <a:rPr lang="fr-FR" dirty="0" err="1"/>
              <a:t>Pass</a:t>
            </a:r>
            <a:r>
              <a:rPr lang="fr-FR" dirty="0"/>
              <a:t>/Fail </a:t>
            </a:r>
            <a:r>
              <a:rPr lang="fr-FR" dirty="0" err="1"/>
              <a:t>Prediction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BF0F-DB38-D620-ED51-30BF1CBCA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model predicts whether students will pass.</a:t>
            </a:r>
          </a:p>
          <a:p>
            <a:r>
              <a:rPr lang="en-US" dirty="0"/>
              <a:t>60 students actually passed and were predicted pass. </a:t>
            </a:r>
          </a:p>
          <a:p>
            <a:r>
              <a:rPr lang="en-US" dirty="0"/>
              <a:t>20 students actually passed but were predicted fail. </a:t>
            </a:r>
          </a:p>
          <a:p>
            <a:r>
              <a:rPr lang="en-US" dirty="0"/>
              <a:t>15 students actually failed but were predicted pass. </a:t>
            </a:r>
          </a:p>
          <a:p>
            <a:r>
              <a:rPr lang="en-US" dirty="0"/>
              <a:t>105 students actually failed and were predicted fail. </a:t>
            </a:r>
          </a:p>
          <a:p>
            <a:r>
              <a:rPr lang="en-US" b="1" dirty="0"/>
              <a:t>Task</a:t>
            </a:r>
          </a:p>
          <a:p>
            <a:r>
              <a:rPr lang="en-US" dirty="0"/>
              <a:t>Draw the confusion matrix.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939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C70C-148B-BDB9-BC40-0D7A76E7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114D-ADAE-CA44-AB9C-A7BE0AFD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face-recognition system checks whether a person is authorized.</a:t>
            </a:r>
          </a:p>
          <a:p>
            <a:r>
              <a:rPr lang="en-US" dirty="0"/>
              <a:t>Results:</a:t>
            </a:r>
          </a:p>
          <a:p>
            <a:r>
              <a:rPr lang="en-US" dirty="0"/>
              <a:t>Authorized and predicted authorized = 70 </a:t>
            </a:r>
          </a:p>
          <a:p>
            <a:r>
              <a:rPr lang="en-US" dirty="0"/>
              <a:t>Authorized but predicted unauthorized = 12 </a:t>
            </a:r>
          </a:p>
          <a:p>
            <a:r>
              <a:rPr lang="en-US" dirty="0"/>
              <a:t>Unauthorized but predicted authorized = 8 </a:t>
            </a:r>
          </a:p>
          <a:p>
            <a:r>
              <a:rPr lang="en-US" dirty="0"/>
              <a:t>Unauthorized and predicted unauthorized = 110 </a:t>
            </a:r>
          </a:p>
          <a:p>
            <a:pPr marL="0" indent="0">
              <a:buNone/>
            </a:pPr>
            <a:r>
              <a:rPr lang="en-US" b="1" dirty="0"/>
              <a:t>Task</a:t>
            </a:r>
          </a:p>
          <a:p>
            <a:pPr marL="0" indent="0">
              <a:buNone/>
            </a:pPr>
            <a:r>
              <a:rPr lang="en-US" dirty="0"/>
              <a:t>1. Create the confusion matrix. </a:t>
            </a:r>
          </a:p>
          <a:p>
            <a:pPr marL="0" indent="0">
              <a:buNone/>
            </a:pPr>
            <a:r>
              <a:rPr lang="en-US" dirty="0"/>
              <a:t>2. Identify TP, TN, FP, FN. </a:t>
            </a:r>
          </a:p>
          <a:p>
            <a:pPr marL="0" indent="0">
              <a:buNone/>
            </a:pPr>
            <a:r>
              <a:rPr lang="en-US" dirty="0"/>
              <a:t>3. Calculate accuracy.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490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24A7-2F08-8C88-A8CF-3251DB17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E9127-0DD3-F8B8-27E6-5C4CABEEB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disease test was performed on 200 people.</a:t>
            </a:r>
          </a:p>
          <a:p>
            <a:r>
              <a:rPr lang="en-US" dirty="0"/>
              <a:t>50 people actually had the disease. </a:t>
            </a:r>
          </a:p>
          <a:p>
            <a:r>
              <a:rPr lang="en-US" dirty="0"/>
              <a:t>Out of these 50, the test correctly identified 40. </a:t>
            </a:r>
          </a:p>
          <a:p>
            <a:r>
              <a:rPr lang="en-US" dirty="0"/>
              <a:t>Out of the remaining 150 healthy people, the test incorrectly identified 30 as diseased. </a:t>
            </a:r>
          </a:p>
          <a:p>
            <a:pPr marL="0" indent="0">
              <a:buNone/>
            </a:pPr>
            <a:r>
              <a:rPr lang="en-US" dirty="0"/>
              <a:t>Find:</a:t>
            </a:r>
          </a:p>
          <a:p>
            <a:pPr marL="0" indent="0">
              <a:buNone/>
            </a:pPr>
            <a:r>
              <a:rPr lang="en-US" dirty="0"/>
              <a:t>1. TP, TN, FP, FN </a:t>
            </a:r>
          </a:p>
          <a:p>
            <a:pPr marL="0" indent="0">
              <a:buNone/>
            </a:pPr>
            <a:r>
              <a:rPr lang="en-US" dirty="0"/>
              <a:t>2. Confusion Matrix </a:t>
            </a:r>
          </a:p>
          <a:p>
            <a:pPr marL="0" indent="0">
              <a:buNone/>
            </a:pPr>
            <a:r>
              <a:rPr lang="en-US" dirty="0"/>
              <a:t>3.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293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Props1.xml><?xml version="1.0" encoding="utf-8"?>
<ds:datastoreItem xmlns:ds="http://schemas.openxmlformats.org/officeDocument/2006/customXml" ds:itemID="{DE468536-C551-405B-8225-9189B44D2C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12899E-B9C2-44DD-8150-623793B808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CFE128-D698-488F-9750-6C3561F33037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4233</TotalTime>
  <Words>1061</Words>
  <Application>Microsoft Office PowerPoint</Application>
  <PresentationFormat>Widescreen</PresentationFormat>
  <Paragraphs>211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Performance Measure </vt:lpstr>
      <vt:lpstr>1. Confusion Matrix (Binary Classification)</vt:lpstr>
      <vt:lpstr>Confusion Matrix</vt:lpstr>
      <vt:lpstr>Example</vt:lpstr>
      <vt:lpstr>2-Accuracy</vt:lpstr>
      <vt:lpstr>When to Use Accuracy? </vt:lpstr>
      <vt:lpstr>3. Precision</vt:lpstr>
      <vt:lpstr>4.Recall </vt:lpstr>
      <vt:lpstr>5. F1 Score </vt:lpstr>
      <vt:lpstr>Multi-Class Confusion Matrix</vt:lpstr>
      <vt:lpstr>Multi-Class Confusion Matrix</vt:lpstr>
      <vt:lpstr>Multi-Class Confusion Matrix</vt:lpstr>
      <vt:lpstr>Exercise : Disease Prediction </vt:lpstr>
      <vt:lpstr>PowerPoint Presentation</vt:lpstr>
      <vt:lpstr>Exercise : Student Pass/Fail Prediction</vt:lpstr>
      <vt:lpstr>PowerPoint Presentation</vt:lpstr>
      <vt:lpstr>Class participation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Classifier</dc:title>
  <dc:creator>FARHAN DAWOOD</dc:creator>
  <cp:lastModifiedBy>Hina Tahir</cp:lastModifiedBy>
  <cp:revision>181</cp:revision>
  <dcterms:created xsi:type="dcterms:W3CDTF">2019-06-19T06:26:36Z</dcterms:created>
  <dcterms:modified xsi:type="dcterms:W3CDTF">2026-06-16T19:35:29Z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