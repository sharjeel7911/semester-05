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4B2A2-FDF8-88F0-70F0-747CE5D9E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2B327-D14C-5959-23C5-3E780E4C8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6BE4D-E91F-7835-0A5B-4B146C124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79B4B-5994-15DF-1459-B4A87205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4F15-683D-BF95-5747-E858C3CFE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6140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9D25-79E4-9469-6C18-8A12F75C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4C759-7615-D82E-E0FD-A4BD6B7C1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6F06A-7E30-DD7D-40E5-98082F9F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0BEC0-B7CA-0D68-9CC3-7923202B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98443-B934-543A-82C4-0615E11F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764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E1F0-EC41-70C7-D3D7-8C940A5AF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E78B7-F574-7160-3D69-7F2647748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3D7BC-018E-CFF4-FF82-A50BA7AB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E2AD-A888-F92F-EC63-827121EC8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4C509-97AA-4332-B421-EE8455AB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38807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4E865-1FE3-34A1-3B4A-CECACF45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360D-7910-F94F-5354-F9B7054CB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6205C-FAF6-365A-BC68-C62070C8F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458AE-4938-4487-6C83-5194AC20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DCA98-AE68-C9AB-BBBA-4EC8819F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49115-8645-641F-E495-4FBDAE5F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682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D797-4E1A-16E1-BB15-F05726D6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2D7FD-FBD3-5818-159E-3DEE8109E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F74DB-FD80-6F53-72DA-2E93A2E93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2CE86-5DBF-8A0F-D99A-EED0D409D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A39B4-6360-0EB4-CEC0-E3045930D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A88C2F-EE19-E0AD-7018-B4DAB6D8E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9DBDD-A3FB-1DE0-DEAA-9F440664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DFC4F5-0BD8-7FF0-89EB-20033DE1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8380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0361E-82BB-C994-9866-1122E3818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0395A-0760-D022-E02A-435F90DF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926E4-DD9A-0394-6422-37663B13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27F02-14FF-C6E5-E92D-709B4FFA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9747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1A7DF5-064F-9E04-8FC1-25759421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CBE40-1C58-6681-8603-9EDCF0C9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7E522-242B-BFD2-B2CF-E7DACC55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4168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2791-6F04-0AB5-A3B6-13C7CC9BB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B5202-0BC6-8975-61DD-3ADCA77AE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3E629-FA08-AD6F-2924-A1BF7F2DB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45B4F-92F1-04EA-A5FE-5132A35AE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E9FA2-9D3D-5A7C-85F8-124B6A794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AEB77-B1AA-3782-CABB-A02281A8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5325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2964-3642-9C40-6755-6A456E2A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8FB24-CB8D-053F-606F-D3E49544F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78831-86B1-B513-79DA-FEE409F91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58FFB-1451-AFAD-C6F3-E694D57B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C907A-2182-35BD-4F19-4BA5516C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64982-E5B0-7EE7-1FA6-EE820689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9287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5D6A3-F103-61C5-64E6-5DB3D537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58804-9D4A-44B3-B414-367CD9AE2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4754B-3926-39D3-C8FE-7E417A4C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BEE31-00FF-9293-4C22-AC022DB8B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3592-6858-D88A-BED4-C09BDD4D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3660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5E9171-28BB-9D3D-8093-FDFF0D2D8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125A6-225D-9C21-BF38-C0115D5D8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0D05A-C216-8D66-35DF-02C02C019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C5A30-5FAC-1D64-1E9A-D0FAEDFDB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6E732-268A-216E-9F2C-2301A121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5782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4CFB5-2497-CE99-68B0-E2B80D4F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ABB24-F9AF-9FC7-770F-AC6ACB011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1838F-C798-56D6-C6EB-E6E49392C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0BC21-3A09-4BF1-95EF-986C89A5822A}" type="datetimeFigureOut">
              <a:rPr lang="en-PK" smtClean="0"/>
              <a:t>05/19/2026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7EF2B-7352-317D-7778-77D69B879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00288-7D54-2C32-9149-CC03A41F6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95BF7-038E-497D-B1E5-9232B0031D5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140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FC104-ED63-B167-2D13-6CD3CDB5F8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PERCEPTRON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AFAEE-5E4A-9982-02CA-8F6CE34C3F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Solved example </a:t>
            </a:r>
          </a:p>
          <a:p>
            <a:r>
              <a:rPr lang="en-US" dirty="0"/>
              <a:t>AND classification through perceptron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1750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89F6-DAB2-DE4E-6D99-02034B90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for AND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CEC93D-BF69-9F80-9ADD-7C5AC74568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266525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5717710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7308328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465700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166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43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01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255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082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92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00BC-6F43-1872-AD39-A9FC1BB6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w1 = 0.3, w2 = -0.2,  b = -0.4,  LR = 0.2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7BF970-363B-64A0-2561-60521777A0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776460"/>
              </p:ext>
            </p:extLst>
          </p:nvPr>
        </p:nvGraphicFramePr>
        <p:xfrm>
          <a:off x="838200" y="1825625"/>
          <a:ext cx="107442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72">
                  <a:extLst>
                    <a:ext uri="{9D8B030D-6E8A-4147-A177-3AD203B41FA5}">
                      <a16:colId xmlns:a16="http://schemas.microsoft.com/office/drawing/2014/main" val="435539647"/>
                    </a:ext>
                  </a:extLst>
                </a:gridCol>
                <a:gridCol w="569682">
                  <a:extLst>
                    <a:ext uri="{9D8B030D-6E8A-4147-A177-3AD203B41FA5}">
                      <a16:colId xmlns:a16="http://schemas.microsoft.com/office/drawing/2014/main" val="1769482570"/>
                    </a:ext>
                  </a:extLst>
                </a:gridCol>
                <a:gridCol w="1446992">
                  <a:extLst>
                    <a:ext uri="{9D8B030D-6E8A-4147-A177-3AD203B41FA5}">
                      <a16:colId xmlns:a16="http://schemas.microsoft.com/office/drawing/2014/main" val="1216395629"/>
                    </a:ext>
                  </a:extLst>
                </a:gridCol>
                <a:gridCol w="2130610">
                  <a:extLst>
                    <a:ext uri="{9D8B030D-6E8A-4147-A177-3AD203B41FA5}">
                      <a16:colId xmlns:a16="http://schemas.microsoft.com/office/drawing/2014/main" val="3663871722"/>
                    </a:ext>
                  </a:extLst>
                </a:gridCol>
                <a:gridCol w="2404058">
                  <a:extLst>
                    <a:ext uri="{9D8B030D-6E8A-4147-A177-3AD203B41FA5}">
                      <a16:colId xmlns:a16="http://schemas.microsoft.com/office/drawing/2014/main" val="990210336"/>
                    </a:ext>
                  </a:extLst>
                </a:gridCol>
                <a:gridCol w="695012">
                  <a:extLst>
                    <a:ext uri="{9D8B030D-6E8A-4147-A177-3AD203B41FA5}">
                      <a16:colId xmlns:a16="http://schemas.microsoft.com/office/drawing/2014/main" val="3736951455"/>
                    </a:ext>
                  </a:extLst>
                </a:gridCol>
                <a:gridCol w="695012">
                  <a:extLst>
                    <a:ext uri="{9D8B030D-6E8A-4147-A177-3AD203B41FA5}">
                      <a16:colId xmlns:a16="http://schemas.microsoft.com/office/drawing/2014/main" val="2343288963"/>
                    </a:ext>
                  </a:extLst>
                </a:gridCol>
                <a:gridCol w="934278">
                  <a:extLst>
                    <a:ext uri="{9D8B030D-6E8A-4147-A177-3AD203B41FA5}">
                      <a16:colId xmlns:a16="http://schemas.microsoft.com/office/drawing/2014/main" val="286909726"/>
                    </a:ext>
                  </a:extLst>
                </a:gridCol>
                <a:gridCol w="1281784">
                  <a:extLst>
                    <a:ext uri="{9D8B030D-6E8A-4147-A177-3AD203B41FA5}">
                      <a16:colId xmlns:a16="http://schemas.microsoft.com/office/drawing/2014/main" val="1731513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Y_Desired</a:t>
                      </a:r>
                      <a:endParaRPr lang="en-US" dirty="0"/>
                    </a:p>
                    <a:p>
                      <a:r>
                        <a:rPr lang="en-US" dirty="0"/>
                        <a:t>Target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Summation = (x1w1 + x2w2) + 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Activation Function (Y estimated)</a:t>
                      </a:r>
                    </a:p>
                    <a:p>
                      <a:r>
                        <a:rPr lang="en-US" dirty="0"/>
                        <a:t>Step function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72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f(-0.4) = 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change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3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5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247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626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97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EA97-9C7B-AE2E-CB09-B822BA2F5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weights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2F1E4-531C-152D-A7A4-6D06FBE1EC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PK" dirty="0">
                    <a:latin typeface="Wandohope" panose="020B0503020000020004" pitchFamily="18" charset="-128"/>
                    <a:ea typeface="Wandohope" panose="020B0503020000020004" pitchFamily="18" charset="-128"/>
                  </a:rPr>
                  <a:t>∆</a:t>
                </a:r>
                <a:r>
                  <a:rPr lang="en-US" dirty="0">
                    <a:latin typeface="Wandohope" panose="020B0503020000020004" pitchFamily="18" charset="-128"/>
                    <a:ea typeface="Wandohope" panose="020B0503020000020004" pitchFamily="18" charset="-128"/>
                  </a:rPr>
                  <a:t>w</a:t>
                </a:r>
                <a:r>
                  <a:rPr lang="en-US" dirty="0">
                    <a:latin typeface="Times New Roman" panose="02020603050405020304" pitchFamily="18" charset="0"/>
                    <a:ea typeface="Wandohope" panose="020B0503020000020004" pitchFamily="18" charset="-128"/>
                    <a:cs typeface="Times New Roman" panose="02020603050405020304" pitchFamily="18" charset="0"/>
                  </a:rPr>
                  <a:t>1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Wandohope" panose="020B0503020000020004" pitchFamily="18" charset="-128"/>
                        <a:cs typeface="Times New Roman" panose="02020603050405020304" pitchFamily="18" charset="0"/>
                      </a:rPr>
                      <m:t>𝐿𝑅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Wandohope" panose="020B0503020000020004" pitchFamily="18" charset="-128"/>
                        <a:cs typeface="Times New Roman" panose="02020603050405020304" pitchFamily="18" charset="0"/>
                      </a:rPr>
                      <m:t> 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Wandohope" panose="020B0503020000020004" pitchFamily="18" charset="-128"/>
                        <a:cs typeface="Times New Roman" panose="02020603050405020304" pitchFamily="18" charset="0"/>
                      </a:rPr>
                      <m:t>𝑡𝑎𝑟𝑔𝑒𝑡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1=0.2∗1 ∗1=0.2</m:t>
                    </m:r>
                  </m:oMath>
                </a14:m>
                <a:endParaRPr lang="en-US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w1 = old w1 + </a:t>
                </a:r>
                <a:r>
                  <a:rPr lang="en-PK" dirty="0">
                    <a:latin typeface="Wandohope" panose="020B0503020000020004" pitchFamily="18" charset="-128"/>
                    <a:ea typeface="Wandohope" panose="020B0503020000020004" pitchFamily="18" charset="-128"/>
                  </a:rPr>
                  <a:t>∆</a:t>
                </a:r>
                <a:r>
                  <a:rPr lang="en-US" dirty="0">
                    <a:latin typeface="Wandohope" panose="020B0503020000020004" pitchFamily="18" charset="-128"/>
                    <a:ea typeface="Wandohope" panose="020B0503020000020004" pitchFamily="18" charset="-128"/>
                  </a:rPr>
                  <a:t>w</a:t>
                </a:r>
                <a:r>
                  <a:rPr lang="en-US" dirty="0">
                    <a:latin typeface="Times New Roman" panose="02020603050405020304" pitchFamily="18" charset="0"/>
                    <a:ea typeface="Wandohope" panose="020B0503020000020004" pitchFamily="18" charset="-128"/>
                    <a:cs typeface="Times New Roman" panose="02020603050405020304" pitchFamily="18" charset="0"/>
                  </a:rPr>
                  <a:t>1 = 0.3 + 0.2  =0.5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ea typeface="Wandohope" panose="020B0503020000020004" pitchFamily="18" charset="-128"/>
                  <a:cs typeface="Times New Roman" panose="02020603050405020304" pitchFamily="18" charset="0"/>
                </a:endParaRPr>
              </a:p>
              <a:p>
                <a:r>
                  <a:rPr lang="en-PK" dirty="0">
                    <a:latin typeface="Wandohope" panose="020B0503020000020004" pitchFamily="18" charset="-128"/>
                    <a:ea typeface="Wandohope" panose="020B0503020000020004" pitchFamily="18" charset="-128"/>
                  </a:rPr>
                  <a:t>∆</a:t>
                </a:r>
                <a:r>
                  <a:rPr lang="en-US" dirty="0">
                    <a:latin typeface="Wandohope" panose="020B0503020000020004" pitchFamily="18" charset="-128"/>
                    <a:ea typeface="Wandohope" panose="020B0503020000020004" pitchFamily="18" charset="-128"/>
                  </a:rPr>
                  <a:t>w2</a:t>
                </a:r>
                <a:r>
                  <a:rPr lang="en-US" dirty="0">
                    <a:latin typeface="Times New Roman" panose="02020603050405020304" pitchFamily="18" charset="0"/>
                    <a:ea typeface="Wandohope" panose="020B0503020000020004" pitchFamily="18" charset="-128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Wandohope" panose="020B0503020000020004" pitchFamily="18" charset="-128"/>
                        <a:cs typeface="Times New Roman" panose="02020603050405020304" pitchFamily="18" charset="0"/>
                      </a:rPr>
                      <m:t>𝐿𝑅</m:t>
                    </m:r>
                    <m:r>
                      <a:rPr lang="en-US" i="1">
                        <a:latin typeface="Cambria Math" panose="02040503050406030204" pitchFamily="18" charset="0"/>
                        <a:ea typeface="Wandohope" panose="020B0503020000020004" pitchFamily="18" charset="-128"/>
                        <a:cs typeface="Times New Roman" panose="02020603050405020304" pitchFamily="18" charset="0"/>
                      </a:rPr>
                      <m:t> ×</m:t>
                    </m:r>
                    <m:r>
                      <a:rPr lang="en-US" i="1">
                        <a:latin typeface="Cambria Math" panose="02040503050406030204" pitchFamily="18" charset="0"/>
                        <a:ea typeface="Wandohope" panose="020B0503020000020004" pitchFamily="18" charset="-128"/>
                        <a:cs typeface="Times New Roman" panose="02020603050405020304" pitchFamily="18" charset="0"/>
                      </a:rPr>
                      <m:t>𝑡𝑎𝑟𝑔𝑒𝑡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=0.2∗1 ∗1=0.2</m:t>
                    </m:r>
                  </m:oMath>
                </a14:m>
                <a:endParaRPr lang="en-US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w2 = old w2 + </a:t>
                </a:r>
                <a:r>
                  <a:rPr lang="en-PK" dirty="0">
                    <a:latin typeface="Wandohope" panose="020B0503020000020004" pitchFamily="18" charset="-128"/>
                    <a:ea typeface="Wandohope" panose="020B0503020000020004" pitchFamily="18" charset="-128"/>
                  </a:rPr>
                  <a:t>∆</a:t>
                </a:r>
                <a:r>
                  <a:rPr lang="en-US" dirty="0">
                    <a:latin typeface="Wandohope" panose="020B0503020000020004" pitchFamily="18" charset="-128"/>
                    <a:ea typeface="Wandohope" panose="020B0503020000020004" pitchFamily="18" charset="-128"/>
                  </a:rPr>
                  <a:t>w</a:t>
                </a:r>
                <a:r>
                  <a:rPr lang="en-US" dirty="0">
                    <a:latin typeface="Times New Roman" panose="02020603050405020304" pitchFamily="18" charset="0"/>
                    <a:ea typeface="Wandohope" panose="020B0503020000020004" pitchFamily="18" charset="-128"/>
                    <a:cs typeface="Times New Roman" panose="02020603050405020304" pitchFamily="18" charset="0"/>
                  </a:rPr>
                  <a:t>2 = -0.2 + 0.2  =0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ea typeface="Wandohope" panose="020B0503020000020004" pitchFamily="18" charset="-128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ea typeface="Wandohope" panose="020B0503020000020004" pitchFamily="18" charset="-128"/>
                    <a:cs typeface="Times New Roman" panose="02020603050405020304" pitchFamily="18" charset="0"/>
                  </a:rPr>
                  <a:t>New bias = old bias + LR x Target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ea typeface="Wandohope" panose="020B0503020000020004" pitchFamily="18" charset="-128"/>
                    <a:cs typeface="Times New Roman" panose="02020603050405020304" pitchFamily="18" charset="0"/>
                  </a:rPr>
                  <a:t>New bias = -0.4 + 0.2 x 1 = -0.2</a:t>
                </a:r>
                <a:endParaRPr lang="en-PK" dirty="0"/>
              </a:p>
              <a:p>
                <a:pPr marL="0" indent="0">
                  <a:buNone/>
                </a:pPr>
                <a:endParaRPr lang="en-P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2F1E4-531C-152D-A7A4-6D06FBE1E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4014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2E128-3D0E-8E47-E9C8-8BA0C5F6F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D230-7D62-F49A-22C4-0E451BA7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w1 = 0.5, w2 = 0,  b = -0.2,  LR = 0.2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FD7AE0-A745-E938-B36E-4B610BCFA1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238349"/>
              </p:ext>
            </p:extLst>
          </p:nvPr>
        </p:nvGraphicFramePr>
        <p:xfrm>
          <a:off x="838200" y="1825625"/>
          <a:ext cx="107442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72">
                  <a:extLst>
                    <a:ext uri="{9D8B030D-6E8A-4147-A177-3AD203B41FA5}">
                      <a16:colId xmlns:a16="http://schemas.microsoft.com/office/drawing/2014/main" val="435539647"/>
                    </a:ext>
                  </a:extLst>
                </a:gridCol>
                <a:gridCol w="569682">
                  <a:extLst>
                    <a:ext uri="{9D8B030D-6E8A-4147-A177-3AD203B41FA5}">
                      <a16:colId xmlns:a16="http://schemas.microsoft.com/office/drawing/2014/main" val="1769482570"/>
                    </a:ext>
                  </a:extLst>
                </a:gridCol>
                <a:gridCol w="1446992">
                  <a:extLst>
                    <a:ext uri="{9D8B030D-6E8A-4147-A177-3AD203B41FA5}">
                      <a16:colId xmlns:a16="http://schemas.microsoft.com/office/drawing/2014/main" val="1216395629"/>
                    </a:ext>
                  </a:extLst>
                </a:gridCol>
                <a:gridCol w="2130610">
                  <a:extLst>
                    <a:ext uri="{9D8B030D-6E8A-4147-A177-3AD203B41FA5}">
                      <a16:colId xmlns:a16="http://schemas.microsoft.com/office/drawing/2014/main" val="3663871722"/>
                    </a:ext>
                  </a:extLst>
                </a:gridCol>
                <a:gridCol w="2404058">
                  <a:extLst>
                    <a:ext uri="{9D8B030D-6E8A-4147-A177-3AD203B41FA5}">
                      <a16:colId xmlns:a16="http://schemas.microsoft.com/office/drawing/2014/main" val="990210336"/>
                    </a:ext>
                  </a:extLst>
                </a:gridCol>
                <a:gridCol w="695012">
                  <a:extLst>
                    <a:ext uri="{9D8B030D-6E8A-4147-A177-3AD203B41FA5}">
                      <a16:colId xmlns:a16="http://schemas.microsoft.com/office/drawing/2014/main" val="3736951455"/>
                    </a:ext>
                  </a:extLst>
                </a:gridCol>
                <a:gridCol w="695012">
                  <a:extLst>
                    <a:ext uri="{9D8B030D-6E8A-4147-A177-3AD203B41FA5}">
                      <a16:colId xmlns:a16="http://schemas.microsoft.com/office/drawing/2014/main" val="2343288963"/>
                    </a:ext>
                  </a:extLst>
                </a:gridCol>
                <a:gridCol w="934278">
                  <a:extLst>
                    <a:ext uri="{9D8B030D-6E8A-4147-A177-3AD203B41FA5}">
                      <a16:colId xmlns:a16="http://schemas.microsoft.com/office/drawing/2014/main" val="286909726"/>
                    </a:ext>
                  </a:extLst>
                </a:gridCol>
                <a:gridCol w="1281784">
                  <a:extLst>
                    <a:ext uri="{9D8B030D-6E8A-4147-A177-3AD203B41FA5}">
                      <a16:colId xmlns:a16="http://schemas.microsoft.com/office/drawing/2014/main" val="1731513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Y_Desired</a:t>
                      </a:r>
                      <a:endParaRPr lang="en-US" dirty="0"/>
                    </a:p>
                    <a:p>
                      <a:r>
                        <a:rPr lang="en-US" dirty="0"/>
                        <a:t>Target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Summation = (x1w1 + x2w2) + 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Activation Function (Y estimated)</a:t>
                      </a:r>
                    </a:p>
                    <a:p>
                      <a:r>
                        <a:rPr lang="en-US" dirty="0"/>
                        <a:t>Step function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72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change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33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change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5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247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626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784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273</Words>
  <Application>Microsoft Office PowerPoint</Application>
  <PresentationFormat>Widescreen</PresentationFormat>
  <Paragraphs>112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Wandohope</vt:lpstr>
      <vt:lpstr>Arial</vt:lpstr>
      <vt:lpstr>Calibri</vt:lpstr>
      <vt:lpstr>Calibri Light</vt:lpstr>
      <vt:lpstr>Cambria Math</vt:lpstr>
      <vt:lpstr>Times New Roman</vt:lpstr>
      <vt:lpstr>Office Theme</vt:lpstr>
      <vt:lpstr>PERCEPTRON</vt:lpstr>
      <vt:lpstr>Perceptron for AND</vt:lpstr>
      <vt:lpstr> w1 = 0.3, w2 = -0.2,  b = -0.4,  LR = 0.2</vt:lpstr>
      <vt:lpstr>Update weights</vt:lpstr>
      <vt:lpstr> w1 = 0.5, w2 = 0,  b = -0.2,  LR = 0.2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Rabia Arshad</dc:creator>
  <cp:lastModifiedBy>Hina Tahir</cp:lastModifiedBy>
  <cp:revision>39</cp:revision>
  <dcterms:created xsi:type="dcterms:W3CDTF">2025-06-02T05:39:59Z</dcterms:created>
  <dcterms:modified xsi:type="dcterms:W3CDTF">2026-05-19T16:52:56Z</dcterms:modified>
</cp:coreProperties>
</file>