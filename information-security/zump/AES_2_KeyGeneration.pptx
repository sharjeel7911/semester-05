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jpg" ContentType="image/jp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2891" y="147065"/>
            <a:ext cx="553821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2320" y="1144625"/>
            <a:ext cx="8379358" cy="4497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43200" y="981455"/>
            <a:ext cx="3962400" cy="4895215"/>
            <a:chOff x="2743200" y="981455"/>
            <a:chExt cx="3962400" cy="4895215"/>
          </a:xfrm>
        </p:grpSpPr>
        <p:sp>
          <p:nvSpPr>
            <p:cNvPr id="3" name="object 3"/>
            <p:cNvSpPr/>
            <p:nvPr/>
          </p:nvSpPr>
          <p:spPr>
            <a:xfrm>
              <a:off x="2743200" y="981455"/>
              <a:ext cx="3962400" cy="4895215"/>
            </a:xfrm>
            <a:custGeom>
              <a:avLst/>
              <a:gdLst/>
              <a:ahLst/>
              <a:cxnLst/>
              <a:rect l="l" t="t" r="r" b="b"/>
              <a:pathLst>
                <a:path w="3962400" h="4895215">
                  <a:moveTo>
                    <a:pt x="3962400" y="0"/>
                  </a:moveTo>
                  <a:lnTo>
                    <a:pt x="0" y="0"/>
                  </a:lnTo>
                  <a:lnTo>
                    <a:pt x="0" y="4895088"/>
                  </a:lnTo>
                  <a:lnTo>
                    <a:pt x="3962400" y="4895088"/>
                  </a:lnTo>
                  <a:lnTo>
                    <a:pt x="3962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835275" y="1612442"/>
              <a:ext cx="3764279" cy="0"/>
            </a:xfrm>
            <a:custGeom>
              <a:avLst/>
              <a:gdLst/>
              <a:ahLst/>
              <a:cxnLst/>
              <a:rect l="l" t="t" r="r" b="b"/>
              <a:pathLst>
                <a:path w="3764279" h="0">
                  <a:moveTo>
                    <a:pt x="0" y="0"/>
                  </a:moveTo>
                  <a:lnTo>
                    <a:pt x="3764280" y="0"/>
                  </a:lnTo>
                </a:path>
              </a:pathLst>
            </a:custGeom>
            <a:ln w="26822">
              <a:solidFill>
                <a:srgbClr val="2B2BB7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3279775" y="1007440"/>
            <a:ext cx="2924810" cy="478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2C2CB8"/>
                </a:solidFill>
                <a:latin typeface="Arial MT"/>
                <a:cs typeface="Arial MT"/>
              </a:rPr>
              <a:t>General</a:t>
            </a:r>
            <a:r>
              <a:rPr dirty="0" sz="2400" spc="-15">
                <a:solidFill>
                  <a:srgbClr val="2C2CB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2C2CB8"/>
                </a:solidFill>
                <a:latin typeface="Arial MT"/>
                <a:cs typeface="Arial MT"/>
              </a:rPr>
              <a:t>Knowledge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400" spc="-1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XOR</a:t>
            </a:r>
            <a:r>
              <a:rPr dirty="0" sz="24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B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dirty="0" sz="2400" spc="-3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Where:</a:t>
            </a:r>
            <a:endParaRPr sz="2400">
              <a:latin typeface="Arial MT"/>
              <a:cs typeface="Arial MT"/>
            </a:endParaRPr>
          </a:p>
          <a:p>
            <a:pPr marL="469900" marR="678180">
              <a:lnSpc>
                <a:spcPct val="100000"/>
              </a:lnSpc>
            </a:pP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2400" spc="-1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dirty="0" sz="24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Message 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B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dirty="0" sz="24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Key</a:t>
            </a:r>
            <a:endParaRPr sz="2400">
              <a:latin typeface="Arial MT"/>
              <a:cs typeface="Arial MT"/>
            </a:endParaRPr>
          </a:p>
          <a:p>
            <a:pPr algn="ctr" marR="23495">
              <a:lnSpc>
                <a:spcPct val="100000"/>
              </a:lnSpc>
            </a:pP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dirty="0" sz="24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Ciphertext</a:t>
            </a:r>
            <a:endParaRPr sz="2400">
              <a:latin typeface="Arial MT"/>
              <a:cs typeface="Arial MT"/>
            </a:endParaRPr>
          </a:p>
          <a:p>
            <a:pPr algn="ctr" marL="12700" marR="5080">
              <a:lnSpc>
                <a:spcPct val="200000"/>
              </a:lnSpc>
              <a:spcBef>
                <a:spcPts val="5"/>
              </a:spcBef>
              <a:tabLst>
                <a:tab pos="1433830" algn="l"/>
              </a:tabLst>
            </a:pP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Receiver</a:t>
            </a:r>
            <a:r>
              <a:rPr dirty="0" sz="240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will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get</a:t>
            </a:r>
            <a:r>
              <a:rPr dirty="0" sz="24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C,</a:t>
            </a:r>
            <a:r>
              <a:rPr dirty="0" sz="24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B </a:t>
            </a:r>
            <a:r>
              <a:rPr dirty="0" sz="2400" spc="-6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 XOR B	=</a:t>
            </a:r>
            <a:r>
              <a:rPr dirty="0" sz="2400" spc="-1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tabLst>
                <a:tab pos="1856739" algn="l"/>
              </a:tabLst>
            </a:pP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 XOR</a:t>
            </a:r>
            <a:r>
              <a:rPr dirty="0" sz="2400" spc="-14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A	=</a:t>
            </a:r>
            <a:r>
              <a:rPr dirty="0" sz="2400" spc="-5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3164" y="484758"/>
            <a:ext cx="422021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Add</a:t>
            </a:r>
            <a:r>
              <a:rPr dirty="0" sz="4400" spc="-35"/>
              <a:t> </a:t>
            </a:r>
            <a:r>
              <a:rPr dirty="0" sz="4400"/>
              <a:t>Round</a:t>
            </a:r>
            <a:r>
              <a:rPr dirty="0" sz="4400" spc="-35"/>
              <a:t> </a:t>
            </a:r>
            <a:r>
              <a:rPr dirty="0" sz="4400"/>
              <a:t>Key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00" y="2578100"/>
            <a:ext cx="67564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7845" y="83057"/>
            <a:ext cx="55251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AES</a:t>
            </a:r>
            <a:r>
              <a:rPr dirty="0" sz="4400" spc="-40"/>
              <a:t> </a:t>
            </a:r>
            <a:r>
              <a:rPr dirty="0" sz="4400"/>
              <a:t>Key</a:t>
            </a:r>
            <a:r>
              <a:rPr dirty="0" sz="4400" spc="-40"/>
              <a:t> </a:t>
            </a:r>
            <a:r>
              <a:rPr dirty="0" sz="4400"/>
              <a:t>Scheduling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96367" y="1260728"/>
            <a:ext cx="8549640" cy="514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6985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"/>
              <a:tabLst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The AES </a:t>
            </a:r>
            <a:r>
              <a:rPr dirty="0" sz="2400">
                <a:latin typeface="Arial MT"/>
                <a:cs typeface="Arial MT"/>
              </a:rPr>
              <a:t>key expansion algorithm takes </a:t>
            </a:r>
            <a:r>
              <a:rPr dirty="0" sz="2400" spc="-5">
                <a:latin typeface="Arial MT"/>
                <a:cs typeface="Arial MT"/>
              </a:rPr>
              <a:t>as input a 4-word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(16-byte) </a:t>
            </a:r>
            <a:r>
              <a:rPr dirty="0" sz="2400" spc="-50">
                <a:latin typeface="Arial MT"/>
                <a:cs typeface="Arial MT"/>
              </a:rPr>
              <a:t>key.</a:t>
            </a:r>
            <a:endParaRPr sz="2400">
              <a:latin typeface="Arial MT"/>
              <a:cs typeface="Arial MT"/>
            </a:endParaRPr>
          </a:p>
          <a:p>
            <a:pPr algn="just" marL="355600" marR="6985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"/>
              <a:tabLst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Algorithm produces a </a:t>
            </a:r>
            <a:r>
              <a:rPr dirty="0" sz="2400">
                <a:latin typeface="Arial MT"/>
                <a:cs typeface="Arial MT"/>
              </a:rPr>
              <a:t>linear </a:t>
            </a:r>
            <a:r>
              <a:rPr dirty="0" sz="2400" spc="-5">
                <a:latin typeface="Arial MT"/>
                <a:cs typeface="Arial MT"/>
              </a:rPr>
              <a:t>array </a:t>
            </a:r>
            <a:r>
              <a:rPr dirty="0" sz="2400">
                <a:latin typeface="Arial MT"/>
                <a:cs typeface="Arial MT"/>
              </a:rPr>
              <a:t>of </a:t>
            </a:r>
            <a:r>
              <a:rPr dirty="0" sz="2400" spc="-5">
                <a:latin typeface="Arial MT"/>
                <a:cs typeface="Arial MT"/>
              </a:rPr>
              <a:t>words, providing a 4-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word </a:t>
            </a:r>
            <a:r>
              <a:rPr dirty="0" sz="2400">
                <a:latin typeface="Arial MT"/>
                <a:cs typeface="Arial MT"/>
              </a:rPr>
              <a:t>round key for the initial AddRoundKey </a:t>
            </a:r>
            <a:r>
              <a:rPr dirty="0" sz="2400" spc="-5">
                <a:latin typeface="Arial MT"/>
                <a:cs typeface="Arial MT"/>
              </a:rPr>
              <a:t>stage and each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10/12/14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rounds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the </a:t>
            </a:r>
            <a:r>
              <a:rPr dirty="0" sz="2400" spc="-25">
                <a:latin typeface="Arial MT"/>
                <a:cs typeface="Arial MT"/>
              </a:rPr>
              <a:t>cipher.</a:t>
            </a:r>
            <a:endParaRPr sz="2400">
              <a:latin typeface="Arial MT"/>
              <a:cs typeface="Arial MT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"/>
              <a:tabLst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It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involves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copying</a:t>
            </a:r>
            <a:r>
              <a:rPr dirty="0" sz="2400">
                <a:latin typeface="Arial MT"/>
                <a:cs typeface="Arial MT"/>
              </a:rPr>
              <a:t> the key </a:t>
            </a:r>
            <a:r>
              <a:rPr dirty="0" sz="2400" spc="-5">
                <a:latin typeface="Arial MT"/>
                <a:cs typeface="Arial MT"/>
              </a:rPr>
              <a:t>into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the</a:t>
            </a:r>
            <a:r>
              <a:rPr dirty="0" sz="2400">
                <a:latin typeface="Arial MT"/>
                <a:cs typeface="Arial MT"/>
              </a:rPr>
              <a:t> first </a:t>
            </a:r>
            <a:r>
              <a:rPr dirty="0" sz="2400" spc="-5">
                <a:latin typeface="Arial MT"/>
                <a:cs typeface="Arial MT"/>
              </a:rPr>
              <a:t>group of</a:t>
            </a:r>
            <a:r>
              <a:rPr dirty="0" sz="2400" spc="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4 words,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then </a:t>
            </a:r>
            <a:r>
              <a:rPr dirty="0" sz="2400" spc="-5">
                <a:latin typeface="Arial MT"/>
                <a:cs typeface="Arial MT"/>
              </a:rPr>
              <a:t>constructing </a:t>
            </a:r>
            <a:r>
              <a:rPr dirty="0" sz="2400">
                <a:latin typeface="Arial MT"/>
                <a:cs typeface="Arial MT"/>
              </a:rPr>
              <a:t>subsequent </a:t>
            </a:r>
            <a:r>
              <a:rPr dirty="0" sz="2400" spc="-5">
                <a:latin typeface="Arial MT"/>
                <a:cs typeface="Arial MT"/>
              </a:rPr>
              <a:t>groups </a:t>
            </a:r>
            <a:r>
              <a:rPr dirty="0" sz="2400">
                <a:latin typeface="Arial MT"/>
                <a:cs typeface="Arial MT"/>
              </a:rPr>
              <a:t>of </a:t>
            </a:r>
            <a:r>
              <a:rPr dirty="0" sz="2400" spc="-5">
                <a:latin typeface="Arial MT"/>
                <a:cs typeface="Arial MT"/>
              </a:rPr>
              <a:t>4 based </a:t>
            </a:r>
            <a:r>
              <a:rPr dirty="0" sz="2400">
                <a:latin typeface="Arial MT"/>
                <a:cs typeface="Arial MT"/>
              </a:rPr>
              <a:t>on the 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values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>
                <a:latin typeface="Arial MT"/>
                <a:cs typeface="Arial MT"/>
              </a:rPr>
              <a:t> the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previous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&amp; </a:t>
            </a:r>
            <a:r>
              <a:rPr dirty="0" sz="2400" spc="-5">
                <a:latin typeface="Arial MT"/>
                <a:cs typeface="Arial MT"/>
              </a:rPr>
              <a:t>4th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back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words.</a:t>
            </a:r>
            <a:endParaRPr sz="2400">
              <a:latin typeface="Arial MT"/>
              <a:cs typeface="Arial MT"/>
            </a:endParaRPr>
          </a:p>
          <a:p>
            <a:pPr algn="just" marL="355600" marR="6985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"/>
              <a:tabLst>
                <a:tab pos="355600" algn="l"/>
              </a:tabLst>
            </a:pPr>
            <a:r>
              <a:rPr dirty="0" sz="2400" spc="-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first </a:t>
            </a:r>
            <a:r>
              <a:rPr dirty="0" sz="2400" spc="-5">
                <a:latin typeface="Arial MT"/>
                <a:cs typeface="Arial MT"/>
              </a:rPr>
              <a:t>word in </a:t>
            </a:r>
            <a:r>
              <a:rPr dirty="0" sz="2400">
                <a:latin typeface="Arial MT"/>
                <a:cs typeface="Arial MT"/>
              </a:rPr>
              <a:t>each group </a:t>
            </a:r>
            <a:r>
              <a:rPr dirty="0" sz="2400" spc="-5">
                <a:latin typeface="Arial MT"/>
                <a:cs typeface="Arial MT"/>
              </a:rPr>
              <a:t>of</a:t>
            </a:r>
            <a:r>
              <a:rPr dirty="0" sz="2400" spc="6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 gets </a:t>
            </a:r>
            <a:r>
              <a:rPr dirty="0" sz="2400" spc="-5">
                <a:latin typeface="Arial MT"/>
                <a:cs typeface="Arial MT"/>
              </a:rPr>
              <a:t>“special treatment”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with Rotate </a:t>
            </a:r>
            <a:r>
              <a:rPr dirty="0" sz="2400">
                <a:latin typeface="Arial MT"/>
                <a:cs typeface="Arial MT"/>
              </a:rPr>
              <a:t>+ </a:t>
            </a:r>
            <a:r>
              <a:rPr dirty="0" sz="2400" spc="-5">
                <a:latin typeface="Arial MT"/>
                <a:cs typeface="Arial MT"/>
              </a:rPr>
              <a:t>S-box </a:t>
            </a:r>
            <a:r>
              <a:rPr dirty="0" sz="2400">
                <a:latin typeface="Arial MT"/>
                <a:cs typeface="Arial MT"/>
              </a:rPr>
              <a:t>+ </a:t>
            </a:r>
            <a:r>
              <a:rPr dirty="0" sz="2400" spc="-10">
                <a:latin typeface="Arial MT"/>
                <a:cs typeface="Arial MT"/>
              </a:rPr>
              <a:t>XOR </a:t>
            </a:r>
            <a:r>
              <a:rPr dirty="0" sz="2400">
                <a:latin typeface="Arial MT"/>
                <a:cs typeface="Arial MT"/>
              </a:rPr>
              <a:t>constant </a:t>
            </a:r>
            <a:r>
              <a:rPr dirty="0" sz="2400" spc="-5">
                <a:latin typeface="Arial MT"/>
                <a:cs typeface="Arial MT"/>
              </a:rPr>
              <a:t>on the previous word 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before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XOR’ing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one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4</a:t>
            </a:r>
            <a:r>
              <a:rPr dirty="0" sz="240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back.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"/>
            </a:pPr>
            <a:endParaRPr sz="25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"/>
              <a:tabLst>
                <a:tab pos="355600" algn="l"/>
                <a:tab pos="757555" algn="l"/>
                <a:tab pos="1330325" algn="l"/>
                <a:tab pos="2411095" algn="l"/>
                <a:tab pos="3458845" algn="l"/>
                <a:tab pos="4386580" algn="l"/>
                <a:tab pos="5603240" algn="l"/>
                <a:tab pos="6662420" algn="l"/>
                <a:tab pos="7369809" algn="l"/>
                <a:tab pos="7857490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5">
                <a:latin typeface="Arial MT"/>
                <a:cs typeface="Arial MT"/>
              </a:rPr>
              <a:t>256</a:t>
            </a:r>
            <a:r>
              <a:rPr dirty="0" sz="2400">
                <a:latin typeface="Arial MT"/>
                <a:cs typeface="Arial MT"/>
              </a:rPr>
              <a:t>-</a:t>
            </a:r>
            <a:r>
              <a:rPr dirty="0" sz="2400">
                <a:latin typeface="Arial MT"/>
                <a:cs typeface="Arial MT"/>
              </a:rPr>
              <a:t>b</a:t>
            </a:r>
            <a:r>
              <a:rPr dirty="0" sz="2400" spc="-10">
                <a:latin typeface="Arial MT"/>
                <a:cs typeface="Arial MT"/>
              </a:rPr>
              <a:t>i</a:t>
            </a:r>
            <a:r>
              <a:rPr dirty="0" sz="2400">
                <a:latin typeface="Arial MT"/>
                <a:cs typeface="Arial MT"/>
              </a:rPr>
              <a:t>t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-5">
                <a:latin typeface="Arial MT"/>
                <a:cs typeface="Arial MT"/>
              </a:rPr>
              <a:t>/</a:t>
            </a:r>
            <a:r>
              <a:rPr dirty="0" sz="2400" spc="-5">
                <a:latin typeface="Arial MT"/>
                <a:cs typeface="Arial MT"/>
              </a:rPr>
              <a:t>1</a:t>
            </a:r>
            <a:r>
              <a:rPr dirty="0" sz="2400">
                <a:latin typeface="Arial MT"/>
                <a:cs typeface="Arial MT"/>
              </a:rPr>
              <a:t>4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round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vers</a:t>
            </a:r>
            <a:r>
              <a:rPr dirty="0" sz="2400" spc="-10">
                <a:latin typeface="Arial MT"/>
                <a:cs typeface="Arial MT"/>
              </a:rPr>
              <a:t>i</a:t>
            </a:r>
            <a:r>
              <a:rPr dirty="0" sz="2400">
                <a:latin typeface="Arial MT"/>
                <a:cs typeface="Arial MT"/>
              </a:rPr>
              <a:t>o</a:t>
            </a:r>
            <a:r>
              <a:rPr dirty="0" sz="2400">
                <a:latin typeface="Arial MT"/>
                <a:cs typeface="Arial MT"/>
              </a:rPr>
              <a:t>n,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5">
                <a:latin typeface="Arial MT"/>
                <a:cs typeface="Arial MT"/>
              </a:rPr>
              <a:t>’</a:t>
            </a:r>
            <a:r>
              <a:rPr dirty="0" sz="2400">
                <a:latin typeface="Arial MT"/>
                <a:cs typeface="Arial MT"/>
              </a:rPr>
              <a:t>s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l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5">
                <a:latin typeface="Arial MT"/>
                <a:cs typeface="Arial MT"/>
              </a:rPr>
              <a:t>a</a:t>
            </a:r>
            <a:r>
              <a:rPr dirty="0" sz="2400">
                <a:latin typeface="Arial MT"/>
                <a:cs typeface="Arial MT"/>
              </a:rPr>
              <a:t>n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e</a:t>
            </a:r>
            <a:r>
              <a:rPr dirty="0" sz="2400" spc="-20">
                <a:latin typeface="Arial MT"/>
                <a:cs typeface="Arial MT"/>
              </a:rPr>
              <a:t>x</a:t>
            </a:r>
            <a:r>
              <a:rPr dirty="0" sz="2400">
                <a:latin typeface="Arial MT"/>
                <a:cs typeface="Arial MT"/>
              </a:rPr>
              <a:t>tr</a:t>
            </a:r>
            <a:r>
              <a:rPr dirty="0" sz="240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latin typeface="Arial MT"/>
                <a:cs typeface="Arial MT"/>
              </a:rPr>
              <a:t>step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on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">
                <a:latin typeface="Arial MT"/>
                <a:cs typeface="Arial MT"/>
              </a:rPr>
              <a:t> middle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word.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7845" y="83057"/>
            <a:ext cx="55251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AES</a:t>
            </a:r>
            <a:r>
              <a:rPr dirty="0" sz="4400" spc="-40"/>
              <a:t> </a:t>
            </a:r>
            <a:r>
              <a:rPr dirty="0" sz="4400"/>
              <a:t>Key</a:t>
            </a:r>
            <a:r>
              <a:rPr dirty="0" sz="4400" spc="-40"/>
              <a:t> </a:t>
            </a:r>
            <a:r>
              <a:rPr dirty="0" sz="4400"/>
              <a:t>Scheduling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383" y="2070607"/>
            <a:ext cx="77978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8388" y="197053"/>
            <a:ext cx="59645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latin typeface="Arial MT"/>
                <a:cs typeface="Arial MT"/>
              </a:rPr>
              <a:t>Key</a:t>
            </a:r>
            <a:r>
              <a:rPr dirty="0" sz="4400" spc="-25" b="0">
                <a:latin typeface="Arial MT"/>
                <a:cs typeface="Arial MT"/>
              </a:rPr>
              <a:t> </a:t>
            </a:r>
            <a:r>
              <a:rPr dirty="0" sz="4400" b="0">
                <a:latin typeface="Arial MT"/>
                <a:cs typeface="Arial MT"/>
              </a:rPr>
              <a:t>Expansion</a:t>
            </a:r>
            <a:r>
              <a:rPr dirty="0" sz="4400" spc="-40" b="0">
                <a:latin typeface="Arial MT"/>
                <a:cs typeface="Arial MT"/>
              </a:rPr>
              <a:t> </a:t>
            </a:r>
            <a:r>
              <a:rPr dirty="0" sz="4400" b="0">
                <a:latin typeface="Arial MT"/>
                <a:cs typeface="Arial MT"/>
              </a:rPr>
              <a:t>Scheme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625" y="1537716"/>
            <a:ext cx="6851974" cy="4956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8388" y="197053"/>
            <a:ext cx="59645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latin typeface="Arial MT"/>
                <a:cs typeface="Arial MT"/>
              </a:rPr>
              <a:t>Key</a:t>
            </a:r>
            <a:r>
              <a:rPr dirty="0" sz="4400" spc="-25" b="0">
                <a:latin typeface="Arial MT"/>
                <a:cs typeface="Arial MT"/>
              </a:rPr>
              <a:t> </a:t>
            </a:r>
            <a:r>
              <a:rPr dirty="0" sz="4400" b="0">
                <a:latin typeface="Arial MT"/>
                <a:cs typeface="Arial MT"/>
              </a:rPr>
              <a:t>Expansion</a:t>
            </a:r>
            <a:r>
              <a:rPr dirty="0" sz="4400" spc="-40" b="0">
                <a:latin typeface="Arial MT"/>
                <a:cs typeface="Arial MT"/>
              </a:rPr>
              <a:t> </a:t>
            </a:r>
            <a:r>
              <a:rPr dirty="0" sz="4400" b="0">
                <a:latin typeface="Arial MT"/>
                <a:cs typeface="Arial MT"/>
              </a:rPr>
              <a:t>Scheme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657" y="1452867"/>
            <a:ext cx="3924430" cy="47463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3292" y="291845"/>
            <a:ext cx="521525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Key</a:t>
            </a:r>
            <a:r>
              <a:rPr dirty="0" sz="3200" spc="-50"/>
              <a:t> </a:t>
            </a:r>
            <a:r>
              <a:rPr dirty="0" sz="3200" spc="-5"/>
              <a:t>Expansion</a:t>
            </a:r>
            <a:r>
              <a:rPr dirty="0" sz="3200" spc="-50"/>
              <a:t> </a:t>
            </a:r>
            <a:r>
              <a:rPr dirty="0" sz="3200"/>
              <a:t>submodule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4720" y="1779523"/>
            <a:ext cx="7725409" cy="411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RotWord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performs</a:t>
            </a:r>
            <a:r>
              <a:rPr dirty="0" sz="24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a</a:t>
            </a:r>
            <a:r>
              <a:rPr dirty="0" sz="2400" spc="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one byte</a:t>
            </a:r>
            <a:r>
              <a:rPr dirty="0" sz="24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circular</a:t>
            </a:r>
            <a:r>
              <a:rPr dirty="0" sz="240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left</a:t>
            </a:r>
            <a:r>
              <a:rPr dirty="0" sz="2400" spc="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shift</a:t>
            </a:r>
            <a:r>
              <a:rPr dirty="0" sz="240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on</a:t>
            </a:r>
            <a:r>
              <a:rPr dirty="0" sz="24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a word </a:t>
            </a:r>
            <a:r>
              <a:rPr dirty="0" sz="2400" spc="-65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For example: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Arial MT"/>
              <a:cs typeface="Arial MT"/>
            </a:endParaRPr>
          </a:p>
          <a:p>
            <a:pPr algn="ctr" marR="477520">
              <a:lnSpc>
                <a:spcPct val="100000"/>
              </a:lnSpc>
            </a:pPr>
            <a:r>
              <a:rPr dirty="0" sz="2400" spc="-5" b="1">
                <a:solidFill>
                  <a:srgbClr val="585858"/>
                </a:solidFill>
                <a:latin typeface="Arial"/>
                <a:cs typeface="Arial"/>
              </a:rPr>
              <a:t>RotWord[b0,b1,b2,b3]</a:t>
            </a:r>
            <a:r>
              <a:rPr dirty="0" sz="24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85858"/>
                </a:solidFill>
                <a:latin typeface="Arial"/>
                <a:cs typeface="Arial"/>
              </a:rPr>
              <a:t>=</a:t>
            </a:r>
            <a:r>
              <a:rPr dirty="0" sz="24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585858"/>
                </a:solidFill>
                <a:latin typeface="Arial"/>
                <a:cs typeface="Arial"/>
              </a:rPr>
              <a:t>[b1,b2,b3,b0]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Arial"/>
              <a:cs typeface="Arial"/>
            </a:endParaRPr>
          </a:p>
          <a:p>
            <a:pPr marL="12700" marR="358775">
              <a:lnSpc>
                <a:spcPct val="100000"/>
              </a:lnSpc>
            </a:pP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SubWord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performs</a:t>
            </a:r>
            <a:r>
              <a:rPr dirty="0" sz="24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a</a:t>
            </a:r>
            <a:r>
              <a:rPr dirty="0" sz="2400" spc="1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0000"/>
                </a:solidFill>
                <a:latin typeface="Arial MT"/>
                <a:cs typeface="Arial MT"/>
              </a:rPr>
              <a:t>byte</a:t>
            </a:r>
            <a:r>
              <a:rPr dirty="0" sz="24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substitution</a:t>
            </a:r>
            <a:r>
              <a:rPr dirty="0" sz="2400" spc="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on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each</a:t>
            </a:r>
            <a:r>
              <a:rPr dirty="0" sz="24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byte</a:t>
            </a:r>
            <a:r>
              <a:rPr dirty="0" sz="24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of </a:t>
            </a:r>
            <a:r>
              <a:rPr dirty="0" sz="2400" spc="-65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input</a:t>
            </a:r>
            <a:r>
              <a:rPr dirty="0" sz="24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word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using</a:t>
            </a:r>
            <a:r>
              <a:rPr dirty="0" sz="2400" spc="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the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S-box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00">
              <a:latin typeface="Arial MT"/>
              <a:cs typeface="Arial MT"/>
            </a:endParaRPr>
          </a:p>
          <a:p>
            <a:pPr marL="12700" marR="60960">
              <a:lnSpc>
                <a:spcPct val="100000"/>
              </a:lnSpc>
            </a:pP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SubWord(RotWord(temp))</a:t>
            </a:r>
            <a:r>
              <a:rPr dirty="0" sz="24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is XORed with</a:t>
            </a:r>
            <a:r>
              <a:rPr dirty="0" sz="2400" spc="1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RCon[j]</a:t>
            </a:r>
            <a:r>
              <a:rPr dirty="0" sz="24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–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the </a:t>
            </a:r>
            <a:r>
              <a:rPr dirty="0" sz="2400" spc="-65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585858"/>
                </a:solidFill>
                <a:latin typeface="Arial MT"/>
                <a:cs typeface="Arial MT"/>
              </a:rPr>
              <a:t>round</a:t>
            </a:r>
            <a:r>
              <a:rPr dirty="0" sz="24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85858"/>
                </a:solidFill>
                <a:latin typeface="Arial MT"/>
                <a:cs typeface="Arial MT"/>
              </a:rPr>
              <a:t>constant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552" y="106502"/>
            <a:ext cx="639064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Round</a:t>
            </a:r>
            <a:r>
              <a:rPr dirty="0" sz="4400" spc="-40"/>
              <a:t> </a:t>
            </a:r>
            <a:r>
              <a:rPr dirty="0" sz="4400"/>
              <a:t>Constant</a:t>
            </a:r>
            <a:r>
              <a:rPr dirty="0" sz="4400" spc="-55"/>
              <a:t> </a:t>
            </a:r>
            <a:r>
              <a:rPr dirty="0" sz="4400"/>
              <a:t>(RCon)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82320" y="1144625"/>
            <a:ext cx="5612130" cy="449770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102235" indent="-90170">
              <a:lnSpc>
                <a:spcPct val="100000"/>
              </a:lnSpc>
              <a:spcBef>
                <a:spcPts val="900"/>
              </a:spcBef>
              <a:buSzPct val="95000"/>
              <a:buChar char="•"/>
              <a:tabLst>
                <a:tab pos="102870" algn="l"/>
              </a:tabLst>
            </a:pPr>
            <a:r>
              <a:rPr dirty="0" sz="2000">
                <a:latin typeface="Arial MT"/>
                <a:cs typeface="Arial MT"/>
              </a:rPr>
              <a:t>RCON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word</a:t>
            </a:r>
            <a:r>
              <a:rPr dirty="0" sz="20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(32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bits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4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bytes).</a:t>
            </a:r>
            <a:endParaRPr sz="2000">
              <a:latin typeface="Arial MT"/>
              <a:cs typeface="Arial MT"/>
            </a:endParaRPr>
          </a:p>
          <a:p>
            <a:pPr marL="102235" indent="-90170">
              <a:lnSpc>
                <a:spcPct val="100000"/>
              </a:lnSpc>
              <a:spcBef>
                <a:spcPts val="805"/>
              </a:spcBef>
              <a:buSzPct val="95000"/>
              <a:buChar char="•"/>
              <a:tabLst>
                <a:tab pos="102870" algn="l"/>
              </a:tabLst>
            </a:pP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RCON,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three</a:t>
            </a:r>
            <a:r>
              <a:rPr dirty="0" sz="20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rightmost</a:t>
            </a:r>
            <a:r>
              <a:rPr dirty="0" sz="2000" spc="-5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 spc="-5">
                <a:solidFill>
                  <a:srgbClr val="FF0000"/>
                </a:solidFill>
                <a:latin typeface="Arial MT"/>
                <a:cs typeface="Arial MT"/>
              </a:rPr>
              <a:t>bytes</a:t>
            </a:r>
            <a:r>
              <a:rPr dirty="0" sz="20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dirty="0" sz="20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zero.</a:t>
            </a:r>
            <a:endParaRPr sz="2000">
              <a:latin typeface="Arial MT"/>
              <a:cs typeface="Arial MT"/>
            </a:endParaRPr>
          </a:p>
          <a:p>
            <a:pPr marL="102870" marR="617220" indent="-102870">
              <a:lnSpc>
                <a:spcPct val="266500"/>
              </a:lnSpc>
              <a:spcBef>
                <a:spcPts val="5"/>
              </a:spcBef>
              <a:buSzPct val="95000"/>
              <a:buChar char="•"/>
              <a:tabLst>
                <a:tab pos="102870" algn="l"/>
              </a:tabLst>
            </a:pP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">
                <a:latin typeface="Arial MT"/>
                <a:cs typeface="Arial MT"/>
              </a:rPr>
              <a:t> different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round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defined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as: </a:t>
            </a:r>
            <a:r>
              <a:rPr dirty="0" sz="2000" spc="-54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RCon[</a:t>
            </a:r>
            <a:r>
              <a:rPr dirty="0" sz="2000" spc="-2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j</a:t>
            </a:r>
            <a:r>
              <a:rPr dirty="0" sz="2000" spc="-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]</a:t>
            </a:r>
            <a:r>
              <a:rPr dirty="0" sz="2000" spc="-2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=</a:t>
            </a:r>
            <a:r>
              <a:rPr dirty="0" sz="2000" spc="-3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(</a:t>
            </a:r>
            <a:r>
              <a:rPr dirty="0" sz="2000" spc="-2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RCon[</a:t>
            </a:r>
            <a:r>
              <a:rPr dirty="0" sz="2000" spc="-2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j</a:t>
            </a:r>
            <a:r>
              <a:rPr dirty="0" sz="2000" spc="-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],</a:t>
            </a:r>
            <a:r>
              <a:rPr dirty="0" sz="2000" spc="-2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0,</a:t>
            </a:r>
            <a:r>
              <a:rPr dirty="0" sz="2000" spc="-2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0,</a:t>
            </a:r>
            <a:r>
              <a:rPr dirty="0" sz="2000" spc="-1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0</a:t>
            </a:r>
            <a:r>
              <a:rPr dirty="0" sz="2000" spc="-1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1383665">
              <a:lnSpc>
                <a:spcPct val="100000"/>
              </a:lnSpc>
              <a:spcBef>
                <a:spcPts val="800"/>
              </a:spcBef>
            </a:pP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where:</a:t>
            </a:r>
            <a:endParaRPr sz="2000">
              <a:latin typeface="Arial MT"/>
              <a:cs typeface="Arial MT"/>
            </a:endParaRPr>
          </a:p>
          <a:p>
            <a:pPr marL="1840864">
              <a:lnSpc>
                <a:spcPct val="100000"/>
              </a:lnSpc>
              <a:spcBef>
                <a:spcPts val="775"/>
              </a:spcBef>
            </a:pPr>
            <a:r>
              <a:rPr dirty="0" sz="2000" spc="5">
                <a:solidFill>
                  <a:srgbClr val="3333CC"/>
                </a:solidFill>
                <a:latin typeface="Arial MT"/>
                <a:cs typeface="Arial MT"/>
              </a:rPr>
              <a:t>RCon[</a:t>
            </a:r>
            <a:r>
              <a:rPr dirty="0" sz="2000" spc="-3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 spc="135">
                <a:solidFill>
                  <a:srgbClr val="3333CC"/>
                </a:solidFill>
                <a:latin typeface="Cambria"/>
                <a:cs typeface="Cambria"/>
              </a:rPr>
              <a:t>1</a:t>
            </a:r>
            <a:r>
              <a:rPr dirty="0" sz="2000" spc="18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]</a:t>
            </a:r>
            <a:r>
              <a:rPr dirty="0" sz="2000" spc="-2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 spc="70">
                <a:solidFill>
                  <a:srgbClr val="3333CC"/>
                </a:solidFill>
                <a:latin typeface="Arial MT"/>
                <a:cs typeface="Arial MT"/>
              </a:rPr>
              <a:t>=</a:t>
            </a:r>
            <a:r>
              <a:rPr dirty="0" sz="2000" spc="70">
                <a:solidFill>
                  <a:srgbClr val="3333CC"/>
                </a:solidFill>
                <a:latin typeface="Cambria"/>
                <a:cs typeface="Cambria"/>
              </a:rPr>
              <a:t>1</a:t>
            </a:r>
            <a:r>
              <a:rPr dirty="0" sz="2000" spc="17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3333CC"/>
                </a:solidFill>
                <a:latin typeface="Cambria"/>
                <a:cs typeface="Cambria"/>
              </a:rPr>
              <a:t>=</a:t>
            </a:r>
            <a:r>
              <a:rPr dirty="0" sz="2000" spc="18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3333CC"/>
                </a:solidFill>
                <a:latin typeface="Cambria"/>
                <a:cs typeface="Cambria"/>
              </a:rPr>
              <a:t>01</a:t>
            </a:r>
            <a:r>
              <a:rPr dirty="0" sz="2000" spc="175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3333CC"/>
                </a:solidFill>
                <a:latin typeface="Cambria"/>
                <a:cs typeface="Cambria"/>
              </a:rPr>
              <a:t>=</a:t>
            </a:r>
            <a:r>
              <a:rPr dirty="0" sz="2000" spc="18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3333CC"/>
                </a:solidFill>
                <a:latin typeface="Cambria"/>
                <a:cs typeface="Cambria"/>
              </a:rPr>
              <a:t>0000</a:t>
            </a:r>
            <a:r>
              <a:rPr dirty="0" sz="2000" spc="16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3333CC"/>
                </a:solidFill>
                <a:latin typeface="Cambria"/>
                <a:cs typeface="Cambria"/>
              </a:rPr>
              <a:t>0001</a:t>
            </a:r>
            <a:endParaRPr sz="2000">
              <a:latin typeface="Cambria"/>
              <a:cs typeface="Cambria"/>
            </a:endParaRPr>
          </a:p>
          <a:p>
            <a:pPr marL="1840864">
              <a:lnSpc>
                <a:spcPct val="100000"/>
              </a:lnSpc>
              <a:spcBef>
                <a:spcPts val="800"/>
              </a:spcBef>
            </a:pPr>
            <a:r>
              <a:rPr dirty="0" sz="2000" spc="5">
                <a:solidFill>
                  <a:srgbClr val="3333CC"/>
                </a:solidFill>
                <a:latin typeface="Arial MT"/>
                <a:cs typeface="Arial MT"/>
              </a:rPr>
              <a:t>RCon[</a:t>
            </a:r>
            <a:r>
              <a:rPr dirty="0" sz="2000" spc="-3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j</a:t>
            </a:r>
            <a:r>
              <a:rPr dirty="0" sz="2000" spc="-1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]</a:t>
            </a:r>
            <a:r>
              <a:rPr dirty="0" sz="2000" spc="-2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=</a:t>
            </a:r>
            <a:r>
              <a:rPr dirty="0" sz="2000" spc="-3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2</a:t>
            </a:r>
            <a:r>
              <a:rPr dirty="0" sz="2000" spc="-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*</a:t>
            </a:r>
            <a:r>
              <a:rPr dirty="0" sz="2000" spc="-3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 spc="5">
                <a:solidFill>
                  <a:srgbClr val="3333CC"/>
                </a:solidFill>
                <a:latin typeface="Arial MT"/>
                <a:cs typeface="Arial MT"/>
              </a:rPr>
              <a:t>RCon[</a:t>
            </a:r>
            <a:r>
              <a:rPr dirty="0" sz="2000" spc="-3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j</a:t>
            </a:r>
            <a:r>
              <a:rPr dirty="0" sz="2000" spc="-5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000" spc="65">
                <a:solidFill>
                  <a:srgbClr val="3333CC"/>
                </a:solidFill>
                <a:latin typeface="Arial MT"/>
                <a:cs typeface="Arial MT"/>
              </a:rPr>
              <a:t>-</a:t>
            </a:r>
            <a:r>
              <a:rPr dirty="0" sz="2000" spc="65">
                <a:solidFill>
                  <a:srgbClr val="3333CC"/>
                </a:solidFill>
                <a:latin typeface="Cambria"/>
                <a:cs typeface="Cambria"/>
              </a:rPr>
              <a:t>1</a:t>
            </a:r>
            <a:r>
              <a:rPr dirty="0" sz="2000" spc="165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3333CC"/>
                </a:solidFill>
                <a:latin typeface="Arial MT"/>
                <a:cs typeface="Arial MT"/>
              </a:rPr>
              <a:t>]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00">
              <a:latin typeface="Arial MT"/>
              <a:cs typeface="Arial MT"/>
            </a:endParaRPr>
          </a:p>
          <a:p>
            <a:pPr marL="102235" indent="-90170">
              <a:lnSpc>
                <a:spcPct val="100000"/>
              </a:lnSpc>
              <a:spcBef>
                <a:spcPts val="1390"/>
              </a:spcBef>
              <a:buSzPct val="95000"/>
              <a:buChar char="•"/>
              <a:tabLst>
                <a:tab pos="102870" algn="l"/>
              </a:tabLst>
            </a:pPr>
            <a:r>
              <a:rPr dirty="0" sz="2000">
                <a:latin typeface="Arial MT"/>
                <a:cs typeface="Arial MT"/>
              </a:rPr>
              <a:t>Multiplication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defined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over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GF(2^8)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Round</a:t>
            </a:r>
            <a:r>
              <a:rPr dirty="0" spc="-45"/>
              <a:t> </a:t>
            </a:r>
            <a:r>
              <a:rPr dirty="0"/>
              <a:t>Constant</a:t>
            </a:r>
            <a:r>
              <a:rPr dirty="0" spc="-45"/>
              <a:t> </a:t>
            </a:r>
            <a:r>
              <a:rPr dirty="0"/>
              <a:t>(RCon)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7650" y="755650"/>
          <a:ext cx="6115050" cy="4081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1480"/>
                <a:gridCol w="4415155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Constant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(RCON)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01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02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04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08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2800" spc="-1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090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7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40</a:t>
                      </a:r>
                      <a:r>
                        <a:rPr dirty="0" sz="2800" spc="-1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CAEBDE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195829" y="4914562"/>
            <a:ext cx="4378960" cy="1478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3185">
              <a:lnSpc>
                <a:spcPts val="3115"/>
              </a:lnSpc>
              <a:tabLst>
                <a:tab pos="2083435" algn="l"/>
              </a:tabLst>
            </a:pPr>
            <a:r>
              <a:rPr dirty="0" baseline="9259" sz="3600" spc="-7">
                <a:latin typeface="Arial MT"/>
                <a:cs typeface="Arial MT"/>
              </a:rPr>
              <a:t>8	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800" spc="-5" b="1">
                <a:latin typeface="Arial"/>
                <a:cs typeface="Arial"/>
              </a:rPr>
              <a:t>80</a:t>
            </a:r>
            <a:r>
              <a:rPr dirty="0" sz="2800" spc="-125" b="1">
                <a:latin typeface="Arial"/>
                <a:cs typeface="Arial"/>
              </a:rPr>
              <a:t> </a:t>
            </a:r>
            <a:r>
              <a:rPr dirty="0" sz="2400" spc="-5">
                <a:latin typeface="Arial MT"/>
                <a:cs typeface="Arial MT"/>
              </a:rPr>
              <a:t>00 00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00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baseline="-20833" sz="2400">
                <a:latin typeface="Arial MT"/>
                <a:cs typeface="Arial MT"/>
              </a:rPr>
              <a:t>16</a:t>
            </a:r>
            <a:endParaRPr baseline="-20833" sz="2400">
              <a:latin typeface="Arial MT"/>
              <a:cs typeface="Arial MT"/>
            </a:endParaRPr>
          </a:p>
          <a:p>
            <a:pPr marL="83185">
              <a:lnSpc>
                <a:spcPct val="100000"/>
              </a:lnSpc>
              <a:spcBef>
                <a:spcPts val="720"/>
              </a:spcBef>
              <a:tabLst>
                <a:tab pos="2054225" algn="l"/>
              </a:tabLst>
            </a:pPr>
            <a:r>
              <a:rPr dirty="0" baseline="9259" sz="3600" spc="-7">
                <a:latin typeface="Arial MT"/>
                <a:cs typeface="Arial MT"/>
              </a:rPr>
              <a:t>9	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Arial"/>
                <a:cs typeface="Arial"/>
              </a:rPr>
              <a:t>1B</a:t>
            </a:r>
            <a:r>
              <a:rPr dirty="0" sz="2800" spc="-1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00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00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Arial MT"/>
                <a:cs typeface="Arial MT"/>
              </a:rPr>
              <a:t>00</a:t>
            </a:r>
            <a:r>
              <a:rPr dirty="0" sz="24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)</a:t>
            </a:r>
            <a:r>
              <a:rPr dirty="0" baseline="-20833" sz="2400" spc="-7">
                <a:latin typeface="Arial MT"/>
                <a:cs typeface="Arial MT"/>
              </a:rPr>
              <a:t>16</a:t>
            </a:r>
            <a:endParaRPr baseline="-20833"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tabLst>
                <a:tab pos="2083435" algn="l"/>
              </a:tabLst>
            </a:pPr>
            <a:r>
              <a:rPr dirty="0" baseline="9259" sz="3600" spc="-7">
                <a:latin typeface="Arial MT"/>
                <a:cs typeface="Arial MT"/>
              </a:rPr>
              <a:t>10	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800" spc="-5" b="1">
                <a:solidFill>
                  <a:srgbClr val="3333CC"/>
                </a:solidFill>
                <a:latin typeface="Arial"/>
                <a:cs typeface="Arial"/>
              </a:rPr>
              <a:t>36</a:t>
            </a:r>
            <a:r>
              <a:rPr dirty="0" sz="2800" spc="-125" b="1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3333CC"/>
                </a:solidFill>
                <a:latin typeface="Arial MT"/>
                <a:cs typeface="Arial MT"/>
              </a:rPr>
              <a:t>00</a:t>
            </a:r>
            <a:r>
              <a:rPr dirty="0" sz="240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3333CC"/>
                </a:solidFill>
                <a:latin typeface="Arial MT"/>
                <a:cs typeface="Arial MT"/>
              </a:rPr>
              <a:t>00</a:t>
            </a:r>
            <a:r>
              <a:rPr dirty="0" sz="2400" spc="-1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3333CC"/>
                </a:solidFill>
                <a:latin typeface="Arial MT"/>
                <a:cs typeface="Arial MT"/>
              </a:rPr>
              <a:t>00</a:t>
            </a:r>
            <a:r>
              <a:rPr dirty="0" sz="2400" spc="-1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)</a:t>
            </a:r>
            <a:r>
              <a:rPr dirty="0" baseline="-20833" sz="2400" spc="-7">
                <a:latin typeface="Arial MT"/>
                <a:cs typeface="Arial MT"/>
              </a:rPr>
              <a:t>16</a:t>
            </a:r>
            <a:endParaRPr baseline="-20833"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837176"/>
            <a:ext cx="9144000" cy="1938655"/>
          </a:xfrm>
          <a:custGeom>
            <a:avLst/>
            <a:gdLst/>
            <a:ahLst/>
            <a:cxnLst/>
            <a:rect l="l" t="t" r="r" b="b"/>
            <a:pathLst>
              <a:path w="9144000" h="1938654">
                <a:moveTo>
                  <a:pt x="0" y="0"/>
                </a:moveTo>
                <a:lnTo>
                  <a:pt x="0" y="1938528"/>
                </a:lnTo>
                <a:lnTo>
                  <a:pt x="9143999" y="1938528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0" y="4837176"/>
          <a:ext cx="8954770" cy="1938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2020"/>
                <a:gridCol w="1360805"/>
                <a:gridCol w="494029"/>
                <a:gridCol w="1020445"/>
                <a:gridCol w="577850"/>
                <a:gridCol w="2086609"/>
                <a:gridCol w="1223645"/>
              </a:tblGrid>
              <a:tr h="358045">
                <a:tc gridSpan="2"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20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Bytes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32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Bits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00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000" spc="-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000" spc="-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0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000" spc="-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40005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</a:tr>
              <a:tr h="294566">
                <a:tc gridSpan="2">
                  <a:txBody>
                    <a:bodyPr/>
                    <a:lstStyle/>
                    <a:p>
                      <a:pPr marL="15240">
                        <a:lnSpc>
                          <a:spcPts val="2220"/>
                        </a:lnSpc>
                        <a:tabLst>
                          <a:tab pos="2649855" algn="l"/>
                        </a:tabLst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20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Hexa	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186690">
                        <a:lnSpc>
                          <a:spcPts val="2220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319405">
                        <a:lnSpc>
                          <a:spcPts val="2220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2220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</a:tr>
              <a:tr h="6196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200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RC1</a:t>
                      </a:r>
                      <a:r>
                        <a:rPr dirty="0" sz="2000" spc="-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(in</a:t>
                      </a:r>
                      <a:r>
                        <a:rPr dirty="0" sz="2000" spc="-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Hexa)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1905">
                    <a:solidFill>
                      <a:srgbClr val="3333C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023619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01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998219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1229995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584835">
                        <a:lnSpc>
                          <a:spcPct val="100000"/>
                        </a:lnSpc>
                      </a:pPr>
                      <a:r>
                        <a:rPr dirty="0" sz="2000" b="1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solidFill>
                      <a:srgbClr val="3333CC"/>
                    </a:solidFill>
                  </a:tcPr>
                </a:tc>
              </a:tr>
              <a:tr h="305122">
                <a:tc>
                  <a:txBody>
                    <a:bodyPr/>
                    <a:lstStyle/>
                    <a:p>
                      <a:pPr marL="15240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200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Binary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66420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000" spc="-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00000000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00000000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00000000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</a:tr>
              <a:tr h="361148">
                <a:tc>
                  <a:txBody>
                    <a:bodyPr/>
                    <a:lstStyle/>
                    <a:p>
                      <a:pPr marL="15240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200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Bytes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334645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8219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14984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1600">
                        <a:lnSpc>
                          <a:spcPts val="2295"/>
                        </a:lnSpc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3333CC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307207" y="1746123"/>
            <a:ext cx="988694" cy="3969385"/>
          </a:xfrm>
          <a:custGeom>
            <a:avLst/>
            <a:gdLst/>
            <a:ahLst/>
            <a:cxnLst/>
            <a:rect l="l" t="t" r="r" b="b"/>
            <a:pathLst>
              <a:path w="988695" h="3969385">
                <a:moveTo>
                  <a:pt x="0" y="3780028"/>
                </a:moveTo>
                <a:lnTo>
                  <a:pt x="45592" y="3968877"/>
                </a:lnTo>
                <a:lnTo>
                  <a:pt x="156805" y="3834256"/>
                </a:lnTo>
                <a:lnTo>
                  <a:pt x="106298" y="3834256"/>
                </a:lnTo>
                <a:lnTo>
                  <a:pt x="49910" y="3821303"/>
                </a:lnTo>
                <a:lnTo>
                  <a:pt x="56427" y="3793066"/>
                </a:lnTo>
                <a:lnTo>
                  <a:pt x="0" y="3780028"/>
                </a:lnTo>
                <a:close/>
              </a:path>
              <a:path w="988695" h="3969385">
                <a:moveTo>
                  <a:pt x="56427" y="3793066"/>
                </a:moveTo>
                <a:lnTo>
                  <a:pt x="49910" y="3821303"/>
                </a:lnTo>
                <a:lnTo>
                  <a:pt x="106298" y="3834256"/>
                </a:lnTo>
                <a:lnTo>
                  <a:pt x="112799" y="3806091"/>
                </a:lnTo>
                <a:lnTo>
                  <a:pt x="56427" y="3793066"/>
                </a:lnTo>
                <a:close/>
              </a:path>
              <a:path w="988695" h="3969385">
                <a:moveTo>
                  <a:pt x="112799" y="3806091"/>
                </a:moveTo>
                <a:lnTo>
                  <a:pt x="106298" y="3834256"/>
                </a:lnTo>
                <a:lnTo>
                  <a:pt x="156805" y="3834256"/>
                </a:lnTo>
                <a:lnTo>
                  <a:pt x="169290" y="3819143"/>
                </a:lnTo>
                <a:lnTo>
                  <a:pt x="112799" y="3806091"/>
                </a:lnTo>
                <a:close/>
              </a:path>
              <a:path w="988695" h="3969385">
                <a:moveTo>
                  <a:pt x="931798" y="0"/>
                </a:moveTo>
                <a:lnTo>
                  <a:pt x="56427" y="3793066"/>
                </a:lnTo>
                <a:lnTo>
                  <a:pt x="112799" y="3806091"/>
                </a:lnTo>
                <a:lnTo>
                  <a:pt x="988187" y="12953"/>
                </a:lnTo>
                <a:lnTo>
                  <a:pt x="9317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08575" y="373125"/>
            <a:ext cx="0" cy="5651500"/>
          </a:xfrm>
          <a:custGeom>
            <a:avLst/>
            <a:gdLst/>
            <a:ahLst/>
            <a:cxnLst/>
            <a:rect l="l" t="t" r="r" b="b"/>
            <a:pathLst>
              <a:path w="0" h="5651500">
                <a:moveTo>
                  <a:pt x="0" y="0"/>
                </a:moveTo>
                <a:lnTo>
                  <a:pt x="0" y="5651436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9600" y="373125"/>
          <a:ext cx="8352155" cy="600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2625"/>
                <a:gridCol w="3846829"/>
              </a:tblGrid>
              <a:tr h="457200">
                <a:tc rowSpan="1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598805" algn="l"/>
                          <a:tab pos="1191895" algn="l"/>
                          <a:tab pos="1868170" algn="l"/>
                        </a:tabLst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01	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	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	00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1243330" algn="l"/>
                          <a:tab pos="1834514" algn="l"/>
                          <a:tab pos="2342515" algn="l"/>
                        </a:tabLst>
                      </a:pP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240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*</a:t>
                      </a:r>
                      <a:r>
                        <a:rPr dirty="0" sz="240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(01	00	00	00)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1113790" algn="l"/>
                          <a:tab pos="2046605" algn="l"/>
                        </a:tabLst>
                      </a:pP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01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=	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	0001</a:t>
                      </a:r>
                      <a:r>
                        <a:rPr dirty="0" sz="24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000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2000" spc="-1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00" spc="-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Binary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548640" algn="l"/>
                          <a:tab pos="2411095" algn="l"/>
                          <a:tab pos="2917825" algn="l"/>
                        </a:tabLst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	=	10	X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185545">
                        <a:lnSpc>
                          <a:spcPct val="100000"/>
                        </a:lnSpc>
                      </a:pPr>
                      <a:r>
                        <a:rPr dirty="0" sz="24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00000000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1016635">
                        <a:lnSpc>
                          <a:spcPct val="10000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00000001x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--------------------------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848994">
                        <a:lnSpc>
                          <a:spcPct val="100000"/>
                        </a:lnSpc>
                        <a:tabLst>
                          <a:tab pos="2799080" algn="l"/>
                        </a:tabLst>
                      </a:pPr>
                      <a:r>
                        <a:rPr dirty="0" sz="2400" spc="-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2400" spc="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400" spc="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0010	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r>
                        <a:rPr dirty="0" sz="2400" spc="-60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91440" marR="789305">
                        <a:lnSpc>
                          <a:spcPct val="10000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9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bits can’t be in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byte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Left</a:t>
                      </a:r>
                      <a:r>
                        <a:rPr dirty="0" sz="2400" spc="-1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dirty="0" sz="2400" spc="-2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bit</a:t>
                      </a:r>
                      <a:r>
                        <a:rPr dirty="0" sz="2400">
                          <a:solidFill>
                            <a:srgbClr val="FFFF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24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0,</a:t>
                      </a:r>
                      <a:r>
                        <a:rPr dirty="0" sz="24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discard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it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765175">
                        <a:lnSpc>
                          <a:spcPct val="100000"/>
                        </a:lnSpc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240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r>
                        <a:rPr dirty="0" sz="24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0010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765175">
                        <a:lnSpc>
                          <a:spcPct val="100000"/>
                        </a:lnSpc>
                        <a:tabLst>
                          <a:tab pos="1362075" algn="l"/>
                          <a:tab pos="2122170" algn="l"/>
                        </a:tabLst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=	0	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Constant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(RCON)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</a:tr>
              <a:tr h="518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01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02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04</a:t>
                      </a:r>
                      <a:r>
                        <a:rPr dirty="0" sz="2800" spc="-1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08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2800" spc="-1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40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80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1B</a:t>
                      </a:r>
                      <a:r>
                        <a:rPr dirty="0" sz="2800" spc="-1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09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36</a:t>
                      </a:r>
                      <a:r>
                        <a:rPr dirty="0" sz="2800" spc="-12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36429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0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01040" y="2472867"/>
            <a:ext cx="2747645" cy="0"/>
          </a:xfrm>
          <a:custGeom>
            <a:avLst/>
            <a:gdLst/>
            <a:ahLst/>
            <a:cxnLst/>
            <a:rect l="l" t="t" r="r" b="b"/>
            <a:pathLst>
              <a:path w="2747645" h="0">
                <a:moveTo>
                  <a:pt x="0" y="0"/>
                </a:moveTo>
                <a:lnTo>
                  <a:pt x="2747162" y="0"/>
                </a:lnTo>
              </a:path>
            </a:pathLst>
          </a:custGeom>
          <a:ln w="26822">
            <a:solidFill>
              <a:srgbClr val="FEFEF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57373" y="425059"/>
            <a:ext cx="3018155" cy="755650"/>
          </a:xfrm>
          <a:custGeom>
            <a:avLst/>
            <a:gdLst/>
            <a:ahLst/>
            <a:cxnLst/>
            <a:rect l="l" t="t" r="r" b="b"/>
            <a:pathLst>
              <a:path w="3018154" h="755650">
                <a:moveTo>
                  <a:pt x="219720" y="113949"/>
                </a:moveTo>
                <a:lnTo>
                  <a:pt x="148208" y="138318"/>
                </a:lnTo>
                <a:lnTo>
                  <a:pt x="204711" y="188647"/>
                </a:lnTo>
                <a:lnTo>
                  <a:pt x="3002406" y="755278"/>
                </a:lnTo>
                <a:lnTo>
                  <a:pt x="3017647" y="680602"/>
                </a:lnTo>
                <a:lnTo>
                  <a:pt x="219720" y="113949"/>
                </a:lnTo>
                <a:close/>
              </a:path>
              <a:path w="3018154" h="755650">
                <a:moveTo>
                  <a:pt x="327300" y="0"/>
                </a:moveTo>
                <a:lnTo>
                  <a:pt x="312293" y="1914"/>
                </a:lnTo>
                <a:lnTo>
                  <a:pt x="0" y="108340"/>
                </a:lnTo>
                <a:lnTo>
                  <a:pt x="246252" y="327796"/>
                </a:lnTo>
                <a:lnTo>
                  <a:pt x="259345" y="335482"/>
                </a:lnTo>
                <a:lnTo>
                  <a:pt x="273843" y="337464"/>
                </a:lnTo>
                <a:lnTo>
                  <a:pt x="288008" y="333851"/>
                </a:lnTo>
                <a:lnTo>
                  <a:pt x="309673" y="297205"/>
                </a:lnTo>
                <a:lnTo>
                  <a:pt x="204711" y="188647"/>
                </a:lnTo>
                <a:lnTo>
                  <a:pt x="66547" y="160664"/>
                </a:lnTo>
                <a:lnTo>
                  <a:pt x="81660" y="85988"/>
                </a:lnTo>
                <a:lnTo>
                  <a:pt x="301771" y="85988"/>
                </a:lnTo>
                <a:lnTo>
                  <a:pt x="336803" y="74050"/>
                </a:lnTo>
                <a:lnTo>
                  <a:pt x="349892" y="66454"/>
                </a:lnTo>
                <a:lnTo>
                  <a:pt x="358743" y="54810"/>
                </a:lnTo>
                <a:lnTo>
                  <a:pt x="362592" y="40689"/>
                </a:lnTo>
                <a:lnTo>
                  <a:pt x="360679" y="25663"/>
                </a:lnTo>
                <a:lnTo>
                  <a:pt x="353030" y="12648"/>
                </a:lnTo>
                <a:lnTo>
                  <a:pt x="341391" y="3835"/>
                </a:lnTo>
                <a:lnTo>
                  <a:pt x="327300" y="0"/>
                </a:lnTo>
                <a:close/>
              </a:path>
              <a:path w="3018154" h="755650">
                <a:moveTo>
                  <a:pt x="81660" y="85988"/>
                </a:moveTo>
                <a:lnTo>
                  <a:pt x="66547" y="160664"/>
                </a:lnTo>
                <a:lnTo>
                  <a:pt x="204711" y="188647"/>
                </a:lnTo>
                <a:lnTo>
                  <a:pt x="171870" y="159394"/>
                </a:lnTo>
                <a:lnTo>
                  <a:pt x="86359" y="159394"/>
                </a:lnTo>
                <a:lnTo>
                  <a:pt x="99440" y="94878"/>
                </a:lnTo>
                <a:lnTo>
                  <a:pt x="125556" y="94878"/>
                </a:lnTo>
                <a:lnTo>
                  <a:pt x="81660" y="85988"/>
                </a:lnTo>
                <a:close/>
              </a:path>
              <a:path w="3018154" h="755650">
                <a:moveTo>
                  <a:pt x="99440" y="94878"/>
                </a:moveTo>
                <a:lnTo>
                  <a:pt x="86359" y="159394"/>
                </a:lnTo>
                <a:lnTo>
                  <a:pt x="148208" y="138318"/>
                </a:lnTo>
                <a:lnTo>
                  <a:pt x="99440" y="94878"/>
                </a:lnTo>
                <a:close/>
              </a:path>
              <a:path w="3018154" h="755650">
                <a:moveTo>
                  <a:pt x="148208" y="138318"/>
                </a:moveTo>
                <a:lnTo>
                  <a:pt x="86359" y="159394"/>
                </a:lnTo>
                <a:lnTo>
                  <a:pt x="171870" y="159394"/>
                </a:lnTo>
                <a:lnTo>
                  <a:pt x="148208" y="138318"/>
                </a:lnTo>
                <a:close/>
              </a:path>
              <a:path w="3018154" h="755650">
                <a:moveTo>
                  <a:pt x="125556" y="94878"/>
                </a:moveTo>
                <a:lnTo>
                  <a:pt x="99440" y="94878"/>
                </a:lnTo>
                <a:lnTo>
                  <a:pt x="148208" y="138318"/>
                </a:lnTo>
                <a:lnTo>
                  <a:pt x="219720" y="113949"/>
                </a:lnTo>
                <a:lnTo>
                  <a:pt x="125556" y="94878"/>
                </a:lnTo>
                <a:close/>
              </a:path>
              <a:path w="3018154" h="755650">
                <a:moveTo>
                  <a:pt x="301771" y="85988"/>
                </a:moveTo>
                <a:lnTo>
                  <a:pt x="81660" y="85988"/>
                </a:lnTo>
                <a:lnTo>
                  <a:pt x="219720" y="113949"/>
                </a:lnTo>
                <a:lnTo>
                  <a:pt x="301771" y="859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7874" y="1156969"/>
            <a:ext cx="365125" cy="407034"/>
          </a:xfrm>
          <a:custGeom>
            <a:avLst/>
            <a:gdLst/>
            <a:ahLst/>
            <a:cxnLst/>
            <a:rect l="l" t="t" r="r" b="b"/>
            <a:pathLst>
              <a:path w="365125" h="407034">
                <a:moveTo>
                  <a:pt x="55206" y="229869"/>
                </a:moveTo>
                <a:lnTo>
                  <a:pt x="0" y="406526"/>
                </a:lnTo>
                <a:lnTo>
                  <a:pt x="47882" y="390905"/>
                </a:lnTo>
                <a:lnTo>
                  <a:pt x="39382" y="390905"/>
                </a:lnTo>
                <a:lnTo>
                  <a:pt x="10934" y="365505"/>
                </a:lnTo>
                <a:lnTo>
                  <a:pt x="57826" y="312899"/>
                </a:lnTo>
                <a:lnTo>
                  <a:pt x="70091" y="252349"/>
                </a:lnTo>
                <a:lnTo>
                  <a:pt x="70077" y="244728"/>
                </a:lnTo>
                <a:lnTo>
                  <a:pt x="67302" y="238013"/>
                </a:lnTo>
                <a:lnTo>
                  <a:pt x="62177" y="232792"/>
                </a:lnTo>
                <a:lnTo>
                  <a:pt x="55206" y="229869"/>
                </a:lnTo>
                <a:close/>
              </a:path>
              <a:path w="365125" h="407034">
                <a:moveTo>
                  <a:pt x="57826" y="312899"/>
                </a:moveTo>
                <a:lnTo>
                  <a:pt x="10934" y="365505"/>
                </a:lnTo>
                <a:lnTo>
                  <a:pt x="39382" y="390905"/>
                </a:lnTo>
                <a:lnTo>
                  <a:pt x="47304" y="382015"/>
                </a:lnTo>
                <a:lnTo>
                  <a:pt x="43827" y="382015"/>
                </a:lnTo>
                <a:lnTo>
                  <a:pt x="19253" y="360171"/>
                </a:lnTo>
                <a:lnTo>
                  <a:pt x="50302" y="350050"/>
                </a:lnTo>
                <a:lnTo>
                  <a:pt x="57826" y="312899"/>
                </a:lnTo>
                <a:close/>
              </a:path>
              <a:path w="365125" h="407034">
                <a:moveTo>
                  <a:pt x="152594" y="318252"/>
                </a:moveTo>
                <a:lnTo>
                  <a:pt x="145084" y="319150"/>
                </a:lnTo>
                <a:lnTo>
                  <a:pt x="86220" y="338340"/>
                </a:lnTo>
                <a:lnTo>
                  <a:pt x="39382" y="390905"/>
                </a:lnTo>
                <a:lnTo>
                  <a:pt x="47882" y="390905"/>
                </a:lnTo>
                <a:lnTo>
                  <a:pt x="156883" y="355345"/>
                </a:lnTo>
                <a:lnTo>
                  <a:pt x="163465" y="351666"/>
                </a:lnTo>
                <a:lnTo>
                  <a:pt x="167957" y="345916"/>
                </a:lnTo>
                <a:lnTo>
                  <a:pt x="169963" y="338879"/>
                </a:lnTo>
                <a:lnTo>
                  <a:pt x="169087" y="331342"/>
                </a:lnTo>
                <a:lnTo>
                  <a:pt x="165371" y="324740"/>
                </a:lnTo>
                <a:lnTo>
                  <a:pt x="159615" y="320246"/>
                </a:lnTo>
                <a:lnTo>
                  <a:pt x="152594" y="318252"/>
                </a:lnTo>
                <a:close/>
              </a:path>
              <a:path w="365125" h="407034">
                <a:moveTo>
                  <a:pt x="50302" y="350050"/>
                </a:moveTo>
                <a:lnTo>
                  <a:pt x="19253" y="360171"/>
                </a:lnTo>
                <a:lnTo>
                  <a:pt x="43827" y="382015"/>
                </a:lnTo>
                <a:lnTo>
                  <a:pt x="50302" y="350050"/>
                </a:lnTo>
                <a:close/>
              </a:path>
              <a:path w="365125" h="407034">
                <a:moveTo>
                  <a:pt x="86220" y="338340"/>
                </a:moveTo>
                <a:lnTo>
                  <a:pt x="50302" y="350050"/>
                </a:lnTo>
                <a:lnTo>
                  <a:pt x="43827" y="382015"/>
                </a:lnTo>
                <a:lnTo>
                  <a:pt x="47304" y="382015"/>
                </a:lnTo>
                <a:lnTo>
                  <a:pt x="86220" y="338340"/>
                </a:lnTo>
                <a:close/>
              </a:path>
              <a:path w="365125" h="407034">
                <a:moveTo>
                  <a:pt x="336740" y="0"/>
                </a:moveTo>
                <a:lnTo>
                  <a:pt x="57826" y="312899"/>
                </a:lnTo>
                <a:lnTo>
                  <a:pt x="50302" y="350050"/>
                </a:lnTo>
                <a:lnTo>
                  <a:pt x="86220" y="338340"/>
                </a:lnTo>
                <a:lnTo>
                  <a:pt x="365061" y="25400"/>
                </a:lnTo>
                <a:lnTo>
                  <a:pt x="336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6423" y="978153"/>
            <a:ext cx="356870" cy="1106805"/>
          </a:xfrm>
          <a:custGeom>
            <a:avLst/>
            <a:gdLst/>
            <a:ahLst/>
            <a:cxnLst/>
            <a:rect l="l" t="t" r="r" b="b"/>
            <a:pathLst>
              <a:path w="356870" h="1106805">
                <a:moveTo>
                  <a:pt x="114084" y="1049401"/>
                </a:moveTo>
                <a:lnTo>
                  <a:pt x="106544" y="1050000"/>
                </a:lnTo>
                <a:lnTo>
                  <a:pt x="100055" y="1053338"/>
                </a:lnTo>
                <a:lnTo>
                  <a:pt x="95297" y="1058866"/>
                </a:lnTo>
                <a:lnTo>
                  <a:pt x="92951" y="1066038"/>
                </a:lnTo>
                <a:lnTo>
                  <a:pt x="93578" y="1073620"/>
                </a:lnTo>
                <a:lnTo>
                  <a:pt x="96931" y="1080119"/>
                </a:lnTo>
                <a:lnTo>
                  <a:pt x="102472" y="1084879"/>
                </a:lnTo>
                <a:lnTo>
                  <a:pt x="109664" y="1087247"/>
                </a:lnTo>
                <a:lnTo>
                  <a:pt x="273532" y="1106297"/>
                </a:lnTo>
                <a:lnTo>
                  <a:pt x="270163" y="1098296"/>
                </a:lnTo>
                <a:lnTo>
                  <a:pt x="231127" y="1098296"/>
                </a:lnTo>
                <a:lnTo>
                  <a:pt x="208838" y="1079754"/>
                </a:lnTo>
                <a:lnTo>
                  <a:pt x="185313" y="1057729"/>
                </a:lnTo>
                <a:lnTo>
                  <a:pt x="114084" y="1049401"/>
                </a:lnTo>
                <a:close/>
              </a:path>
              <a:path w="356870" h="1106805">
                <a:moveTo>
                  <a:pt x="185313" y="1057729"/>
                </a:moveTo>
                <a:lnTo>
                  <a:pt x="208838" y="1079754"/>
                </a:lnTo>
                <a:lnTo>
                  <a:pt x="231127" y="1098296"/>
                </a:lnTo>
                <a:lnTo>
                  <a:pt x="237134" y="1091057"/>
                </a:lnTo>
                <a:lnTo>
                  <a:pt x="225742" y="1091057"/>
                </a:lnTo>
                <a:lnTo>
                  <a:pt x="213090" y="1060976"/>
                </a:lnTo>
                <a:lnTo>
                  <a:pt x="185313" y="1057729"/>
                </a:lnTo>
                <a:close/>
              </a:path>
              <a:path w="356870" h="1106805">
                <a:moveTo>
                  <a:pt x="191993" y="942633"/>
                </a:moveTo>
                <a:lnTo>
                  <a:pt x="184581" y="944118"/>
                </a:lnTo>
                <a:lnTo>
                  <a:pt x="178325" y="948364"/>
                </a:lnTo>
                <a:lnTo>
                  <a:pt x="174328" y="954468"/>
                </a:lnTo>
                <a:lnTo>
                  <a:pt x="172914" y="961620"/>
                </a:lnTo>
                <a:lnTo>
                  <a:pt x="174409" y="969010"/>
                </a:lnTo>
                <a:lnTo>
                  <a:pt x="191261" y="1009076"/>
                </a:lnTo>
                <a:lnTo>
                  <a:pt x="211696" y="1030351"/>
                </a:lnTo>
                <a:lnTo>
                  <a:pt x="234822" y="1051941"/>
                </a:lnTo>
                <a:lnTo>
                  <a:pt x="255473" y="1068959"/>
                </a:lnTo>
                <a:lnTo>
                  <a:pt x="231127" y="1098296"/>
                </a:lnTo>
                <a:lnTo>
                  <a:pt x="270163" y="1098296"/>
                </a:lnTo>
                <a:lnTo>
                  <a:pt x="209524" y="954278"/>
                </a:lnTo>
                <a:lnTo>
                  <a:pt x="205270" y="948047"/>
                </a:lnTo>
                <a:lnTo>
                  <a:pt x="199158" y="944054"/>
                </a:lnTo>
                <a:lnTo>
                  <a:pt x="191993" y="942633"/>
                </a:lnTo>
                <a:close/>
              </a:path>
              <a:path w="356870" h="1106805">
                <a:moveTo>
                  <a:pt x="213090" y="1060976"/>
                </a:moveTo>
                <a:lnTo>
                  <a:pt x="225742" y="1091057"/>
                </a:lnTo>
                <a:lnTo>
                  <a:pt x="245516" y="1064768"/>
                </a:lnTo>
                <a:lnTo>
                  <a:pt x="213090" y="1060976"/>
                </a:lnTo>
                <a:close/>
              </a:path>
              <a:path w="356870" h="1106805">
                <a:moveTo>
                  <a:pt x="191261" y="1009076"/>
                </a:moveTo>
                <a:lnTo>
                  <a:pt x="213090" y="1060976"/>
                </a:lnTo>
                <a:lnTo>
                  <a:pt x="245516" y="1064768"/>
                </a:lnTo>
                <a:lnTo>
                  <a:pt x="225742" y="1091057"/>
                </a:lnTo>
                <a:lnTo>
                  <a:pt x="237134" y="1091057"/>
                </a:lnTo>
                <a:lnTo>
                  <a:pt x="255473" y="1068959"/>
                </a:lnTo>
                <a:lnTo>
                  <a:pt x="234822" y="1051941"/>
                </a:lnTo>
                <a:lnTo>
                  <a:pt x="211696" y="1030351"/>
                </a:lnTo>
                <a:lnTo>
                  <a:pt x="191261" y="1009076"/>
                </a:lnTo>
                <a:close/>
              </a:path>
              <a:path w="356870" h="1106805">
                <a:moveTo>
                  <a:pt x="335356" y="0"/>
                </a:moveTo>
                <a:lnTo>
                  <a:pt x="279539" y="39243"/>
                </a:lnTo>
                <a:lnTo>
                  <a:pt x="227761" y="83438"/>
                </a:lnTo>
                <a:lnTo>
                  <a:pt x="180886" y="131825"/>
                </a:lnTo>
                <a:lnTo>
                  <a:pt x="139153" y="183769"/>
                </a:lnTo>
                <a:lnTo>
                  <a:pt x="102666" y="238887"/>
                </a:lnTo>
                <a:lnTo>
                  <a:pt x="71424" y="296672"/>
                </a:lnTo>
                <a:lnTo>
                  <a:pt x="45669" y="356743"/>
                </a:lnTo>
                <a:lnTo>
                  <a:pt x="25577" y="418465"/>
                </a:lnTo>
                <a:lnTo>
                  <a:pt x="11137" y="481711"/>
                </a:lnTo>
                <a:lnTo>
                  <a:pt x="2578" y="545592"/>
                </a:lnTo>
                <a:lnTo>
                  <a:pt x="0" y="609981"/>
                </a:lnTo>
                <a:lnTo>
                  <a:pt x="952" y="642112"/>
                </a:lnTo>
                <a:lnTo>
                  <a:pt x="7581" y="706247"/>
                </a:lnTo>
                <a:lnTo>
                  <a:pt x="20586" y="769620"/>
                </a:lnTo>
                <a:lnTo>
                  <a:pt x="39979" y="831850"/>
                </a:lnTo>
                <a:lnTo>
                  <a:pt x="65951" y="892301"/>
                </a:lnTo>
                <a:lnTo>
                  <a:pt x="98996" y="951103"/>
                </a:lnTo>
                <a:lnTo>
                  <a:pt x="138772" y="1006475"/>
                </a:lnTo>
                <a:lnTo>
                  <a:pt x="184149" y="1056640"/>
                </a:lnTo>
                <a:lnTo>
                  <a:pt x="213090" y="1060976"/>
                </a:lnTo>
                <a:lnTo>
                  <a:pt x="191261" y="1009076"/>
                </a:lnTo>
                <a:lnTo>
                  <a:pt x="189738" y="1007491"/>
                </a:lnTo>
                <a:lnTo>
                  <a:pt x="169062" y="983234"/>
                </a:lnTo>
                <a:lnTo>
                  <a:pt x="131686" y="931545"/>
                </a:lnTo>
                <a:lnTo>
                  <a:pt x="100533" y="876300"/>
                </a:lnTo>
                <a:lnTo>
                  <a:pt x="76022" y="819531"/>
                </a:lnTo>
                <a:lnTo>
                  <a:pt x="57696" y="760984"/>
                </a:lnTo>
                <a:lnTo>
                  <a:pt x="45364" y="701421"/>
                </a:lnTo>
                <a:lnTo>
                  <a:pt x="39039" y="640969"/>
                </a:lnTo>
                <a:lnTo>
                  <a:pt x="38087" y="610488"/>
                </a:lnTo>
                <a:lnTo>
                  <a:pt x="38531" y="580136"/>
                </a:lnTo>
                <a:lnTo>
                  <a:pt x="43764" y="519430"/>
                </a:lnTo>
                <a:lnTo>
                  <a:pt x="54559" y="459232"/>
                </a:lnTo>
                <a:lnTo>
                  <a:pt x="70954" y="399923"/>
                </a:lnTo>
                <a:lnTo>
                  <a:pt x="92582" y="342138"/>
                </a:lnTo>
                <a:lnTo>
                  <a:pt x="119519" y="286258"/>
                </a:lnTo>
                <a:lnTo>
                  <a:pt x="151587" y="232791"/>
                </a:lnTo>
                <a:lnTo>
                  <a:pt x="188480" y="181863"/>
                </a:lnTo>
                <a:lnTo>
                  <a:pt x="230454" y="134238"/>
                </a:lnTo>
                <a:lnTo>
                  <a:pt x="277075" y="90297"/>
                </a:lnTo>
                <a:lnTo>
                  <a:pt x="328421" y="50419"/>
                </a:lnTo>
                <a:lnTo>
                  <a:pt x="356527" y="31623"/>
                </a:lnTo>
                <a:lnTo>
                  <a:pt x="3353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321" y="1752599"/>
            <a:ext cx="6068060" cy="4288155"/>
          </a:xfrm>
          <a:custGeom>
            <a:avLst/>
            <a:gdLst/>
            <a:ahLst/>
            <a:cxnLst/>
            <a:rect l="l" t="t" r="r" b="b"/>
            <a:pathLst>
              <a:path w="6068060" h="4288155">
                <a:moveTo>
                  <a:pt x="1180490" y="2245995"/>
                </a:moveTo>
                <a:lnTo>
                  <a:pt x="1149019" y="2237867"/>
                </a:lnTo>
                <a:lnTo>
                  <a:pt x="1020737" y="2204720"/>
                </a:lnTo>
                <a:lnTo>
                  <a:pt x="1013180" y="2204364"/>
                </a:lnTo>
                <a:lnTo>
                  <a:pt x="1006297" y="2206815"/>
                </a:lnTo>
                <a:lnTo>
                  <a:pt x="1000836" y="2211654"/>
                </a:lnTo>
                <a:lnTo>
                  <a:pt x="997534" y="2218436"/>
                </a:lnTo>
                <a:lnTo>
                  <a:pt x="997127" y="2225979"/>
                </a:lnTo>
                <a:lnTo>
                  <a:pt x="999566" y="2232876"/>
                </a:lnTo>
                <a:lnTo>
                  <a:pt x="1004404" y="2238349"/>
                </a:lnTo>
                <a:lnTo>
                  <a:pt x="1011212" y="2241677"/>
                </a:lnTo>
                <a:lnTo>
                  <a:pt x="1072172" y="2257399"/>
                </a:lnTo>
                <a:lnTo>
                  <a:pt x="1020127" y="2273300"/>
                </a:lnTo>
                <a:lnTo>
                  <a:pt x="944727" y="2298192"/>
                </a:lnTo>
                <a:lnTo>
                  <a:pt x="870788" y="2324227"/>
                </a:lnTo>
                <a:lnTo>
                  <a:pt x="798664" y="2351405"/>
                </a:lnTo>
                <a:lnTo>
                  <a:pt x="728713" y="2379472"/>
                </a:lnTo>
                <a:lnTo>
                  <a:pt x="660552" y="2408682"/>
                </a:lnTo>
                <a:lnTo>
                  <a:pt x="594741" y="2438527"/>
                </a:lnTo>
                <a:lnTo>
                  <a:pt x="531482" y="2469388"/>
                </a:lnTo>
                <a:lnTo>
                  <a:pt x="470789" y="2500884"/>
                </a:lnTo>
                <a:lnTo>
                  <a:pt x="412877" y="2533015"/>
                </a:lnTo>
                <a:lnTo>
                  <a:pt x="357949" y="2565781"/>
                </a:lnTo>
                <a:lnTo>
                  <a:pt x="306247" y="2598801"/>
                </a:lnTo>
                <a:lnTo>
                  <a:pt x="257822" y="2632583"/>
                </a:lnTo>
                <a:lnTo>
                  <a:pt x="212890" y="2666492"/>
                </a:lnTo>
                <a:lnTo>
                  <a:pt x="171551" y="2700528"/>
                </a:lnTo>
                <a:lnTo>
                  <a:pt x="140081" y="2729357"/>
                </a:lnTo>
                <a:lnTo>
                  <a:pt x="111798" y="2757678"/>
                </a:lnTo>
                <a:lnTo>
                  <a:pt x="75298" y="2799461"/>
                </a:lnTo>
                <a:lnTo>
                  <a:pt x="46075" y="2840355"/>
                </a:lnTo>
                <a:lnTo>
                  <a:pt x="23876" y="2880487"/>
                </a:lnTo>
                <a:lnTo>
                  <a:pt x="8801" y="2919603"/>
                </a:lnTo>
                <a:lnTo>
                  <a:pt x="1066" y="2957957"/>
                </a:lnTo>
                <a:lnTo>
                  <a:pt x="0" y="2982849"/>
                </a:lnTo>
                <a:lnTo>
                  <a:pt x="774" y="2994914"/>
                </a:lnTo>
                <a:lnTo>
                  <a:pt x="12039" y="3041523"/>
                </a:lnTo>
                <a:lnTo>
                  <a:pt x="36131" y="3083687"/>
                </a:lnTo>
                <a:lnTo>
                  <a:pt x="61899" y="3112008"/>
                </a:lnTo>
                <a:lnTo>
                  <a:pt x="94005" y="3137662"/>
                </a:lnTo>
                <a:lnTo>
                  <a:pt x="132041" y="3160268"/>
                </a:lnTo>
                <a:lnTo>
                  <a:pt x="175996" y="3180207"/>
                </a:lnTo>
                <a:lnTo>
                  <a:pt x="225552" y="3197225"/>
                </a:lnTo>
                <a:lnTo>
                  <a:pt x="281101" y="3211703"/>
                </a:lnTo>
                <a:lnTo>
                  <a:pt x="321068" y="3219704"/>
                </a:lnTo>
                <a:lnTo>
                  <a:pt x="363537" y="3226308"/>
                </a:lnTo>
                <a:lnTo>
                  <a:pt x="408508" y="3231769"/>
                </a:lnTo>
                <a:lnTo>
                  <a:pt x="455980" y="3235833"/>
                </a:lnTo>
                <a:lnTo>
                  <a:pt x="505841" y="3238627"/>
                </a:lnTo>
                <a:lnTo>
                  <a:pt x="557974" y="3239897"/>
                </a:lnTo>
                <a:lnTo>
                  <a:pt x="584936" y="3240024"/>
                </a:lnTo>
                <a:lnTo>
                  <a:pt x="640689" y="3239262"/>
                </a:lnTo>
                <a:lnTo>
                  <a:pt x="669163" y="3238246"/>
                </a:lnTo>
                <a:lnTo>
                  <a:pt x="667943" y="3201924"/>
                </a:lnTo>
                <a:lnTo>
                  <a:pt x="667893" y="3200273"/>
                </a:lnTo>
                <a:lnTo>
                  <a:pt x="611746" y="3201797"/>
                </a:lnTo>
                <a:lnTo>
                  <a:pt x="584669" y="3201924"/>
                </a:lnTo>
                <a:lnTo>
                  <a:pt x="558101" y="3201797"/>
                </a:lnTo>
                <a:lnTo>
                  <a:pt x="506984" y="3200527"/>
                </a:lnTo>
                <a:lnTo>
                  <a:pt x="458355" y="3197733"/>
                </a:lnTo>
                <a:lnTo>
                  <a:pt x="412102" y="3193796"/>
                </a:lnTo>
                <a:lnTo>
                  <a:pt x="368490" y="3188589"/>
                </a:lnTo>
                <a:lnTo>
                  <a:pt x="327329" y="3182112"/>
                </a:lnTo>
                <a:lnTo>
                  <a:pt x="288810" y="3174365"/>
                </a:lnTo>
                <a:lnTo>
                  <a:pt x="236156" y="3160649"/>
                </a:lnTo>
                <a:lnTo>
                  <a:pt x="189496" y="3144520"/>
                </a:lnTo>
                <a:lnTo>
                  <a:pt x="149072" y="3126232"/>
                </a:lnTo>
                <a:lnTo>
                  <a:pt x="114896" y="3105785"/>
                </a:lnTo>
                <a:lnTo>
                  <a:pt x="79286" y="3075813"/>
                </a:lnTo>
                <a:lnTo>
                  <a:pt x="55067" y="3043428"/>
                </a:lnTo>
                <a:lnTo>
                  <a:pt x="39687" y="2999359"/>
                </a:lnTo>
                <a:lnTo>
                  <a:pt x="38023" y="2980563"/>
                </a:lnTo>
                <a:lnTo>
                  <a:pt x="38252" y="2971038"/>
                </a:lnTo>
                <a:lnTo>
                  <a:pt x="45618" y="2929509"/>
                </a:lnTo>
                <a:lnTo>
                  <a:pt x="64554" y="2884170"/>
                </a:lnTo>
                <a:lnTo>
                  <a:pt x="86779" y="2847975"/>
                </a:lnTo>
                <a:lnTo>
                  <a:pt x="116179" y="2809875"/>
                </a:lnTo>
                <a:lnTo>
                  <a:pt x="152831" y="2770124"/>
                </a:lnTo>
                <a:lnTo>
                  <a:pt x="181444" y="2742819"/>
                </a:lnTo>
                <a:lnTo>
                  <a:pt x="216357" y="2712593"/>
                </a:lnTo>
                <a:lnTo>
                  <a:pt x="258216" y="2679573"/>
                </a:lnTo>
                <a:lnTo>
                  <a:pt x="303618" y="2646680"/>
                </a:lnTo>
                <a:lnTo>
                  <a:pt x="352501" y="2614168"/>
                </a:lnTo>
                <a:lnTo>
                  <a:pt x="404850" y="2581910"/>
                </a:lnTo>
                <a:lnTo>
                  <a:pt x="460235" y="2550033"/>
                </a:lnTo>
                <a:lnTo>
                  <a:pt x="518553" y="2518664"/>
                </a:lnTo>
                <a:lnTo>
                  <a:pt x="579691" y="2488057"/>
                </a:lnTo>
                <a:lnTo>
                  <a:pt x="643369" y="2458085"/>
                </a:lnTo>
                <a:lnTo>
                  <a:pt x="709498" y="2428748"/>
                </a:lnTo>
                <a:lnTo>
                  <a:pt x="812888" y="2386711"/>
                </a:lnTo>
                <a:lnTo>
                  <a:pt x="884224" y="2359787"/>
                </a:lnTo>
                <a:lnTo>
                  <a:pt x="957351" y="2334133"/>
                </a:lnTo>
                <a:lnTo>
                  <a:pt x="1032065" y="2309495"/>
                </a:lnTo>
                <a:lnTo>
                  <a:pt x="1080643" y="2294661"/>
                </a:lnTo>
                <a:lnTo>
                  <a:pt x="1038542" y="2338324"/>
                </a:lnTo>
                <a:lnTo>
                  <a:pt x="1034465" y="2344661"/>
                </a:lnTo>
                <a:lnTo>
                  <a:pt x="1052601" y="2370569"/>
                </a:lnTo>
                <a:lnTo>
                  <a:pt x="1059738" y="2369058"/>
                </a:lnTo>
                <a:lnTo>
                  <a:pt x="1065974" y="2364740"/>
                </a:lnTo>
                <a:lnTo>
                  <a:pt x="1180490" y="2245995"/>
                </a:lnTo>
                <a:close/>
              </a:path>
              <a:path w="6068060" h="4288155">
                <a:moveTo>
                  <a:pt x="6067679" y="0"/>
                </a:moveTo>
                <a:lnTo>
                  <a:pt x="5840349" y="116840"/>
                </a:lnTo>
                <a:lnTo>
                  <a:pt x="5901893" y="161950"/>
                </a:lnTo>
                <a:lnTo>
                  <a:pt x="2912745" y="4243095"/>
                </a:lnTo>
                <a:lnTo>
                  <a:pt x="2974213" y="4288129"/>
                </a:lnTo>
                <a:lnTo>
                  <a:pt x="5963323" y="206959"/>
                </a:lnTo>
                <a:lnTo>
                  <a:pt x="6024753" y="251968"/>
                </a:lnTo>
                <a:lnTo>
                  <a:pt x="6045327" y="131191"/>
                </a:lnTo>
                <a:lnTo>
                  <a:pt x="60676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Round</a:t>
            </a:r>
            <a:r>
              <a:rPr dirty="0" spc="-45"/>
              <a:t> </a:t>
            </a:r>
            <a:r>
              <a:rPr dirty="0"/>
              <a:t>Constant</a:t>
            </a:r>
            <a:r>
              <a:rPr dirty="0" spc="-45"/>
              <a:t> </a:t>
            </a:r>
            <a:r>
              <a:rPr dirty="0"/>
              <a:t>(RCon)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7650" y="755650"/>
          <a:ext cx="6115050" cy="565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1480"/>
                <a:gridCol w="4415155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4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Constant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(RCON)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1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01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2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02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04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08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5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2800" spc="-1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6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7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40</a:t>
                      </a:r>
                      <a:r>
                        <a:rPr dirty="0" sz="2800" spc="-1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8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80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9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1B</a:t>
                      </a:r>
                      <a:r>
                        <a:rPr dirty="0" sz="2800" spc="-1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2400" spc="-10">
                          <a:latin typeface="Arial MT"/>
                          <a:cs typeface="Arial MT"/>
                        </a:rPr>
                        <a:t>10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36</a:t>
                      </a:r>
                      <a:r>
                        <a:rPr dirty="0" sz="2800" spc="-12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099050" y="373125"/>
          <a:ext cx="3862704" cy="565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3654"/>
              </a:tblGrid>
              <a:tr h="45720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Constant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(RCON)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01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02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04</a:t>
                      </a:r>
                      <a:r>
                        <a:rPr dirty="0" sz="2800" spc="-1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08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2800" spc="-1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40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80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1B</a:t>
                      </a:r>
                      <a:r>
                        <a:rPr dirty="0" sz="2800" spc="-1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096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36</a:t>
                      </a:r>
                      <a:r>
                        <a:rPr dirty="0" sz="2800" spc="-12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5105400" y="373125"/>
            <a:ext cx="0" cy="5651500"/>
          </a:xfrm>
          <a:custGeom>
            <a:avLst/>
            <a:gdLst/>
            <a:ahLst/>
            <a:cxnLst/>
            <a:rect l="l" t="t" r="r" b="b"/>
            <a:pathLst>
              <a:path w="0" h="5651500">
                <a:moveTo>
                  <a:pt x="0" y="0"/>
                </a:moveTo>
                <a:lnTo>
                  <a:pt x="0" y="565143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4800" y="379475"/>
            <a:ext cx="4495800" cy="5262880"/>
          </a:xfrm>
          <a:custGeom>
            <a:avLst/>
            <a:gdLst/>
            <a:ahLst/>
            <a:cxnLst/>
            <a:rect l="l" t="t" r="r" b="b"/>
            <a:pathLst>
              <a:path w="4495800" h="5262880">
                <a:moveTo>
                  <a:pt x="4495800" y="0"/>
                </a:moveTo>
                <a:lnTo>
                  <a:pt x="0" y="0"/>
                </a:lnTo>
                <a:lnTo>
                  <a:pt x="0" y="5262372"/>
                </a:lnTo>
                <a:lnTo>
                  <a:pt x="4495800" y="5262372"/>
                </a:lnTo>
                <a:lnTo>
                  <a:pt x="4495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3540" y="404571"/>
            <a:ext cx="214249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3155" algn="l"/>
                <a:tab pos="1789430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08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*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(08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5684" y="770890"/>
            <a:ext cx="1564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3885" algn="l"/>
                <a:tab pos="1111250" algn="l"/>
              </a:tabLst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1136650"/>
            <a:ext cx="1677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2*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80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10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1867865"/>
            <a:ext cx="6610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1502409"/>
            <a:ext cx="305689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  <a:tab pos="1967864" algn="l"/>
              </a:tabLst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08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=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0000	1000</a:t>
            </a:r>
            <a:endParaRPr sz="24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tabLst>
                <a:tab pos="507365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10	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6240" y="2472867"/>
            <a:ext cx="2747645" cy="0"/>
          </a:xfrm>
          <a:custGeom>
            <a:avLst/>
            <a:gdLst/>
            <a:ahLst/>
            <a:cxnLst/>
            <a:rect l="l" t="t" r="r" b="b"/>
            <a:pathLst>
              <a:path w="2747645" h="0">
                <a:moveTo>
                  <a:pt x="0" y="0"/>
                </a:moveTo>
                <a:lnTo>
                  <a:pt x="2747162" y="0"/>
                </a:lnTo>
              </a:path>
            </a:pathLst>
          </a:custGeom>
          <a:ln w="26822">
            <a:solidFill>
              <a:srgbClr val="FEFEFE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83540" y="2600071"/>
            <a:ext cx="3291204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82232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00000000</a:t>
            </a:r>
            <a:endParaRPr sz="2400">
              <a:latin typeface="Arial MT"/>
              <a:cs typeface="Arial MT"/>
            </a:endParaRPr>
          </a:p>
          <a:p>
            <a:pPr algn="r" marR="83185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0001000x</a:t>
            </a:r>
            <a:endParaRPr sz="2400">
              <a:latin typeface="Arial MT"/>
              <a:cs typeface="Arial MT"/>
            </a:endParaRPr>
          </a:p>
          <a:p>
            <a:pPr algn="ctr" marR="610235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--------------------------</a:t>
            </a:r>
            <a:endParaRPr sz="2400">
              <a:latin typeface="Arial MT"/>
              <a:cs typeface="Arial MT"/>
            </a:endParaRPr>
          </a:p>
          <a:p>
            <a:pPr algn="ctr" marL="842644">
              <a:lnSpc>
                <a:spcPct val="100000"/>
              </a:lnSpc>
            </a:pPr>
            <a:r>
              <a:rPr dirty="0" sz="2400" spc="-5">
                <a:solidFill>
                  <a:srgbClr val="FFFF00"/>
                </a:solidFill>
                <a:latin typeface="Arial MT"/>
                <a:cs typeface="Arial MT"/>
              </a:rPr>
              <a:t>0</a:t>
            </a:r>
            <a:r>
              <a:rPr dirty="0" sz="2400" spc="-35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00010000</a:t>
            </a:r>
            <a:r>
              <a:rPr dirty="0" sz="24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  <a:p>
            <a:pPr algn="ctr" marR="14097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bits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can’t be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byte</a:t>
            </a:r>
            <a:endParaRPr sz="2400">
              <a:latin typeface="Arial MT"/>
              <a:cs typeface="Arial MT"/>
            </a:endParaRPr>
          </a:p>
          <a:p>
            <a:pPr algn="ctr" marR="207645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0001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0000</a:t>
            </a:r>
            <a:endParaRPr sz="2400">
              <a:latin typeface="Arial MT"/>
              <a:cs typeface="Arial MT"/>
            </a:endParaRPr>
          </a:p>
          <a:p>
            <a:pPr algn="ctr" marR="13462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24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0001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0000</a:t>
            </a:r>
            <a:endParaRPr sz="2400">
              <a:latin typeface="Arial MT"/>
              <a:cs typeface="Arial MT"/>
            </a:endParaRPr>
          </a:p>
          <a:p>
            <a:pPr algn="ctr" marR="141605">
              <a:lnSpc>
                <a:spcPct val="100000"/>
              </a:lnSpc>
              <a:tabLst>
                <a:tab pos="766445" algn="l"/>
                <a:tab pos="1525270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1	0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25520" y="3276600"/>
            <a:ext cx="2846705" cy="2083435"/>
            <a:chOff x="3025520" y="3276600"/>
            <a:chExt cx="2846705" cy="2083435"/>
          </a:xfrm>
        </p:grpSpPr>
        <p:sp>
          <p:nvSpPr>
            <p:cNvPr id="13" name="object 13"/>
            <p:cNvSpPr/>
            <p:nvPr/>
          </p:nvSpPr>
          <p:spPr>
            <a:xfrm>
              <a:off x="5334000" y="4796027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400050" y="0"/>
                  </a:moveTo>
                  <a:lnTo>
                    <a:pt x="133350" y="0"/>
                  </a:lnTo>
                  <a:lnTo>
                    <a:pt x="133350" y="266700"/>
                  </a:lnTo>
                  <a:lnTo>
                    <a:pt x="0" y="266700"/>
                  </a:lnTo>
                  <a:lnTo>
                    <a:pt x="266700" y="533400"/>
                  </a:lnTo>
                  <a:lnTo>
                    <a:pt x="533400" y="266700"/>
                  </a:lnTo>
                  <a:lnTo>
                    <a:pt x="400050" y="26670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334000" y="4796027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133350" y="266700"/>
                  </a:lnTo>
                  <a:lnTo>
                    <a:pt x="133350" y="0"/>
                  </a:lnTo>
                  <a:lnTo>
                    <a:pt x="400050" y="0"/>
                  </a:lnTo>
                  <a:lnTo>
                    <a:pt x="400050" y="266700"/>
                  </a:lnTo>
                  <a:lnTo>
                    <a:pt x="533400" y="266700"/>
                  </a:lnTo>
                  <a:lnTo>
                    <a:pt x="266700" y="5334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25520" y="3276600"/>
              <a:ext cx="2842260" cy="2083435"/>
            </a:xfrm>
            <a:custGeom>
              <a:avLst/>
              <a:gdLst/>
              <a:ahLst/>
              <a:cxnLst/>
              <a:rect l="l" t="t" r="r" b="b"/>
              <a:pathLst>
                <a:path w="2842260" h="2083435">
                  <a:moveTo>
                    <a:pt x="2634637" y="103731"/>
                  </a:moveTo>
                  <a:lnTo>
                    <a:pt x="0" y="2021839"/>
                  </a:lnTo>
                  <a:lnTo>
                    <a:pt x="44958" y="2083435"/>
                  </a:lnTo>
                  <a:lnTo>
                    <a:pt x="2679496" y="165307"/>
                  </a:lnTo>
                  <a:lnTo>
                    <a:pt x="2634637" y="103731"/>
                  </a:lnTo>
                  <a:close/>
                </a:path>
                <a:path w="2842260" h="2083435">
                  <a:moveTo>
                    <a:pt x="2799806" y="81279"/>
                  </a:moveTo>
                  <a:lnTo>
                    <a:pt x="2665476" y="81279"/>
                  </a:lnTo>
                  <a:lnTo>
                    <a:pt x="2710307" y="142875"/>
                  </a:lnTo>
                  <a:lnTo>
                    <a:pt x="2679496" y="165307"/>
                  </a:lnTo>
                  <a:lnTo>
                    <a:pt x="2724404" y="226949"/>
                  </a:lnTo>
                  <a:lnTo>
                    <a:pt x="2799806" y="81279"/>
                  </a:lnTo>
                  <a:close/>
                </a:path>
                <a:path w="2842260" h="2083435">
                  <a:moveTo>
                    <a:pt x="2665476" y="81279"/>
                  </a:moveTo>
                  <a:lnTo>
                    <a:pt x="2634637" y="103731"/>
                  </a:lnTo>
                  <a:lnTo>
                    <a:pt x="2679496" y="165307"/>
                  </a:lnTo>
                  <a:lnTo>
                    <a:pt x="2710307" y="142875"/>
                  </a:lnTo>
                  <a:lnTo>
                    <a:pt x="2665476" y="81279"/>
                  </a:lnTo>
                  <a:close/>
                </a:path>
                <a:path w="2842260" h="2083435">
                  <a:moveTo>
                    <a:pt x="2841879" y="0"/>
                  </a:moveTo>
                  <a:lnTo>
                    <a:pt x="2589784" y="42163"/>
                  </a:lnTo>
                  <a:lnTo>
                    <a:pt x="2634637" y="103731"/>
                  </a:lnTo>
                  <a:lnTo>
                    <a:pt x="2665476" y="81279"/>
                  </a:lnTo>
                  <a:lnTo>
                    <a:pt x="2799806" y="81279"/>
                  </a:lnTo>
                  <a:lnTo>
                    <a:pt x="284187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2667000" y="533400"/>
            <a:ext cx="3221990" cy="2241550"/>
          </a:xfrm>
          <a:custGeom>
            <a:avLst/>
            <a:gdLst/>
            <a:ahLst/>
            <a:cxnLst/>
            <a:rect l="l" t="t" r="r" b="b"/>
            <a:pathLst>
              <a:path w="3221990" h="2241550">
                <a:moveTo>
                  <a:pt x="209810" y="98500"/>
                </a:moveTo>
                <a:lnTo>
                  <a:pt x="166484" y="161223"/>
                </a:lnTo>
                <a:lnTo>
                  <a:pt x="3178810" y="2241169"/>
                </a:lnTo>
                <a:lnTo>
                  <a:pt x="3221990" y="2178430"/>
                </a:lnTo>
                <a:lnTo>
                  <a:pt x="209810" y="98500"/>
                </a:lnTo>
                <a:close/>
              </a:path>
              <a:path w="3221990" h="2241550">
                <a:moveTo>
                  <a:pt x="0" y="0"/>
                </a:moveTo>
                <a:lnTo>
                  <a:pt x="123189" y="223900"/>
                </a:lnTo>
                <a:lnTo>
                  <a:pt x="166484" y="161223"/>
                </a:lnTo>
                <a:lnTo>
                  <a:pt x="135127" y="139573"/>
                </a:lnTo>
                <a:lnTo>
                  <a:pt x="178435" y="76835"/>
                </a:lnTo>
                <a:lnTo>
                  <a:pt x="224775" y="76835"/>
                </a:lnTo>
                <a:lnTo>
                  <a:pt x="253111" y="35813"/>
                </a:lnTo>
                <a:lnTo>
                  <a:pt x="0" y="0"/>
                </a:lnTo>
                <a:close/>
              </a:path>
              <a:path w="3221990" h="2241550">
                <a:moveTo>
                  <a:pt x="178435" y="76835"/>
                </a:moveTo>
                <a:lnTo>
                  <a:pt x="135127" y="139573"/>
                </a:lnTo>
                <a:lnTo>
                  <a:pt x="166484" y="161223"/>
                </a:lnTo>
                <a:lnTo>
                  <a:pt x="209810" y="98500"/>
                </a:lnTo>
                <a:lnTo>
                  <a:pt x="178435" y="76835"/>
                </a:lnTo>
                <a:close/>
              </a:path>
              <a:path w="3221990" h="2241550">
                <a:moveTo>
                  <a:pt x="224775" y="76835"/>
                </a:moveTo>
                <a:lnTo>
                  <a:pt x="178435" y="76835"/>
                </a:lnTo>
                <a:lnTo>
                  <a:pt x="209810" y="98500"/>
                </a:lnTo>
                <a:lnTo>
                  <a:pt x="224775" y="768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099050" y="373125"/>
          <a:ext cx="3862704" cy="565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3654"/>
              </a:tblGrid>
              <a:tr h="45720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Round</a:t>
                      </a:r>
                      <a:r>
                        <a:rPr dirty="0" sz="24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Constant</a:t>
                      </a:r>
                      <a:r>
                        <a:rPr dirty="0" sz="24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(RCON)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01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02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04</a:t>
                      </a:r>
                      <a:r>
                        <a:rPr dirty="0" sz="2800" spc="-1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08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sz="2800" spc="-1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20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40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latin typeface="Arial"/>
                          <a:cs typeface="Arial"/>
                        </a:rPr>
                        <a:t>80</a:t>
                      </a:r>
                      <a:r>
                        <a:rPr dirty="0" sz="28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1B</a:t>
                      </a:r>
                      <a:r>
                        <a:rPr dirty="0" sz="2800" spc="-1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746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BDE"/>
                    </a:solidFill>
                  </a:tcPr>
                </a:tc>
              </a:tr>
              <a:tr h="518096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400"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24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36</a:t>
                      </a:r>
                      <a:r>
                        <a:rPr dirty="0" sz="2800" spc="-125" b="1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</a:t>
                      </a:r>
                      <a:r>
                        <a:rPr dirty="0" sz="240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00 00</a:t>
                      </a:r>
                      <a:r>
                        <a:rPr dirty="0" sz="2400" spc="-10">
                          <a:solidFill>
                            <a:srgbClr val="3333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00" spc="-5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baseline="-20833" sz="2400" spc="-7">
                          <a:latin typeface="Arial MT"/>
                          <a:cs typeface="Arial MT"/>
                        </a:rPr>
                        <a:t>16</a:t>
                      </a:r>
                      <a:endParaRPr baseline="-20833" sz="2400">
                        <a:latin typeface="Arial MT"/>
                        <a:cs typeface="Arial MT"/>
                      </a:endParaRPr>
                    </a:p>
                  </a:txBody>
                  <a:tcPr marL="0" marR="0" marB="0" marT="3683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6EE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5105400" y="373125"/>
            <a:ext cx="0" cy="5651500"/>
          </a:xfrm>
          <a:custGeom>
            <a:avLst/>
            <a:gdLst/>
            <a:ahLst/>
            <a:cxnLst/>
            <a:rect l="l" t="t" r="r" b="b"/>
            <a:pathLst>
              <a:path w="0" h="5651500">
                <a:moveTo>
                  <a:pt x="0" y="0"/>
                </a:moveTo>
                <a:lnTo>
                  <a:pt x="0" y="565143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372" y="182879"/>
            <a:ext cx="4495800" cy="6492240"/>
          </a:xfrm>
          <a:custGeom>
            <a:avLst/>
            <a:gdLst/>
            <a:ahLst/>
            <a:cxnLst/>
            <a:rect l="l" t="t" r="r" b="b"/>
            <a:pathLst>
              <a:path w="4495800" h="6492240">
                <a:moveTo>
                  <a:pt x="4495800" y="0"/>
                </a:moveTo>
                <a:lnTo>
                  <a:pt x="0" y="0"/>
                </a:lnTo>
                <a:lnTo>
                  <a:pt x="0" y="6492240"/>
                </a:lnTo>
                <a:lnTo>
                  <a:pt x="4495800" y="6492240"/>
                </a:lnTo>
                <a:lnTo>
                  <a:pt x="44958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8416" y="207721"/>
            <a:ext cx="92392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80</a:t>
            </a:r>
            <a:r>
              <a:rPr dirty="0" sz="240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4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*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(80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2339" y="207721"/>
            <a:ext cx="158242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7705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00	00</a:t>
            </a:r>
            <a:endParaRPr sz="2400">
              <a:latin typeface="Arial MT"/>
              <a:cs typeface="Arial MT"/>
            </a:endParaRPr>
          </a:p>
          <a:p>
            <a:pPr marL="30480">
              <a:lnSpc>
                <a:spcPct val="100000"/>
              </a:lnSpc>
              <a:spcBef>
                <a:spcPts val="5"/>
              </a:spcBef>
              <a:tabLst>
                <a:tab pos="622300" algn="l"/>
                <a:tab pos="1129665" algn="l"/>
              </a:tabLst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416" y="939800"/>
            <a:ext cx="1711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2*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80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1B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416" y="1671015"/>
            <a:ext cx="6610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416" y="1305559"/>
            <a:ext cx="297116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  <a:tab pos="1967864" algn="l"/>
              </a:tabLst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80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 =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1000	0000</a:t>
            </a:r>
            <a:endParaRPr sz="24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r>
              <a:rPr dirty="0" sz="24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616" y="2037334"/>
            <a:ext cx="3993515" cy="4598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---------------------------</a:t>
            </a:r>
            <a:endParaRPr sz="2400">
              <a:latin typeface="Arial MT"/>
              <a:cs typeface="Arial MT"/>
            </a:endParaRPr>
          </a:p>
          <a:p>
            <a:pPr marL="1157605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00000000</a:t>
            </a:r>
            <a:endParaRPr sz="2400">
              <a:latin typeface="Arial MT"/>
              <a:cs typeface="Arial MT"/>
            </a:endParaRPr>
          </a:p>
          <a:p>
            <a:pPr marL="98806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10000000x</a:t>
            </a:r>
            <a:endParaRPr sz="2400">
              <a:latin typeface="Arial MT"/>
              <a:cs typeface="Arial MT"/>
            </a:endParaRPr>
          </a:p>
          <a:p>
            <a:pPr marL="63500">
              <a:lnSpc>
                <a:spcPts val="2865"/>
              </a:lnSpc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---------------------------</a:t>
            </a:r>
            <a:endParaRPr sz="2400">
              <a:latin typeface="Arial MT"/>
              <a:cs typeface="Arial MT"/>
            </a:endParaRPr>
          </a:p>
          <a:p>
            <a:pPr marL="820419">
              <a:lnSpc>
                <a:spcPts val="3825"/>
              </a:lnSpc>
            </a:pPr>
            <a:r>
              <a:rPr dirty="0" sz="3200">
                <a:solidFill>
                  <a:srgbClr val="FFFF00"/>
                </a:solidFill>
                <a:latin typeface="Arial MT"/>
                <a:cs typeface="Arial MT"/>
              </a:rPr>
              <a:t>1</a:t>
            </a:r>
            <a:r>
              <a:rPr dirty="0" sz="3200" spc="-235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00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24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9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bits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can’t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be in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dirty="0" sz="2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byte</a:t>
            </a:r>
            <a:endParaRPr sz="2400">
              <a:latin typeface="Arial MT"/>
              <a:cs typeface="Arial MT"/>
            </a:endParaRPr>
          </a:p>
          <a:p>
            <a:pPr marL="736600">
              <a:lnSpc>
                <a:spcPts val="2875"/>
              </a:lnSpc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x8</a:t>
            </a:r>
            <a:endParaRPr sz="2400">
              <a:latin typeface="Arial MT"/>
              <a:cs typeface="Arial MT"/>
            </a:endParaRPr>
          </a:p>
          <a:p>
            <a:pPr marL="988060">
              <a:lnSpc>
                <a:spcPts val="3354"/>
              </a:lnSpc>
            </a:pPr>
            <a:r>
              <a:rPr dirty="0" sz="2800" spc="5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baseline="25525" sz="2775" spc="7">
                <a:solidFill>
                  <a:srgbClr val="FFFFFF"/>
                </a:solidFill>
                <a:latin typeface="Arial MT"/>
                <a:cs typeface="Arial MT"/>
              </a:rPr>
              <a:t>8</a:t>
            </a:r>
            <a:r>
              <a:rPr dirty="0" baseline="25525" sz="2775" spc="3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5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baseline="25525" sz="2775" spc="7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dirty="0" baseline="25525" sz="2775" spc="367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5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baseline="25525" sz="2775" spc="7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baseline="25525" sz="2775" spc="3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5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280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+1</a:t>
            </a:r>
            <a:endParaRPr sz="28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15"/>
              </a:spcBef>
            </a:pP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--------------------------------------</a:t>
            </a:r>
            <a:endParaRPr sz="2400">
              <a:latin typeface="Arial MT"/>
              <a:cs typeface="Arial MT"/>
            </a:endParaRPr>
          </a:p>
          <a:p>
            <a:pPr algn="r" marR="179070">
              <a:lnSpc>
                <a:spcPct val="100000"/>
              </a:lnSpc>
              <a:tabLst>
                <a:tab pos="1389380" algn="l"/>
              </a:tabLst>
            </a:pPr>
            <a:r>
              <a:rPr dirty="0" sz="2400" spc="-5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baseline="24305" sz="2400" spc="-7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dirty="0" baseline="24305" sz="2400" spc="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+ </a:t>
            </a:r>
            <a:r>
              <a:rPr dirty="0" sz="2400" spc="-5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baseline="24305" sz="2400" spc="-7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baseline="24305" sz="2400" spc="322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+	</a:t>
            </a:r>
            <a:r>
              <a:rPr dirty="0" sz="2400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2400" spc="-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 algn="r" marR="197485">
              <a:lnSpc>
                <a:spcPct val="100000"/>
              </a:lnSpc>
              <a:tabLst>
                <a:tab pos="766445" algn="l"/>
                <a:tab pos="1104900" algn="l"/>
                <a:tab pos="1697355" algn="l"/>
                <a:tab pos="2287270" algn="l"/>
                <a:tab pos="2626360" algn="l"/>
                <a:tab pos="3048635" algn="l"/>
                <a:tab pos="3554729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	0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0	1	1	0	1	1</a:t>
            </a: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tabLst>
                <a:tab pos="1250950" algn="l"/>
                <a:tab pos="2934970" algn="l"/>
              </a:tabLst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=	</a:t>
            </a:r>
            <a:r>
              <a:rPr dirty="0" sz="2400" spc="-5">
                <a:solidFill>
                  <a:srgbClr val="FFFFFF"/>
                </a:solidFill>
                <a:latin typeface="Arial MT"/>
                <a:cs typeface="Arial MT"/>
              </a:rPr>
              <a:t>1	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36520" y="510540"/>
            <a:ext cx="3235960" cy="5849620"/>
            <a:chOff x="2636520" y="510540"/>
            <a:chExt cx="3235960" cy="5849620"/>
          </a:xfrm>
        </p:grpSpPr>
        <p:sp>
          <p:nvSpPr>
            <p:cNvPr id="12" name="object 12"/>
            <p:cNvSpPr/>
            <p:nvPr/>
          </p:nvSpPr>
          <p:spPr>
            <a:xfrm>
              <a:off x="5334000" y="479602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400050" y="0"/>
                  </a:moveTo>
                  <a:lnTo>
                    <a:pt x="133350" y="0"/>
                  </a:lnTo>
                  <a:lnTo>
                    <a:pt x="133350" y="266700"/>
                  </a:lnTo>
                  <a:lnTo>
                    <a:pt x="0" y="266700"/>
                  </a:lnTo>
                  <a:lnTo>
                    <a:pt x="266700" y="533400"/>
                  </a:lnTo>
                  <a:lnTo>
                    <a:pt x="533400" y="266700"/>
                  </a:lnTo>
                  <a:lnTo>
                    <a:pt x="400050" y="26670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334000" y="479602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lnTo>
                    <a:pt x="133350" y="266700"/>
                  </a:lnTo>
                  <a:lnTo>
                    <a:pt x="133350" y="0"/>
                  </a:lnTo>
                  <a:lnTo>
                    <a:pt x="400050" y="0"/>
                  </a:lnTo>
                  <a:lnTo>
                    <a:pt x="400050" y="266700"/>
                  </a:lnTo>
                  <a:lnTo>
                    <a:pt x="533400" y="266700"/>
                  </a:lnTo>
                  <a:lnTo>
                    <a:pt x="266700" y="5334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636520" y="510539"/>
              <a:ext cx="3230880" cy="5849620"/>
            </a:xfrm>
            <a:custGeom>
              <a:avLst/>
              <a:gdLst/>
              <a:ahLst/>
              <a:cxnLst/>
              <a:rect l="l" t="t" r="r" b="b"/>
              <a:pathLst>
                <a:path w="3230879" h="5849620">
                  <a:moveTo>
                    <a:pt x="3230880" y="4818888"/>
                  </a:moveTo>
                  <a:lnTo>
                    <a:pt x="2975610" y="4805299"/>
                  </a:lnTo>
                  <a:lnTo>
                    <a:pt x="3006064" y="4875250"/>
                  </a:lnTo>
                  <a:lnTo>
                    <a:pt x="929640" y="5779313"/>
                  </a:lnTo>
                  <a:lnTo>
                    <a:pt x="960120" y="5849175"/>
                  </a:lnTo>
                  <a:lnTo>
                    <a:pt x="3036481" y="4945088"/>
                  </a:lnTo>
                  <a:lnTo>
                    <a:pt x="3066923" y="5014976"/>
                  </a:lnTo>
                  <a:lnTo>
                    <a:pt x="3196463" y="4860036"/>
                  </a:lnTo>
                  <a:lnTo>
                    <a:pt x="3230880" y="4818888"/>
                  </a:lnTo>
                  <a:close/>
                </a:path>
                <a:path w="3230879" h="5849620">
                  <a:moveTo>
                    <a:pt x="3230880" y="4285234"/>
                  </a:moveTo>
                  <a:lnTo>
                    <a:pt x="3207270" y="4155821"/>
                  </a:lnTo>
                  <a:lnTo>
                    <a:pt x="3185033" y="4033901"/>
                  </a:lnTo>
                  <a:lnTo>
                    <a:pt x="3124060" y="4079659"/>
                  </a:lnTo>
                  <a:lnTo>
                    <a:pt x="60960" y="0"/>
                  </a:lnTo>
                  <a:lnTo>
                    <a:pt x="0" y="45720"/>
                  </a:lnTo>
                  <a:lnTo>
                    <a:pt x="3063125" y="4125404"/>
                  </a:lnTo>
                  <a:lnTo>
                    <a:pt x="3002280" y="4171061"/>
                  </a:lnTo>
                  <a:lnTo>
                    <a:pt x="3230880" y="428523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4013" y="577722"/>
            <a:ext cx="699389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Key</a:t>
            </a:r>
            <a:r>
              <a:rPr dirty="0" sz="3200" spc="-25"/>
              <a:t> </a:t>
            </a:r>
            <a:r>
              <a:rPr dirty="0" sz="3200"/>
              <a:t>Expansion</a:t>
            </a:r>
            <a:r>
              <a:rPr dirty="0" sz="3200" spc="-40"/>
              <a:t> </a:t>
            </a:r>
            <a:r>
              <a:rPr dirty="0" sz="3200"/>
              <a:t>Example</a:t>
            </a:r>
            <a:r>
              <a:rPr dirty="0" sz="3200" spc="-20"/>
              <a:t> </a:t>
            </a:r>
            <a:r>
              <a:rPr dirty="0" sz="3200" spc="-5"/>
              <a:t>(1</a:t>
            </a:r>
            <a:r>
              <a:rPr dirty="0" baseline="25132" sz="3150" spc="-7"/>
              <a:t>st</a:t>
            </a:r>
            <a:r>
              <a:rPr dirty="0" baseline="25132" sz="3150" spc="434"/>
              <a:t> </a:t>
            </a:r>
            <a:r>
              <a:rPr dirty="0" sz="3200"/>
              <a:t>Round)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67944" y="1288481"/>
            <a:ext cx="6785609" cy="111506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40">
                <a:latin typeface="Trebuchet MS"/>
                <a:cs typeface="Trebuchet MS"/>
              </a:rPr>
              <a:t>E</a:t>
            </a:r>
            <a:r>
              <a:rPr dirty="0" sz="2000" spc="-25">
                <a:latin typeface="Trebuchet MS"/>
                <a:cs typeface="Trebuchet MS"/>
              </a:rPr>
              <a:t>x</a:t>
            </a:r>
            <a:r>
              <a:rPr dirty="0" sz="2000" spc="-145">
                <a:latin typeface="Trebuchet MS"/>
                <a:cs typeface="Trebuchet MS"/>
              </a:rPr>
              <a:t>ample</a:t>
            </a:r>
            <a:r>
              <a:rPr dirty="0" sz="2000" spc="-90">
                <a:latin typeface="Trebuchet MS"/>
                <a:cs typeface="Trebuchet MS"/>
              </a:rPr>
              <a:t> </a:t>
            </a:r>
            <a:r>
              <a:rPr dirty="0" sz="2000" spc="-105">
                <a:latin typeface="Trebuchet MS"/>
                <a:cs typeface="Trebuchet MS"/>
              </a:rPr>
              <a:t>of</a:t>
            </a:r>
            <a:r>
              <a:rPr dirty="0" sz="2000" spc="-45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ex</a:t>
            </a:r>
            <a:r>
              <a:rPr dirty="0" sz="2000" spc="-80">
                <a:latin typeface="Trebuchet MS"/>
                <a:cs typeface="Trebuchet MS"/>
              </a:rPr>
              <a:t>p</a:t>
            </a:r>
            <a:r>
              <a:rPr dirty="0" sz="2000" spc="-90">
                <a:latin typeface="Trebuchet MS"/>
                <a:cs typeface="Trebuchet MS"/>
              </a:rPr>
              <a:t>ansion</a:t>
            </a:r>
            <a:r>
              <a:rPr dirty="0" sz="2000" spc="-85">
                <a:latin typeface="Trebuchet MS"/>
                <a:cs typeface="Trebuchet MS"/>
              </a:rPr>
              <a:t> </a:t>
            </a:r>
            <a:r>
              <a:rPr dirty="0" sz="2000" spc="-105">
                <a:latin typeface="Trebuchet MS"/>
                <a:cs typeface="Trebuchet MS"/>
              </a:rPr>
              <a:t>of</a:t>
            </a:r>
            <a:r>
              <a:rPr dirty="0" sz="2000" spc="-65">
                <a:latin typeface="Trebuchet MS"/>
                <a:cs typeface="Trebuchet MS"/>
              </a:rPr>
              <a:t> </a:t>
            </a:r>
            <a:r>
              <a:rPr dirty="0" sz="2000" spc="-200">
                <a:latin typeface="Trebuchet MS"/>
                <a:cs typeface="Trebuchet MS"/>
              </a:rPr>
              <a:t>a</a:t>
            </a:r>
            <a:r>
              <a:rPr dirty="0" sz="2000" spc="-70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128</a:t>
            </a:r>
            <a:r>
              <a:rPr dirty="0" sz="2000" spc="-90">
                <a:latin typeface="Trebuchet MS"/>
                <a:cs typeface="Trebuchet MS"/>
              </a:rPr>
              <a:t>-</a:t>
            </a:r>
            <a:r>
              <a:rPr dirty="0" sz="2000" spc="-165">
                <a:latin typeface="Trebuchet MS"/>
                <a:cs typeface="Trebuchet MS"/>
              </a:rPr>
              <a:t>b</a:t>
            </a:r>
            <a:r>
              <a:rPr dirty="0" sz="2000" spc="-75">
                <a:latin typeface="Trebuchet MS"/>
                <a:cs typeface="Trebuchet MS"/>
              </a:rPr>
              <a:t>i</a:t>
            </a:r>
            <a:r>
              <a:rPr dirty="0" sz="2000" spc="-130">
                <a:latin typeface="Trebuchet MS"/>
                <a:cs typeface="Trebuchet MS"/>
              </a:rPr>
              <a:t>t</a:t>
            </a:r>
            <a:r>
              <a:rPr dirty="0" sz="2000" spc="-95">
                <a:latin typeface="Trebuchet MS"/>
                <a:cs typeface="Trebuchet MS"/>
              </a:rPr>
              <a:t> </a:t>
            </a:r>
            <a:r>
              <a:rPr dirty="0" sz="2000" spc="-105">
                <a:latin typeface="Trebuchet MS"/>
                <a:cs typeface="Trebuchet MS"/>
              </a:rPr>
              <a:t>ci</a:t>
            </a:r>
            <a:r>
              <a:rPr dirty="0" sz="2000" spc="-145">
                <a:latin typeface="Trebuchet MS"/>
                <a:cs typeface="Trebuchet MS"/>
              </a:rPr>
              <a:t>p</a:t>
            </a:r>
            <a:r>
              <a:rPr dirty="0" sz="2000" spc="-114">
                <a:latin typeface="Trebuchet MS"/>
                <a:cs typeface="Trebuchet MS"/>
              </a:rPr>
              <a:t>he</a:t>
            </a:r>
            <a:r>
              <a:rPr dirty="0" sz="2000" spc="15">
                <a:latin typeface="Trebuchet MS"/>
                <a:cs typeface="Trebuchet MS"/>
              </a:rPr>
              <a:t>r</a:t>
            </a:r>
            <a:r>
              <a:rPr dirty="0" sz="2000" spc="-80">
                <a:latin typeface="Trebuchet MS"/>
                <a:cs typeface="Trebuchet MS"/>
              </a:rPr>
              <a:t> </a:t>
            </a:r>
            <a:r>
              <a:rPr dirty="0" sz="2000" spc="-114">
                <a:latin typeface="Trebuchet MS"/>
                <a:cs typeface="Trebuchet MS"/>
              </a:rPr>
              <a:t>k</a:t>
            </a:r>
            <a:r>
              <a:rPr dirty="0" sz="2000" spc="-175">
                <a:latin typeface="Trebuchet MS"/>
                <a:cs typeface="Trebuchet MS"/>
              </a:rPr>
              <a:t>e</a:t>
            </a:r>
            <a:r>
              <a:rPr dirty="0" sz="2000" spc="-110">
                <a:latin typeface="Trebuchet MS"/>
                <a:cs typeface="Trebuchet MS"/>
              </a:rPr>
              <a:t>y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645"/>
              </a:spcBef>
            </a:pPr>
            <a:r>
              <a:rPr dirty="0" sz="1800" spc="-10">
                <a:latin typeface="Courier New"/>
                <a:cs typeface="Courier New"/>
              </a:rPr>
              <a:t>Cipher</a:t>
            </a:r>
            <a:r>
              <a:rPr dirty="0" sz="1800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key</a:t>
            </a:r>
            <a:r>
              <a:rPr dirty="0" sz="1800" spc="-30"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=</a:t>
            </a:r>
            <a:r>
              <a:rPr dirty="0" sz="1800" spc="-5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2b</a:t>
            </a:r>
            <a:r>
              <a:rPr dirty="0" sz="1800" spc="-10" b="1">
                <a:latin typeface="Courier New"/>
                <a:cs typeface="Courier New"/>
              </a:rPr>
              <a:t>7e</a:t>
            </a:r>
            <a:r>
              <a:rPr dirty="0" sz="1800" spc="-10">
                <a:latin typeface="Courier New"/>
                <a:cs typeface="Courier New"/>
              </a:rPr>
              <a:t>15</a:t>
            </a:r>
            <a:r>
              <a:rPr dirty="0" sz="1800" spc="-10" b="1">
                <a:latin typeface="Courier New"/>
                <a:cs typeface="Courier New"/>
              </a:rPr>
              <a:t>16</a:t>
            </a:r>
            <a:r>
              <a:rPr dirty="0" sz="1800" spc="-10">
                <a:latin typeface="Courier New"/>
                <a:cs typeface="Courier New"/>
              </a:rPr>
              <a:t>28</a:t>
            </a:r>
            <a:r>
              <a:rPr dirty="0" sz="1800" spc="-10" b="1">
                <a:latin typeface="Courier New"/>
                <a:cs typeface="Courier New"/>
              </a:rPr>
              <a:t>ae</a:t>
            </a:r>
            <a:r>
              <a:rPr dirty="0" sz="1800" spc="-10">
                <a:latin typeface="Courier New"/>
                <a:cs typeface="Courier New"/>
              </a:rPr>
              <a:t>d2</a:t>
            </a:r>
            <a:r>
              <a:rPr dirty="0" sz="1800" spc="-10" b="1">
                <a:latin typeface="Courier New"/>
                <a:cs typeface="Courier New"/>
              </a:rPr>
              <a:t>a6</a:t>
            </a:r>
            <a:r>
              <a:rPr dirty="0" sz="1800" spc="-10">
                <a:latin typeface="Courier New"/>
                <a:cs typeface="Courier New"/>
              </a:rPr>
              <a:t>ab</a:t>
            </a:r>
            <a:r>
              <a:rPr dirty="0" sz="1800" spc="-10" b="1">
                <a:latin typeface="Courier New"/>
                <a:cs typeface="Courier New"/>
              </a:rPr>
              <a:t>f7</a:t>
            </a:r>
            <a:r>
              <a:rPr dirty="0" sz="1800" spc="-10">
                <a:latin typeface="Courier New"/>
                <a:cs typeface="Courier New"/>
              </a:rPr>
              <a:t>15</a:t>
            </a:r>
            <a:r>
              <a:rPr dirty="0" sz="1800" spc="-10" b="1">
                <a:latin typeface="Courier New"/>
                <a:cs typeface="Courier New"/>
              </a:rPr>
              <a:t>88</a:t>
            </a:r>
            <a:r>
              <a:rPr dirty="0" sz="1800" spc="-10">
                <a:latin typeface="Courier New"/>
                <a:cs typeface="Courier New"/>
              </a:rPr>
              <a:t>09</a:t>
            </a:r>
            <a:r>
              <a:rPr dirty="0" sz="1800" spc="-10" b="1">
                <a:latin typeface="Courier New"/>
                <a:cs typeface="Courier New"/>
              </a:rPr>
              <a:t>cf</a:t>
            </a:r>
            <a:r>
              <a:rPr dirty="0" sz="1800" spc="-10">
                <a:latin typeface="Courier New"/>
                <a:cs typeface="Courier New"/>
              </a:rPr>
              <a:t>4f</a:t>
            </a:r>
            <a:r>
              <a:rPr dirty="0" sz="1800" spc="-10" b="1">
                <a:latin typeface="Courier New"/>
                <a:cs typeface="Courier New"/>
              </a:rPr>
              <a:t>3c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95"/>
              </a:spcBef>
            </a:pPr>
            <a:r>
              <a:rPr dirty="0" sz="1800" spc="-10" b="1">
                <a:latin typeface="Courier New"/>
                <a:cs typeface="Courier New"/>
              </a:rPr>
              <a:t>w0</a:t>
            </a:r>
            <a:r>
              <a:rPr dirty="0" sz="1800" spc="-10">
                <a:latin typeface="Courier New"/>
                <a:cs typeface="Courier New"/>
              </a:rPr>
              <a:t>=2b7e1516</a:t>
            </a:r>
            <a:r>
              <a:rPr dirty="0" sz="1800" spc="-20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w1</a:t>
            </a:r>
            <a:r>
              <a:rPr dirty="0" sz="1800" spc="-10">
                <a:latin typeface="Courier New"/>
                <a:cs typeface="Courier New"/>
              </a:rPr>
              <a:t>=28aed2a6</a:t>
            </a:r>
            <a:r>
              <a:rPr dirty="0" sz="1800" spc="-15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w2</a:t>
            </a:r>
            <a:r>
              <a:rPr dirty="0" sz="1800" spc="-10">
                <a:latin typeface="Courier New"/>
                <a:cs typeface="Courier New"/>
              </a:rPr>
              <a:t>=abf71588</a:t>
            </a:r>
            <a:r>
              <a:rPr dirty="0" sz="1800" spc="-20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w3</a:t>
            </a:r>
            <a:r>
              <a:rPr dirty="0" sz="1800" spc="-10">
                <a:latin typeface="Courier New"/>
                <a:cs typeface="Courier New"/>
              </a:rPr>
              <a:t>=09cf4f3c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75" y="3352800"/>
            <a:ext cx="8686800" cy="19050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0725" y="3346450"/>
          <a:ext cx="8705850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210"/>
                <a:gridCol w="1200150"/>
                <a:gridCol w="1200150"/>
                <a:gridCol w="1200150"/>
                <a:gridCol w="1200150"/>
                <a:gridCol w="1200150"/>
                <a:gridCol w="1200149"/>
                <a:gridCol w="120015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i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baseline="13888" sz="2400" spc="15" b="1">
                          <a:latin typeface="Arial"/>
                          <a:cs typeface="Arial"/>
                        </a:rPr>
                        <a:t>w</a:t>
                      </a:r>
                      <a:r>
                        <a:rPr dirty="0" sz="1050" spc="10" b="1">
                          <a:latin typeface="Arial"/>
                          <a:cs typeface="Arial"/>
                        </a:rPr>
                        <a:t>i-1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RotWord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SubWord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spc="-5" b="1">
                          <a:latin typeface="Arial"/>
                          <a:cs typeface="Arial"/>
                        </a:rPr>
                        <a:t>Rcon[i/4]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dirty="0" sz="1600" spc="-5" b="1">
                          <a:latin typeface="Arial"/>
                          <a:cs typeface="Arial"/>
                        </a:rPr>
                        <a:t>t</a:t>
                      </a:r>
                      <a:r>
                        <a:rPr dirty="0" baseline="-21164" sz="1575" spc="-7" b="1">
                          <a:latin typeface="Arial"/>
                          <a:cs typeface="Arial"/>
                        </a:rPr>
                        <a:t>i</a:t>
                      </a:r>
                      <a:endParaRPr baseline="-21164" sz="1575">
                        <a:latin typeface="Arial"/>
                        <a:cs typeface="Arial"/>
                      </a:endParaRPr>
                    </a:p>
                  </a:txBody>
                  <a:tcPr marL="0" marR="0" marB="0" marT="1022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w[i-4]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dirty="0" sz="1600" spc="20" b="1">
                          <a:latin typeface="Arial"/>
                          <a:cs typeface="Arial"/>
                        </a:rPr>
                        <a:t>w</a:t>
                      </a:r>
                      <a:r>
                        <a:rPr dirty="0" baseline="-21164" sz="1575" spc="30" b="1">
                          <a:latin typeface="Arial"/>
                          <a:cs typeface="Arial"/>
                        </a:rPr>
                        <a:t>i</a:t>
                      </a:r>
                      <a:endParaRPr baseline="-21164" sz="1575">
                        <a:latin typeface="Arial"/>
                        <a:cs typeface="Arial"/>
                      </a:endParaRPr>
                    </a:p>
                  </a:txBody>
                  <a:tcPr marL="0" marR="0" marB="0" marT="1022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09cf4f3c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cf4f3c09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8a84eb01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01000000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8b84eb01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2b7e1516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a0fafe17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6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a0fafe17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28aed2a6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88542cb1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62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88542cb1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Abf71588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23a33939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743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23a33939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600">
                          <a:latin typeface="Impact"/>
                          <a:cs typeface="Impact"/>
                        </a:rPr>
                        <a:t>-</a:t>
                      </a:r>
                      <a:endParaRPr sz="1600">
                        <a:latin typeface="Impact"/>
                        <a:cs typeface="Impact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09cf4f3c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600" spc="-5">
                          <a:latin typeface="Arial MT"/>
                          <a:cs typeface="Arial MT"/>
                        </a:rPr>
                        <a:t>2a6c7605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429" y="169545"/>
            <a:ext cx="226504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AES</a:t>
            </a:r>
            <a:r>
              <a:rPr dirty="0" sz="3200" spc="-75"/>
              <a:t> </a:t>
            </a:r>
            <a:r>
              <a:rPr dirty="0" sz="3200"/>
              <a:t>S-BOX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1066800"/>
            <a:ext cx="8289953" cy="5261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4064" y="3161157"/>
            <a:ext cx="505650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Key</a:t>
            </a:r>
            <a:r>
              <a:rPr dirty="0" sz="3200" spc="-45"/>
              <a:t> </a:t>
            </a:r>
            <a:r>
              <a:rPr dirty="0" sz="3200" spc="-5"/>
              <a:t>Expansion</a:t>
            </a:r>
            <a:r>
              <a:rPr dirty="0" sz="3200" spc="-45"/>
              <a:t> </a:t>
            </a:r>
            <a:r>
              <a:rPr dirty="0" sz="3200"/>
              <a:t>Example</a:t>
            </a:r>
            <a:r>
              <a:rPr dirty="0" sz="3200" spc="-25"/>
              <a:t> </a:t>
            </a:r>
            <a:r>
              <a:rPr dirty="0" sz="3200"/>
              <a:t>2</a:t>
            </a:r>
            <a:endParaRPr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537" y="1731010"/>
            <a:ext cx="2855595" cy="2708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latin typeface="Arial"/>
                <a:cs typeface="Arial"/>
              </a:rPr>
              <a:t>AES</a:t>
            </a:r>
            <a:endParaRPr sz="4400">
              <a:latin typeface="Arial"/>
              <a:cs typeface="Arial"/>
            </a:endParaRPr>
          </a:p>
          <a:p>
            <a:pPr algn="ctr" marL="12065" marR="5080" indent="-2540">
              <a:lnSpc>
                <a:spcPct val="100000"/>
              </a:lnSpc>
            </a:pPr>
            <a:r>
              <a:rPr dirty="0" sz="4400" b="1">
                <a:latin typeface="Arial"/>
                <a:cs typeface="Arial"/>
              </a:rPr>
              <a:t>Example </a:t>
            </a:r>
            <a:r>
              <a:rPr dirty="0" sz="4400" spc="5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Key </a:t>
            </a:r>
            <a:r>
              <a:rPr dirty="0" sz="4400" spc="5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Expansion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19635"/>
            <a:ext cx="5474970" cy="66073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31986" y="559053"/>
            <a:ext cx="389890" cy="9220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5">
                <a:solidFill>
                  <a:srgbClr val="FF0000"/>
                </a:solidFill>
                <a:latin typeface="Arial MT"/>
                <a:cs typeface="Arial MT"/>
              </a:rPr>
              <a:t>=t</a:t>
            </a:r>
            <a:r>
              <a:rPr dirty="0" baseline="-21367" sz="1950" spc="7">
                <a:solidFill>
                  <a:srgbClr val="FF0000"/>
                </a:solidFill>
                <a:latin typeface="Arial MT"/>
                <a:cs typeface="Arial MT"/>
              </a:rPr>
              <a:t>4</a:t>
            </a:r>
            <a:endParaRPr baseline="-21367" sz="1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250"/>
              </a:spcBef>
            </a:pPr>
            <a:r>
              <a:rPr dirty="0" sz="2000" spc="5">
                <a:solidFill>
                  <a:srgbClr val="FF0000"/>
                </a:solidFill>
                <a:latin typeface="Arial MT"/>
                <a:cs typeface="Arial MT"/>
              </a:rPr>
              <a:t>=t</a:t>
            </a:r>
            <a:r>
              <a:rPr dirty="0" baseline="-21367" sz="1950" spc="7">
                <a:solidFill>
                  <a:srgbClr val="FF0000"/>
                </a:solidFill>
                <a:latin typeface="Arial MT"/>
                <a:cs typeface="Arial MT"/>
              </a:rPr>
              <a:t>8</a:t>
            </a:r>
            <a:endParaRPr baseline="-21367" sz="1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293" y="2065985"/>
            <a:ext cx="2948305" cy="2038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latin typeface="Arial"/>
                <a:cs typeface="Arial"/>
              </a:rPr>
              <a:t>AES</a:t>
            </a:r>
            <a:endParaRPr sz="4400">
              <a:latin typeface="Arial"/>
              <a:cs typeface="Arial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5"/>
              </a:spcBef>
            </a:pPr>
            <a:r>
              <a:rPr dirty="0" sz="4400" b="1">
                <a:latin typeface="Arial"/>
                <a:cs typeface="Arial"/>
              </a:rPr>
              <a:t>Example </a:t>
            </a:r>
            <a:r>
              <a:rPr dirty="0" sz="4400" spc="5" b="1">
                <a:latin typeface="Arial"/>
                <a:cs typeface="Arial"/>
              </a:rPr>
              <a:t> </a:t>
            </a:r>
            <a:r>
              <a:rPr dirty="0" sz="4400" b="1">
                <a:latin typeface="Arial"/>
                <a:cs typeface="Arial"/>
              </a:rPr>
              <a:t>Encryption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18996"/>
            <a:ext cx="4792853" cy="6670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 Lawrie Brown</dc:creator>
  <dc:subject>Lecture Overheads - Ch 5</dc:subject>
  <dc:title>William Stallings, Cryptography and Network Security 5/e</dc:title>
  <dcterms:created xsi:type="dcterms:W3CDTF">2024-08-28T11:33:48Z</dcterms:created>
  <dcterms:modified xsi:type="dcterms:W3CDTF">2024-08-28T11:33:48Z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2020-06-04T00:00:00Z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2024-08-28T00:00:00Z</vt:filetime>
  </property>
</Properties>
</file>