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9" r:id="rId1"/>
    <p:sldMasterId id="2147483661" r:id="rId2"/>
  </p:sldMasterIdLst>
  <p:notesMasterIdLst>
    <p:notesMasterId r:id="rId44"/>
  </p:notesMasterIdLst>
  <p:sldIdLst>
    <p:sldId id="260" r:id="rId3"/>
    <p:sldId id="261" r:id="rId4"/>
    <p:sldId id="262" r:id="rId5"/>
    <p:sldId id="294" r:id="rId6"/>
    <p:sldId id="296" r:id="rId7"/>
    <p:sldId id="263" r:id="rId8"/>
    <p:sldId id="300" r:id="rId9"/>
    <p:sldId id="29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97" r:id="rId32"/>
    <p:sldId id="298" r:id="rId33"/>
    <p:sldId id="299" r:id="rId34"/>
    <p:sldId id="302" r:id="rId35"/>
    <p:sldId id="303" r:id="rId36"/>
    <p:sldId id="287" r:id="rId37"/>
    <p:sldId id="288" r:id="rId38"/>
    <p:sldId id="289" r:id="rId39"/>
    <p:sldId id="290" r:id="rId40"/>
    <p:sldId id="291" r:id="rId41"/>
    <p:sldId id="292" r:id="rId42"/>
    <p:sldId id="257" r:id="rId4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00" autoAdjust="0"/>
    <p:restoredTop sz="77465" autoAdjust="0"/>
  </p:normalViewPr>
  <p:slideViewPr>
    <p:cSldViewPr>
      <p:cViewPr varScale="1">
        <p:scale>
          <a:sx n="56" d="100"/>
          <a:sy n="56" d="100"/>
        </p:scale>
        <p:origin x="-91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03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defRPr>
            </a:lvl1pPr>
          </a:lstStyle>
          <a:p>
            <a:endParaRPr lang="en-US"/>
          </a:p>
        </p:txBody>
      </p:sp>
      <p:sp>
        <p:nvSpPr>
          <p:cNvPr id="1003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defRPr>
            </a:lvl1pPr>
          </a:lstStyle>
          <a:p>
            <a:endParaRPr lang="en-US"/>
          </a:p>
        </p:txBody>
      </p:sp>
      <p:sp>
        <p:nvSpPr>
          <p:cNvPr id="10035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1003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03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defRPr>
            </a:lvl1pPr>
          </a:lstStyle>
          <a:p>
            <a:endParaRPr lang="en-US"/>
          </a:p>
        </p:txBody>
      </p:sp>
      <p:sp>
        <p:nvSpPr>
          <p:cNvPr id="1003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defRPr>
            </a:lvl1pPr>
          </a:lstStyle>
          <a:p>
            <a:fld id="{61D65198-2475-46ED-8D72-3BAC8335F9D6}" type="slidenum">
              <a:rPr lang="en-US"/>
              <a:pPr/>
              <a:t>‹#›</a:t>
            </a:fld>
            <a:endParaRPr lang="en-US"/>
          </a:p>
        </p:txBody>
      </p:sp>
    </p:spTree>
    <p:extLst>
      <p:ext uri="{BB962C8B-B14F-4D97-AF65-F5344CB8AC3E}">
        <p14:creationId xmlns:p14="http://schemas.microsoft.com/office/powerpoint/2010/main" val="102951669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Arial" charset="0"/>
      </a:defRPr>
    </a:lvl1pPr>
    <a:lvl2pPr marL="457200" algn="l" rtl="0" fontAlgn="base">
      <a:spcBef>
        <a:spcPct val="30000"/>
      </a:spcBef>
      <a:spcAft>
        <a:spcPct val="0"/>
      </a:spcAft>
      <a:defRPr sz="1200" kern="1200">
        <a:solidFill>
          <a:schemeClr val="tx1"/>
        </a:solidFill>
        <a:latin typeface="Times New Roman" pitchFamily="18" charset="0"/>
        <a:ea typeface="+mn-ea"/>
        <a:cs typeface="Arial" charset="0"/>
      </a:defRPr>
    </a:lvl2pPr>
    <a:lvl3pPr marL="914400" algn="l" rtl="0" fontAlgn="base">
      <a:spcBef>
        <a:spcPct val="30000"/>
      </a:spcBef>
      <a:spcAft>
        <a:spcPct val="0"/>
      </a:spcAft>
      <a:defRPr sz="1200" kern="1200">
        <a:solidFill>
          <a:schemeClr val="tx1"/>
        </a:solidFill>
        <a:latin typeface="Times New Roman" pitchFamily="18" charset="0"/>
        <a:ea typeface="+mn-ea"/>
        <a:cs typeface="Arial" charset="0"/>
      </a:defRPr>
    </a:lvl3pPr>
    <a:lvl4pPr marL="1371600" algn="l" rtl="0" fontAlgn="base">
      <a:spcBef>
        <a:spcPct val="30000"/>
      </a:spcBef>
      <a:spcAft>
        <a:spcPct val="0"/>
      </a:spcAft>
      <a:defRPr sz="1200" kern="1200">
        <a:solidFill>
          <a:schemeClr val="tx1"/>
        </a:solidFill>
        <a:latin typeface="Times New Roman" pitchFamily="18" charset="0"/>
        <a:ea typeface="+mn-ea"/>
        <a:cs typeface="Arial" charset="0"/>
      </a:defRPr>
    </a:lvl4pPr>
    <a:lvl5pPr marL="1828800" algn="l" rtl="0" fontAlgn="base">
      <a:spcBef>
        <a:spcPct val="30000"/>
      </a:spcBef>
      <a:spcAft>
        <a:spcPct val="0"/>
      </a:spcAft>
      <a:defRPr sz="1200" kern="1200">
        <a:solidFill>
          <a:schemeClr val="tx1"/>
        </a:solidFill>
        <a:latin typeface="Times New Roman" pitchFamily="18"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www.cesg.gov.uk/about/nsecret/ellis.htm"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841C839F-3AF0-4C0D-99F5-166E52710A4F}" type="slidenum">
              <a:rPr lang="en-AU" smtClean="0"/>
              <a:pPr/>
              <a:t>1</a:t>
            </a:fld>
            <a:endParaRPr lang="en-AU" smtClean="0"/>
          </a:p>
        </p:txBody>
      </p:sp>
      <p:sp>
        <p:nvSpPr>
          <p:cNvPr id="36867" name="Rectangle 1026"/>
          <p:cNvSpPr>
            <a:spLocks noGrp="1" noRot="1" noChangeAspect="1" noChangeArrowheads="1" noTextEdit="1"/>
          </p:cNvSpPr>
          <p:nvPr>
            <p:ph type="sldImg"/>
          </p:nvPr>
        </p:nvSpPr>
        <p:spPr>
          <a:solidFill>
            <a:srgbClr val="FFFFFF"/>
          </a:solidFill>
          <a:ln/>
        </p:spPr>
      </p:sp>
      <p:sp>
        <p:nvSpPr>
          <p:cNvPr id="36868" name="Rectangle 1027"/>
          <p:cNvSpPr>
            <a:spLocks noGrp="1" noChangeArrowheads="1"/>
          </p:cNvSpPr>
          <p:nvPr>
            <p:ph type="body" idx="1"/>
          </p:nvPr>
        </p:nvSpPr>
        <p:spPr>
          <a:noFill/>
          <a:ln/>
        </p:spPr>
        <p:txBody>
          <a:bodyPr/>
          <a:lstStyle/>
          <a:p>
            <a:pPr eaLnBrk="1" hangingPunct="1"/>
            <a:r>
              <a:rPr lang="en-US" smtClean="0">
                <a:latin typeface="Arial" pitchFamily="34" charset="0"/>
                <a:ea typeface="ＭＳ Ｐゴシック" pitchFamily="34" charset="-128"/>
              </a:rPr>
              <a:t>Lecture slides by Lawrie Brown for “Cryptography and Network Security”, 5/e, by William Stallings, Chapter 9 – “</a:t>
            </a:r>
            <a:r>
              <a:rPr lang="en-AU" smtClean="0">
                <a:latin typeface="Arial" pitchFamily="34" charset="0"/>
                <a:ea typeface="ＭＳ Ｐゴシック" pitchFamily="34" charset="-128"/>
              </a:rPr>
              <a:t>Public Key Cryptography and RSA</a:t>
            </a:r>
            <a:r>
              <a:rPr lang="en-US" smtClean="0">
                <a:latin typeface="Arial" pitchFamily="34" charset="0"/>
                <a:ea typeface="ＭＳ Ｐゴシック" pitchFamily="34" charset="-128"/>
              </a:rPr>
              <a:t>”.</a:t>
            </a:r>
            <a:endParaRPr lang="en-AU" smtClean="0">
              <a:latin typeface="Arial" pitchFamily="34" charset="0"/>
              <a:ea typeface="ＭＳ Ｐゴシック" pitchFamily="34" charset="-128"/>
            </a:endParaRPr>
          </a:p>
          <a:p>
            <a:pPr eaLnBrk="1" hangingPunct="1"/>
            <a:endParaRPr lang="en-US" smtClean="0">
              <a:latin typeface="Arial" pitchFamily="34" charset="0"/>
              <a:ea typeface="ＭＳ Ｐゴシック"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9DC5E7E7-9739-4B57-BACA-D07871CCBA91}" type="slidenum">
              <a:rPr lang="en-AU" smtClean="0"/>
              <a:pPr/>
              <a:t>2</a:t>
            </a:fld>
            <a:endParaRPr lang="en-AU" smtClean="0"/>
          </a:p>
        </p:txBody>
      </p:sp>
      <p:sp>
        <p:nvSpPr>
          <p:cNvPr id="37891" name="Rectangle 1026"/>
          <p:cNvSpPr>
            <a:spLocks noGrp="1" noRot="1" noChangeAspect="1" noChangeArrowheads="1" noTextEdit="1"/>
          </p:cNvSpPr>
          <p:nvPr>
            <p:ph type="sldImg"/>
          </p:nvPr>
        </p:nvSpPr>
        <p:spPr>
          <a:ln/>
        </p:spPr>
      </p:sp>
      <p:sp>
        <p:nvSpPr>
          <p:cNvPr id="37892" name="Rectangle 1027"/>
          <p:cNvSpPr>
            <a:spLocks noGrp="1" noChangeArrowheads="1"/>
          </p:cNvSpPr>
          <p:nvPr>
            <p:ph type="body" idx="1"/>
          </p:nvPr>
        </p:nvSpPr>
        <p:spPr>
          <a:noFill/>
          <a:ln/>
        </p:spPr>
        <p:txBody>
          <a:bodyPr/>
          <a:lstStyle/>
          <a:p>
            <a:pPr eaLnBrk="1" hangingPunct="1"/>
            <a:r>
              <a:rPr lang="en-US" smtClean="0">
                <a:latin typeface="Arial" pitchFamily="34" charset="0"/>
                <a:ea typeface="ＭＳ Ｐゴシック" pitchFamily="34" charset="-128"/>
              </a:rPr>
              <a:t>Opening quote.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7487325-3B00-4D19-A631-6AEC2CF84B07}" type="slidenum">
              <a:rPr lang="en-AU" smtClean="0"/>
              <a:pPr/>
              <a:t>3</a:t>
            </a:fld>
            <a:endParaRPr lang="en-AU"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r>
              <a:rPr lang="en-AU" smtClean="0">
                <a:latin typeface="Arial" pitchFamily="34" charset="0"/>
                <a:ea typeface="ＭＳ Ｐゴシック" pitchFamily="34" charset="-128"/>
              </a:rPr>
              <a:t>So far all the cryptosystems discussed have been private/secret/single key (symmetric) systems. All classical, and modern block and stream ciphers are of this form.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4151D45C-5953-454B-8B25-012C6BF9B08C}" type="slidenum">
              <a:rPr lang="de-DE" smtClean="0"/>
              <a:pPr/>
              <a:t>4</a:t>
            </a:fld>
            <a:endParaRPr lang="de-DE" smtClean="0"/>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endParaRPr lang="de-DE"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E7A97C0F-47EA-4BB3-A036-4D0FC2EB3861}" type="slidenum">
              <a:rPr lang="en-AU" smtClean="0"/>
              <a:pPr/>
              <a:t>6</a:t>
            </a:fld>
            <a:endParaRPr lang="en-AU" smtClean="0"/>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r>
              <a:rPr lang="en-AU" smtClean="0">
                <a:latin typeface="Arial" pitchFamily="34" charset="0"/>
                <a:ea typeface="ＭＳ Ｐゴシック" pitchFamily="34" charset="-128"/>
              </a:rPr>
              <a:t>Will now discuss the radically different </a:t>
            </a:r>
            <a:r>
              <a:rPr lang="en-AU" b="1" smtClean="0">
                <a:latin typeface="Arial" pitchFamily="34" charset="0"/>
                <a:ea typeface="ＭＳ Ｐゴシック" pitchFamily="34" charset="-128"/>
              </a:rPr>
              <a:t>public key</a:t>
            </a:r>
            <a:r>
              <a:rPr lang="en-AU" smtClean="0">
                <a:latin typeface="Arial" pitchFamily="34" charset="0"/>
                <a:ea typeface="ＭＳ Ｐゴシック" pitchFamily="34" charset="-128"/>
              </a:rPr>
              <a:t> systems, in which </a:t>
            </a:r>
            <a:r>
              <a:rPr lang="en-AU" b="1" smtClean="0">
                <a:latin typeface="Arial" pitchFamily="34" charset="0"/>
                <a:ea typeface="ＭＳ Ｐゴシック" pitchFamily="34" charset="-128"/>
              </a:rPr>
              <a:t>two keys</a:t>
            </a:r>
            <a:r>
              <a:rPr lang="en-AU" smtClean="0">
                <a:latin typeface="Arial" pitchFamily="34" charset="0"/>
                <a:ea typeface="ＭＳ Ｐゴシック" pitchFamily="34" charset="-128"/>
              </a:rPr>
              <a:t> are used. Anyone knowing the public key can encrypt messages or verify signatures, but </a:t>
            </a:r>
            <a:r>
              <a:rPr lang="en-AU" b="1" smtClean="0">
                <a:latin typeface="Arial" pitchFamily="34" charset="0"/>
                <a:ea typeface="ＭＳ Ｐゴシック" pitchFamily="34" charset="-128"/>
              </a:rPr>
              <a:t>cannot</a:t>
            </a:r>
            <a:r>
              <a:rPr lang="en-AU" smtClean="0">
                <a:latin typeface="Arial" pitchFamily="34" charset="0"/>
                <a:ea typeface="ＭＳ Ｐゴシック" pitchFamily="34" charset="-128"/>
              </a:rPr>
              <a:t> decrypt messages or create signatures, counter-intuitive though this may seem. It works by the clever use of number theory problems that are easy one way but hard the other. Note that public key schemes are neither more secure than private key (security depends on the key size for both), nor do they replace private key schemes (they are too slow to do so), rather they complement them.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283AD0AD-5AF3-40CE-AD8F-5E36925E0A38}" type="slidenum">
              <a:rPr lang="de-DE" smtClean="0"/>
              <a:pPr/>
              <a:t>7</a:t>
            </a:fld>
            <a:endParaRPr lang="de-DE" smtClean="0"/>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xfrm>
            <a:off x="685494" y="4342939"/>
            <a:ext cx="5487013" cy="4116005"/>
          </a:xfrm>
          <a:noFill/>
          <a:ln/>
        </p:spPr>
        <p:txBody>
          <a:bodyPr/>
          <a:lstStyle/>
          <a:p>
            <a:endParaRPr lang="de-DE"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1786E10D-EE08-4B8F-AE65-D3D351B040EC}" type="slidenum">
              <a:rPr lang="de-DE" smtClean="0"/>
              <a:pPr/>
              <a:t>8</a:t>
            </a:fld>
            <a:endParaRPr lang="de-DE" smtClean="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xfrm>
            <a:off x="685494" y="4342939"/>
            <a:ext cx="5487013" cy="4116005"/>
          </a:xfrm>
          <a:noFill/>
          <a:ln/>
        </p:spPr>
        <p:txBody>
          <a:bodyPr/>
          <a:lstStyle/>
          <a:p>
            <a:endParaRPr lang="de-DE"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602464F8-B7E8-403E-8ACD-7A7DC3D10027}" type="slidenum">
              <a:rPr lang="en-AU" smtClean="0"/>
              <a:pPr/>
              <a:t>10</a:t>
            </a:fld>
            <a:endParaRPr lang="en-AU" smtClean="0"/>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r>
              <a:rPr lang="en-US" smtClean="0">
                <a:latin typeface="Arial" pitchFamily="34" charset="0"/>
                <a:ea typeface="ＭＳ Ｐゴシック" pitchFamily="34" charset="-128"/>
              </a:rPr>
              <a:t>Stallings Fig 9-1.</a:t>
            </a:r>
            <a:endParaRPr lang="en-AU" smtClean="0">
              <a:latin typeface="Arial" pitchFamily="34" charset="0"/>
              <a:ea typeface="ＭＳ Ｐゴシック"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86D0261D-D645-4279-96B3-A3DA7CAA2D1A}" type="slidenum">
              <a:rPr lang="en-AU" smtClean="0"/>
              <a:pPr/>
              <a:t>11</a:t>
            </a:fld>
            <a:endParaRPr lang="en-AU" smtClean="0"/>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r>
              <a:rPr lang="en-AU" smtClean="0">
                <a:latin typeface="Arial" pitchFamily="34" charset="0"/>
                <a:ea typeface="ＭＳ Ｐゴシック" pitchFamily="34" charset="-128"/>
              </a:rPr>
              <a:t>The idea of public key schemes, and the first practical scheme, which was for key distribution only, was published in 1977 by Diffie &amp; Hellman. The concept had been previously described in a classified report in 1970 by James Ellis (UK CESG) - and subsequently declassified in 1987. See </a:t>
            </a:r>
            <a:r>
              <a:rPr lang="en-AU" smtClean="0">
                <a:latin typeface="Arial" pitchFamily="34" charset="0"/>
                <a:ea typeface="ＭＳ Ｐゴシック" pitchFamily="34" charset="-128"/>
                <a:hlinkClick r:id="rId3"/>
              </a:rPr>
              <a:t>History of Non-secret Encryption (at CESG)</a:t>
            </a:r>
            <a:r>
              <a:rPr lang="en-AU" smtClean="0">
                <a:latin typeface="Arial" pitchFamily="34" charset="0"/>
                <a:ea typeface="ＭＳ Ｐゴシック" pitchFamily="34" charset="-128"/>
              </a:rPr>
              <a:t>. Its interesting to note that they discovered RSA first, then Diffie-Hellman, opposite to the order of public discovery!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F53AB599-7A31-4C15-BA0B-DDE0571EF564}" type="slidenum">
              <a:rPr lang="en-AU" smtClean="0"/>
              <a:pPr/>
              <a:t>12</a:t>
            </a:fld>
            <a:endParaRPr lang="en-AU" smtClean="0"/>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r>
              <a:rPr lang="en-AU" smtClean="0">
                <a:latin typeface="Arial" pitchFamily="34" charset="0"/>
                <a:ea typeface="ＭＳ Ｐゴシック" pitchFamily="34" charset="-128"/>
              </a:rPr>
              <a:t>Public key schemes utilise problems that are easy (P type) one way but hard (NP type) the other way, eg exponentiation vs logs, multiplication vs factoring. Consider the following analogy using padlocked boxes: traditional schemes involve the sender putting a message in a box and locking it, sending that to the receiver, and somehow securely also sending them the key to unlock the box. The radical advance in public key schemes was to turn this around, the receiver sends an </a:t>
            </a:r>
            <a:r>
              <a:rPr lang="en-AU" b="1" smtClean="0">
                <a:latin typeface="Arial" pitchFamily="34" charset="0"/>
                <a:ea typeface="ＭＳ Ｐゴシック" pitchFamily="34" charset="-128"/>
              </a:rPr>
              <a:t>unlocked box</a:t>
            </a:r>
            <a:r>
              <a:rPr lang="en-AU" smtClean="0">
                <a:latin typeface="Arial" pitchFamily="34" charset="0"/>
                <a:ea typeface="ＭＳ Ｐゴシック" pitchFamily="34" charset="-128"/>
              </a:rPr>
              <a:t> to the sender, who puts the message in the box and locks it (easy - and having locked it cannot get at the message), and sends the locked box to the receiver who can unlock it (also easy), having the key. An attacker would have to pick the lock on the box (hard).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AD1354A7-64D1-4AEC-9424-A83BB30C3DE3}" type="slidenum">
              <a:rPr lang="en-AU" smtClean="0"/>
              <a:pPr/>
              <a:t>27</a:t>
            </a:fld>
            <a:endParaRPr lang="en-AU" smtClean="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xfrm>
            <a:off x="685800" y="4343400"/>
            <a:ext cx="5486400" cy="4495800"/>
          </a:xfrm>
          <a:noFill/>
          <a:ln/>
        </p:spPr>
        <p:txBody>
          <a:bodyPr/>
          <a:lstStyle/>
          <a:p>
            <a:pPr eaLnBrk="1" hangingPunct="1"/>
            <a:r>
              <a:rPr lang="en-US" smtClean="0">
                <a:latin typeface="Arial" pitchFamily="34" charset="0"/>
                <a:ea typeface="ＭＳ Ｐゴシック" pitchFamily="34" charset="-128"/>
                <a:cs typeface="Arial" pitchFamily="34" charset="0"/>
              </a:rPr>
              <a:t>Stallings </a:t>
            </a:r>
            <a:r>
              <a:rPr lang="en-US" smtClean="0">
                <a:latin typeface="Arial" pitchFamily="34" charset="0"/>
                <a:ea typeface="ＭＳ Ｐゴシック" pitchFamily="34" charset="-128"/>
              </a:rPr>
              <a:t>Table 9.2 summarizes some of the important aspects of symmetric and public-key encryption. To discriminate between the two, we refer to the key used in symmetric encryption as a </a:t>
            </a:r>
            <a:r>
              <a:rPr lang="en-US" b="1" smtClean="0">
                <a:latin typeface="Arial" pitchFamily="34" charset="0"/>
                <a:ea typeface="ＭＳ Ｐゴシック" pitchFamily="34" charset="-128"/>
              </a:rPr>
              <a:t>secret key</a:t>
            </a:r>
            <a:r>
              <a:rPr lang="en-US" smtClean="0">
                <a:latin typeface="Arial" pitchFamily="34" charset="0"/>
                <a:ea typeface="ＭＳ Ｐゴシック" pitchFamily="34" charset="-128"/>
              </a:rPr>
              <a:t>. The two keys used for asymmetric encryption are referred to as the </a:t>
            </a:r>
            <a:r>
              <a:rPr lang="en-US" b="1" smtClean="0">
                <a:latin typeface="Arial" pitchFamily="34" charset="0"/>
                <a:ea typeface="ＭＳ Ｐゴシック" pitchFamily="34" charset="-128"/>
              </a:rPr>
              <a:t>public key </a:t>
            </a:r>
            <a:r>
              <a:rPr lang="en-US" smtClean="0">
                <a:latin typeface="Arial" pitchFamily="34" charset="0"/>
                <a:ea typeface="ＭＳ Ｐゴシック" pitchFamily="34" charset="-128"/>
              </a:rPr>
              <a:t>and the </a:t>
            </a:r>
            <a:r>
              <a:rPr lang="en-US" b="1" smtClean="0">
                <a:latin typeface="Arial" pitchFamily="34" charset="0"/>
                <a:ea typeface="ＭＳ Ｐゴシック" pitchFamily="34" charset="-128"/>
              </a:rPr>
              <a:t>private key. </a:t>
            </a:r>
            <a:r>
              <a:rPr lang="en-US" smtClean="0">
                <a:latin typeface="Arial" pitchFamily="34" charset="0"/>
                <a:ea typeface="ＭＳ Ｐゴシック" pitchFamily="34" charset="-128"/>
              </a:rPr>
              <a:t>Invariably, the private key is kept secret, but it is referred to as a private key rather than a secret key to avoid confusion with symmetric encryption.</a:t>
            </a:r>
            <a:endParaRPr lang="en-AU" smtClean="0">
              <a:latin typeface="Arial" pitchFamily="34" charset="0"/>
              <a:ea typeface="ＭＳ Ｐゴシック" pitchFamily="34" charset="-128"/>
              <a:cs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0B9C9117-190E-4D1D-BB61-A13CE19EC97A}" type="slidenum">
              <a:rPr lang="en-AU" smtClean="0"/>
              <a:pPr/>
              <a:t>28</a:t>
            </a:fld>
            <a:endParaRPr lang="en-AU" smtClean="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r>
              <a:rPr lang="en-AU" smtClean="0">
                <a:latin typeface="Arial" pitchFamily="34" charset="0"/>
                <a:ea typeface="ＭＳ Ｐゴシック" pitchFamily="34" charset="-128"/>
              </a:rPr>
              <a:t>Public key schemes are no more or less secure than private key schemes - in both cases the size of the key determines the security. Note also that you can't compare key sizes - a 64-bit private key scheme has very roughly similar security to a 512-bit RSA - both could be broken given sufficient resources. But with public key schemes at least there's usually a firmer theoretical basis for determining the security since its based on well-known and well studied number theory problems.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99CE663A-398D-4C4D-B3E4-889FB1253EE8}" type="slidenum">
              <a:rPr lang="en-AU" smtClean="0"/>
              <a:pPr/>
              <a:t>29</a:t>
            </a:fld>
            <a:endParaRPr lang="en-AU"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r>
              <a:rPr lang="en-AU" smtClean="0">
                <a:latin typeface="Arial" pitchFamily="34" charset="0"/>
                <a:ea typeface="ＭＳ Ｐゴシック" pitchFamily="34" charset="-128"/>
              </a:rPr>
              <a:t>RSA is the best known, and by far the most widely used general public key encryption algorithm, and was first published by Rivest, Shamir &amp; Adleman of MIT in 1978 [RIVE78]. </a:t>
            </a:r>
            <a:r>
              <a:rPr lang="en-US" smtClean="0">
                <a:latin typeface="Arial" pitchFamily="34" charset="0"/>
                <a:ea typeface="ＭＳ Ｐゴシック" pitchFamily="34" charset="-128"/>
              </a:rPr>
              <a:t>The Rivest-Shamir-Adleman (RSA) scheme has since that time reigned supreme as the most widely accepted and implemented general-purpose approach to public-key encryption. </a:t>
            </a:r>
            <a:r>
              <a:rPr lang="en-US" smtClean="0">
                <a:latin typeface="Times-Roman" charset="0"/>
                <a:ea typeface="ＭＳ Ｐゴシック" pitchFamily="34" charset="-128"/>
              </a:rPr>
              <a:t>It is </a:t>
            </a:r>
            <a:r>
              <a:rPr lang="en-AU" smtClean="0">
                <a:latin typeface="Arial" pitchFamily="34" charset="0"/>
                <a:ea typeface="ＭＳ Ｐゴシック" pitchFamily="34" charset="-128"/>
              </a:rPr>
              <a:t>based on exponentiation in a finite (Galois) field over integers modulo a prime, using </a:t>
            </a:r>
            <a:r>
              <a:rPr lang="en-US" smtClean="0">
                <a:latin typeface="Arial" pitchFamily="34" charset="0"/>
                <a:ea typeface="ＭＳ Ｐゴシック" pitchFamily="34" charset="-128"/>
              </a:rPr>
              <a:t>large integers (eg. 1024 bits)</a:t>
            </a:r>
            <a:r>
              <a:rPr lang="en-AU" smtClean="0">
                <a:latin typeface="Arial" pitchFamily="34" charset="0"/>
                <a:ea typeface="ＭＳ Ｐゴシック" pitchFamily="34" charset="-128"/>
              </a:rPr>
              <a:t>. Its security is due to the cost of factoring large numbers.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956930" y="685056"/>
            <a:ext cx="4945674" cy="343095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de-DE"/>
          </a:p>
        </p:txBody>
      </p:sp>
      <p:sp>
        <p:nvSpPr>
          <p:cNvPr id="45059" name="Rectangle 3"/>
          <p:cNvSpPr>
            <a:spLocks noGrp="1" noChangeArrowheads="1"/>
          </p:cNvSpPr>
          <p:nvPr>
            <p:ph type="body"/>
          </p:nvPr>
        </p:nvSpPr>
        <p:spPr>
          <a:xfrm>
            <a:off x="913991" y="4342939"/>
            <a:ext cx="5030018" cy="4116005"/>
          </a:xfrm>
          <a:noFill/>
          <a:ln/>
        </p:spPr>
        <p:txBody>
          <a:bodyPr lIns="87731" tIns="43866" rIns="87731" bIns="43866"/>
          <a:lstStyle/>
          <a:p>
            <a:pPr defTabSz="414715">
              <a:spcBef>
                <a:spcPts val="346"/>
              </a:spcBef>
              <a:tabLst>
                <a:tab pos="0" algn="l"/>
                <a:tab pos="413249" algn="l"/>
                <a:tab pos="827963" algn="l"/>
                <a:tab pos="1242677" algn="l"/>
                <a:tab pos="1657392" algn="l"/>
                <a:tab pos="2072106" algn="l"/>
                <a:tab pos="2486820" algn="l"/>
                <a:tab pos="2901534" algn="l"/>
                <a:tab pos="3316249" algn="l"/>
                <a:tab pos="3730963" algn="l"/>
                <a:tab pos="4145677" algn="l"/>
                <a:tab pos="4560391" algn="l"/>
                <a:tab pos="4975106" algn="l"/>
                <a:tab pos="5389819" algn="l"/>
                <a:tab pos="5804534" algn="l"/>
                <a:tab pos="6219248" algn="l"/>
                <a:tab pos="6633962" algn="l"/>
                <a:tab pos="7048676" algn="l"/>
                <a:tab pos="7463391" algn="l"/>
                <a:tab pos="7878105" algn="l"/>
                <a:tab pos="8292819" algn="l"/>
              </a:tabLst>
            </a:pPr>
            <a:endParaRPr lang="de-DE" sz="900"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956930" y="685056"/>
            <a:ext cx="4945674" cy="343095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de-DE"/>
          </a:p>
        </p:txBody>
      </p:sp>
      <p:sp>
        <p:nvSpPr>
          <p:cNvPr id="46083" name="Rectangle 3"/>
          <p:cNvSpPr>
            <a:spLocks noGrp="1" noChangeArrowheads="1"/>
          </p:cNvSpPr>
          <p:nvPr>
            <p:ph type="body"/>
          </p:nvPr>
        </p:nvSpPr>
        <p:spPr>
          <a:xfrm>
            <a:off x="913991" y="4342939"/>
            <a:ext cx="5030018" cy="4116005"/>
          </a:xfrm>
          <a:noFill/>
          <a:ln/>
        </p:spPr>
        <p:txBody>
          <a:bodyPr lIns="87731" tIns="43866" rIns="87731" bIns="43866"/>
          <a:lstStyle/>
          <a:p>
            <a:pPr defTabSz="414715">
              <a:spcBef>
                <a:spcPts val="346"/>
              </a:spcBef>
              <a:tabLst>
                <a:tab pos="0" algn="l"/>
                <a:tab pos="413249" algn="l"/>
                <a:tab pos="827963" algn="l"/>
                <a:tab pos="1242677" algn="l"/>
                <a:tab pos="1657392" algn="l"/>
                <a:tab pos="2072106" algn="l"/>
                <a:tab pos="2486820" algn="l"/>
                <a:tab pos="2901534" algn="l"/>
                <a:tab pos="3316249" algn="l"/>
                <a:tab pos="3730963" algn="l"/>
                <a:tab pos="4145677" algn="l"/>
                <a:tab pos="4560391" algn="l"/>
                <a:tab pos="4975106" algn="l"/>
                <a:tab pos="5389819" algn="l"/>
                <a:tab pos="5804534" algn="l"/>
                <a:tab pos="6219248" algn="l"/>
                <a:tab pos="6633962" algn="l"/>
                <a:tab pos="7048676" algn="l"/>
                <a:tab pos="7463391" algn="l"/>
                <a:tab pos="7878105" algn="l"/>
                <a:tab pos="8292819" algn="l"/>
              </a:tabLst>
            </a:pPr>
            <a:endParaRPr lang="de-DE" sz="900"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956930" y="685056"/>
            <a:ext cx="4945674" cy="343095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de-DE"/>
          </a:p>
        </p:txBody>
      </p:sp>
      <p:sp>
        <p:nvSpPr>
          <p:cNvPr id="47107" name="Rectangle 3"/>
          <p:cNvSpPr>
            <a:spLocks noGrp="1" noChangeArrowheads="1"/>
          </p:cNvSpPr>
          <p:nvPr>
            <p:ph type="body"/>
          </p:nvPr>
        </p:nvSpPr>
        <p:spPr>
          <a:xfrm>
            <a:off x="913991" y="4342939"/>
            <a:ext cx="5030018" cy="4116005"/>
          </a:xfrm>
          <a:noFill/>
          <a:ln/>
        </p:spPr>
        <p:txBody>
          <a:bodyPr lIns="87731" tIns="43866" rIns="87731" bIns="43866"/>
          <a:lstStyle/>
          <a:p>
            <a:pPr defTabSz="414715">
              <a:spcBef>
                <a:spcPts val="346"/>
              </a:spcBef>
              <a:tabLst>
                <a:tab pos="0" algn="l"/>
                <a:tab pos="413249" algn="l"/>
                <a:tab pos="827963" algn="l"/>
                <a:tab pos="1242677" algn="l"/>
                <a:tab pos="1657392" algn="l"/>
                <a:tab pos="2072106" algn="l"/>
                <a:tab pos="2486820" algn="l"/>
                <a:tab pos="2901534" algn="l"/>
                <a:tab pos="3316249" algn="l"/>
                <a:tab pos="3730963" algn="l"/>
                <a:tab pos="4145677" algn="l"/>
                <a:tab pos="4560391" algn="l"/>
                <a:tab pos="4975106" algn="l"/>
                <a:tab pos="5389819" algn="l"/>
                <a:tab pos="5804534" algn="l"/>
                <a:tab pos="6219248" algn="l"/>
                <a:tab pos="6633962" algn="l"/>
                <a:tab pos="7048676" algn="l"/>
                <a:tab pos="7463391" algn="l"/>
                <a:tab pos="7878105" algn="l"/>
                <a:tab pos="8292819" algn="l"/>
              </a:tabLst>
            </a:pPr>
            <a:endParaRPr lang="de-DE" sz="900"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EE060FAB-C962-46BF-B4E6-AEB08579CCBC}" type="slidenum">
              <a:rPr lang="en-AU" smtClean="0"/>
              <a:pPr/>
              <a:t>36</a:t>
            </a:fld>
            <a:endParaRPr lang="en-AU" smtClean="0"/>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pPr eaLnBrk="1" hangingPunct="1"/>
            <a:r>
              <a:rPr lang="en-US" smtClean="0">
                <a:latin typeface="Arial" pitchFamily="34" charset="0"/>
                <a:ea typeface="ＭＳ Ｐゴシック" pitchFamily="34" charset="-128"/>
                <a:cs typeface="Arial" pitchFamily="34" charset="0"/>
              </a:rPr>
              <a:t>Note some possible possible approaches to attacking the RSA algorithm, as shown.</a:t>
            </a:r>
          </a:p>
          <a:p>
            <a:pPr eaLnBrk="1" hangingPunct="1"/>
            <a:r>
              <a:rPr lang="en-US" smtClean="0">
                <a:latin typeface="Arial" pitchFamily="34" charset="0"/>
                <a:ea typeface="ＭＳ Ｐゴシック" pitchFamily="34" charset="-128"/>
                <a:cs typeface="Arial" pitchFamily="34" charset="0"/>
              </a:rPr>
              <a:t>The defense against the brute-force approach is the same for RSA as for other cryptosystems, namely, use a large key space. Thus the larger the number of bits in d, the better. However because the calculations involved both in key generation and in encryption/decryption are complex, the larger the size of the key, the slower the system will run.</a:t>
            </a:r>
          </a:p>
          <a:p>
            <a:pPr eaLnBrk="1" hangingPunct="1"/>
            <a:r>
              <a:rPr lang="en-US" smtClean="0">
                <a:latin typeface="Arial" pitchFamily="34" charset="0"/>
                <a:ea typeface="ＭＳ Ｐゴシック" pitchFamily="34" charset="-128"/>
                <a:cs typeface="Arial" pitchFamily="34" charset="0"/>
              </a:rPr>
              <a:t>Will now review the other possible types of attacks.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0E20BCB3-1EE6-4182-A28D-5DAFEFC04237}" type="slidenum">
              <a:rPr lang="en-AU" smtClean="0"/>
              <a:pPr/>
              <a:t>37</a:t>
            </a:fld>
            <a:endParaRPr lang="en-AU" smtClean="0"/>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pPr eaLnBrk="1" hangingPunct="1"/>
            <a:r>
              <a:rPr lang="en-US" smtClean="0">
                <a:latin typeface="Arial" pitchFamily="34" charset="0"/>
                <a:ea typeface="ＭＳ Ｐゴシック" pitchFamily="34" charset="-128"/>
                <a:cs typeface="Arial" pitchFamily="34" charset="0"/>
              </a:rPr>
              <a:t>Have a radical new category of attacks developed by Paul Kocher in mid-1990’s, based on observing how long it takes to compute the cryptographic operations. Timing attacks are applicable not just to RSA, but to other public-key cryptography systems. This attack is alarming for two reasons: It comes from a completely unexpected direction and it is a ciphertext-only attack. A timing attack is somewhat analogous to a burglar guessing the combination of a safe by observing how long it takes for someone to turn the dial from number to number.</a:t>
            </a:r>
          </a:p>
          <a:p>
            <a:pPr eaLnBrk="1" hangingPunct="1"/>
            <a:r>
              <a:rPr lang="en-US" smtClean="0">
                <a:latin typeface="Arial" pitchFamily="34" charset="0"/>
                <a:ea typeface="ＭＳ Ｐゴシック" pitchFamily="34" charset="-128"/>
                <a:cs typeface="Arial" pitchFamily="34" charset="0"/>
              </a:rPr>
              <a:t>Although the timing attack is a serious threat, there are simple countermeasures that can be used, including using constant exponentiation time algorithms, adding random delays, or using blind values in calculations.</a:t>
            </a:r>
          </a:p>
          <a:p>
            <a:pPr lvl="1" eaLnBrk="1" hangingPunct="1"/>
            <a:endParaRPr lang="en-US" smtClean="0">
              <a:latin typeface="Arial" pitchFamily="34" charset="0"/>
              <a:ea typeface="ＭＳ Ｐゴシック" pitchFamily="34" charset="-128"/>
              <a:cs typeface="Arial"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269835BD-362A-4673-9562-19ED2D1BF83F}" type="slidenum">
              <a:rPr lang="en-AU" smtClean="0"/>
              <a:pPr/>
              <a:t>38</a:t>
            </a:fld>
            <a:endParaRPr lang="en-AU" smtClean="0"/>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pPr eaLnBrk="1" hangingPunct="1"/>
            <a:r>
              <a:rPr lang="en-US" smtClean="0">
                <a:latin typeface="Arial" pitchFamily="34" charset="0"/>
                <a:ea typeface="ＭＳ Ｐゴシック" pitchFamily="34" charset="-128"/>
                <a:cs typeface="Arial" pitchFamily="34" charset="0"/>
              </a:rPr>
              <a:t>The RSA algorithm is vulnerable to a chosen ciphertext attack (CCA). CCA is defined as an attack in which adversary chooses a number of ciphertexts and is then given the corresponding plaintexts, decrypted with the target’s private key. The adversary exploits properties of RSA and selects blocks of data that, when processed using the target’s private key, yield information needed for cryptanalysis. Can counter simple attacks with random pad of plaintext. More sophisticated variants need to modify the plaintext using a procedure known as optimal asymmetric encryption padding (OAEP).</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p:spPr>
        <p:txBody>
          <a:bodyPr/>
          <a:lstStyle/>
          <a:p>
            <a:pPr eaLnBrk="1" hangingPunct="1"/>
            <a:r>
              <a:rPr lang="en-US" smtClean="0">
                <a:latin typeface="Arial" pitchFamily="34" charset="0"/>
                <a:ea typeface="ＭＳ Ｐゴシック" pitchFamily="34" charset="-128"/>
              </a:rPr>
              <a:t>To counter such attacks RSA Security Inc., a leading RSA vendor and former  holder of the RSA patent, recommends modifying the plaintext using a procedure known as optimal asymmetric encryption padding (OAEP). Stallings Figure 9.10 depicts OAEP encryption. As a first step the message M to be encrypted is padded. A set of optional parameters P is passed through a hash function H. The output is then padded with zeros to get the desired length in the overall data block (DB). Next, a random seed is generated and passed through another hash function, called the mask generating function (MGF). The resulting hash value is bit-by-bit XORed with DB to produce a maskedDB. The maskedDB is in turn passed through the MGF to form a hash that is XORed with the seed to produce the masked seed. The concatenation of the maskedseed and the maskedDB forms the encoded message EM. Note that the EM includes the padded message, masked by the seed, and the seed, masked by the maskedDB. The EM is then encrypted using RSA. </a:t>
            </a:r>
          </a:p>
        </p:txBody>
      </p:sp>
      <p:sp>
        <p:nvSpPr>
          <p:cNvPr id="50180" name="Slide Number Placeholder 3"/>
          <p:cNvSpPr>
            <a:spLocks noGrp="1"/>
          </p:cNvSpPr>
          <p:nvPr>
            <p:ph type="sldNum" sz="quarter" idx="5"/>
          </p:nvPr>
        </p:nvSpPr>
        <p:spPr>
          <a:noFill/>
        </p:spPr>
        <p:txBody>
          <a:bodyPr/>
          <a:lstStyle/>
          <a:p>
            <a:fld id="{76B65DDB-3D3A-4393-8EC9-993457920179}" type="slidenum">
              <a:rPr lang="en-AU" smtClean="0"/>
              <a:pPr/>
              <a:t>39</a:t>
            </a:fld>
            <a:endParaRPr lang="en-AU"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C1A5E2F3-9E2E-4C0B-8891-ADB48131B032}" type="slidenum">
              <a:rPr lang="en-AU" smtClean="0"/>
              <a:pPr/>
              <a:t>40</a:t>
            </a:fld>
            <a:endParaRPr lang="en-AU" smtClean="0"/>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pPr eaLnBrk="1" hangingPunct="1"/>
            <a:r>
              <a:rPr lang="en-US" smtClean="0">
                <a:latin typeface="Arial" pitchFamily="34" charset="0"/>
                <a:ea typeface="ＭＳ Ｐゴシック" pitchFamily="34" charset="-128"/>
              </a:rPr>
              <a:t>Chapter 9 summary.</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image" Target="../media/image2.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4" cstate="print"/>
          <a:srcRect/>
          <a:stretch>
            <a:fillRect/>
          </a:stretch>
        </a:blipFill>
        <a:effectLst/>
      </p:bgPr>
    </p:bg>
    <p:spTree>
      <p:nvGrpSpPr>
        <p:cNvPr id="1" name=""/>
        <p:cNvGrpSpPr/>
        <p:nvPr/>
      </p:nvGrpSpPr>
      <p:grpSpPr>
        <a:xfrm>
          <a:off x="0" y="0"/>
          <a:ext cx="0" cy="0"/>
          <a:chOff x="0" y="0"/>
          <a:chExt cx="0" cy="0"/>
        </a:xfrm>
      </p:grpSpPr>
      <p:sp>
        <p:nvSpPr>
          <p:cNvPr id="83970" name="Rectangle 2"/>
          <p:cNvSpPr>
            <a:spLocks noGrp="1" noChangeArrowheads="1"/>
          </p:cNvSpPr>
          <p:nvPr>
            <p:ph type="ctrTitle"/>
            <p:custDataLst>
              <p:tags r:id="rId1"/>
            </p:custDataLst>
          </p:nvPr>
        </p:nvSpPr>
        <p:spPr>
          <a:xfrm>
            <a:off x="2701925" y="2130425"/>
            <a:ext cx="4800600" cy="1470025"/>
          </a:xfrm>
        </p:spPr>
        <p:txBody>
          <a:bodyPr/>
          <a:lstStyle>
            <a:lvl1pPr>
              <a:buClr>
                <a:srgbClr val="FFFFFF"/>
              </a:buClr>
              <a:defRPr/>
            </a:lvl1pPr>
          </a:lstStyle>
          <a:p>
            <a:r>
              <a:rPr lang="en-US" smtClean="0"/>
              <a:t>Click to edit Master title style</a:t>
            </a:r>
            <a:endParaRPr lang="en-US"/>
          </a:p>
        </p:txBody>
      </p:sp>
      <p:sp>
        <p:nvSpPr>
          <p:cNvPr id="83971" name="Rectangle 3"/>
          <p:cNvSpPr>
            <a:spLocks noGrp="1" noChangeArrowheads="1"/>
          </p:cNvSpPr>
          <p:nvPr>
            <p:ph type="subTitle" idx="1"/>
            <p:custDataLst>
              <p:tags r:id="rId2"/>
            </p:custDataLst>
          </p:nvPr>
        </p:nvSpPr>
        <p:spPr>
          <a:xfrm>
            <a:off x="2701925" y="3886200"/>
            <a:ext cx="4114800" cy="1752600"/>
          </a:xfrm>
        </p:spPr>
        <p:txBody>
          <a:bodyPr/>
          <a:lstStyle>
            <a:lvl1pPr marL="0" indent="0">
              <a:buClr>
                <a:srgbClr val="FFFFFF"/>
              </a:buClr>
              <a:buFontTx/>
              <a:buNone/>
              <a:defRPr/>
            </a:lvl1pPr>
          </a:lstStyle>
          <a:p>
            <a:r>
              <a:rPr lang="en-US" smtClean="0"/>
              <a:t>Click to edit Master subtitle style</a:t>
            </a:r>
            <a:endParaRPr lang="en-US"/>
          </a:p>
        </p:txBody>
      </p:sp>
      <p:sp>
        <p:nvSpPr>
          <p:cNvPr id="83972" name="Rectangle 4"/>
          <p:cNvSpPr>
            <a:spLocks noGrp="1" noChangeArrowheads="1"/>
          </p:cNvSpPr>
          <p:nvPr>
            <p:ph type="dt" sz="half" idx="2"/>
          </p:nvPr>
        </p:nvSpPr>
        <p:spPr/>
        <p:txBody>
          <a:bodyPr/>
          <a:lstStyle>
            <a:lvl1pPr>
              <a:defRPr/>
            </a:lvl1pPr>
          </a:lstStyle>
          <a:p>
            <a:endParaRPr lang="en-US"/>
          </a:p>
        </p:txBody>
      </p:sp>
      <p:sp>
        <p:nvSpPr>
          <p:cNvPr id="83973" name="Rectangle 5"/>
          <p:cNvSpPr>
            <a:spLocks noGrp="1" noChangeArrowheads="1"/>
          </p:cNvSpPr>
          <p:nvPr>
            <p:ph type="ftr" sz="quarter" idx="3"/>
          </p:nvPr>
        </p:nvSpPr>
        <p:spPr/>
        <p:txBody>
          <a:bodyPr/>
          <a:lstStyle>
            <a:lvl1pPr>
              <a:defRPr/>
            </a:lvl1pPr>
          </a:lstStyle>
          <a:p>
            <a:endParaRPr lang="en-US"/>
          </a:p>
        </p:txBody>
      </p:sp>
      <p:sp>
        <p:nvSpPr>
          <p:cNvPr id="83974" name="Rectangle 6"/>
          <p:cNvSpPr>
            <a:spLocks noGrp="1" noChangeArrowheads="1"/>
          </p:cNvSpPr>
          <p:nvPr>
            <p:ph type="sldNum" sz="quarter" idx="4"/>
          </p:nvPr>
        </p:nvSpPr>
        <p:spPr/>
        <p:txBody>
          <a:bodyPr/>
          <a:lstStyle>
            <a:lvl1pPr>
              <a:defRPr/>
            </a:lvl1pPr>
          </a:lstStyle>
          <a:p>
            <a:fld id="{ECD93743-E02C-4DF9-8867-41AAEDD77BBA}"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36E5CF77-B160-487C-992E-76C723877240}"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8340CE0-4EEA-4C36-AB31-0D865C938B41}"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693988" y="1600200"/>
            <a:ext cx="30861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932488" y="1600200"/>
            <a:ext cx="3087687"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1779B3BD-FE31-41E8-8AF8-441408BCAE94}"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B1F3BEDA-7F0E-4D66-BC58-2F87413DEF00}"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ED4E496C-51F8-438A-9376-C99C1857CF09}"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1D4746CF-0DED-47C7-A4BA-1FD92203658D}"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4C4762EB-D25D-445A-96E0-C72217F2609B}"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19562738-C9FD-4893-A355-4ECE52498429}"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97FDAF6-076A-40EF-A49E-32B90F92845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439025" y="274638"/>
            <a:ext cx="158115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693988" y="274638"/>
            <a:ext cx="4592637"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C53B7F81-15AF-4BF2-A3E9-3DB37512E0E6}"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p:nvPr>
        </p:nvSpPr>
        <p:spPr>
          <a:xfrm>
            <a:off x="500034" y="1071546"/>
            <a:ext cx="8215370" cy="1677382"/>
          </a:xfrm>
        </p:spPr>
        <p:txBody>
          <a:bodyPr/>
          <a:lstStyle>
            <a:lvl1pPr>
              <a:buFont typeface="Wingdings" pitchFamily="2" charset="2"/>
              <a:buChar char="§"/>
              <a:defRPr sz="1800"/>
            </a:lvl1pPr>
            <a:lvl3pPr>
              <a:buFont typeface="Symbol" pitchFamily="18" charset="2"/>
              <a:buChar char="-"/>
              <a:defRPr/>
            </a:lvl3pPr>
            <a:lvl4pPr>
              <a:defRPr sz="1200"/>
            </a:lvl4pPr>
            <a:lvl5pPr>
              <a:defRPr sz="1200"/>
            </a:lvl5pPr>
          </a:lstStyle>
          <a:p>
            <a:pPr lvl="0"/>
            <a:r>
              <a:rPr lang="de-DE" dirty="0" smtClean="0"/>
              <a:t>Textmasterformate durch Klicken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de-DE" dirty="0"/>
          </a:p>
        </p:txBody>
      </p:sp>
      <p:sp>
        <p:nvSpPr>
          <p:cNvPr id="6" name="Titel 5"/>
          <p:cNvSpPr>
            <a:spLocks noGrp="1"/>
          </p:cNvSpPr>
          <p:nvPr>
            <p:ph type="title"/>
          </p:nvPr>
        </p:nvSpPr>
        <p:spPr/>
        <p:txBody>
          <a:bodyPr/>
          <a:lstStyle/>
          <a:p>
            <a:r>
              <a:rPr lang="de-DE" smtClean="0"/>
              <a:t>Titelmasterformat durch Klicken bearbeiten</a:t>
            </a:r>
            <a:endParaRPr lang="de-DE"/>
          </a:p>
        </p:txBody>
      </p:sp>
      <p:sp>
        <p:nvSpPr>
          <p:cNvPr id="4" name="Foliennummernplatzhalter 3"/>
          <p:cNvSpPr>
            <a:spLocks noGrp="1"/>
          </p:cNvSpPr>
          <p:nvPr>
            <p:ph type="sldNum" sz="quarter" idx="10"/>
          </p:nvPr>
        </p:nvSpPr>
        <p:spPr>
          <a:xfrm>
            <a:off x="179388" y="6570663"/>
            <a:ext cx="504825" cy="215900"/>
          </a:xfrm>
        </p:spPr>
        <p:txBody>
          <a:bodyPr/>
          <a:lstStyle>
            <a:lvl1pPr>
              <a:defRPr/>
            </a:lvl1pPr>
          </a:lstStyle>
          <a:p>
            <a:pPr>
              <a:defRPr/>
            </a:pPr>
            <a:fld id="{39E7E3D8-7C6E-492A-AD65-B4804BCC9ECD}" type="slidenum">
              <a:rPr lang="ar-SA"/>
              <a:pPr>
                <a:defRPr/>
              </a:pPr>
              <a:t>‹#›</a:t>
            </a:fld>
            <a:endParaRPr lang="de-DE"/>
          </a:p>
        </p:txBody>
      </p:sp>
      <p:sp>
        <p:nvSpPr>
          <p:cNvPr id="5" name="Fußzeilenplatzhalter 4"/>
          <p:cNvSpPr>
            <a:spLocks noGrp="1"/>
          </p:cNvSpPr>
          <p:nvPr>
            <p:ph type="ftr" sz="quarter" idx="11"/>
          </p:nvPr>
        </p:nvSpPr>
        <p:spPr>
          <a:xfrm>
            <a:off x="2411413" y="6572250"/>
            <a:ext cx="4321175" cy="260350"/>
          </a:xfrm>
        </p:spPr>
        <p:txBody>
          <a:bodyPr/>
          <a:lstStyle>
            <a:lvl1pPr>
              <a:defRPr/>
            </a:lvl1pPr>
          </a:lstStyle>
          <a:p>
            <a:pPr>
              <a:defRPr/>
            </a:pPr>
            <a:r>
              <a:rPr lang="de-DE"/>
              <a:t>Chapter 7 of </a:t>
            </a:r>
            <a:r>
              <a:rPr lang="de-DE" i="1"/>
              <a:t>Understanding Cryptography</a:t>
            </a:r>
            <a:r>
              <a:rPr lang="de-DE"/>
              <a:t> by Christof Paar and Jan Pelzl</a:t>
            </a:r>
          </a:p>
        </p:txBody>
      </p:sp>
    </p:spTree>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4" cstate="print"/>
          <a:srcRect/>
          <a:stretch>
            <a:fillRect/>
          </a:stretch>
        </a:blipFill>
        <a:effectLst/>
      </p:bgPr>
    </p:bg>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136525" y="136525"/>
            <a:ext cx="8866188" cy="6581775"/>
          </a:xfrm>
          <a:prstGeom prst="rect">
            <a:avLst/>
          </a:prstGeom>
          <a:solidFill>
            <a:schemeClr val="bg1">
              <a:alpha val="50000"/>
            </a:schemeClr>
          </a:solidFill>
          <a:ln w="9525">
            <a:noFill/>
            <a:miter lim="800000"/>
            <a:headEnd/>
            <a:tailEnd/>
          </a:ln>
          <a:effectLst/>
        </p:spPr>
        <p:txBody>
          <a:bodyPr wrap="none" anchor="ctr"/>
          <a:lstStyle/>
          <a:p>
            <a:endParaRPr lang="en-US"/>
          </a:p>
        </p:txBody>
      </p:sp>
      <p:sp>
        <p:nvSpPr>
          <p:cNvPr id="91139" name="Rectangle 3"/>
          <p:cNvSpPr>
            <a:spLocks noGrp="1" noChangeArrowheads="1"/>
          </p:cNvSpPr>
          <p:nvPr>
            <p:ph type="ctrTitle"/>
            <p:custDataLst>
              <p:tags r:id="rId1"/>
            </p:custDataLst>
          </p:nvPr>
        </p:nvSpPr>
        <p:spPr>
          <a:xfrm>
            <a:off x="455613" y="2130425"/>
            <a:ext cx="7313612" cy="1470025"/>
          </a:xfrm>
        </p:spPr>
        <p:txBody>
          <a:bodyPr/>
          <a:lstStyle>
            <a:lvl1pPr>
              <a:defRPr/>
            </a:lvl1pPr>
          </a:lstStyle>
          <a:p>
            <a:r>
              <a:rPr lang="en-US"/>
              <a:t>Click to edit Master title style</a:t>
            </a:r>
          </a:p>
        </p:txBody>
      </p:sp>
      <p:sp>
        <p:nvSpPr>
          <p:cNvPr id="91140" name="Rectangle 4"/>
          <p:cNvSpPr>
            <a:spLocks noGrp="1" noChangeArrowheads="1"/>
          </p:cNvSpPr>
          <p:nvPr>
            <p:ph type="subTitle" idx="1"/>
            <p:custDataLst>
              <p:tags r:id="rId2"/>
            </p:custDataLst>
          </p:nvPr>
        </p:nvSpPr>
        <p:spPr>
          <a:xfrm>
            <a:off x="455613" y="3886200"/>
            <a:ext cx="7313612" cy="1752600"/>
          </a:xfrm>
        </p:spPr>
        <p:txBody>
          <a:bodyPr/>
          <a:lstStyle>
            <a:lvl1pPr marL="0" indent="0">
              <a:buClr>
                <a:srgbClr val="FFFFFF"/>
              </a:buClr>
              <a:buFontTx/>
              <a:buNone/>
              <a:defRPr/>
            </a:lvl1pPr>
          </a:lstStyle>
          <a:p>
            <a:r>
              <a:rPr lang="en-US"/>
              <a:t>Click to edit Master subtitle style</a:t>
            </a:r>
          </a:p>
        </p:txBody>
      </p:sp>
      <p:sp>
        <p:nvSpPr>
          <p:cNvPr id="91141" name="Rectangle 5"/>
          <p:cNvSpPr>
            <a:spLocks noGrp="1" noChangeArrowheads="1"/>
          </p:cNvSpPr>
          <p:nvPr>
            <p:ph type="dt" sz="half" idx="2"/>
          </p:nvPr>
        </p:nvSpPr>
        <p:spPr/>
        <p:txBody>
          <a:bodyPr/>
          <a:lstStyle>
            <a:lvl1pPr>
              <a:defRPr/>
            </a:lvl1pPr>
          </a:lstStyle>
          <a:p>
            <a:endParaRPr lang="en-US"/>
          </a:p>
        </p:txBody>
      </p:sp>
      <p:sp>
        <p:nvSpPr>
          <p:cNvPr id="91142" name="Rectangle 6"/>
          <p:cNvSpPr>
            <a:spLocks noGrp="1" noChangeArrowheads="1"/>
          </p:cNvSpPr>
          <p:nvPr>
            <p:ph type="ftr" sz="quarter" idx="3"/>
          </p:nvPr>
        </p:nvSpPr>
        <p:spPr/>
        <p:txBody>
          <a:bodyPr/>
          <a:lstStyle>
            <a:lvl1pPr>
              <a:defRPr/>
            </a:lvl1pPr>
          </a:lstStyle>
          <a:p>
            <a:endParaRPr lang="en-US"/>
          </a:p>
        </p:txBody>
      </p:sp>
      <p:sp>
        <p:nvSpPr>
          <p:cNvPr id="91143" name="Rectangle 7"/>
          <p:cNvSpPr>
            <a:spLocks noGrp="1" noChangeArrowheads="1"/>
          </p:cNvSpPr>
          <p:nvPr>
            <p:ph type="sldNum" sz="quarter" idx="4"/>
          </p:nvPr>
        </p:nvSpPr>
        <p:spPr/>
        <p:txBody>
          <a:bodyPr/>
          <a:lstStyle>
            <a:lvl1pPr>
              <a:defRPr/>
            </a:lvl1pPr>
          </a:lstStyle>
          <a:p>
            <a:fld id="{891D524C-976D-4A44-8BF2-F94D6D7D493E}"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75EAE78E-07BB-4C5D-9463-27F5807770E7}" type="slidenum">
              <a:rPr lang="en-US"/>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1C22C21B-73B9-4FCF-B45E-D27612D79CE3}" type="slidenum">
              <a:rPr lang="en-US"/>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5613" y="1600200"/>
            <a:ext cx="403701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5025" y="1600200"/>
            <a:ext cx="403701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7AB187BA-2ED7-43E7-A73A-CF1D70DD7557}" type="slidenum">
              <a:rPr lang="en-US"/>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409DADE5-BDBB-491F-A0AE-1A8C87DCB7B6}" type="slidenum">
              <a:rPr lang="en-US"/>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6B1D3C3B-3278-4CB9-86C4-21342B637B90}" type="slidenum">
              <a:rPr lang="en-US"/>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728EF4B4-877B-418B-BFB3-2129409B3132}" type="slidenum">
              <a:rPr lang="en-US"/>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9DD11E0E-90D7-4947-9793-468D2C695C00}" type="slidenum">
              <a:rPr lang="en-US"/>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18A91485-0E73-45D5-B045-7609725B3DE4}" type="slidenum">
              <a:rPr lang="en-US"/>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3A1A091F-0A43-404F-820A-86864F61109D}" type="slidenum">
              <a:rPr lang="en-US"/>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6225" y="274638"/>
            <a:ext cx="2055813"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5613" y="274638"/>
            <a:ext cx="6018212"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C34EB99D-5E29-4EED-835C-C6F3ABFB33F8}"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ags" Target="../tags/tag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jpe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ags" Target="../tags/tag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cstate="print"/>
          <a:srcRect/>
          <a:stretch>
            <a:fillRect/>
          </a:stretch>
        </a:blip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title"/>
            <p:custDataLst>
              <p:tags r:id="rId14"/>
            </p:custDataLst>
          </p:nvPr>
        </p:nvSpPr>
        <p:spPr bwMode="auto">
          <a:xfrm>
            <a:off x="2703513" y="274638"/>
            <a:ext cx="6316662" cy="1143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63491" name="Rectangle 3"/>
          <p:cNvSpPr>
            <a:spLocks noGrp="1" noChangeArrowheads="1"/>
          </p:cNvSpPr>
          <p:nvPr>
            <p:ph type="body" idx="1"/>
            <p:custDataLst>
              <p:tags r:id="rId15"/>
            </p:custDataLst>
          </p:nvPr>
        </p:nvSpPr>
        <p:spPr bwMode="auto">
          <a:xfrm>
            <a:off x="2693988" y="1600200"/>
            <a:ext cx="6326187"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349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New Roman" pitchFamily="18" charset="0"/>
              </a:defRPr>
            </a:lvl1pPr>
          </a:lstStyle>
          <a:p>
            <a:endParaRPr lang="en-US"/>
          </a:p>
        </p:txBody>
      </p:sp>
      <p:sp>
        <p:nvSpPr>
          <p:cNvPr id="6349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New Roman" pitchFamily="18" charset="0"/>
              </a:defRPr>
            </a:lvl1pPr>
          </a:lstStyle>
          <a:p>
            <a:endParaRPr lang="en-US"/>
          </a:p>
        </p:txBody>
      </p:sp>
      <p:sp>
        <p:nvSpPr>
          <p:cNvPr id="6349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itchFamily="18" charset="0"/>
              </a:defRPr>
            </a:lvl1pPr>
          </a:lstStyle>
          <a:p>
            <a:fld id="{A60DBBE7-7078-44ED-A652-8F30E688D36F}"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60"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83" r:id="rId12"/>
  </p:sldLayoutIdLst>
  <p:txStyles>
    <p:titleStyle>
      <a:lvl1pPr algn="l" rtl="0" eaLnBrk="1" fontAlgn="base" hangingPunct="1">
        <a:spcBef>
          <a:spcPct val="0"/>
        </a:spcBef>
        <a:spcAft>
          <a:spcPct val="0"/>
        </a:spcAft>
        <a:buClr>
          <a:schemeClr val="tx1"/>
        </a:buClr>
        <a:defRPr sz="3200">
          <a:solidFill>
            <a:schemeClr val="tx1"/>
          </a:solidFill>
          <a:latin typeface="+mj-lt"/>
          <a:ea typeface="+mj-ea"/>
          <a:cs typeface="+mj-cs"/>
        </a:defRPr>
      </a:lvl1pPr>
      <a:lvl2pPr algn="l" rtl="0" eaLnBrk="1" fontAlgn="base" hangingPunct="1">
        <a:spcBef>
          <a:spcPct val="0"/>
        </a:spcBef>
        <a:spcAft>
          <a:spcPct val="0"/>
        </a:spcAft>
        <a:buClr>
          <a:schemeClr val="tx1"/>
        </a:buClr>
        <a:defRPr sz="3200">
          <a:solidFill>
            <a:schemeClr val="tx1"/>
          </a:solidFill>
          <a:latin typeface="Arial" charset="0"/>
          <a:cs typeface="Arial" charset="0"/>
        </a:defRPr>
      </a:lvl2pPr>
      <a:lvl3pPr algn="l" rtl="0" eaLnBrk="1" fontAlgn="base" hangingPunct="1">
        <a:spcBef>
          <a:spcPct val="0"/>
        </a:spcBef>
        <a:spcAft>
          <a:spcPct val="0"/>
        </a:spcAft>
        <a:buClr>
          <a:schemeClr val="tx1"/>
        </a:buClr>
        <a:defRPr sz="3200">
          <a:solidFill>
            <a:schemeClr val="tx1"/>
          </a:solidFill>
          <a:latin typeface="Arial" charset="0"/>
          <a:cs typeface="Arial" charset="0"/>
        </a:defRPr>
      </a:lvl3pPr>
      <a:lvl4pPr algn="l" rtl="0" eaLnBrk="1" fontAlgn="base" hangingPunct="1">
        <a:spcBef>
          <a:spcPct val="0"/>
        </a:spcBef>
        <a:spcAft>
          <a:spcPct val="0"/>
        </a:spcAft>
        <a:buClr>
          <a:schemeClr val="tx1"/>
        </a:buClr>
        <a:defRPr sz="3200">
          <a:solidFill>
            <a:schemeClr val="tx1"/>
          </a:solidFill>
          <a:latin typeface="Arial" charset="0"/>
          <a:cs typeface="Arial" charset="0"/>
        </a:defRPr>
      </a:lvl4pPr>
      <a:lvl5pPr algn="l" rtl="0" eaLnBrk="1" fontAlgn="base" hangingPunct="1">
        <a:spcBef>
          <a:spcPct val="0"/>
        </a:spcBef>
        <a:spcAft>
          <a:spcPct val="0"/>
        </a:spcAft>
        <a:buClr>
          <a:schemeClr val="tx1"/>
        </a:buClr>
        <a:defRPr sz="3200">
          <a:solidFill>
            <a:schemeClr val="tx1"/>
          </a:solidFill>
          <a:latin typeface="Arial" charset="0"/>
          <a:cs typeface="Arial" charset="0"/>
        </a:defRPr>
      </a:lvl5pPr>
      <a:lvl6pPr marL="457200" algn="l" rtl="0" eaLnBrk="1" fontAlgn="base" hangingPunct="1">
        <a:spcBef>
          <a:spcPct val="0"/>
        </a:spcBef>
        <a:spcAft>
          <a:spcPct val="0"/>
        </a:spcAft>
        <a:buClr>
          <a:schemeClr val="tx1"/>
        </a:buClr>
        <a:defRPr sz="3200">
          <a:solidFill>
            <a:schemeClr val="tx1"/>
          </a:solidFill>
          <a:latin typeface="Arial" charset="0"/>
          <a:cs typeface="Arial" charset="0"/>
        </a:defRPr>
      </a:lvl6pPr>
      <a:lvl7pPr marL="914400" algn="l" rtl="0" eaLnBrk="1" fontAlgn="base" hangingPunct="1">
        <a:spcBef>
          <a:spcPct val="0"/>
        </a:spcBef>
        <a:spcAft>
          <a:spcPct val="0"/>
        </a:spcAft>
        <a:buClr>
          <a:schemeClr val="tx1"/>
        </a:buClr>
        <a:defRPr sz="3200">
          <a:solidFill>
            <a:schemeClr val="tx1"/>
          </a:solidFill>
          <a:latin typeface="Arial" charset="0"/>
          <a:cs typeface="Arial" charset="0"/>
        </a:defRPr>
      </a:lvl7pPr>
      <a:lvl8pPr marL="1371600" algn="l" rtl="0" eaLnBrk="1" fontAlgn="base" hangingPunct="1">
        <a:spcBef>
          <a:spcPct val="0"/>
        </a:spcBef>
        <a:spcAft>
          <a:spcPct val="0"/>
        </a:spcAft>
        <a:buClr>
          <a:schemeClr val="tx1"/>
        </a:buClr>
        <a:defRPr sz="3200">
          <a:solidFill>
            <a:schemeClr val="tx1"/>
          </a:solidFill>
          <a:latin typeface="Arial" charset="0"/>
          <a:cs typeface="Arial" charset="0"/>
        </a:defRPr>
      </a:lvl8pPr>
      <a:lvl9pPr marL="1828800" algn="l" rtl="0" eaLnBrk="1" fontAlgn="base" hangingPunct="1">
        <a:spcBef>
          <a:spcPct val="0"/>
        </a:spcBef>
        <a:spcAft>
          <a:spcPct val="0"/>
        </a:spcAft>
        <a:buClr>
          <a:schemeClr val="tx1"/>
        </a:buClr>
        <a:defRPr sz="3200">
          <a:solidFill>
            <a:schemeClr val="tx1"/>
          </a:solidFill>
          <a:latin typeface="Arial" charset="0"/>
          <a:cs typeface="Arial" charset="0"/>
        </a:defRPr>
      </a:lvl9pPr>
    </p:titleStyle>
    <p:bodyStyle>
      <a:lvl1pPr marL="342900" indent="-342900" algn="l" rtl="0" eaLnBrk="1" fontAlgn="base" hangingPunct="1">
        <a:spcBef>
          <a:spcPct val="20000"/>
        </a:spcBef>
        <a:spcAft>
          <a:spcPct val="0"/>
        </a:spcAft>
        <a:buClr>
          <a:schemeClr val="tx1"/>
        </a:buClr>
        <a:buChar char="•"/>
        <a:defRPr sz="24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Char char="•"/>
        <a:defRPr sz="2400">
          <a:solidFill>
            <a:schemeClr val="tx1"/>
          </a:solidFill>
          <a:latin typeface="+mn-lt"/>
          <a:cs typeface="+mn-cs"/>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cs typeface="+mn-cs"/>
        </a:defRPr>
      </a:lvl3pPr>
      <a:lvl4pPr marL="1600200" indent="-228600" algn="l" rtl="0" eaLnBrk="1" fontAlgn="base" hangingPunct="1">
        <a:spcBef>
          <a:spcPct val="20000"/>
        </a:spcBef>
        <a:spcAft>
          <a:spcPct val="0"/>
        </a:spcAft>
        <a:buClr>
          <a:schemeClr val="tx1"/>
        </a:buClr>
        <a:buChar char="•"/>
        <a:defRPr sz="2400">
          <a:solidFill>
            <a:schemeClr val="tx1"/>
          </a:solidFill>
          <a:latin typeface="+mn-lt"/>
          <a:cs typeface="+mn-cs"/>
        </a:defRPr>
      </a:lvl4pPr>
      <a:lvl5pPr marL="2057400" indent="-228600" algn="l" rtl="0" eaLnBrk="1" fontAlgn="base" hangingPunct="1">
        <a:spcBef>
          <a:spcPct val="20000"/>
        </a:spcBef>
        <a:spcAft>
          <a:spcPct val="0"/>
        </a:spcAft>
        <a:buClr>
          <a:schemeClr val="tx1"/>
        </a:buClr>
        <a:buChar char="•"/>
        <a:defRPr sz="2400">
          <a:solidFill>
            <a:schemeClr val="tx1"/>
          </a:solidFill>
          <a:latin typeface="+mn-lt"/>
          <a:cs typeface="+mn-cs"/>
        </a:defRPr>
      </a:lvl5pPr>
      <a:lvl6pPr marL="2514600" indent="-228600" algn="l" rtl="0" eaLnBrk="1" fontAlgn="base" hangingPunct="1">
        <a:spcBef>
          <a:spcPct val="20000"/>
        </a:spcBef>
        <a:spcAft>
          <a:spcPct val="0"/>
        </a:spcAft>
        <a:buClr>
          <a:schemeClr val="tx1"/>
        </a:buClr>
        <a:buChar char="•"/>
        <a:defRPr sz="2400">
          <a:solidFill>
            <a:schemeClr val="tx1"/>
          </a:solidFill>
          <a:latin typeface="+mn-lt"/>
          <a:cs typeface="+mn-cs"/>
        </a:defRPr>
      </a:lvl6pPr>
      <a:lvl7pPr marL="2971800" indent="-228600" algn="l" rtl="0" eaLnBrk="1" fontAlgn="base" hangingPunct="1">
        <a:spcBef>
          <a:spcPct val="20000"/>
        </a:spcBef>
        <a:spcAft>
          <a:spcPct val="0"/>
        </a:spcAft>
        <a:buClr>
          <a:schemeClr val="tx1"/>
        </a:buClr>
        <a:buChar char="•"/>
        <a:defRPr sz="2400">
          <a:solidFill>
            <a:schemeClr val="tx1"/>
          </a:solidFill>
          <a:latin typeface="+mn-lt"/>
          <a:cs typeface="+mn-cs"/>
        </a:defRPr>
      </a:lvl7pPr>
      <a:lvl8pPr marL="3429000" indent="-228600" algn="l" rtl="0" eaLnBrk="1" fontAlgn="base" hangingPunct="1">
        <a:spcBef>
          <a:spcPct val="20000"/>
        </a:spcBef>
        <a:spcAft>
          <a:spcPct val="0"/>
        </a:spcAft>
        <a:buClr>
          <a:schemeClr val="tx1"/>
        </a:buClr>
        <a:buChar char="•"/>
        <a:defRPr sz="2400">
          <a:solidFill>
            <a:schemeClr val="tx1"/>
          </a:solidFill>
          <a:latin typeface="+mn-lt"/>
          <a:cs typeface="+mn-cs"/>
        </a:defRPr>
      </a:lvl8pPr>
      <a:lvl9pPr marL="3886200" indent="-228600" algn="l" rtl="0" eaLnBrk="1" fontAlgn="base" hangingPunct="1">
        <a:spcBef>
          <a:spcPct val="20000"/>
        </a:spcBef>
        <a:spcAft>
          <a:spcPct val="0"/>
        </a:spcAft>
        <a:buClr>
          <a:schemeClr val="tx1"/>
        </a:buClr>
        <a:buChar char="•"/>
        <a:defRPr sz="24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5" cstate="print"/>
          <a:srcRect/>
          <a:stretch>
            <a:fillRect/>
          </a:stretch>
        </a:blipFill>
        <a:effectLst/>
      </p:bgPr>
    </p:bg>
    <p:spTree>
      <p:nvGrpSpPr>
        <p:cNvPr id="1" name=""/>
        <p:cNvGrpSpPr/>
        <p:nvPr/>
      </p:nvGrpSpPr>
      <p:grpSpPr>
        <a:xfrm>
          <a:off x="0" y="0"/>
          <a:ext cx="0" cy="0"/>
          <a:chOff x="0" y="0"/>
          <a:chExt cx="0" cy="0"/>
        </a:xfrm>
      </p:grpSpPr>
      <p:sp>
        <p:nvSpPr>
          <p:cNvPr id="90114" name="Rectangle 2"/>
          <p:cNvSpPr>
            <a:spLocks noChangeArrowheads="1"/>
          </p:cNvSpPr>
          <p:nvPr/>
        </p:nvSpPr>
        <p:spPr bwMode="auto">
          <a:xfrm>
            <a:off x="136525" y="136525"/>
            <a:ext cx="8866188" cy="6581775"/>
          </a:xfrm>
          <a:prstGeom prst="rect">
            <a:avLst/>
          </a:prstGeom>
          <a:solidFill>
            <a:schemeClr val="bg1">
              <a:alpha val="50000"/>
            </a:schemeClr>
          </a:solidFill>
          <a:ln w="9525">
            <a:noFill/>
            <a:miter lim="800000"/>
            <a:headEnd/>
            <a:tailEnd/>
          </a:ln>
          <a:effectLst/>
        </p:spPr>
        <p:txBody>
          <a:bodyPr wrap="none" anchor="ctr"/>
          <a:lstStyle/>
          <a:p>
            <a:endParaRPr lang="en-US"/>
          </a:p>
        </p:txBody>
      </p:sp>
      <p:sp>
        <p:nvSpPr>
          <p:cNvPr id="90115" name="Rectangle 3"/>
          <p:cNvSpPr>
            <a:spLocks noGrp="1" noChangeArrowheads="1"/>
          </p:cNvSpPr>
          <p:nvPr>
            <p:ph type="title"/>
            <p:custDataLst>
              <p:tags r:id="rId13"/>
            </p:custDataLst>
          </p:nvPr>
        </p:nvSpPr>
        <p:spPr bwMode="auto">
          <a:xfrm>
            <a:off x="455613" y="274638"/>
            <a:ext cx="8226425" cy="1143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90116" name="Rectangle 4"/>
          <p:cNvSpPr>
            <a:spLocks noGrp="1" noChangeArrowheads="1"/>
          </p:cNvSpPr>
          <p:nvPr>
            <p:ph type="body" idx="1"/>
            <p:custDataLst>
              <p:tags r:id="rId14"/>
            </p:custDataLst>
          </p:nvPr>
        </p:nvSpPr>
        <p:spPr bwMode="auto">
          <a:xfrm>
            <a:off x="455613" y="1600200"/>
            <a:ext cx="8226425"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90117" name="Rectangle 5"/>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90118" name="Rectangle 6"/>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90119" name="Rectangle 7"/>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393F33D9-46C6-424A-AB34-EB42E4E3A633}"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xStyles>
    <p:titleStyle>
      <a:lvl1pPr algn="l" rtl="0" fontAlgn="base">
        <a:spcBef>
          <a:spcPct val="0"/>
        </a:spcBef>
        <a:spcAft>
          <a:spcPct val="0"/>
        </a:spcAft>
        <a:buClr>
          <a:schemeClr val="tx1"/>
        </a:buClr>
        <a:defRPr sz="3200">
          <a:solidFill>
            <a:schemeClr val="tx1"/>
          </a:solidFill>
          <a:latin typeface="+mj-lt"/>
          <a:ea typeface="+mj-ea"/>
          <a:cs typeface="+mj-cs"/>
        </a:defRPr>
      </a:lvl1pPr>
      <a:lvl2pPr algn="l" rtl="0" fontAlgn="base">
        <a:spcBef>
          <a:spcPct val="0"/>
        </a:spcBef>
        <a:spcAft>
          <a:spcPct val="0"/>
        </a:spcAft>
        <a:buClr>
          <a:schemeClr val="tx1"/>
        </a:buClr>
        <a:defRPr sz="3200">
          <a:solidFill>
            <a:schemeClr val="tx1"/>
          </a:solidFill>
          <a:latin typeface="Arial" charset="0"/>
        </a:defRPr>
      </a:lvl2pPr>
      <a:lvl3pPr algn="l" rtl="0" fontAlgn="base">
        <a:spcBef>
          <a:spcPct val="0"/>
        </a:spcBef>
        <a:spcAft>
          <a:spcPct val="0"/>
        </a:spcAft>
        <a:buClr>
          <a:schemeClr val="tx1"/>
        </a:buClr>
        <a:defRPr sz="3200">
          <a:solidFill>
            <a:schemeClr val="tx1"/>
          </a:solidFill>
          <a:latin typeface="Arial" charset="0"/>
        </a:defRPr>
      </a:lvl3pPr>
      <a:lvl4pPr algn="l" rtl="0" fontAlgn="base">
        <a:spcBef>
          <a:spcPct val="0"/>
        </a:spcBef>
        <a:spcAft>
          <a:spcPct val="0"/>
        </a:spcAft>
        <a:buClr>
          <a:schemeClr val="tx1"/>
        </a:buClr>
        <a:defRPr sz="3200">
          <a:solidFill>
            <a:schemeClr val="tx1"/>
          </a:solidFill>
          <a:latin typeface="Arial" charset="0"/>
        </a:defRPr>
      </a:lvl4pPr>
      <a:lvl5pPr algn="l" rtl="0" fontAlgn="base">
        <a:spcBef>
          <a:spcPct val="0"/>
        </a:spcBef>
        <a:spcAft>
          <a:spcPct val="0"/>
        </a:spcAft>
        <a:buClr>
          <a:schemeClr val="tx1"/>
        </a:buClr>
        <a:defRPr sz="3200">
          <a:solidFill>
            <a:schemeClr val="tx1"/>
          </a:solidFill>
          <a:latin typeface="Arial" charset="0"/>
        </a:defRPr>
      </a:lvl5pPr>
      <a:lvl6pPr marL="457200" algn="l" rtl="0" fontAlgn="base">
        <a:spcBef>
          <a:spcPct val="0"/>
        </a:spcBef>
        <a:spcAft>
          <a:spcPct val="0"/>
        </a:spcAft>
        <a:buClr>
          <a:schemeClr val="tx1"/>
        </a:buClr>
        <a:defRPr sz="3200">
          <a:solidFill>
            <a:schemeClr val="tx1"/>
          </a:solidFill>
          <a:latin typeface="Arial" charset="0"/>
        </a:defRPr>
      </a:lvl6pPr>
      <a:lvl7pPr marL="914400" algn="l" rtl="0" fontAlgn="base">
        <a:spcBef>
          <a:spcPct val="0"/>
        </a:spcBef>
        <a:spcAft>
          <a:spcPct val="0"/>
        </a:spcAft>
        <a:buClr>
          <a:schemeClr val="tx1"/>
        </a:buClr>
        <a:defRPr sz="3200">
          <a:solidFill>
            <a:schemeClr val="tx1"/>
          </a:solidFill>
          <a:latin typeface="Arial" charset="0"/>
        </a:defRPr>
      </a:lvl7pPr>
      <a:lvl8pPr marL="1371600" algn="l" rtl="0" fontAlgn="base">
        <a:spcBef>
          <a:spcPct val="0"/>
        </a:spcBef>
        <a:spcAft>
          <a:spcPct val="0"/>
        </a:spcAft>
        <a:buClr>
          <a:schemeClr val="tx1"/>
        </a:buClr>
        <a:defRPr sz="3200">
          <a:solidFill>
            <a:schemeClr val="tx1"/>
          </a:solidFill>
          <a:latin typeface="Arial" charset="0"/>
        </a:defRPr>
      </a:lvl8pPr>
      <a:lvl9pPr marL="1828800" algn="l" rtl="0" fontAlgn="base">
        <a:spcBef>
          <a:spcPct val="0"/>
        </a:spcBef>
        <a:spcAft>
          <a:spcPct val="0"/>
        </a:spcAft>
        <a:buClr>
          <a:schemeClr val="tx1"/>
        </a:buClr>
        <a:defRPr sz="3200">
          <a:solidFill>
            <a:schemeClr val="tx1"/>
          </a:solidFill>
          <a:latin typeface="Arial" charset="0"/>
        </a:defRPr>
      </a:lvl9pPr>
    </p:titleStyle>
    <p:bodyStyle>
      <a:lvl1pPr marL="342900" indent="-342900" algn="l" rtl="0" fontAlgn="base">
        <a:spcBef>
          <a:spcPct val="20000"/>
        </a:spcBef>
        <a:spcAft>
          <a:spcPct val="0"/>
        </a:spcAft>
        <a:buClr>
          <a:schemeClr val="tx1"/>
        </a:buClr>
        <a:buChar char="•"/>
        <a:defRPr sz="2400">
          <a:solidFill>
            <a:schemeClr val="tx1"/>
          </a:solidFill>
          <a:latin typeface="+mn-lt"/>
          <a:ea typeface="+mn-ea"/>
          <a:cs typeface="+mn-cs"/>
        </a:defRPr>
      </a:lvl1pPr>
      <a:lvl2pPr marL="742950" indent="-285750" algn="l" rtl="0" fontAlgn="base">
        <a:spcBef>
          <a:spcPct val="20000"/>
        </a:spcBef>
        <a:spcAft>
          <a:spcPct val="0"/>
        </a:spcAft>
        <a:buClr>
          <a:schemeClr val="tx1"/>
        </a:buClr>
        <a:buChar char="•"/>
        <a:defRPr sz="2400">
          <a:solidFill>
            <a:schemeClr val="tx1"/>
          </a:solidFill>
          <a:latin typeface="+mn-lt"/>
        </a:defRPr>
      </a:lvl2pPr>
      <a:lvl3pPr marL="1143000" indent="-228600" algn="l" rtl="0" fontAlgn="base">
        <a:spcBef>
          <a:spcPct val="20000"/>
        </a:spcBef>
        <a:spcAft>
          <a:spcPct val="0"/>
        </a:spcAft>
        <a:buClr>
          <a:schemeClr val="tx1"/>
        </a:buClr>
        <a:buChar char="•"/>
        <a:defRPr sz="2400">
          <a:solidFill>
            <a:schemeClr val="tx1"/>
          </a:solidFill>
          <a:latin typeface="+mn-lt"/>
        </a:defRPr>
      </a:lvl3pPr>
      <a:lvl4pPr marL="1600200" indent="-228600" algn="l" rtl="0" fontAlgn="base">
        <a:spcBef>
          <a:spcPct val="20000"/>
        </a:spcBef>
        <a:spcAft>
          <a:spcPct val="0"/>
        </a:spcAft>
        <a:buClr>
          <a:schemeClr val="tx1"/>
        </a:buClr>
        <a:buChar char="•"/>
        <a:defRPr sz="2400">
          <a:solidFill>
            <a:schemeClr val="tx1"/>
          </a:solidFill>
          <a:latin typeface="+mn-lt"/>
        </a:defRPr>
      </a:lvl4pPr>
      <a:lvl5pPr marL="2057400" indent="-228600" algn="l" rtl="0" fontAlgn="base">
        <a:spcBef>
          <a:spcPct val="20000"/>
        </a:spcBef>
        <a:spcAft>
          <a:spcPct val="0"/>
        </a:spcAft>
        <a:buClr>
          <a:schemeClr val="tx1"/>
        </a:buClr>
        <a:buChar char="•"/>
        <a:defRPr sz="2400">
          <a:solidFill>
            <a:schemeClr val="tx1"/>
          </a:solidFill>
          <a:latin typeface="+mn-lt"/>
        </a:defRPr>
      </a:lvl5pPr>
      <a:lvl6pPr marL="2514600" indent="-228600" algn="l" rtl="0" fontAlgn="base">
        <a:spcBef>
          <a:spcPct val="20000"/>
        </a:spcBef>
        <a:spcAft>
          <a:spcPct val="0"/>
        </a:spcAft>
        <a:buClr>
          <a:schemeClr val="tx1"/>
        </a:buClr>
        <a:buChar char="•"/>
        <a:defRPr sz="2400">
          <a:solidFill>
            <a:schemeClr val="tx1"/>
          </a:solidFill>
          <a:latin typeface="+mn-lt"/>
        </a:defRPr>
      </a:lvl6pPr>
      <a:lvl7pPr marL="2971800" indent="-228600" algn="l" rtl="0" fontAlgn="base">
        <a:spcBef>
          <a:spcPct val="20000"/>
        </a:spcBef>
        <a:spcAft>
          <a:spcPct val="0"/>
        </a:spcAft>
        <a:buClr>
          <a:schemeClr val="tx1"/>
        </a:buClr>
        <a:buChar char="•"/>
        <a:defRPr sz="2400">
          <a:solidFill>
            <a:schemeClr val="tx1"/>
          </a:solidFill>
          <a:latin typeface="+mn-lt"/>
        </a:defRPr>
      </a:lvl7pPr>
      <a:lvl8pPr marL="3429000" indent="-228600" algn="l" rtl="0" fontAlgn="base">
        <a:spcBef>
          <a:spcPct val="20000"/>
        </a:spcBef>
        <a:spcAft>
          <a:spcPct val="0"/>
        </a:spcAft>
        <a:buClr>
          <a:schemeClr val="tx1"/>
        </a:buClr>
        <a:buChar char="•"/>
        <a:defRPr sz="2400">
          <a:solidFill>
            <a:schemeClr val="tx1"/>
          </a:solidFill>
          <a:latin typeface="+mn-lt"/>
        </a:defRPr>
      </a:lvl8pPr>
      <a:lvl9pPr marL="3886200" indent="-228600" algn="l" rtl="0" fontAlgn="base">
        <a:spcBef>
          <a:spcPct val="20000"/>
        </a:spcBef>
        <a:spcAft>
          <a:spcPct val="0"/>
        </a:spcAft>
        <a:buClr>
          <a:schemeClr val="tx1"/>
        </a:buClr>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838200" y="457200"/>
            <a:ext cx="7848600" cy="2765425"/>
          </a:xfrm>
        </p:spPr>
        <p:txBody>
          <a:bodyPr/>
          <a:lstStyle/>
          <a:p>
            <a:pPr eaLnBrk="1" hangingPunct="1"/>
            <a:r>
              <a:rPr lang="en-US" smtClean="0">
                <a:ea typeface="ＭＳ Ｐゴシック" pitchFamily="34" charset="-128"/>
              </a:rPr>
              <a:t>Cryptography </a:t>
            </a:r>
            <a:endParaRPr lang="en-AU" smtClean="0">
              <a:ea typeface="ＭＳ Ｐゴシック" pitchFamily="34" charset="-128"/>
            </a:endParaRPr>
          </a:p>
        </p:txBody>
      </p:sp>
      <p:sp>
        <p:nvSpPr>
          <p:cNvPr id="84995" name="Rectangle 3"/>
          <p:cNvSpPr>
            <a:spLocks noGrp="1" noChangeArrowheads="1"/>
          </p:cNvSpPr>
          <p:nvPr>
            <p:ph type="subTitle" idx="1"/>
          </p:nvPr>
        </p:nvSpPr>
        <p:spPr>
          <a:xfrm>
            <a:off x="1371600" y="3657600"/>
            <a:ext cx="6400800" cy="2671763"/>
          </a:xfrm>
        </p:spPr>
        <p:txBody>
          <a:bodyPr rtlCol="0">
            <a:normAutofit/>
          </a:bodyPr>
          <a:lstStyle/>
          <a:p>
            <a:pPr eaLnBrk="1" fontAlgn="auto" hangingPunct="1">
              <a:spcAft>
                <a:spcPts val="0"/>
              </a:spcAft>
              <a:buFont typeface="Wingdings" pitchFamily="2" charset="2"/>
              <a:buNone/>
              <a:defRPr/>
            </a:pPr>
            <a:r>
              <a:rPr lang="en-AU" dirty="0" smtClean="0">
                <a:ea typeface="ＭＳ Ｐゴシック" pitchFamily="34" charset="-128"/>
              </a:rPr>
              <a:t>Public key  cryptography and RSA</a:t>
            </a:r>
          </a:p>
          <a:p>
            <a:pPr eaLnBrk="1" fontAlgn="auto" hangingPunct="1">
              <a:spcAft>
                <a:spcPts val="0"/>
              </a:spcAft>
              <a:buFont typeface="Wingdings" pitchFamily="2" charset="2"/>
              <a:buNone/>
              <a:defRPr/>
            </a:pPr>
            <a:r>
              <a:rPr lang="en-AU" dirty="0" smtClean="0">
                <a:ea typeface="ＭＳ Ｐゴシック" pitchFamily="34" charset="-128"/>
              </a:rPr>
              <a:t>Lecture 7</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68313" y="620713"/>
            <a:ext cx="8229600" cy="1143000"/>
          </a:xfrm>
        </p:spPr>
        <p:txBody>
          <a:bodyPr rtlCol="0">
            <a:normAutofit fontScale="90000"/>
          </a:bodyPr>
          <a:lstStyle/>
          <a:p>
            <a:pPr eaLnBrk="1" fontAlgn="auto" hangingPunct="1">
              <a:spcAft>
                <a:spcPts val="0"/>
              </a:spcAft>
              <a:defRPr/>
            </a:pPr>
            <a:r>
              <a:rPr lang="en-US" sz="4000" dirty="0" smtClean="0">
                <a:ea typeface="ＭＳ Ｐゴシック" pitchFamily="34" charset="-128"/>
              </a:rPr>
              <a:t>Chapter 9 – </a:t>
            </a:r>
            <a:r>
              <a:rPr lang="en-AU" sz="4000" dirty="0" smtClean="0">
                <a:ea typeface="ＭＳ Ｐゴシック" pitchFamily="34" charset="-128"/>
              </a:rPr>
              <a:t>Public Key Cryptography and RSA</a:t>
            </a:r>
          </a:p>
        </p:txBody>
      </p:sp>
      <p:sp>
        <p:nvSpPr>
          <p:cNvPr id="3075" name="Rectangle 3"/>
          <p:cNvSpPr>
            <a:spLocks noGrp="1" noChangeArrowheads="1"/>
          </p:cNvSpPr>
          <p:nvPr>
            <p:ph idx="1"/>
          </p:nvPr>
        </p:nvSpPr>
        <p:spPr>
          <a:xfrm>
            <a:off x="539750" y="2133600"/>
            <a:ext cx="8229600" cy="3989388"/>
          </a:xfrm>
        </p:spPr>
        <p:txBody>
          <a:bodyPr/>
          <a:lstStyle/>
          <a:p>
            <a:pPr eaLnBrk="1" hangingPunct="1">
              <a:buFont typeface="Wingdings" pitchFamily="2" charset="2"/>
              <a:buNone/>
            </a:pPr>
            <a:r>
              <a:rPr lang="en-AU" sz="2800" i="1" smtClean="0">
                <a:ea typeface="ＭＳ Ｐゴシック" pitchFamily="34" charset="-128"/>
              </a:rPr>
              <a:t>Every Egyptian received two names, which were known respectively as the true name and the good name, or the great name and the little name; and while the good or little name was made public, the true or great name appears to have been carefully concealed.</a:t>
            </a:r>
          </a:p>
          <a:p>
            <a:pPr eaLnBrk="1" hangingPunct="1">
              <a:buFont typeface="Wingdings" pitchFamily="2" charset="2"/>
              <a:buNone/>
            </a:pPr>
            <a:r>
              <a:rPr lang="en-AU" sz="2800" b="1" smtClean="0">
                <a:ea typeface="ＭＳ Ｐゴシック" pitchFamily="34" charset="-128"/>
              </a:rPr>
              <a:t>—</a:t>
            </a:r>
            <a:r>
              <a:rPr lang="en-AU" sz="2800" b="1" i="1" smtClean="0">
                <a:ea typeface="ＭＳ Ｐゴシック" pitchFamily="34" charset="-128"/>
              </a:rPr>
              <a:t>The Golden Bough, </a:t>
            </a:r>
            <a:r>
              <a:rPr lang="en-AU" sz="2800" b="1" smtClean="0">
                <a:ea typeface="ＭＳ Ｐゴシック" pitchFamily="34" charset="-128"/>
              </a:rPr>
              <a:t>Sir James George Frazer</a:t>
            </a:r>
            <a:endParaRPr lang="en-AU" sz="2800" smtClean="0">
              <a:ea typeface="ＭＳ Ｐゴシック" pitchFamily="34" charset="-128"/>
            </a:endParaRPr>
          </a:p>
          <a:p>
            <a:pPr eaLnBrk="1" hangingPunct="1"/>
            <a:endParaRPr lang="en-AU" sz="2800" smtClean="0">
              <a:ea typeface="ＭＳ Ｐゴシック" pitchFamily="34" charset="-128"/>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AU" smtClean="0"/>
              <a:t>Private-Key Cryptography</a:t>
            </a:r>
          </a:p>
        </p:txBody>
      </p:sp>
      <p:sp>
        <p:nvSpPr>
          <p:cNvPr id="4099" name="Rectangle 3"/>
          <p:cNvSpPr>
            <a:spLocks noGrp="1" noChangeArrowheads="1"/>
          </p:cNvSpPr>
          <p:nvPr>
            <p:ph type="body" idx="1"/>
          </p:nvPr>
        </p:nvSpPr>
        <p:spPr/>
        <p:txBody>
          <a:bodyPr/>
          <a:lstStyle/>
          <a:p>
            <a:r>
              <a:rPr lang="en-AU" sz="2800" smtClean="0"/>
              <a:t>traditional </a:t>
            </a:r>
            <a:r>
              <a:rPr lang="en-AU" sz="2800" b="1" smtClean="0"/>
              <a:t>private/secret/single key</a:t>
            </a:r>
            <a:r>
              <a:rPr lang="en-AU" sz="2800" smtClean="0"/>
              <a:t> cryptography uses </a:t>
            </a:r>
            <a:r>
              <a:rPr lang="en-AU" sz="2800" b="1" smtClean="0"/>
              <a:t>one</a:t>
            </a:r>
            <a:r>
              <a:rPr lang="en-AU" sz="2800" smtClean="0"/>
              <a:t> key </a:t>
            </a:r>
          </a:p>
          <a:p>
            <a:r>
              <a:rPr lang="en-AU" sz="2800" smtClean="0"/>
              <a:t>Key is shared by both sender and receiver </a:t>
            </a:r>
          </a:p>
          <a:p>
            <a:r>
              <a:rPr lang="en-AU" sz="2800" smtClean="0"/>
              <a:t>if the key is disclosed communications are compromised </a:t>
            </a:r>
          </a:p>
          <a:p>
            <a:r>
              <a:rPr lang="en-AU" sz="2800" smtClean="0"/>
              <a:t>also known as </a:t>
            </a:r>
            <a:r>
              <a:rPr lang="en-AU" sz="2800" b="1" smtClean="0"/>
              <a:t>symmetric</a:t>
            </a:r>
            <a:r>
              <a:rPr lang="en-AU" sz="2800" smtClean="0"/>
              <a:t>, both parties are equal </a:t>
            </a:r>
          </a:p>
          <a:p>
            <a:pPr lvl="1"/>
            <a:r>
              <a:rPr lang="en-AU" sz="2400" smtClean="0"/>
              <a:t>hence does not protect sender from receiver forging a message &amp; claiming is sent by sender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liennummernplatzhalter 3"/>
          <p:cNvSpPr>
            <a:spLocks noGrp="1"/>
          </p:cNvSpPr>
          <p:nvPr>
            <p:ph type="sldNum" sz="quarter" idx="10"/>
          </p:nvPr>
        </p:nvSpPr>
        <p:spPr>
          <a:noFill/>
        </p:spPr>
        <p:txBody>
          <a:bodyPr/>
          <a:lstStyle/>
          <a:p>
            <a:fld id="{B8611FF0-9004-4832-8B24-F55DE29C8952}" type="slidenum">
              <a:rPr lang="de-DE" smtClean="0">
                <a:latin typeface="Arial" pitchFamily="34" charset="0"/>
              </a:rPr>
              <a:pPr/>
              <a:t>4</a:t>
            </a:fld>
            <a:r>
              <a:rPr lang="de-DE" smtClean="0">
                <a:latin typeface="Arial" pitchFamily="34" charset="0"/>
              </a:rPr>
              <a:t>/29</a:t>
            </a:r>
          </a:p>
        </p:txBody>
      </p:sp>
      <p:sp>
        <p:nvSpPr>
          <p:cNvPr id="11267" name="Rectangle 5"/>
          <p:cNvSpPr>
            <a:spLocks noGrp="1" noChangeArrowheads="1"/>
          </p:cNvSpPr>
          <p:nvPr>
            <p:ph type="title"/>
          </p:nvPr>
        </p:nvSpPr>
        <p:spPr/>
        <p:txBody>
          <a:bodyPr/>
          <a:lstStyle/>
          <a:p>
            <a:r>
              <a:rPr lang="de-DE" smtClean="0"/>
              <a:t>Symmetric Cryptography: Analogy</a:t>
            </a:r>
          </a:p>
        </p:txBody>
      </p:sp>
      <p:sp>
        <p:nvSpPr>
          <p:cNvPr id="11268" name="Fußzeilenplatzhalter 4"/>
          <p:cNvSpPr>
            <a:spLocks noGrp="1"/>
          </p:cNvSpPr>
          <p:nvPr>
            <p:ph type="ftr" sz="quarter" idx="11"/>
          </p:nvPr>
        </p:nvSpPr>
        <p:spPr>
          <a:xfrm>
            <a:off x="2286000" y="6245225"/>
            <a:ext cx="3733800" cy="476250"/>
          </a:xfrm>
          <a:noFill/>
        </p:spPr>
        <p:txBody>
          <a:bodyPr/>
          <a:lstStyle/>
          <a:p>
            <a:r>
              <a:rPr lang="de-DE" dirty="0" smtClean="0">
                <a:latin typeface="Arial" pitchFamily="34" charset="0"/>
              </a:rPr>
              <a:t>Chapter 6 of </a:t>
            </a:r>
            <a:r>
              <a:rPr lang="de-DE" i="1" dirty="0" smtClean="0">
                <a:latin typeface="Arial" pitchFamily="34" charset="0"/>
              </a:rPr>
              <a:t>Understanding Cryptography</a:t>
            </a:r>
            <a:r>
              <a:rPr lang="de-DE" dirty="0" smtClean="0">
                <a:latin typeface="Arial" pitchFamily="34" charset="0"/>
              </a:rPr>
              <a:t> by Christof Paar and Jan Pelzl</a:t>
            </a:r>
          </a:p>
        </p:txBody>
      </p:sp>
      <p:pic>
        <p:nvPicPr>
          <p:cNvPr id="11269" name="Picture 2"/>
          <p:cNvPicPr>
            <a:picLocks noChangeAspect="1" noChangeArrowheads="1"/>
          </p:cNvPicPr>
          <p:nvPr/>
        </p:nvPicPr>
        <p:blipFill>
          <a:blip r:embed="rId3" cstate="print"/>
          <a:srcRect/>
          <a:stretch>
            <a:fillRect/>
          </a:stretch>
        </p:blipFill>
        <p:spPr bwMode="auto">
          <a:xfrm>
            <a:off x="714375" y="1428750"/>
            <a:ext cx="6978650" cy="2143125"/>
          </a:xfrm>
          <a:prstGeom prst="rect">
            <a:avLst/>
          </a:prstGeom>
          <a:noFill/>
          <a:ln w="9525">
            <a:noFill/>
            <a:miter lim="800000"/>
            <a:headEnd/>
            <a:tailEnd/>
          </a:ln>
        </p:spPr>
      </p:pic>
      <p:sp>
        <p:nvSpPr>
          <p:cNvPr id="11270" name="Text Box 24"/>
          <p:cNvSpPr txBox="1">
            <a:spLocks noChangeArrowheads="1"/>
          </p:cNvSpPr>
          <p:nvPr/>
        </p:nvSpPr>
        <p:spPr bwMode="auto">
          <a:xfrm>
            <a:off x="1214438" y="2500313"/>
            <a:ext cx="288925" cy="304800"/>
          </a:xfrm>
          <a:prstGeom prst="rect">
            <a:avLst/>
          </a:prstGeom>
          <a:noFill/>
          <a:ln w="9525">
            <a:noFill/>
            <a:miter lim="800000"/>
            <a:headEnd/>
            <a:tailEnd/>
          </a:ln>
        </p:spPr>
        <p:txBody>
          <a:bodyPr lIns="0" tIns="0" rIns="0" bIns="0">
            <a:spAutoFit/>
          </a:bodyPr>
          <a:lstStyle/>
          <a:p>
            <a:pPr algn="ctr">
              <a:spcBef>
                <a:spcPct val="50000"/>
              </a:spcBef>
            </a:pPr>
            <a:r>
              <a:rPr lang="de-DE" sz="2000" i="1"/>
              <a:t>K</a:t>
            </a:r>
          </a:p>
        </p:txBody>
      </p:sp>
      <p:sp>
        <p:nvSpPr>
          <p:cNvPr id="11271" name="Text Box 24"/>
          <p:cNvSpPr txBox="1">
            <a:spLocks noChangeArrowheads="1"/>
          </p:cNvSpPr>
          <p:nvPr/>
        </p:nvSpPr>
        <p:spPr bwMode="auto">
          <a:xfrm>
            <a:off x="7215188" y="2500313"/>
            <a:ext cx="288925" cy="304800"/>
          </a:xfrm>
          <a:prstGeom prst="rect">
            <a:avLst/>
          </a:prstGeom>
          <a:noFill/>
          <a:ln w="9525">
            <a:noFill/>
            <a:miter lim="800000"/>
            <a:headEnd/>
            <a:tailEnd/>
          </a:ln>
        </p:spPr>
        <p:txBody>
          <a:bodyPr lIns="0" tIns="0" rIns="0" bIns="0">
            <a:spAutoFit/>
          </a:bodyPr>
          <a:lstStyle/>
          <a:p>
            <a:pPr algn="ctr">
              <a:spcBef>
                <a:spcPct val="50000"/>
              </a:spcBef>
            </a:pPr>
            <a:r>
              <a:rPr lang="de-DE" sz="2000" i="1"/>
              <a:t>K</a:t>
            </a:r>
          </a:p>
        </p:txBody>
      </p:sp>
      <p:sp>
        <p:nvSpPr>
          <p:cNvPr id="34" name="Rectangle 6"/>
          <p:cNvSpPr txBox="1">
            <a:spLocks noChangeArrowheads="1"/>
          </p:cNvSpPr>
          <p:nvPr/>
        </p:nvSpPr>
        <p:spPr bwMode="auto">
          <a:xfrm>
            <a:off x="1317625" y="1357313"/>
            <a:ext cx="7683500" cy="4000500"/>
          </a:xfrm>
          <a:prstGeom prst="rect">
            <a:avLst/>
          </a:prstGeom>
          <a:noFill/>
          <a:ln w="9525">
            <a:noFill/>
            <a:miter lim="800000"/>
            <a:headEnd/>
            <a:tailEnd/>
          </a:ln>
          <a:effectLst/>
        </p:spPr>
        <p:txBody>
          <a:bodyPr lIns="0" tIns="0" rIns="0" bIns="0">
            <a:spAutoFit/>
          </a:bodyPr>
          <a:lstStyle/>
          <a:p>
            <a:pPr marL="195263" indent="-195263">
              <a:lnSpc>
                <a:spcPct val="125000"/>
              </a:lnSpc>
              <a:spcBef>
                <a:spcPct val="25000"/>
              </a:spcBef>
              <a:buClr>
                <a:srgbClr val="007AC2"/>
              </a:buClr>
              <a:buSzPct val="120000"/>
              <a:defRPr/>
            </a:pPr>
            <a:endParaRPr lang="de-DE" sz="1600" kern="0" dirty="0">
              <a:latin typeface="+mn-lt"/>
            </a:endParaRPr>
          </a:p>
          <a:p>
            <a:pPr marL="195263" indent="-195263">
              <a:lnSpc>
                <a:spcPct val="125000"/>
              </a:lnSpc>
              <a:spcBef>
                <a:spcPct val="25000"/>
              </a:spcBef>
              <a:buClr>
                <a:srgbClr val="007AC2"/>
              </a:buClr>
              <a:buSzPct val="120000"/>
              <a:defRPr/>
            </a:pPr>
            <a:endParaRPr lang="de-DE" sz="1600" kern="0" dirty="0">
              <a:latin typeface="+mn-lt"/>
            </a:endParaRPr>
          </a:p>
          <a:p>
            <a:pPr marL="195263" indent="-195263">
              <a:lnSpc>
                <a:spcPct val="125000"/>
              </a:lnSpc>
              <a:spcBef>
                <a:spcPct val="25000"/>
              </a:spcBef>
              <a:buClr>
                <a:srgbClr val="007AC2"/>
              </a:buClr>
              <a:buSzPct val="120000"/>
              <a:buFontTx/>
              <a:buChar char="•"/>
              <a:defRPr/>
            </a:pPr>
            <a:endParaRPr lang="de-DE" sz="1600" kern="0" dirty="0">
              <a:latin typeface="+mn-lt"/>
            </a:endParaRPr>
          </a:p>
          <a:p>
            <a:pPr marL="195263" indent="-195263">
              <a:lnSpc>
                <a:spcPct val="125000"/>
              </a:lnSpc>
              <a:spcBef>
                <a:spcPct val="25000"/>
              </a:spcBef>
              <a:buClr>
                <a:srgbClr val="007AC2"/>
              </a:buClr>
              <a:buSzPct val="120000"/>
              <a:defRPr/>
            </a:pPr>
            <a:endParaRPr lang="de-DE" sz="1600" kern="0" dirty="0">
              <a:latin typeface="+mn-lt"/>
            </a:endParaRPr>
          </a:p>
          <a:p>
            <a:pPr marL="195263" indent="-195263">
              <a:lnSpc>
                <a:spcPct val="125000"/>
              </a:lnSpc>
              <a:spcBef>
                <a:spcPct val="25000"/>
              </a:spcBef>
              <a:buClr>
                <a:srgbClr val="007AC2"/>
              </a:buClr>
              <a:buSzPct val="120000"/>
              <a:buFontTx/>
              <a:buChar char="•"/>
              <a:defRPr/>
            </a:pPr>
            <a:endParaRPr lang="de-DE" sz="1600" kern="0" dirty="0">
              <a:latin typeface="+mn-lt"/>
            </a:endParaRPr>
          </a:p>
          <a:p>
            <a:pPr marL="195263" indent="-195263">
              <a:lnSpc>
                <a:spcPct val="125000"/>
              </a:lnSpc>
              <a:spcBef>
                <a:spcPct val="25000"/>
              </a:spcBef>
              <a:buClr>
                <a:srgbClr val="007AC2"/>
              </a:buClr>
              <a:buSzPct val="120000"/>
              <a:buFontTx/>
              <a:buChar char="•"/>
              <a:defRPr/>
            </a:pPr>
            <a:endParaRPr lang="de-DE" sz="1600" kern="0" dirty="0">
              <a:latin typeface="+mn-lt"/>
            </a:endParaRPr>
          </a:p>
          <a:p>
            <a:pPr marL="195263" indent="-195263">
              <a:lnSpc>
                <a:spcPct val="125000"/>
              </a:lnSpc>
              <a:spcBef>
                <a:spcPct val="25000"/>
              </a:spcBef>
              <a:buClr>
                <a:srgbClr val="007AC2"/>
              </a:buClr>
              <a:buSzPct val="120000"/>
              <a:buFontTx/>
              <a:buChar char="•"/>
              <a:defRPr/>
            </a:pPr>
            <a:endParaRPr lang="de-DE" sz="1600" kern="0" dirty="0">
              <a:latin typeface="+mn-lt"/>
            </a:endParaRPr>
          </a:p>
          <a:p>
            <a:pPr marL="195263" indent="-195263">
              <a:lnSpc>
                <a:spcPct val="125000"/>
              </a:lnSpc>
              <a:spcBef>
                <a:spcPct val="25000"/>
              </a:spcBef>
              <a:buClr>
                <a:srgbClr val="007AC2"/>
              </a:buClr>
              <a:buSzPct val="120000"/>
              <a:buFontTx/>
              <a:buChar char="•"/>
              <a:defRPr/>
            </a:pPr>
            <a:endParaRPr lang="de-DE" sz="1600" kern="0" dirty="0">
              <a:latin typeface="+mn-lt"/>
            </a:endParaRPr>
          </a:p>
          <a:p>
            <a:pPr marL="195263" indent="-195263">
              <a:lnSpc>
                <a:spcPct val="125000"/>
              </a:lnSpc>
              <a:spcBef>
                <a:spcPct val="25000"/>
              </a:spcBef>
              <a:buClr>
                <a:srgbClr val="007AC2"/>
              </a:buClr>
              <a:buSzPct val="120000"/>
              <a:defRPr/>
            </a:pPr>
            <a:r>
              <a:rPr lang="de-DE" sz="1600" kern="0" dirty="0">
                <a:latin typeface="+mn-lt"/>
              </a:rPr>
              <a:t>Safe </a:t>
            </a:r>
            <a:r>
              <a:rPr lang="de-DE" sz="1600" kern="0" dirty="0" err="1">
                <a:latin typeface="+mn-lt"/>
              </a:rPr>
              <a:t>with</a:t>
            </a:r>
            <a:r>
              <a:rPr lang="de-DE" sz="1600" kern="0" dirty="0">
                <a:latin typeface="+mn-lt"/>
              </a:rPr>
              <a:t> a strong lock, </a:t>
            </a:r>
            <a:r>
              <a:rPr lang="de-DE" sz="1600" kern="0" dirty="0" err="1">
                <a:latin typeface="+mn-lt"/>
              </a:rPr>
              <a:t>only</a:t>
            </a:r>
            <a:r>
              <a:rPr lang="de-DE" sz="1600" kern="0" dirty="0">
                <a:latin typeface="+mn-lt"/>
              </a:rPr>
              <a:t> Alice </a:t>
            </a:r>
            <a:r>
              <a:rPr lang="de-DE" sz="1600" kern="0" dirty="0" err="1">
                <a:latin typeface="+mn-lt"/>
              </a:rPr>
              <a:t>and</a:t>
            </a:r>
            <a:r>
              <a:rPr lang="de-DE" sz="1600" kern="0" dirty="0">
                <a:latin typeface="+mn-lt"/>
              </a:rPr>
              <a:t> Bob </a:t>
            </a:r>
            <a:r>
              <a:rPr lang="de-DE" sz="1600" kern="0" dirty="0" err="1">
                <a:latin typeface="+mn-lt"/>
              </a:rPr>
              <a:t>have</a:t>
            </a:r>
            <a:r>
              <a:rPr lang="de-DE" sz="1600" kern="0" dirty="0">
                <a:latin typeface="+mn-lt"/>
              </a:rPr>
              <a:t> a </a:t>
            </a:r>
            <a:r>
              <a:rPr lang="de-DE" sz="1600" kern="0" dirty="0" err="1">
                <a:latin typeface="+mn-lt"/>
              </a:rPr>
              <a:t>copy</a:t>
            </a:r>
            <a:r>
              <a:rPr lang="de-DE" sz="1600" kern="0" dirty="0">
                <a:latin typeface="+mn-lt"/>
              </a:rPr>
              <a:t> </a:t>
            </a:r>
            <a:r>
              <a:rPr lang="de-DE" sz="1600" kern="0" dirty="0" err="1">
                <a:latin typeface="+mn-lt"/>
              </a:rPr>
              <a:t>of</a:t>
            </a:r>
            <a:r>
              <a:rPr lang="de-DE" sz="1600" kern="0" dirty="0">
                <a:latin typeface="+mn-lt"/>
              </a:rPr>
              <a:t> </a:t>
            </a:r>
            <a:r>
              <a:rPr lang="de-DE" sz="1600" kern="0" dirty="0" err="1">
                <a:latin typeface="+mn-lt"/>
              </a:rPr>
              <a:t>the</a:t>
            </a:r>
            <a:r>
              <a:rPr lang="de-DE" sz="1600" kern="0" dirty="0">
                <a:latin typeface="+mn-lt"/>
              </a:rPr>
              <a:t> </a:t>
            </a:r>
            <a:r>
              <a:rPr lang="de-DE" sz="1600" kern="0" dirty="0" err="1">
                <a:latin typeface="+mn-lt"/>
              </a:rPr>
              <a:t>key</a:t>
            </a:r>
            <a:endParaRPr lang="de-DE" sz="1600" kern="0" dirty="0">
              <a:latin typeface="+mn-lt"/>
            </a:endParaRPr>
          </a:p>
          <a:p>
            <a:pPr marL="195263" indent="-195263">
              <a:lnSpc>
                <a:spcPct val="125000"/>
              </a:lnSpc>
              <a:spcBef>
                <a:spcPct val="25000"/>
              </a:spcBef>
              <a:buClr>
                <a:srgbClr val="007AC2"/>
              </a:buClr>
              <a:buSzPct val="120000"/>
              <a:buFontTx/>
              <a:buChar char="•"/>
              <a:defRPr/>
            </a:pPr>
            <a:r>
              <a:rPr lang="de-DE" sz="1600" kern="0" dirty="0">
                <a:latin typeface="+mn-lt"/>
              </a:rPr>
              <a:t>Alice </a:t>
            </a:r>
            <a:r>
              <a:rPr lang="de-DE" sz="1600" kern="0" dirty="0" err="1">
                <a:latin typeface="+mn-lt"/>
              </a:rPr>
              <a:t>encrypts</a:t>
            </a:r>
            <a:r>
              <a:rPr lang="de-DE" sz="1600" kern="0" dirty="0">
                <a:latin typeface="+mn-lt"/>
              </a:rPr>
              <a:t> </a:t>
            </a:r>
            <a:r>
              <a:rPr lang="de-DE" sz="1600" kern="0" dirty="0">
                <a:latin typeface="+mn-lt"/>
                <a:sym typeface="Wingdings" pitchFamily="2" charset="2"/>
              </a:rPr>
              <a:t> </a:t>
            </a:r>
            <a:r>
              <a:rPr lang="de-DE" sz="1600" kern="0" dirty="0" err="1">
                <a:latin typeface="+mn-lt"/>
                <a:sym typeface="Wingdings" pitchFamily="2" charset="2"/>
              </a:rPr>
              <a:t>locks</a:t>
            </a:r>
            <a:r>
              <a:rPr lang="de-DE" sz="1600" kern="0" dirty="0">
                <a:latin typeface="+mn-lt"/>
                <a:sym typeface="Wingdings" pitchFamily="2" charset="2"/>
              </a:rPr>
              <a:t> </a:t>
            </a:r>
            <a:r>
              <a:rPr lang="de-DE" sz="1600" kern="0" dirty="0" err="1">
                <a:latin typeface="+mn-lt"/>
                <a:sym typeface="Wingdings" pitchFamily="2" charset="2"/>
              </a:rPr>
              <a:t>message</a:t>
            </a:r>
            <a:r>
              <a:rPr lang="de-DE" sz="1600" kern="0" dirty="0">
                <a:latin typeface="+mn-lt"/>
                <a:sym typeface="Wingdings" pitchFamily="2" charset="2"/>
              </a:rPr>
              <a:t> in </a:t>
            </a:r>
            <a:r>
              <a:rPr lang="de-DE" sz="1600" kern="0" dirty="0" err="1">
                <a:latin typeface="+mn-lt"/>
                <a:sym typeface="Wingdings" pitchFamily="2" charset="2"/>
              </a:rPr>
              <a:t>the</a:t>
            </a:r>
            <a:r>
              <a:rPr lang="de-DE" sz="1600" kern="0" dirty="0">
                <a:latin typeface="+mn-lt"/>
                <a:sym typeface="Wingdings" pitchFamily="2" charset="2"/>
              </a:rPr>
              <a:t> </a:t>
            </a:r>
            <a:r>
              <a:rPr lang="de-DE" sz="1600" kern="0" dirty="0" err="1">
                <a:latin typeface="+mn-lt"/>
                <a:sym typeface="Wingdings" pitchFamily="2" charset="2"/>
              </a:rPr>
              <a:t>safe</a:t>
            </a:r>
            <a:r>
              <a:rPr lang="de-DE" sz="1600" kern="0" dirty="0">
                <a:latin typeface="+mn-lt"/>
                <a:sym typeface="Wingdings" pitchFamily="2" charset="2"/>
              </a:rPr>
              <a:t> </a:t>
            </a:r>
            <a:r>
              <a:rPr lang="de-DE" sz="1600" kern="0" dirty="0" err="1">
                <a:latin typeface="+mn-lt"/>
                <a:sym typeface="Wingdings" pitchFamily="2" charset="2"/>
              </a:rPr>
              <a:t>with</a:t>
            </a:r>
            <a:r>
              <a:rPr lang="de-DE" sz="1600" kern="0" dirty="0">
                <a:latin typeface="+mn-lt"/>
                <a:sym typeface="Wingdings" pitchFamily="2" charset="2"/>
              </a:rPr>
              <a:t> her </a:t>
            </a:r>
            <a:r>
              <a:rPr lang="de-DE" sz="1600" kern="0" dirty="0" err="1">
                <a:latin typeface="+mn-lt"/>
                <a:sym typeface="Wingdings" pitchFamily="2" charset="2"/>
              </a:rPr>
              <a:t>key</a:t>
            </a:r>
            <a:endParaRPr lang="de-DE" sz="1600" kern="0" dirty="0">
              <a:latin typeface="+mn-lt"/>
            </a:endParaRPr>
          </a:p>
          <a:p>
            <a:pPr marL="195263" indent="-195263">
              <a:lnSpc>
                <a:spcPct val="125000"/>
              </a:lnSpc>
              <a:spcBef>
                <a:spcPct val="25000"/>
              </a:spcBef>
              <a:buClr>
                <a:srgbClr val="007AC2"/>
              </a:buClr>
              <a:buSzPct val="120000"/>
              <a:buFontTx/>
              <a:buChar char="•"/>
              <a:defRPr/>
            </a:pPr>
            <a:r>
              <a:rPr lang="de-DE" sz="1600" kern="0" dirty="0">
                <a:latin typeface="+mn-lt"/>
              </a:rPr>
              <a:t>Bob </a:t>
            </a:r>
            <a:r>
              <a:rPr lang="de-DE" sz="1600" kern="0" dirty="0" err="1">
                <a:latin typeface="+mn-lt"/>
              </a:rPr>
              <a:t>decrypts</a:t>
            </a:r>
            <a:r>
              <a:rPr lang="de-DE" sz="1600" kern="0" dirty="0">
                <a:latin typeface="+mn-lt"/>
              </a:rPr>
              <a:t> </a:t>
            </a:r>
            <a:r>
              <a:rPr lang="de-DE" sz="1600" kern="0" dirty="0">
                <a:latin typeface="+mn-lt"/>
                <a:sym typeface="Wingdings" pitchFamily="2" charset="2"/>
              </a:rPr>
              <a:t> </a:t>
            </a:r>
            <a:r>
              <a:rPr lang="de-DE" sz="1600" kern="0" dirty="0" err="1">
                <a:latin typeface="+mn-lt"/>
                <a:sym typeface="Wingdings" pitchFamily="2" charset="2"/>
              </a:rPr>
              <a:t>uses</a:t>
            </a:r>
            <a:r>
              <a:rPr lang="de-DE" sz="1600" kern="0" dirty="0">
                <a:latin typeface="+mn-lt"/>
                <a:sym typeface="Wingdings" pitchFamily="2" charset="2"/>
              </a:rPr>
              <a:t> </a:t>
            </a:r>
            <a:r>
              <a:rPr lang="de-DE" sz="1600" kern="0" dirty="0" err="1">
                <a:latin typeface="+mn-lt"/>
                <a:sym typeface="Wingdings" pitchFamily="2" charset="2"/>
              </a:rPr>
              <a:t>his</a:t>
            </a:r>
            <a:r>
              <a:rPr lang="de-DE" sz="1600" kern="0" dirty="0">
                <a:latin typeface="+mn-lt"/>
                <a:sym typeface="Wingdings" pitchFamily="2" charset="2"/>
              </a:rPr>
              <a:t> </a:t>
            </a:r>
            <a:r>
              <a:rPr lang="de-DE" sz="1600" kern="0" dirty="0" err="1">
                <a:latin typeface="+mn-lt"/>
                <a:sym typeface="Wingdings" pitchFamily="2" charset="2"/>
              </a:rPr>
              <a:t>copy</a:t>
            </a:r>
            <a:r>
              <a:rPr lang="de-DE" sz="1600" kern="0" dirty="0">
                <a:latin typeface="+mn-lt"/>
                <a:sym typeface="Wingdings" pitchFamily="2" charset="2"/>
              </a:rPr>
              <a:t> </a:t>
            </a:r>
            <a:r>
              <a:rPr lang="de-DE" sz="1600" kern="0" dirty="0" err="1">
                <a:latin typeface="+mn-lt"/>
                <a:sym typeface="Wingdings" pitchFamily="2" charset="2"/>
              </a:rPr>
              <a:t>of</a:t>
            </a:r>
            <a:r>
              <a:rPr lang="de-DE" sz="1600" kern="0" dirty="0">
                <a:latin typeface="+mn-lt"/>
                <a:sym typeface="Wingdings" pitchFamily="2" charset="2"/>
              </a:rPr>
              <a:t> </a:t>
            </a:r>
            <a:r>
              <a:rPr lang="de-DE" sz="1600" kern="0" dirty="0" err="1">
                <a:latin typeface="+mn-lt"/>
                <a:sym typeface="Wingdings" pitchFamily="2" charset="2"/>
              </a:rPr>
              <a:t>the</a:t>
            </a:r>
            <a:r>
              <a:rPr lang="de-DE" sz="1600" kern="0" dirty="0">
                <a:latin typeface="+mn-lt"/>
                <a:sym typeface="Wingdings" pitchFamily="2" charset="2"/>
              </a:rPr>
              <a:t> </a:t>
            </a:r>
            <a:r>
              <a:rPr lang="de-DE" sz="1600" kern="0" dirty="0" err="1">
                <a:latin typeface="+mn-lt"/>
                <a:sym typeface="Wingdings" pitchFamily="2" charset="2"/>
              </a:rPr>
              <a:t>key</a:t>
            </a:r>
            <a:r>
              <a:rPr lang="de-DE" sz="1600" kern="0" dirty="0">
                <a:latin typeface="+mn-lt"/>
                <a:sym typeface="Wingdings" pitchFamily="2" charset="2"/>
              </a:rPr>
              <a:t> </a:t>
            </a:r>
            <a:r>
              <a:rPr lang="de-DE" sz="1600" kern="0" dirty="0" err="1">
                <a:latin typeface="+mn-lt"/>
                <a:sym typeface="Wingdings" pitchFamily="2" charset="2"/>
              </a:rPr>
              <a:t>to</a:t>
            </a:r>
            <a:r>
              <a:rPr lang="de-DE" sz="1600" kern="0" dirty="0">
                <a:latin typeface="+mn-lt"/>
                <a:sym typeface="Wingdings" pitchFamily="2" charset="2"/>
              </a:rPr>
              <a:t> open </a:t>
            </a:r>
            <a:r>
              <a:rPr lang="de-DE" sz="1600" kern="0" dirty="0" err="1">
                <a:latin typeface="+mn-lt"/>
                <a:sym typeface="Wingdings" pitchFamily="2" charset="2"/>
              </a:rPr>
              <a:t>the</a:t>
            </a:r>
            <a:r>
              <a:rPr lang="de-DE" sz="1600" kern="0" dirty="0">
                <a:latin typeface="+mn-lt"/>
                <a:sym typeface="Wingdings" pitchFamily="2" charset="2"/>
              </a:rPr>
              <a:t> </a:t>
            </a:r>
            <a:r>
              <a:rPr lang="de-DE" sz="1600" kern="0" dirty="0" err="1">
                <a:latin typeface="+mn-lt"/>
                <a:sym typeface="Wingdings" pitchFamily="2" charset="2"/>
              </a:rPr>
              <a:t>safe</a:t>
            </a:r>
            <a:endParaRPr lang="de-DE" sz="1600" kern="0" dirty="0">
              <a:latin typeface="+mn-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4">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cstate="print"/>
          <a:srcRect/>
          <a:stretch>
            <a:fillRect/>
          </a:stretch>
        </p:blipFill>
        <p:spPr bwMode="auto">
          <a:xfrm>
            <a:off x="1981200" y="228600"/>
            <a:ext cx="7010400" cy="6400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AU" smtClean="0"/>
              <a:t>Public-Key Cryptography</a:t>
            </a:r>
          </a:p>
        </p:txBody>
      </p:sp>
      <p:sp>
        <p:nvSpPr>
          <p:cNvPr id="5123" name="Rectangle 3"/>
          <p:cNvSpPr>
            <a:spLocks noGrp="1" noChangeArrowheads="1"/>
          </p:cNvSpPr>
          <p:nvPr>
            <p:ph type="body" idx="1"/>
          </p:nvPr>
        </p:nvSpPr>
        <p:spPr/>
        <p:txBody>
          <a:bodyPr/>
          <a:lstStyle/>
          <a:p>
            <a:r>
              <a:rPr lang="en-AU" sz="2800" smtClean="0"/>
              <a:t>probably most significant advance in the 3000 year history of cryptography </a:t>
            </a:r>
          </a:p>
          <a:p>
            <a:r>
              <a:rPr lang="en-US" sz="2800" smtClean="0"/>
              <a:t>uses </a:t>
            </a:r>
            <a:r>
              <a:rPr lang="en-US" sz="2800" b="1" smtClean="0"/>
              <a:t>two</a:t>
            </a:r>
            <a:r>
              <a:rPr lang="en-US" sz="2800" smtClean="0"/>
              <a:t> keys – a public key and a private key</a:t>
            </a:r>
            <a:endParaRPr lang="en-AU" sz="2800" smtClean="0"/>
          </a:p>
          <a:p>
            <a:r>
              <a:rPr lang="en-AU" sz="2800" b="1" smtClean="0"/>
              <a:t>asymmetric</a:t>
            </a:r>
            <a:r>
              <a:rPr lang="en-AU" sz="2800" smtClean="0"/>
              <a:t> since parties are </a:t>
            </a:r>
            <a:r>
              <a:rPr lang="en-AU" sz="2800" b="1" smtClean="0"/>
              <a:t>not</a:t>
            </a:r>
            <a:r>
              <a:rPr lang="en-AU" sz="2800" smtClean="0"/>
              <a:t> equal </a:t>
            </a:r>
          </a:p>
          <a:p>
            <a:r>
              <a:rPr lang="en-AU" sz="2800" smtClean="0"/>
              <a:t>uses clever application of number theory concepts to function</a:t>
            </a:r>
          </a:p>
          <a:p>
            <a:r>
              <a:rPr lang="en-US" sz="2800" smtClean="0"/>
              <a:t>complements </a:t>
            </a:r>
            <a:r>
              <a:rPr lang="en-US" sz="2800" b="1" smtClean="0"/>
              <a:t>rather than</a:t>
            </a:r>
            <a:r>
              <a:rPr lang="en-US" sz="2800" smtClean="0"/>
              <a:t> replaces private key cryptography</a:t>
            </a:r>
            <a:endParaRPr lang="en-AU" sz="280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7699" name="Picture 3" descr="briefkasten-offen"/>
          <p:cNvPicPr>
            <a:picLocks noChangeAspect="1" noChangeArrowheads="1"/>
          </p:cNvPicPr>
          <p:nvPr/>
        </p:nvPicPr>
        <p:blipFill>
          <a:blip r:embed="rId3" cstate="print"/>
          <a:srcRect/>
          <a:stretch>
            <a:fillRect/>
          </a:stretch>
        </p:blipFill>
        <p:spPr bwMode="auto">
          <a:xfrm>
            <a:off x="6572250" y="3286125"/>
            <a:ext cx="1257300" cy="1584325"/>
          </a:xfrm>
          <a:prstGeom prst="rect">
            <a:avLst/>
          </a:prstGeom>
          <a:noFill/>
          <a:ln w="9525">
            <a:noFill/>
            <a:miter lim="800000"/>
            <a:headEnd/>
            <a:tailEnd/>
          </a:ln>
        </p:spPr>
      </p:pic>
      <p:sp>
        <p:nvSpPr>
          <p:cNvPr id="797700" name="Rectangle 4"/>
          <p:cNvSpPr>
            <a:spLocks noChangeArrowheads="1"/>
          </p:cNvSpPr>
          <p:nvPr/>
        </p:nvSpPr>
        <p:spPr bwMode="auto">
          <a:xfrm>
            <a:off x="3924300" y="1341438"/>
            <a:ext cx="4343400" cy="3736975"/>
          </a:xfrm>
          <a:prstGeom prst="rect">
            <a:avLst/>
          </a:prstGeom>
          <a:noFill/>
          <a:ln w="9525">
            <a:noFill/>
            <a:miter lim="800000"/>
            <a:headEnd/>
            <a:tailEnd/>
          </a:ln>
        </p:spPr>
        <p:txBody>
          <a:bodyPr>
            <a:spAutoFit/>
          </a:bodyPr>
          <a:lstStyle/>
          <a:p>
            <a:pPr eaLnBrk="1" hangingPunct="1">
              <a:lnSpc>
                <a:spcPct val="90000"/>
              </a:lnSpc>
              <a:spcBef>
                <a:spcPct val="20000"/>
              </a:spcBef>
            </a:pPr>
            <a:r>
              <a:rPr lang="de-DE" sz="1600" b="1"/>
              <a:t>New Idea: </a:t>
            </a:r>
          </a:p>
          <a:p>
            <a:pPr eaLnBrk="1" hangingPunct="1">
              <a:lnSpc>
                <a:spcPct val="90000"/>
              </a:lnSpc>
              <a:spcBef>
                <a:spcPct val="20000"/>
              </a:spcBef>
            </a:pPr>
            <a:r>
              <a:rPr lang="de-DE" sz="1600"/>
              <a:t/>
            </a:r>
            <a:br>
              <a:rPr lang="de-DE" sz="1600"/>
            </a:br>
            <a:r>
              <a:rPr lang="de-DE" sz="1600"/>
              <a:t>Use the „good old mailbox“ principle:</a:t>
            </a:r>
          </a:p>
          <a:p>
            <a:pPr eaLnBrk="1" hangingPunct="1">
              <a:lnSpc>
                <a:spcPct val="90000"/>
              </a:lnSpc>
              <a:spcBef>
                <a:spcPct val="20000"/>
              </a:spcBef>
            </a:pPr>
            <a:endParaRPr lang="de-DE" sz="1600"/>
          </a:p>
          <a:p>
            <a:pPr eaLnBrk="1" hangingPunct="1">
              <a:lnSpc>
                <a:spcPct val="90000"/>
              </a:lnSpc>
              <a:spcBef>
                <a:spcPct val="20000"/>
              </a:spcBef>
            </a:pPr>
            <a:endParaRPr lang="de-DE" sz="1600"/>
          </a:p>
          <a:p>
            <a:pPr eaLnBrk="1" hangingPunct="1">
              <a:lnSpc>
                <a:spcPct val="90000"/>
              </a:lnSpc>
              <a:spcBef>
                <a:spcPct val="20000"/>
              </a:spcBef>
            </a:pPr>
            <a:r>
              <a:rPr lang="de-DE" sz="1600"/>
              <a:t>	</a:t>
            </a:r>
            <a:r>
              <a:rPr lang="de-DE" sz="1600" b="1"/>
              <a:t>Everyone</a:t>
            </a:r>
            <a:r>
              <a:rPr lang="de-DE" sz="1600"/>
              <a:t> can drop a letter </a:t>
            </a:r>
          </a:p>
          <a:p>
            <a:pPr eaLnBrk="1" hangingPunct="1">
              <a:lnSpc>
                <a:spcPct val="90000"/>
              </a:lnSpc>
              <a:spcBef>
                <a:spcPct val="20000"/>
              </a:spcBef>
            </a:pPr>
            <a:endParaRPr lang="de-DE" sz="1600"/>
          </a:p>
          <a:p>
            <a:pPr eaLnBrk="1" hangingPunct="1">
              <a:lnSpc>
                <a:spcPct val="90000"/>
              </a:lnSpc>
              <a:spcBef>
                <a:spcPct val="20000"/>
              </a:spcBef>
            </a:pPr>
            <a:endParaRPr lang="de-DE" sz="1600"/>
          </a:p>
          <a:p>
            <a:pPr eaLnBrk="1" hangingPunct="1">
              <a:lnSpc>
                <a:spcPct val="90000"/>
              </a:lnSpc>
              <a:spcBef>
                <a:spcPct val="20000"/>
              </a:spcBef>
            </a:pPr>
            <a:endParaRPr lang="de-DE" sz="1600"/>
          </a:p>
          <a:p>
            <a:pPr eaLnBrk="1" hangingPunct="1">
              <a:lnSpc>
                <a:spcPct val="90000"/>
              </a:lnSpc>
              <a:spcBef>
                <a:spcPct val="20000"/>
              </a:spcBef>
            </a:pPr>
            <a:r>
              <a:rPr lang="de-DE" sz="1600" b="1"/>
              <a:t>But: Only</a:t>
            </a:r>
            <a:r>
              <a:rPr lang="de-DE" sz="1600"/>
              <a:t> </a:t>
            </a:r>
            <a:r>
              <a:rPr lang="de-DE" sz="1600" b="1"/>
              <a:t>the owner</a:t>
            </a:r>
            <a:r>
              <a:rPr lang="de-DE" sz="1600"/>
              <a:t> has the</a:t>
            </a:r>
          </a:p>
          <a:p>
            <a:pPr eaLnBrk="1" hangingPunct="1">
              <a:lnSpc>
                <a:spcPct val="90000"/>
              </a:lnSpc>
              <a:spcBef>
                <a:spcPct val="20000"/>
              </a:spcBef>
            </a:pPr>
            <a:r>
              <a:rPr lang="de-DE" sz="1600"/>
              <a:t>correct key to open the box</a:t>
            </a:r>
          </a:p>
          <a:p>
            <a:pPr eaLnBrk="1" hangingPunct="1">
              <a:lnSpc>
                <a:spcPct val="90000"/>
              </a:lnSpc>
              <a:spcBef>
                <a:spcPct val="20000"/>
              </a:spcBef>
            </a:pPr>
            <a:r>
              <a:rPr lang="de-DE" sz="1600"/>
              <a:t/>
            </a:r>
            <a:br>
              <a:rPr lang="de-DE" sz="1600"/>
            </a:br>
            <a:endParaRPr lang="de-DE" sz="1600"/>
          </a:p>
          <a:p>
            <a:pPr eaLnBrk="1" hangingPunct="1">
              <a:lnSpc>
                <a:spcPct val="90000"/>
              </a:lnSpc>
              <a:spcBef>
                <a:spcPct val="20000"/>
              </a:spcBef>
            </a:pPr>
            <a:endParaRPr lang="de-DE" sz="1600"/>
          </a:p>
        </p:txBody>
      </p:sp>
      <p:pic>
        <p:nvPicPr>
          <p:cNvPr id="797698" name="Picture 2" descr="briefkasten"/>
          <p:cNvPicPr>
            <a:picLocks noChangeAspect="1" noChangeArrowheads="1"/>
          </p:cNvPicPr>
          <p:nvPr/>
        </p:nvPicPr>
        <p:blipFill>
          <a:blip r:embed="rId4" cstate="print"/>
          <a:srcRect/>
          <a:stretch>
            <a:fillRect/>
          </a:stretch>
        </p:blipFill>
        <p:spPr bwMode="auto">
          <a:xfrm>
            <a:off x="107950" y="981075"/>
            <a:ext cx="4746625" cy="3762375"/>
          </a:xfrm>
          <a:prstGeom prst="rect">
            <a:avLst/>
          </a:prstGeom>
          <a:noFill/>
          <a:ln w="9525">
            <a:noFill/>
            <a:miter lim="800000"/>
            <a:headEnd/>
            <a:tailEnd/>
          </a:ln>
        </p:spPr>
      </p:pic>
      <p:sp>
        <p:nvSpPr>
          <p:cNvPr id="13318" name="Rectangle 5"/>
          <p:cNvSpPr>
            <a:spLocks noGrp="1" noChangeArrowheads="1"/>
          </p:cNvSpPr>
          <p:nvPr>
            <p:ph type="title"/>
          </p:nvPr>
        </p:nvSpPr>
        <p:spPr/>
        <p:txBody>
          <a:bodyPr/>
          <a:lstStyle/>
          <a:p>
            <a:r>
              <a:rPr lang="de-DE" smtClean="0"/>
              <a:t>Idea behind Asymmetric Cryptography</a:t>
            </a:r>
          </a:p>
        </p:txBody>
      </p:sp>
      <p:sp>
        <p:nvSpPr>
          <p:cNvPr id="13319" name="Fußzeilenplatzhalter 4"/>
          <p:cNvSpPr>
            <a:spLocks noGrp="1"/>
          </p:cNvSpPr>
          <p:nvPr>
            <p:ph type="ftr" sz="quarter" idx="11"/>
          </p:nvPr>
        </p:nvSpPr>
        <p:spPr>
          <a:xfrm>
            <a:off x="2411413" y="6369050"/>
            <a:ext cx="4321175" cy="260350"/>
          </a:xfrm>
          <a:noFill/>
        </p:spPr>
        <p:txBody>
          <a:bodyPr/>
          <a:lstStyle/>
          <a:p>
            <a:r>
              <a:rPr lang="de-DE" dirty="0" smtClean="0">
                <a:latin typeface="Arial" pitchFamily="34" charset="0"/>
              </a:rPr>
              <a:t>Chapter 6 of </a:t>
            </a:r>
            <a:r>
              <a:rPr lang="de-DE" i="1" dirty="0" smtClean="0">
                <a:latin typeface="Arial" pitchFamily="34" charset="0"/>
              </a:rPr>
              <a:t>Understanding Cryptography</a:t>
            </a:r>
            <a:r>
              <a:rPr lang="de-DE" dirty="0" smtClean="0">
                <a:latin typeface="Arial" pitchFamily="34" charset="0"/>
              </a:rPr>
              <a:t> by Christof Paar and Jan Pelzl</a:t>
            </a:r>
          </a:p>
        </p:txBody>
      </p:sp>
      <p:sp>
        <p:nvSpPr>
          <p:cNvPr id="8" name="Textfeld 7"/>
          <p:cNvSpPr txBox="1">
            <a:spLocks noChangeArrowheads="1"/>
          </p:cNvSpPr>
          <p:nvPr/>
        </p:nvSpPr>
        <p:spPr bwMode="auto">
          <a:xfrm>
            <a:off x="857250" y="5357813"/>
            <a:ext cx="7929563" cy="862012"/>
          </a:xfrm>
          <a:prstGeom prst="rect">
            <a:avLst/>
          </a:prstGeom>
          <a:noFill/>
          <a:ln w="9525">
            <a:noFill/>
            <a:miter lim="800000"/>
            <a:headEnd/>
            <a:tailEnd/>
          </a:ln>
        </p:spPr>
        <p:txBody>
          <a:bodyPr>
            <a:spAutoFit/>
          </a:bodyPr>
          <a:lstStyle/>
          <a:p>
            <a:r>
              <a:rPr lang="de-DE" sz="1600"/>
              <a:t>1976: first publication of such an algorithm by Whitfield Diffie and Martin Hellman,and also by Ralph Merkle.</a:t>
            </a:r>
          </a:p>
          <a:p>
            <a:endParaRPr lang="de-DE"/>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9770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9770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976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9770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97700">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97700">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9769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7700" grpId="0" build="allAtOnce"/>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noFill/>
        </p:spPr>
        <p:txBody>
          <a:bodyPr/>
          <a:lstStyle/>
          <a:p>
            <a:fld id="{C6BCED54-D2B1-43CA-96A0-CEACEEBEAB24}" type="slidenum">
              <a:rPr lang="de-DE" smtClean="0">
                <a:latin typeface="Arial" pitchFamily="34" charset="0"/>
              </a:rPr>
              <a:pPr/>
              <a:t>8</a:t>
            </a:fld>
            <a:r>
              <a:rPr lang="de-DE" smtClean="0">
                <a:latin typeface="Arial" pitchFamily="34" charset="0"/>
              </a:rPr>
              <a:t>/29</a:t>
            </a:r>
          </a:p>
        </p:txBody>
      </p:sp>
      <p:sp>
        <p:nvSpPr>
          <p:cNvPr id="15363" name="Rectangle 5"/>
          <p:cNvSpPr>
            <a:spLocks noGrp="1" noChangeArrowheads="1"/>
          </p:cNvSpPr>
          <p:nvPr>
            <p:ph type="title"/>
          </p:nvPr>
        </p:nvSpPr>
        <p:spPr/>
        <p:txBody>
          <a:bodyPr/>
          <a:lstStyle/>
          <a:p>
            <a:r>
              <a:rPr lang="de-DE" dirty="0" smtClean="0"/>
              <a:t>Asymmetric Cryptography: Analogy</a:t>
            </a:r>
          </a:p>
        </p:txBody>
      </p:sp>
      <p:sp>
        <p:nvSpPr>
          <p:cNvPr id="15364" name="Fußzeilenplatzhalter 4"/>
          <p:cNvSpPr>
            <a:spLocks noGrp="1"/>
          </p:cNvSpPr>
          <p:nvPr>
            <p:ph type="ftr" sz="quarter" idx="11"/>
          </p:nvPr>
        </p:nvSpPr>
        <p:spPr>
          <a:xfrm>
            <a:off x="2057400" y="6245225"/>
            <a:ext cx="4648200" cy="476250"/>
          </a:xfrm>
          <a:noFill/>
        </p:spPr>
        <p:txBody>
          <a:bodyPr/>
          <a:lstStyle/>
          <a:p>
            <a:r>
              <a:rPr lang="de-DE" dirty="0" smtClean="0">
                <a:latin typeface="Arial" pitchFamily="34" charset="0"/>
              </a:rPr>
              <a:t>Chapter 6 of </a:t>
            </a:r>
            <a:r>
              <a:rPr lang="de-DE" i="1" dirty="0" smtClean="0">
                <a:latin typeface="Arial" pitchFamily="34" charset="0"/>
              </a:rPr>
              <a:t>Understanding Cryptography</a:t>
            </a:r>
            <a:r>
              <a:rPr lang="de-DE" dirty="0" smtClean="0">
                <a:latin typeface="Arial" pitchFamily="34" charset="0"/>
              </a:rPr>
              <a:t> by Christof Paar and Jan Pelzl</a:t>
            </a:r>
          </a:p>
        </p:txBody>
      </p:sp>
      <p:pic>
        <p:nvPicPr>
          <p:cNvPr id="15365" name="Picture 2"/>
          <p:cNvPicPr>
            <a:picLocks noChangeAspect="1" noChangeArrowheads="1"/>
          </p:cNvPicPr>
          <p:nvPr/>
        </p:nvPicPr>
        <p:blipFill>
          <a:blip r:embed="rId3" cstate="print"/>
          <a:srcRect/>
          <a:stretch>
            <a:fillRect/>
          </a:stretch>
        </p:blipFill>
        <p:spPr bwMode="auto">
          <a:xfrm>
            <a:off x="500063" y="1857375"/>
            <a:ext cx="8286750" cy="2247900"/>
          </a:xfrm>
          <a:prstGeom prst="rect">
            <a:avLst/>
          </a:prstGeom>
          <a:noFill/>
          <a:ln w="9525">
            <a:noFill/>
            <a:miter lim="800000"/>
            <a:headEnd/>
            <a:tailEnd/>
          </a:ln>
        </p:spPr>
      </p:pic>
      <p:sp>
        <p:nvSpPr>
          <p:cNvPr id="15366" name="Textfeld 9"/>
          <p:cNvSpPr txBox="1">
            <a:spLocks noChangeArrowheads="1"/>
          </p:cNvSpPr>
          <p:nvPr/>
        </p:nvSpPr>
        <p:spPr bwMode="auto">
          <a:xfrm>
            <a:off x="685800" y="1447800"/>
            <a:ext cx="4857750" cy="369888"/>
          </a:xfrm>
          <a:prstGeom prst="rect">
            <a:avLst/>
          </a:prstGeom>
          <a:noFill/>
          <a:ln w="9525">
            <a:noFill/>
            <a:miter lim="800000"/>
            <a:headEnd/>
            <a:tailEnd/>
          </a:ln>
        </p:spPr>
        <p:txBody>
          <a:bodyPr>
            <a:spAutoFit/>
          </a:bodyPr>
          <a:lstStyle/>
          <a:p>
            <a:r>
              <a:rPr lang="de-DE" dirty="0"/>
              <a:t>Safe with public lock and private lock:</a:t>
            </a:r>
          </a:p>
        </p:txBody>
      </p:sp>
      <p:sp>
        <p:nvSpPr>
          <p:cNvPr id="12" name="Rectangle 5"/>
          <p:cNvSpPr txBox="1">
            <a:spLocks noChangeArrowheads="1"/>
          </p:cNvSpPr>
          <p:nvPr/>
        </p:nvSpPr>
        <p:spPr bwMode="auto">
          <a:xfrm>
            <a:off x="571500" y="4714875"/>
            <a:ext cx="8072438" cy="677863"/>
          </a:xfrm>
          <a:prstGeom prst="rect">
            <a:avLst/>
          </a:prstGeom>
          <a:noFill/>
          <a:ln w="9525">
            <a:noFill/>
            <a:miter lim="800000"/>
            <a:headEnd/>
            <a:tailEnd/>
          </a:ln>
          <a:effectLst/>
        </p:spPr>
        <p:txBody>
          <a:bodyPr lIns="0" tIns="0" rIns="0" bIns="0">
            <a:spAutoFit/>
          </a:bodyPr>
          <a:lstStyle/>
          <a:p>
            <a:pPr marL="195263" indent="-195263">
              <a:lnSpc>
                <a:spcPct val="125000"/>
              </a:lnSpc>
              <a:spcBef>
                <a:spcPct val="25000"/>
              </a:spcBef>
              <a:buClr>
                <a:srgbClr val="007AC2"/>
              </a:buClr>
              <a:buSzPct val="120000"/>
              <a:buFontTx/>
              <a:buChar char="•"/>
              <a:defRPr/>
            </a:pPr>
            <a:r>
              <a:rPr lang="de-DE" sz="1600" kern="0" dirty="0">
                <a:latin typeface="+mn-lt"/>
              </a:rPr>
              <a:t>Alice d</a:t>
            </a:r>
            <a:r>
              <a:rPr lang="de-DE" sz="1600" kern="0" dirty="0" err="1">
                <a:latin typeface="+mn-lt"/>
              </a:rPr>
              <a:t>eposits</a:t>
            </a:r>
            <a:r>
              <a:rPr lang="de-DE" sz="1600" kern="0" dirty="0">
                <a:latin typeface="+mn-lt"/>
              </a:rPr>
              <a:t> (</a:t>
            </a:r>
            <a:r>
              <a:rPr lang="de-DE" sz="1600" kern="0" dirty="0" err="1">
                <a:latin typeface="+mn-lt"/>
              </a:rPr>
              <a:t>encrypts</a:t>
            </a:r>
            <a:r>
              <a:rPr lang="de-DE" sz="1600" kern="0" dirty="0">
                <a:latin typeface="+mn-lt"/>
              </a:rPr>
              <a:t>) a </a:t>
            </a:r>
            <a:r>
              <a:rPr lang="de-DE" sz="1600" kern="0" dirty="0" err="1">
                <a:latin typeface="+mn-lt"/>
              </a:rPr>
              <a:t>message</a:t>
            </a:r>
            <a:r>
              <a:rPr lang="de-DE" sz="1600" kern="0" dirty="0">
                <a:latin typeface="+mn-lt"/>
              </a:rPr>
              <a:t> </a:t>
            </a:r>
            <a:r>
              <a:rPr lang="de-DE" sz="1600" kern="0" dirty="0" err="1">
                <a:latin typeface="+mn-lt"/>
              </a:rPr>
              <a:t>with</a:t>
            </a:r>
            <a:r>
              <a:rPr lang="de-DE" sz="1600" kern="0" dirty="0">
                <a:latin typeface="+mn-lt"/>
              </a:rPr>
              <a:t> </a:t>
            </a:r>
            <a:r>
              <a:rPr lang="de-DE" sz="1600" kern="0" dirty="0" err="1">
                <a:latin typeface="+mn-lt"/>
              </a:rPr>
              <a:t>the</a:t>
            </a:r>
            <a:r>
              <a:rPr lang="de-DE" sz="1600" kern="0" dirty="0">
                <a:latin typeface="+mn-lt"/>
              </a:rPr>
              <a:t> </a:t>
            </a:r>
            <a:r>
              <a:rPr lang="de-DE" sz="1600" kern="0" dirty="0">
                <a:latin typeface="Arial" charset="0"/>
              </a:rPr>
              <a:t>- </a:t>
            </a:r>
            <a:r>
              <a:rPr lang="de-DE" sz="1600" i="1" kern="0" dirty="0">
                <a:latin typeface="Arial" charset="0"/>
              </a:rPr>
              <a:t>not </a:t>
            </a:r>
            <a:r>
              <a:rPr lang="de-DE" sz="1600" i="1" kern="0" dirty="0" err="1">
                <a:latin typeface="Arial" charset="0"/>
              </a:rPr>
              <a:t>secret</a:t>
            </a:r>
            <a:r>
              <a:rPr lang="de-DE" sz="1600" i="1" kern="0" dirty="0">
                <a:latin typeface="Arial" charset="0"/>
              </a:rPr>
              <a:t> </a:t>
            </a:r>
            <a:r>
              <a:rPr lang="de-DE" sz="1600" kern="0" dirty="0">
                <a:latin typeface="Arial" charset="0"/>
              </a:rPr>
              <a:t>- </a:t>
            </a:r>
            <a:r>
              <a:rPr lang="de-DE" sz="1600" kern="0" dirty="0" err="1">
                <a:latin typeface="+mn-lt"/>
              </a:rPr>
              <a:t>public</a:t>
            </a:r>
            <a:r>
              <a:rPr lang="de-DE" sz="1600" kern="0" dirty="0">
                <a:latin typeface="+mn-lt"/>
              </a:rPr>
              <a:t> </a:t>
            </a:r>
            <a:r>
              <a:rPr lang="de-DE" sz="1600" kern="0" dirty="0" err="1">
                <a:latin typeface="+mn-lt"/>
              </a:rPr>
              <a:t>key</a:t>
            </a:r>
            <a:r>
              <a:rPr lang="de-DE" sz="1600" kern="0" dirty="0">
                <a:latin typeface="+mn-lt"/>
              </a:rPr>
              <a:t> </a:t>
            </a:r>
            <a:r>
              <a:rPr lang="de-DE" sz="1600" i="1" dirty="0" err="1">
                <a:solidFill>
                  <a:srgbClr val="008000"/>
                </a:solidFill>
                <a:latin typeface="Arial" charset="0"/>
              </a:rPr>
              <a:t>K</a:t>
            </a:r>
            <a:r>
              <a:rPr lang="de-DE" sz="1600" i="1" baseline="-25000" dirty="0" err="1">
                <a:solidFill>
                  <a:srgbClr val="008000"/>
                </a:solidFill>
                <a:latin typeface="Arial" charset="0"/>
              </a:rPr>
              <a:t>pub</a:t>
            </a:r>
            <a:endParaRPr lang="de-DE" sz="1600" i="1" kern="0" dirty="0">
              <a:latin typeface="+mn-lt"/>
            </a:endParaRPr>
          </a:p>
          <a:p>
            <a:pPr marL="195263" indent="-195263">
              <a:lnSpc>
                <a:spcPct val="125000"/>
              </a:lnSpc>
              <a:spcBef>
                <a:spcPct val="25000"/>
              </a:spcBef>
              <a:buClr>
                <a:srgbClr val="007AC2"/>
              </a:buClr>
              <a:buSzPct val="120000"/>
              <a:buFontTx/>
              <a:buChar char="•"/>
              <a:defRPr/>
            </a:pPr>
            <a:r>
              <a:rPr lang="de-DE" sz="1600" kern="0" dirty="0" err="1">
                <a:latin typeface="+mn-lt"/>
              </a:rPr>
              <a:t>Only</a:t>
            </a:r>
            <a:r>
              <a:rPr lang="de-DE" sz="1600" kern="0" dirty="0">
                <a:latin typeface="+mn-lt"/>
              </a:rPr>
              <a:t> Bob </a:t>
            </a:r>
            <a:r>
              <a:rPr lang="de-DE" sz="1600" kern="0" dirty="0" err="1">
                <a:latin typeface="+mn-lt"/>
              </a:rPr>
              <a:t>has</a:t>
            </a:r>
            <a:r>
              <a:rPr lang="de-DE" sz="1600" kern="0" dirty="0">
                <a:latin typeface="+mn-lt"/>
              </a:rPr>
              <a:t> </a:t>
            </a:r>
            <a:r>
              <a:rPr lang="de-DE" sz="1600" kern="0" dirty="0" err="1">
                <a:latin typeface="+mn-lt"/>
              </a:rPr>
              <a:t>the</a:t>
            </a:r>
            <a:r>
              <a:rPr lang="de-DE" sz="1600" kern="0" dirty="0">
                <a:latin typeface="+mn-lt"/>
              </a:rPr>
              <a:t> - </a:t>
            </a:r>
            <a:r>
              <a:rPr lang="de-DE" sz="1600" i="1" kern="0" dirty="0" err="1">
                <a:latin typeface="+mn-lt"/>
              </a:rPr>
              <a:t>secret</a:t>
            </a:r>
            <a:r>
              <a:rPr lang="de-DE" sz="1600" kern="0" dirty="0">
                <a:latin typeface="+mn-lt"/>
              </a:rPr>
              <a:t> - private </a:t>
            </a:r>
            <a:r>
              <a:rPr lang="de-DE" sz="1600" kern="0" dirty="0" err="1">
                <a:latin typeface="+mn-lt"/>
              </a:rPr>
              <a:t>key</a:t>
            </a:r>
            <a:r>
              <a:rPr lang="de-DE" sz="1600" kern="0" dirty="0">
                <a:latin typeface="+mn-lt"/>
              </a:rPr>
              <a:t> </a:t>
            </a:r>
            <a:r>
              <a:rPr lang="de-DE" sz="1600" i="1" dirty="0" err="1">
                <a:solidFill>
                  <a:srgbClr val="CC0000"/>
                </a:solidFill>
                <a:latin typeface="Arial" charset="0"/>
              </a:rPr>
              <a:t>K</a:t>
            </a:r>
            <a:r>
              <a:rPr lang="de-DE" sz="1600" i="1" baseline="-25000" dirty="0" err="1">
                <a:solidFill>
                  <a:srgbClr val="CC0000"/>
                </a:solidFill>
                <a:latin typeface="Arial" charset="0"/>
              </a:rPr>
              <a:t>pr</a:t>
            </a:r>
            <a:r>
              <a:rPr lang="de-DE" sz="1600" baseline="-25000" dirty="0">
                <a:solidFill>
                  <a:srgbClr val="CC0000"/>
                </a:solidFill>
                <a:latin typeface="Arial" charset="0"/>
              </a:rPr>
              <a:t> </a:t>
            </a:r>
            <a:r>
              <a:rPr lang="de-DE" sz="1600" kern="0" dirty="0" err="1">
                <a:latin typeface="+mn-lt"/>
              </a:rPr>
              <a:t>to</a:t>
            </a:r>
            <a:r>
              <a:rPr lang="de-DE" sz="1600" kern="0" dirty="0">
                <a:latin typeface="+mn-lt"/>
              </a:rPr>
              <a:t> </a:t>
            </a:r>
            <a:r>
              <a:rPr lang="de-DE" sz="1600" kern="0" dirty="0" err="1">
                <a:latin typeface="+mn-lt"/>
              </a:rPr>
              <a:t>retrieve</a:t>
            </a:r>
            <a:r>
              <a:rPr lang="de-DE" sz="1600" kern="0" dirty="0">
                <a:latin typeface="+mn-lt"/>
              </a:rPr>
              <a:t> (</a:t>
            </a:r>
            <a:r>
              <a:rPr lang="de-DE" sz="1600" kern="0" dirty="0" err="1">
                <a:latin typeface="+mn-lt"/>
              </a:rPr>
              <a:t>decrypt</a:t>
            </a:r>
            <a:r>
              <a:rPr lang="de-DE" sz="1600" kern="0" dirty="0">
                <a:latin typeface="+mn-lt"/>
              </a:rPr>
              <a:t>) </a:t>
            </a:r>
            <a:r>
              <a:rPr lang="de-DE" sz="1600" kern="0" dirty="0" err="1">
                <a:latin typeface="+mn-lt"/>
              </a:rPr>
              <a:t>the</a:t>
            </a:r>
            <a:r>
              <a:rPr lang="de-DE" sz="1600" kern="0" dirty="0">
                <a:latin typeface="+mn-lt"/>
              </a:rPr>
              <a:t> </a:t>
            </a:r>
            <a:r>
              <a:rPr lang="de-DE" sz="1600" kern="0" dirty="0" err="1">
                <a:latin typeface="+mn-lt"/>
              </a:rPr>
              <a:t>message</a:t>
            </a:r>
            <a:endParaRPr lang="de-DE" sz="1600" kern="0" dirty="0">
              <a:latin typeface="+mn-lt"/>
            </a:endParaRPr>
          </a:p>
        </p:txBody>
      </p:sp>
      <p:sp>
        <p:nvSpPr>
          <p:cNvPr id="15368" name="Text Box 9"/>
          <p:cNvSpPr txBox="1">
            <a:spLocks noChangeArrowheads="1"/>
          </p:cNvSpPr>
          <p:nvPr/>
        </p:nvSpPr>
        <p:spPr bwMode="auto">
          <a:xfrm>
            <a:off x="357188" y="3290888"/>
            <a:ext cx="1214437" cy="923925"/>
          </a:xfrm>
          <a:prstGeom prst="rect">
            <a:avLst/>
          </a:prstGeom>
          <a:noFill/>
          <a:ln w="9525">
            <a:noFill/>
            <a:miter lim="800000"/>
            <a:headEnd/>
            <a:tailEnd/>
          </a:ln>
        </p:spPr>
        <p:txBody>
          <a:bodyPr lIns="0" tIns="0" rIns="0" bIns="0">
            <a:spAutoFit/>
          </a:bodyPr>
          <a:lstStyle/>
          <a:p>
            <a:pPr algn="ctr">
              <a:spcBef>
                <a:spcPct val="50000"/>
              </a:spcBef>
            </a:pPr>
            <a:r>
              <a:rPr lang="de-DE" sz="2400">
                <a:solidFill>
                  <a:srgbClr val="008000"/>
                </a:solidFill>
              </a:rPr>
              <a:t>(</a:t>
            </a:r>
            <a:r>
              <a:rPr lang="de-DE" sz="2400" i="1">
                <a:solidFill>
                  <a:srgbClr val="008000"/>
                </a:solidFill>
              </a:rPr>
              <a:t>K</a:t>
            </a:r>
            <a:r>
              <a:rPr lang="de-DE" sz="2400" i="1" baseline="-25000">
                <a:solidFill>
                  <a:srgbClr val="008000"/>
                </a:solidFill>
              </a:rPr>
              <a:t>pub</a:t>
            </a:r>
            <a:r>
              <a:rPr lang="de-DE" sz="2400">
                <a:solidFill>
                  <a:srgbClr val="008000"/>
                </a:solidFill>
              </a:rPr>
              <a:t>)</a:t>
            </a:r>
          </a:p>
          <a:p>
            <a:pPr algn="ctr">
              <a:spcBef>
                <a:spcPct val="50000"/>
              </a:spcBef>
            </a:pPr>
            <a:endParaRPr lang="de-DE" sz="2400"/>
          </a:p>
        </p:txBody>
      </p:sp>
      <p:sp>
        <p:nvSpPr>
          <p:cNvPr id="15369" name="Text Box 10"/>
          <p:cNvSpPr txBox="1">
            <a:spLocks noChangeArrowheads="1"/>
          </p:cNvSpPr>
          <p:nvPr/>
        </p:nvSpPr>
        <p:spPr bwMode="auto">
          <a:xfrm>
            <a:off x="7500938" y="3273425"/>
            <a:ext cx="922337" cy="369888"/>
          </a:xfrm>
          <a:prstGeom prst="rect">
            <a:avLst/>
          </a:prstGeom>
          <a:noFill/>
          <a:ln w="9525">
            <a:noFill/>
            <a:miter lim="800000"/>
            <a:headEnd/>
            <a:tailEnd/>
          </a:ln>
        </p:spPr>
        <p:txBody>
          <a:bodyPr lIns="0" tIns="0" rIns="0" bIns="0">
            <a:spAutoFit/>
          </a:bodyPr>
          <a:lstStyle/>
          <a:p>
            <a:pPr algn="ctr">
              <a:spcBef>
                <a:spcPct val="50000"/>
              </a:spcBef>
            </a:pPr>
            <a:r>
              <a:rPr lang="de-DE" sz="2400">
                <a:solidFill>
                  <a:srgbClr val="CC0000"/>
                </a:solidFill>
              </a:rPr>
              <a:t>(</a:t>
            </a:r>
            <a:r>
              <a:rPr lang="de-DE" sz="2400" i="1">
                <a:solidFill>
                  <a:srgbClr val="CC0000"/>
                </a:solidFill>
              </a:rPr>
              <a:t>K</a:t>
            </a:r>
            <a:r>
              <a:rPr lang="de-DE" sz="2400" i="1" baseline="-25000">
                <a:solidFill>
                  <a:srgbClr val="CC0000"/>
                </a:solidFill>
              </a:rPr>
              <a:t>pr</a:t>
            </a:r>
            <a:r>
              <a:rPr lang="de-DE" sz="2400">
                <a:solidFill>
                  <a:srgbClr val="CC0000"/>
                </a:solidFill>
              </a:rPr>
              <a:t>)</a:t>
            </a:r>
            <a:endParaRPr lang="de-DE" sz="2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AU" smtClean="0"/>
              <a:t>Public-Key Cryptography</a:t>
            </a:r>
          </a:p>
        </p:txBody>
      </p:sp>
      <p:sp>
        <p:nvSpPr>
          <p:cNvPr id="6147" name="Rectangle 3"/>
          <p:cNvSpPr>
            <a:spLocks noGrp="1" noChangeArrowheads="1"/>
          </p:cNvSpPr>
          <p:nvPr>
            <p:ph type="body" idx="1"/>
          </p:nvPr>
        </p:nvSpPr>
        <p:spPr/>
        <p:txBody>
          <a:bodyPr/>
          <a:lstStyle/>
          <a:p>
            <a:pPr>
              <a:lnSpc>
                <a:spcPct val="90000"/>
              </a:lnSpc>
            </a:pPr>
            <a:r>
              <a:rPr lang="en-AU" sz="2800" b="1" smtClean="0"/>
              <a:t>public-key/two-key/asymmetric</a:t>
            </a:r>
            <a:r>
              <a:rPr lang="en-AU" sz="2800" smtClean="0"/>
              <a:t> cryptography involves the use of </a:t>
            </a:r>
            <a:r>
              <a:rPr lang="en-AU" sz="2800" b="1" smtClean="0"/>
              <a:t>two</a:t>
            </a:r>
            <a:r>
              <a:rPr lang="en-AU" sz="2800" smtClean="0"/>
              <a:t> keys: </a:t>
            </a:r>
          </a:p>
          <a:p>
            <a:pPr lvl="1">
              <a:lnSpc>
                <a:spcPct val="90000"/>
              </a:lnSpc>
            </a:pPr>
            <a:r>
              <a:rPr lang="en-AU" sz="2400" smtClean="0"/>
              <a:t>a </a:t>
            </a:r>
            <a:r>
              <a:rPr lang="en-AU" sz="2400" b="1" smtClean="0"/>
              <a:t>public-key</a:t>
            </a:r>
            <a:r>
              <a:rPr lang="en-AU" sz="2400" smtClean="0"/>
              <a:t>, which may be known by anybody, and can be used to </a:t>
            </a:r>
            <a:r>
              <a:rPr lang="en-AU" sz="2400" b="1" smtClean="0"/>
              <a:t>encrypt messages</a:t>
            </a:r>
            <a:r>
              <a:rPr lang="en-AU" sz="2400" smtClean="0"/>
              <a:t>, and </a:t>
            </a:r>
            <a:r>
              <a:rPr lang="en-AU" sz="2400" b="1" smtClean="0"/>
              <a:t>verify signatures</a:t>
            </a:r>
            <a:r>
              <a:rPr lang="en-AU" sz="2400" smtClean="0"/>
              <a:t> </a:t>
            </a:r>
          </a:p>
          <a:p>
            <a:pPr lvl="1">
              <a:lnSpc>
                <a:spcPct val="90000"/>
              </a:lnSpc>
            </a:pPr>
            <a:r>
              <a:rPr lang="en-AU" sz="2400" smtClean="0"/>
              <a:t>a </a:t>
            </a:r>
            <a:r>
              <a:rPr lang="en-AU" sz="2400" b="1" smtClean="0"/>
              <a:t>private-key</a:t>
            </a:r>
            <a:r>
              <a:rPr lang="en-AU" sz="2400" smtClean="0"/>
              <a:t>, known only to the recipient, used to </a:t>
            </a:r>
            <a:r>
              <a:rPr lang="en-AU" sz="2400" b="1" smtClean="0"/>
              <a:t>decrypt messages</a:t>
            </a:r>
            <a:r>
              <a:rPr lang="en-AU" sz="2400" smtClean="0"/>
              <a:t>, and </a:t>
            </a:r>
            <a:r>
              <a:rPr lang="en-AU" sz="2400" b="1" smtClean="0"/>
              <a:t>sign</a:t>
            </a:r>
            <a:r>
              <a:rPr lang="en-AU" sz="2400" smtClean="0"/>
              <a:t> (create)</a:t>
            </a:r>
            <a:r>
              <a:rPr lang="en-AU" sz="2400" b="1" smtClean="0"/>
              <a:t> signatures</a:t>
            </a:r>
            <a:endParaRPr lang="en-AU" sz="2400" smtClean="0"/>
          </a:p>
          <a:p>
            <a:pPr>
              <a:lnSpc>
                <a:spcPct val="90000"/>
              </a:lnSpc>
            </a:pPr>
            <a:r>
              <a:rPr lang="en-AU" sz="2800" smtClean="0"/>
              <a:t>is </a:t>
            </a:r>
            <a:r>
              <a:rPr lang="en-AU" sz="2800" b="1" smtClean="0"/>
              <a:t>asymmetric</a:t>
            </a:r>
            <a:r>
              <a:rPr lang="en-AU" sz="2800" smtClean="0"/>
              <a:t> because</a:t>
            </a:r>
          </a:p>
          <a:p>
            <a:pPr lvl="1">
              <a:lnSpc>
                <a:spcPct val="90000"/>
              </a:lnSpc>
            </a:pPr>
            <a:r>
              <a:rPr lang="en-AU" sz="2400" smtClean="0"/>
              <a:t>those who encrypt messages or verify signatures </a:t>
            </a:r>
            <a:r>
              <a:rPr lang="en-AU" sz="2400" b="1" smtClean="0"/>
              <a:t>cannot</a:t>
            </a:r>
            <a:r>
              <a:rPr lang="en-AU" sz="2400" smtClean="0"/>
              <a:t> decrypt messages or create signatures</a:t>
            </a:r>
          </a:p>
          <a:p>
            <a:pPr>
              <a:lnSpc>
                <a:spcPct val="90000"/>
              </a:lnSpc>
            </a:pPr>
            <a:endParaRPr lang="en-AU" sz="280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AU" smtClean="0"/>
              <a:t>Public-Key Cryptography</a:t>
            </a:r>
          </a:p>
        </p:txBody>
      </p:sp>
      <p:pic>
        <p:nvPicPr>
          <p:cNvPr id="7171" name="Picture 3"/>
          <p:cNvPicPr>
            <a:picLocks noGrp="1" noChangeAspect="1" noChangeArrowheads="1"/>
          </p:cNvPicPr>
          <p:nvPr>
            <p:ph type="body" idx="1"/>
          </p:nvPr>
        </p:nvPicPr>
        <p:blipFill>
          <a:blip r:embed="rId3" cstate="print"/>
          <a:srcRect/>
          <a:stretch>
            <a:fillRect/>
          </a:stretch>
        </p:blip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AU" smtClean="0"/>
              <a:t>Why Public-Key Cryptography?</a:t>
            </a:r>
          </a:p>
        </p:txBody>
      </p:sp>
      <p:sp>
        <p:nvSpPr>
          <p:cNvPr id="8195" name="Rectangle 3"/>
          <p:cNvSpPr>
            <a:spLocks noGrp="1" noChangeArrowheads="1"/>
          </p:cNvSpPr>
          <p:nvPr>
            <p:ph type="body" idx="1"/>
          </p:nvPr>
        </p:nvSpPr>
        <p:spPr/>
        <p:txBody>
          <a:bodyPr/>
          <a:lstStyle/>
          <a:p>
            <a:pPr>
              <a:lnSpc>
                <a:spcPct val="90000"/>
              </a:lnSpc>
            </a:pPr>
            <a:r>
              <a:rPr lang="en-US" smtClean="0"/>
              <a:t>developed to address two key issues:</a:t>
            </a:r>
          </a:p>
          <a:p>
            <a:pPr lvl="1">
              <a:lnSpc>
                <a:spcPct val="90000"/>
              </a:lnSpc>
            </a:pPr>
            <a:r>
              <a:rPr lang="en-US" b="1" smtClean="0"/>
              <a:t>key distribution</a:t>
            </a:r>
            <a:r>
              <a:rPr lang="en-US" smtClean="0"/>
              <a:t> – how to have secure communications in general without having to trust a KDC with your key</a:t>
            </a:r>
          </a:p>
          <a:p>
            <a:pPr lvl="1">
              <a:lnSpc>
                <a:spcPct val="90000"/>
              </a:lnSpc>
            </a:pPr>
            <a:r>
              <a:rPr lang="en-US" b="1" smtClean="0"/>
              <a:t>digital signatures</a:t>
            </a:r>
            <a:r>
              <a:rPr lang="en-US" smtClean="0"/>
              <a:t> – how to verify a message comes intact from the claimed sender</a:t>
            </a:r>
          </a:p>
          <a:p>
            <a:pPr>
              <a:lnSpc>
                <a:spcPct val="90000"/>
              </a:lnSpc>
            </a:pPr>
            <a:r>
              <a:rPr lang="en-US" smtClean="0"/>
              <a:t>public invention due to Whitfield Diffie &amp; Martin Hellman at Stanford U. in 1976</a:t>
            </a:r>
          </a:p>
          <a:p>
            <a:pPr lvl="1">
              <a:lnSpc>
                <a:spcPct val="90000"/>
              </a:lnSpc>
            </a:pPr>
            <a:r>
              <a:rPr lang="en-US" smtClean="0"/>
              <a:t>known earlier in classified community</a:t>
            </a:r>
          </a:p>
          <a:p>
            <a:pPr lvl="1">
              <a:lnSpc>
                <a:spcPct val="90000"/>
              </a:lnSpc>
            </a:pPr>
            <a:endParaRPr lang="en-AU"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AU" smtClean="0"/>
              <a:t>Public-Key Characteristics</a:t>
            </a:r>
          </a:p>
        </p:txBody>
      </p:sp>
      <p:sp>
        <p:nvSpPr>
          <p:cNvPr id="9219" name="Rectangle 3"/>
          <p:cNvSpPr>
            <a:spLocks noGrp="1" noChangeArrowheads="1"/>
          </p:cNvSpPr>
          <p:nvPr>
            <p:ph type="body" idx="1"/>
          </p:nvPr>
        </p:nvSpPr>
        <p:spPr/>
        <p:txBody>
          <a:bodyPr/>
          <a:lstStyle/>
          <a:p>
            <a:pPr>
              <a:lnSpc>
                <a:spcPct val="90000"/>
              </a:lnSpc>
            </a:pPr>
            <a:r>
              <a:rPr lang="en-AU" smtClean="0"/>
              <a:t>Public-Key algorithms rely on two keys with the characteristics that it is:</a:t>
            </a:r>
          </a:p>
          <a:p>
            <a:pPr lvl="1">
              <a:lnSpc>
                <a:spcPct val="90000"/>
              </a:lnSpc>
            </a:pPr>
            <a:r>
              <a:rPr lang="en-AU" smtClean="0"/>
              <a:t>computationally infeasible to find decryption key knowing only algorithm &amp; encryption key</a:t>
            </a:r>
          </a:p>
          <a:p>
            <a:pPr lvl="1">
              <a:lnSpc>
                <a:spcPct val="90000"/>
              </a:lnSpc>
            </a:pPr>
            <a:r>
              <a:rPr lang="en-AU" smtClean="0"/>
              <a:t>computationally easy to en/decrypt messages when the relevant (en/decrypt) key is known</a:t>
            </a:r>
          </a:p>
          <a:p>
            <a:pPr lvl="1">
              <a:lnSpc>
                <a:spcPct val="90000"/>
              </a:lnSpc>
            </a:pPr>
            <a:r>
              <a:rPr lang="en-AU" smtClean="0"/>
              <a:t>either of the two related keys can be used for encryption, with the other used for decryption (in some schemes)</a:t>
            </a:r>
          </a:p>
          <a:p>
            <a:pPr lvl="1">
              <a:lnSpc>
                <a:spcPct val="90000"/>
              </a:lnSpc>
            </a:pPr>
            <a:endParaRPr lang="en-AU" smtClean="0"/>
          </a:p>
          <a:p>
            <a:pPr lvl="1">
              <a:lnSpc>
                <a:spcPct val="90000"/>
              </a:lnSpc>
            </a:pPr>
            <a:endParaRPr lang="en-AU"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smtClean="0"/>
              <a:t>A breakthrough idea</a:t>
            </a:r>
          </a:p>
        </p:txBody>
      </p:sp>
      <p:sp>
        <p:nvSpPr>
          <p:cNvPr id="10243" name="Content Placeholder 2"/>
          <p:cNvSpPr>
            <a:spLocks noGrp="1"/>
          </p:cNvSpPr>
          <p:nvPr>
            <p:ph idx="1"/>
          </p:nvPr>
        </p:nvSpPr>
        <p:spPr>
          <a:xfrm>
            <a:off x="1905000" y="1600200"/>
            <a:ext cx="7115175" cy="4525963"/>
          </a:xfrm>
        </p:spPr>
        <p:txBody>
          <a:bodyPr/>
          <a:lstStyle/>
          <a:p>
            <a:r>
              <a:rPr lang="en-US" b="1" dirty="0" smtClean="0"/>
              <a:t>Rather than having a secret key that the two users must share, each users has two keys.</a:t>
            </a:r>
          </a:p>
          <a:p>
            <a:r>
              <a:rPr lang="en-US" sz="2800" dirty="0" smtClean="0"/>
              <a:t>One key is secret and he is the only one who knows it </a:t>
            </a:r>
          </a:p>
          <a:p>
            <a:r>
              <a:rPr lang="en-US" sz="2800" dirty="0" smtClean="0"/>
              <a:t>The other key is public and anyone who wishes to send him a message uses that key to encrypt the message </a:t>
            </a:r>
          </a:p>
          <a:p>
            <a:r>
              <a:rPr lang="en-US" sz="2800" dirty="0" smtClean="0"/>
              <a:t> </a:t>
            </a:r>
            <a:r>
              <a:rPr lang="en-US" sz="2800" dirty="0" err="1" smtClean="0"/>
              <a:t>Diffie</a:t>
            </a:r>
            <a:r>
              <a:rPr lang="en-US" sz="2800" dirty="0" smtClean="0"/>
              <a:t> and Hellman first (publicly) introduced the idea in 1976 – this was radically different than all previous efforts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smtClean="0"/>
              <a:t>A word of warning</a:t>
            </a:r>
          </a:p>
        </p:txBody>
      </p:sp>
      <p:sp>
        <p:nvSpPr>
          <p:cNvPr id="11267" name="Content Placeholder 2"/>
          <p:cNvSpPr>
            <a:spLocks noGrp="1"/>
          </p:cNvSpPr>
          <p:nvPr>
            <p:ph idx="1"/>
          </p:nvPr>
        </p:nvSpPr>
        <p:spPr>
          <a:xfrm>
            <a:off x="1600200" y="1524000"/>
            <a:ext cx="7343775" cy="4525963"/>
          </a:xfrm>
        </p:spPr>
        <p:txBody>
          <a:bodyPr/>
          <a:lstStyle/>
          <a:p>
            <a:pPr>
              <a:buFont typeface="Arial" pitchFamily="34" charset="0"/>
              <a:buNone/>
            </a:pPr>
            <a:r>
              <a:rPr lang="en-US" sz="2800" b="1" dirty="0" smtClean="0"/>
              <a:t>Public-key cryptography complements rather than replaces  symmetric cryptography</a:t>
            </a:r>
          </a:p>
          <a:p>
            <a:r>
              <a:rPr lang="en-US" dirty="0" smtClean="0"/>
              <a:t>There is nothing in principle to make public-key crypto more secure than symmetric crypto </a:t>
            </a:r>
          </a:p>
          <a:p>
            <a:r>
              <a:rPr lang="en-US" dirty="0" smtClean="0"/>
              <a:t>Public-key crypto does not make symmetric crypto obsolete: it has its advantages but also its (major) drawbacks such as speed </a:t>
            </a:r>
          </a:p>
          <a:p>
            <a:r>
              <a:rPr lang="en-US" dirty="0" smtClean="0"/>
              <a:t>Due to its low speed, it is mostly confined to key management and digital signatures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smtClean="0"/>
              <a:t>…</a:t>
            </a:r>
          </a:p>
        </p:txBody>
      </p:sp>
      <p:sp>
        <p:nvSpPr>
          <p:cNvPr id="12291" name="Content Placeholder 2"/>
          <p:cNvSpPr>
            <a:spLocks noGrp="1"/>
          </p:cNvSpPr>
          <p:nvPr>
            <p:ph idx="1"/>
          </p:nvPr>
        </p:nvSpPr>
        <p:spPr/>
        <p:txBody>
          <a:bodyPr/>
          <a:lstStyle/>
          <a:p>
            <a:r>
              <a:rPr lang="en-US" smtClean="0"/>
              <a:t>Some algorithms (such as RSA) satisfy also the following useful characteristic: </a:t>
            </a:r>
          </a:p>
          <a:p>
            <a:r>
              <a:rPr lang="en-US" smtClean="0"/>
              <a:t>Either one of the two keys can be used for encryption – the other one should then be used to decrypt the message</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smtClean="0"/>
              <a:t>Essential steps in public-key encryption</a:t>
            </a:r>
          </a:p>
        </p:txBody>
      </p:sp>
      <p:sp>
        <p:nvSpPr>
          <p:cNvPr id="13315" name="Content Placeholder 2"/>
          <p:cNvSpPr>
            <a:spLocks noGrp="1"/>
          </p:cNvSpPr>
          <p:nvPr>
            <p:ph idx="1"/>
          </p:nvPr>
        </p:nvSpPr>
        <p:spPr/>
        <p:txBody>
          <a:bodyPr/>
          <a:lstStyle/>
          <a:p>
            <a:r>
              <a:rPr lang="en-US" smtClean="0"/>
              <a:t>Each user generates a pair of keys to be used for encryption and decryption </a:t>
            </a:r>
          </a:p>
          <a:p>
            <a:r>
              <a:rPr lang="en-US" smtClean="0"/>
              <a:t>Each user places one of the two keys in a public register and the other key is kept private </a:t>
            </a:r>
          </a:p>
          <a:p>
            <a:r>
              <a:rPr lang="en-US" smtClean="0"/>
              <a:t>If B wants to send a confidential message to A, B encrypts the message using A’s public key</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smtClean="0"/>
              <a:t>…</a:t>
            </a:r>
          </a:p>
        </p:txBody>
      </p:sp>
      <p:sp>
        <p:nvSpPr>
          <p:cNvPr id="14339" name="Content Placeholder 2"/>
          <p:cNvSpPr>
            <a:spLocks noGrp="1"/>
          </p:cNvSpPr>
          <p:nvPr>
            <p:ph idx="1"/>
          </p:nvPr>
        </p:nvSpPr>
        <p:spPr/>
        <p:txBody>
          <a:bodyPr/>
          <a:lstStyle/>
          <a:p>
            <a:r>
              <a:rPr lang="en-US" smtClean="0"/>
              <a:t>When A receives the message, she decrypts it using her private key </a:t>
            </a:r>
          </a:p>
          <a:p>
            <a:r>
              <a:rPr lang="en-US" smtClean="0"/>
              <a:t>Nobody else can decrypt the message because that can only be done using A’s private key </a:t>
            </a:r>
          </a:p>
          <a:p>
            <a:r>
              <a:rPr lang="en-US" smtClean="0"/>
              <a:t> Deducing a private key should be infeasible </a:t>
            </a:r>
          </a:p>
          <a:p>
            <a:r>
              <a:rPr lang="en-US" smtClean="0"/>
              <a:t> If a user wishes to change his keys – generate another pair of keys and publish the public one: no interaction with other users is needed</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smtClean="0"/>
              <a:t>Bob sends an encrypted message to Alice</a:t>
            </a:r>
          </a:p>
        </p:txBody>
      </p:sp>
      <p:pic>
        <p:nvPicPr>
          <p:cNvPr id="15363" name="Picture 5"/>
          <p:cNvPicPr>
            <a:picLocks noGrp="1" noChangeAspect="1"/>
          </p:cNvPicPr>
          <p:nvPr>
            <p:ph idx="1"/>
          </p:nvPr>
        </p:nvPicPr>
        <p:blipFill>
          <a:blip r:embed="rId2" cstate="print"/>
          <a:srcRect/>
          <a:stretch>
            <a:fillRect/>
          </a:stretch>
        </p:blipFill>
        <p:spPr>
          <a:xfrm>
            <a:off x="952500" y="1685925"/>
            <a:ext cx="7239000" cy="4354513"/>
          </a:xfr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smtClean="0"/>
              <a:t/>
            </a:r>
            <a:br>
              <a:rPr lang="en-US" smtClean="0"/>
            </a:br>
            <a:r>
              <a:rPr lang="en-US" smtClean="0"/>
              <a:t>Some notation </a:t>
            </a:r>
            <a:br>
              <a:rPr lang="en-US" smtClean="0"/>
            </a:br>
            <a:endParaRPr lang="en-US" smtClean="0"/>
          </a:p>
        </p:txBody>
      </p:sp>
      <p:sp>
        <p:nvSpPr>
          <p:cNvPr id="16387" name="Content Placeholder 2"/>
          <p:cNvSpPr>
            <a:spLocks noGrp="1"/>
          </p:cNvSpPr>
          <p:nvPr>
            <p:ph idx="1"/>
          </p:nvPr>
        </p:nvSpPr>
        <p:spPr/>
        <p:txBody>
          <a:bodyPr/>
          <a:lstStyle/>
          <a:p>
            <a:r>
              <a:rPr lang="en-US" smtClean="0"/>
              <a:t>The public key of user A will be denoted PU</a:t>
            </a:r>
            <a:r>
              <a:rPr lang="en-US" baseline="-25000" smtClean="0"/>
              <a:t>A</a:t>
            </a:r>
            <a:r>
              <a:rPr lang="en-US" smtClean="0"/>
              <a:t> </a:t>
            </a:r>
          </a:p>
          <a:p>
            <a:r>
              <a:rPr lang="en-US" smtClean="0"/>
              <a:t>The private key of user A will be denoted PR</a:t>
            </a:r>
            <a:r>
              <a:rPr lang="en-US" baseline="-25000" smtClean="0"/>
              <a:t>A </a:t>
            </a:r>
          </a:p>
          <a:p>
            <a:r>
              <a:rPr lang="en-US" smtClean="0"/>
              <a:t> Encryption method will be a function E </a:t>
            </a:r>
          </a:p>
          <a:p>
            <a:r>
              <a:rPr lang="en-US" smtClean="0"/>
              <a:t> Decryption method will be a function D </a:t>
            </a:r>
          </a:p>
          <a:p>
            <a:r>
              <a:rPr lang="en-US" smtClean="0"/>
              <a:t>If B wishes to send a plain message X to A, then he sends the cryptotext Y=E(PU</a:t>
            </a:r>
            <a:r>
              <a:rPr lang="en-US" baseline="-25000" smtClean="0"/>
              <a:t>A</a:t>
            </a:r>
            <a:r>
              <a:rPr lang="en-US" smtClean="0"/>
              <a:t>,X) </a:t>
            </a:r>
          </a:p>
          <a:p>
            <a:r>
              <a:rPr lang="en-US" smtClean="0"/>
              <a:t>The intended receiver A will decrypt the message: D(PR</a:t>
            </a:r>
            <a:r>
              <a:rPr lang="en-US" baseline="-25000" smtClean="0"/>
              <a:t>A</a:t>
            </a:r>
            <a:r>
              <a:rPr lang="en-US" smtClean="0"/>
              <a:t>,Y)=X </a:t>
            </a:r>
          </a:p>
          <a:p>
            <a:endParaRPr lang="en-US"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smtClean="0"/>
              <a:t/>
            </a:r>
            <a:br>
              <a:rPr lang="en-US" dirty="0" smtClean="0"/>
            </a:br>
            <a:r>
              <a:rPr lang="en-US" dirty="0" smtClean="0"/>
              <a:t>A first attack on the public-key scheme – authenticity </a:t>
            </a:r>
          </a:p>
        </p:txBody>
      </p:sp>
      <p:sp>
        <p:nvSpPr>
          <p:cNvPr id="17411" name="Content Placeholder 2"/>
          <p:cNvSpPr>
            <a:spLocks noGrp="1"/>
          </p:cNvSpPr>
          <p:nvPr>
            <p:ph idx="1"/>
          </p:nvPr>
        </p:nvSpPr>
        <p:spPr/>
        <p:txBody>
          <a:bodyPr/>
          <a:lstStyle/>
          <a:p>
            <a:r>
              <a:rPr lang="en-US" smtClean="0"/>
              <a:t>Immediate attack on this scheme: </a:t>
            </a:r>
          </a:p>
          <a:p>
            <a:r>
              <a:rPr lang="en-US" smtClean="0"/>
              <a:t>An attacker may impersonate user B: he sends a message E(PU</a:t>
            </a:r>
            <a:r>
              <a:rPr lang="en-US" baseline="-25000" smtClean="0"/>
              <a:t>A</a:t>
            </a:r>
            <a:r>
              <a:rPr lang="en-US" smtClean="0"/>
              <a:t>,X) and claims in the message to be B – A has no guarantee this is so </a:t>
            </a:r>
          </a:p>
          <a:p>
            <a:r>
              <a:rPr lang="en-US" smtClean="0"/>
              <a:t>This was guaranteed in classical cryptosystems simply through knowing the key (only A and B are supposed to know the symmetric key) </a:t>
            </a:r>
          </a:p>
          <a:p>
            <a:endParaRPr lang="en-US"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2514600" y="457200"/>
            <a:ext cx="6316662" cy="1143000"/>
          </a:xfrm>
        </p:spPr>
        <p:txBody>
          <a:bodyPr/>
          <a:lstStyle/>
          <a:p>
            <a:r>
              <a:rPr lang="en-US" dirty="0" smtClean="0"/>
              <a:t/>
            </a:r>
            <a:br>
              <a:rPr lang="en-US" dirty="0" smtClean="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The authenticity of user B can be established as follows: </a:t>
            </a:r>
          </a:p>
        </p:txBody>
      </p:sp>
      <p:sp>
        <p:nvSpPr>
          <p:cNvPr id="18435" name="Content Placeholder 2"/>
          <p:cNvSpPr>
            <a:spLocks noGrp="1"/>
          </p:cNvSpPr>
          <p:nvPr>
            <p:ph idx="1"/>
          </p:nvPr>
        </p:nvSpPr>
        <p:spPr>
          <a:xfrm>
            <a:off x="2693988" y="1905000"/>
            <a:ext cx="6326187" cy="4221163"/>
          </a:xfrm>
        </p:spPr>
        <p:txBody>
          <a:bodyPr/>
          <a:lstStyle/>
          <a:p>
            <a:r>
              <a:rPr lang="en-US" dirty="0" smtClean="0"/>
              <a:t> B will encrypt the message using his private key: Y=E(PR</a:t>
            </a:r>
            <a:r>
              <a:rPr lang="en-US" baseline="-25000" dirty="0" smtClean="0"/>
              <a:t>B</a:t>
            </a:r>
            <a:r>
              <a:rPr lang="en-US" dirty="0" smtClean="0"/>
              <a:t>,X) </a:t>
            </a:r>
          </a:p>
          <a:p>
            <a:r>
              <a:rPr lang="en-US" dirty="0" smtClean="0"/>
              <a:t>This shows the authenticity of the sender because (supposedly) he is the only one who knows the private key </a:t>
            </a:r>
          </a:p>
          <a:p>
            <a:r>
              <a:rPr lang="en-US" dirty="0" smtClean="0"/>
              <a:t>The entire encrypted message serves as a digital signature</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smtClean="0"/>
              <a:t/>
            </a:r>
            <a:br>
              <a:rPr lang="en-US" dirty="0" smtClean="0"/>
            </a:br>
            <a:r>
              <a:rPr lang="en-US" dirty="0" smtClean="0"/>
              <a:t>A scheme to authenticate the sender of the message </a:t>
            </a:r>
          </a:p>
        </p:txBody>
      </p:sp>
      <p:pic>
        <p:nvPicPr>
          <p:cNvPr id="19459" name="Picture 2"/>
          <p:cNvPicPr>
            <a:picLocks noGrp="1" noChangeAspect="1" noChangeArrowheads="1"/>
          </p:cNvPicPr>
          <p:nvPr>
            <p:ph idx="1"/>
          </p:nvPr>
        </p:nvPicPr>
        <p:blipFill>
          <a:blip r:embed="rId2" cstate="print"/>
          <a:srcRect/>
          <a:stretch>
            <a:fillRect/>
          </a:stretch>
        </p:blipFill>
        <p:spPr>
          <a:xfrm>
            <a:off x="1752600" y="1752600"/>
            <a:ext cx="6896100" cy="4525963"/>
          </a:xfr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smtClean="0"/>
              <a:t>Encryption and authenticity </a:t>
            </a:r>
          </a:p>
        </p:txBody>
      </p:sp>
      <p:sp>
        <p:nvSpPr>
          <p:cNvPr id="20483" name="Content Placeholder 2"/>
          <p:cNvSpPr>
            <a:spLocks noGrp="1"/>
          </p:cNvSpPr>
          <p:nvPr>
            <p:ph idx="1"/>
          </p:nvPr>
        </p:nvSpPr>
        <p:spPr/>
        <p:txBody>
          <a:bodyPr/>
          <a:lstStyle/>
          <a:p>
            <a:endParaRPr lang="en-US" smtClean="0"/>
          </a:p>
          <a:p>
            <a:r>
              <a:rPr lang="en-US" smtClean="0"/>
              <a:t>Still a drawback: the scheme on the previous slide authenticate but does not ensure security: anybody can decrypt the message using B’s public key </a:t>
            </a:r>
          </a:p>
          <a:p>
            <a:endParaRPr lang="en-US"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228600"/>
            <a:ext cx="8686800" cy="1417638"/>
          </a:xfrm>
        </p:spPr>
        <p:txBody>
          <a:bodyPr/>
          <a:lstStyle/>
          <a:p>
            <a:pPr algn="l"/>
            <a:r>
              <a:rPr lang="en-US" sz="3200" dirty="0" smtClean="0"/>
              <a:t/>
            </a:r>
            <a:br>
              <a:rPr lang="en-US" sz="3200" dirty="0" smtClean="0"/>
            </a:br>
            <a:r>
              <a:rPr lang="en-US" sz="3200" dirty="0" smtClean="0"/>
              <a:t/>
            </a:r>
            <a:br>
              <a:rPr lang="en-US" sz="3200" dirty="0" smtClean="0"/>
            </a:br>
            <a:r>
              <a:rPr lang="en-US" sz="3200" dirty="0" smtClean="0"/>
              <a:t/>
            </a:r>
            <a:br>
              <a:rPr lang="en-US" sz="3200"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sz="3200" b="1" dirty="0" smtClean="0"/>
              <a:t>One can provide both authentication and confidentiality using the public-key scheme  twice:</a:t>
            </a:r>
            <a:endParaRPr lang="en-US" b="1" dirty="0" smtClean="0"/>
          </a:p>
        </p:txBody>
      </p:sp>
      <p:sp>
        <p:nvSpPr>
          <p:cNvPr id="21507" name="Content Placeholder 2"/>
          <p:cNvSpPr>
            <a:spLocks noGrp="1"/>
          </p:cNvSpPr>
          <p:nvPr>
            <p:ph idx="1"/>
          </p:nvPr>
        </p:nvSpPr>
        <p:spPr/>
        <p:txBody>
          <a:bodyPr/>
          <a:lstStyle/>
          <a:p>
            <a:r>
              <a:rPr lang="en-US" dirty="0" smtClean="0"/>
              <a:t>B encrypts X with his private key: Y=E(PR</a:t>
            </a:r>
            <a:r>
              <a:rPr lang="en-US" baseline="-25000" dirty="0" smtClean="0"/>
              <a:t>B</a:t>
            </a:r>
            <a:r>
              <a:rPr lang="en-US" dirty="0" smtClean="0"/>
              <a:t>,X) </a:t>
            </a:r>
          </a:p>
          <a:p>
            <a:r>
              <a:rPr lang="en-US" dirty="0" smtClean="0"/>
              <a:t>B encrypts Y with A’s public key: Z=E(PU</a:t>
            </a:r>
            <a:r>
              <a:rPr lang="en-US" baseline="-25000" dirty="0" smtClean="0"/>
              <a:t>A</a:t>
            </a:r>
            <a:r>
              <a:rPr lang="en-US" dirty="0" smtClean="0"/>
              <a:t>,Y) </a:t>
            </a:r>
          </a:p>
          <a:p>
            <a:r>
              <a:rPr lang="en-US" dirty="0" smtClean="0"/>
              <a:t>A will decrypt Z (and she is the only one capable of doing it): Y=D(PR</a:t>
            </a:r>
            <a:r>
              <a:rPr lang="en-US" baseline="-25000" dirty="0" smtClean="0"/>
              <a:t>A</a:t>
            </a:r>
            <a:r>
              <a:rPr lang="en-US" dirty="0" smtClean="0"/>
              <a:t>,Z) </a:t>
            </a:r>
          </a:p>
          <a:p>
            <a:r>
              <a:rPr lang="en-US" dirty="0" smtClean="0"/>
              <a:t>A can now get the plaintext and ensure that it comes from B (he is the only one who knows his private key): decrypt Y using B’s public key: X=E(PU</a:t>
            </a:r>
            <a:r>
              <a:rPr lang="en-US" baseline="-25000" dirty="0" smtClean="0"/>
              <a:t>B</a:t>
            </a:r>
            <a:r>
              <a:rPr lang="en-US" dirty="0" smtClean="0"/>
              <a:t>,Y) </a:t>
            </a:r>
          </a:p>
          <a:p>
            <a:endParaRPr lang="en-US" dirty="0" smtClean="0"/>
          </a:p>
          <a:p>
            <a:endParaRPr lang="en-US"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smtClean="0"/>
              <a:t>Secrecy and authentication using public-key schemes.</a:t>
            </a:r>
          </a:p>
        </p:txBody>
      </p:sp>
      <p:pic>
        <p:nvPicPr>
          <p:cNvPr id="22531" name="Picture 4" descr="PK_Dual_Model.pdf                                              00156198  Mnementh                      BEAE7A2F:"/>
          <p:cNvPicPr>
            <a:picLocks noGrp="1" noChangeAspect="1" noChangeArrowheads="1"/>
          </p:cNvPicPr>
          <p:nvPr>
            <p:ph idx="1"/>
          </p:nvPr>
        </p:nvPicPr>
        <p:blipFill>
          <a:blip r:embed="rId2" cstate="print"/>
          <a:srcRect t="13898" b="18529"/>
          <a:stretch>
            <a:fillRect/>
          </a:stretch>
        </p:blipFill>
        <p:spPr>
          <a:xfrm>
            <a:off x="457200" y="1714500"/>
            <a:ext cx="8229600" cy="4297363"/>
          </a:xfrm>
          <a:noFill/>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smtClean="0"/>
              <a:t/>
            </a:r>
            <a:br>
              <a:rPr lang="en-US" dirty="0" smtClean="0"/>
            </a:br>
            <a:r>
              <a:rPr lang="en-US" dirty="0" smtClean="0"/>
              <a:t>Applications for public-key cryptosystems </a:t>
            </a:r>
          </a:p>
        </p:txBody>
      </p:sp>
      <p:sp>
        <p:nvSpPr>
          <p:cNvPr id="23555" name="Content Placeholder 2"/>
          <p:cNvSpPr>
            <a:spLocks noGrp="1"/>
          </p:cNvSpPr>
          <p:nvPr>
            <p:ph idx="1"/>
          </p:nvPr>
        </p:nvSpPr>
        <p:spPr/>
        <p:txBody>
          <a:bodyPr/>
          <a:lstStyle/>
          <a:p>
            <a:r>
              <a:rPr lang="en-US" b="1" smtClean="0"/>
              <a:t>Encryption/decryption</a:t>
            </a:r>
            <a:r>
              <a:rPr lang="en-US" smtClean="0"/>
              <a:t>: sender encrypts the message with the receiver’s public key </a:t>
            </a:r>
          </a:p>
          <a:p>
            <a:r>
              <a:rPr lang="en-US" b="1" smtClean="0"/>
              <a:t>Digital signature:</a:t>
            </a:r>
            <a:r>
              <a:rPr lang="en-US" smtClean="0"/>
              <a:t> sender “signs” the message (or a representative part of the message) using his private key </a:t>
            </a:r>
          </a:p>
          <a:p>
            <a:r>
              <a:rPr lang="en-US" b="1" smtClean="0"/>
              <a:t>Key exchange</a:t>
            </a:r>
            <a:r>
              <a:rPr lang="en-US" smtClean="0"/>
              <a:t>: two sides cooperate to exchange a secret key for later use in a secret-key cryptosystem </a:t>
            </a:r>
          </a:p>
          <a:p>
            <a:endParaRPr lang="en-US"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703513" y="274638"/>
            <a:ext cx="6316662" cy="868362"/>
          </a:xfrm>
        </p:spPr>
        <p:txBody>
          <a:bodyPr/>
          <a:lstStyle/>
          <a:p>
            <a:pPr eaLnBrk="1" hangingPunct="1"/>
            <a:r>
              <a:rPr lang="en-AU" dirty="0" smtClean="0"/>
              <a:t>Symmetric </a:t>
            </a:r>
            <a:r>
              <a:rPr lang="en-AU" dirty="0" err="1" smtClean="0"/>
              <a:t>vs</a:t>
            </a:r>
            <a:r>
              <a:rPr lang="en-AU" dirty="0" smtClean="0"/>
              <a:t> Public-Key</a:t>
            </a:r>
          </a:p>
        </p:txBody>
      </p:sp>
      <p:pic>
        <p:nvPicPr>
          <p:cNvPr id="24579" name="Picture 3"/>
          <p:cNvPicPr>
            <a:picLocks noChangeAspect="1"/>
          </p:cNvPicPr>
          <p:nvPr/>
        </p:nvPicPr>
        <p:blipFill>
          <a:blip r:embed="rId3" cstate="print"/>
          <a:srcRect/>
          <a:stretch>
            <a:fillRect/>
          </a:stretch>
        </p:blipFill>
        <p:spPr bwMode="auto">
          <a:xfrm>
            <a:off x="914400" y="1371600"/>
            <a:ext cx="7375525" cy="5257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2703513" y="274638"/>
            <a:ext cx="6316662" cy="944562"/>
          </a:xfrm>
        </p:spPr>
        <p:txBody>
          <a:bodyPr/>
          <a:lstStyle/>
          <a:p>
            <a:r>
              <a:rPr lang="en-AU" dirty="0" smtClean="0"/>
              <a:t>Security of Public Key Schemes</a:t>
            </a:r>
          </a:p>
        </p:txBody>
      </p:sp>
      <p:sp>
        <p:nvSpPr>
          <p:cNvPr id="25603" name="Rectangle 3"/>
          <p:cNvSpPr>
            <a:spLocks noGrp="1" noChangeArrowheads="1"/>
          </p:cNvSpPr>
          <p:nvPr>
            <p:ph type="body" idx="1"/>
          </p:nvPr>
        </p:nvSpPr>
        <p:spPr>
          <a:xfrm>
            <a:off x="468313" y="1412875"/>
            <a:ext cx="8229600" cy="5040313"/>
          </a:xfrm>
        </p:spPr>
        <p:txBody>
          <a:bodyPr/>
          <a:lstStyle/>
          <a:p>
            <a:pPr>
              <a:lnSpc>
                <a:spcPct val="90000"/>
              </a:lnSpc>
            </a:pPr>
            <a:r>
              <a:rPr lang="en-AU" sz="2800" dirty="0" smtClean="0"/>
              <a:t>like private key schemes brute force </a:t>
            </a:r>
            <a:r>
              <a:rPr lang="en-AU" sz="2800" b="1" dirty="0" smtClean="0"/>
              <a:t>exhaustive search</a:t>
            </a:r>
            <a:r>
              <a:rPr lang="en-AU" sz="2800" dirty="0" smtClean="0"/>
              <a:t> attack is always theoretically possible </a:t>
            </a:r>
          </a:p>
          <a:p>
            <a:pPr>
              <a:lnSpc>
                <a:spcPct val="90000"/>
              </a:lnSpc>
            </a:pPr>
            <a:r>
              <a:rPr lang="en-AU" sz="2800" dirty="0" smtClean="0"/>
              <a:t>but keys used are too large (&gt;512bits) </a:t>
            </a:r>
          </a:p>
          <a:p>
            <a:pPr>
              <a:lnSpc>
                <a:spcPct val="90000"/>
              </a:lnSpc>
            </a:pPr>
            <a:r>
              <a:rPr lang="en-AU" sz="2800" dirty="0" smtClean="0"/>
              <a:t>security relies on a </a:t>
            </a:r>
            <a:r>
              <a:rPr lang="en-AU" sz="2800" b="1" dirty="0" smtClean="0"/>
              <a:t>large enough</a:t>
            </a:r>
            <a:r>
              <a:rPr lang="en-AU" sz="2800" dirty="0" smtClean="0"/>
              <a:t> difference in difficulty between </a:t>
            </a:r>
            <a:r>
              <a:rPr lang="en-AU" sz="2800" b="1" dirty="0" smtClean="0"/>
              <a:t>easy</a:t>
            </a:r>
            <a:r>
              <a:rPr lang="en-AU" sz="2800" dirty="0" smtClean="0"/>
              <a:t> (en/decrypt) and </a:t>
            </a:r>
            <a:r>
              <a:rPr lang="en-AU" sz="2800" b="1" dirty="0" smtClean="0"/>
              <a:t>hard</a:t>
            </a:r>
            <a:r>
              <a:rPr lang="en-AU" sz="2800" dirty="0" smtClean="0"/>
              <a:t> (</a:t>
            </a:r>
            <a:r>
              <a:rPr lang="en-AU" sz="2800" dirty="0" err="1" smtClean="0"/>
              <a:t>cryptanalyse</a:t>
            </a:r>
            <a:r>
              <a:rPr lang="en-AU" sz="2800" dirty="0" smtClean="0"/>
              <a:t>) problems</a:t>
            </a:r>
          </a:p>
          <a:p>
            <a:pPr>
              <a:lnSpc>
                <a:spcPct val="90000"/>
              </a:lnSpc>
            </a:pPr>
            <a:r>
              <a:rPr lang="en-AU" sz="2800" dirty="0" smtClean="0"/>
              <a:t>more generally the </a:t>
            </a:r>
            <a:r>
              <a:rPr lang="en-AU" sz="2800" b="1" dirty="0" smtClean="0"/>
              <a:t>hard</a:t>
            </a:r>
            <a:r>
              <a:rPr lang="en-AU" sz="2800" dirty="0" smtClean="0"/>
              <a:t> problem is known, its just made too hard to do in practise </a:t>
            </a:r>
          </a:p>
          <a:p>
            <a:pPr>
              <a:lnSpc>
                <a:spcPct val="90000"/>
              </a:lnSpc>
            </a:pPr>
            <a:r>
              <a:rPr lang="en-AU" sz="2800" dirty="0" smtClean="0"/>
              <a:t>requires the use of </a:t>
            </a:r>
            <a:r>
              <a:rPr lang="en-AU" sz="2800" b="1" dirty="0" smtClean="0"/>
              <a:t>very large numbers</a:t>
            </a:r>
          </a:p>
          <a:p>
            <a:pPr>
              <a:lnSpc>
                <a:spcPct val="90000"/>
              </a:lnSpc>
            </a:pPr>
            <a:r>
              <a:rPr lang="en-AU" sz="2800" dirty="0" smtClean="0"/>
              <a:t>hence is </a:t>
            </a:r>
            <a:r>
              <a:rPr lang="en-AU" sz="2800" b="1" dirty="0" smtClean="0"/>
              <a:t>slow</a:t>
            </a:r>
            <a:r>
              <a:rPr lang="en-AU" sz="2800" dirty="0" smtClean="0"/>
              <a:t> compared to private key schemes</a:t>
            </a:r>
            <a:r>
              <a:rPr lang="en-AU" sz="2400" dirty="0" smtClean="0"/>
              <a:t> </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smtClean="0">
                <a:ea typeface="ＭＳ Ｐゴシック" pitchFamily="34" charset="-128"/>
              </a:rPr>
              <a:t>RSA</a:t>
            </a:r>
            <a:endParaRPr lang="en-AU" smtClean="0">
              <a:ea typeface="ＭＳ Ｐゴシック" pitchFamily="34" charset="-128"/>
            </a:endParaRPr>
          </a:p>
        </p:txBody>
      </p:sp>
      <p:sp>
        <p:nvSpPr>
          <p:cNvPr id="26627" name="Rectangle 3"/>
          <p:cNvSpPr>
            <a:spLocks noGrp="1" noChangeArrowheads="1"/>
          </p:cNvSpPr>
          <p:nvPr>
            <p:ph idx="1"/>
          </p:nvPr>
        </p:nvSpPr>
        <p:spPr>
          <a:xfrm>
            <a:off x="457200" y="1676400"/>
            <a:ext cx="8458200" cy="4454525"/>
          </a:xfrm>
        </p:spPr>
        <p:txBody>
          <a:bodyPr/>
          <a:lstStyle/>
          <a:p>
            <a:pPr eaLnBrk="1" hangingPunct="1">
              <a:buFont typeface="Wingdings" pitchFamily="2" charset="2"/>
              <a:buChar char="Ø"/>
            </a:pPr>
            <a:r>
              <a:rPr lang="en-AU" sz="2800" smtClean="0"/>
              <a:t>by Rivest, Shamir &amp; Adleman of MIT in 1977 </a:t>
            </a:r>
          </a:p>
          <a:p>
            <a:pPr eaLnBrk="1" hangingPunct="1">
              <a:buFont typeface="Wingdings" pitchFamily="2" charset="2"/>
              <a:buChar char="Ø"/>
            </a:pPr>
            <a:r>
              <a:rPr lang="en-AU" sz="2800" smtClean="0"/>
              <a:t>best known &amp; widely used public-key scheme </a:t>
            </a:r>
          </a:p>
          <a:p>
            <a:pPr eaLnBrk="1" hangingPunct="1">
              <a:buFont typeface="Wingdings" pitchFamily="2" charset="2"/>
              <a:buChar char="Ø"/>
            </a:pPr>
            <a:r>
              <a:rPr lang="en-AU" sz="2800" smtClean="0"/>
              <a:t>based on exponentiation in a finite (Galois) field over integers modulo a prime </a:t>
            </a:r>
          </a:p>
          <a:p>
            <a:pPr eaLnBrk="1" hangingPunct="1">
              <a:buFont typeface="Wingdings" pitchFamily="2" charset="2"/>
              <a:buChar char="Ø"/>
            </a:pPr>
            <a:r>
              <a:rPr lang="en-US" sz="2800" smtClean="0"/>
              <a:t>uses large integers eg. 1024 bits.(309 decimal digits)</a:t>
            </a:r>
            <a:endParaRPr lang="en-AU" sz="2800" smtClean="0"/>
          </a:p>
          <a:p>
            <a:pPr eaLnBrk="1" hangingPunct="1">
              <a:buFont typeface="Wingdings" pitchFamily="2" charset="2"/>
              <a:buChar char="Ø"/>
            </a:pPr>
            <a:r>
              <a:rPr lang="en-AU" sz="2800" smtClean="0"/>
              <a:t>security due to cost of factoring large numbers </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Fußzeilenplatzhalter 4"/>
          <p:cNvSpPr>
            <a:spLocks noGrp="1"/>
          </p:cNvSpPr>
          <p:nvPr>
            <p:ph type="ftr" sz="quarter" idx="11"/>
          </p:nvPr>
        </p:nvSpPr>
        <p:spPr>
          <a:xfrm>
            <a:off x="2438400" y="6324600"/>
            <a:ext cx="4321175" cy="260350"/>
          </a:xfrm>
          <a:noFill/>
        </p:spPr>
        <p:txBody>
          <a:bodyPr/>
          <a:lstStyle/>
          <a:p>
            <a:r>
              <a:rPr lang="de-DE" dirty="0" smtClean="0">
                <a:latin typeface="Arial" pitchFamily="34" charset="0"/>
              </a:rPr>
              <a:t>Chapter 7 of </a:t>
            </a:r>
            <a:r>
              <a:rPr lang="de-DE" i="1" dirty="0" smtClean="0">
                <a:latin typeface="Arial" pitchFamily="34" charset="0"/>
              </a:rPr>
              <a:t>Understanding Cryptography</a:t>
            </a:r>
            <a:r>
              <a:rPr lang="de-DE" dirty="0" smtClean="0">
                <a:latin typeface="Arial" pitchFamily="34" charset="0"/>
              </a:rPr>
              <a:t> by Christof Paar and Jan Pelzl</a:t>
            </a:r>
          </a:p>
        </p:txBody>
      </p:sp>
      <p:sp>
        <p:nvSpPr>
          <p:cNvPr id="9220" name="Rectangle 2"/>
          <p:cNvSpPr>
            <a:spLocks noGrp="1" noChangeArrowheads="1"/>
          </p:cNvSpPr>
          <p:nvPr>
            <p:ph type="title" idx="4294967295"/>
          </p:nvPr>
        </p:nvSpPr>
        <p:spPr>
          <a:xfrm>
            <a:off x="471488" y="322263"/>
            <a:ext cx="8250237" cy="541337"/>
          </a:xfrm>
        </p:spPr>
        <p:txBody>
          <a:bodyPr/>
          <a:lstStyle/>
          <a:p>
            <a:pPr marL="0" indent="0" defTabSz="449263">
              <a:spcBef>
                <a:spcPts val="7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de-DE" sz="2800" smtClean="0"/>
              <a:t>Encryption and Decryption</a:t>
            </a:r>
          </a:p>
        </p:txBody>
      </p:sp>
      <p:sp>
        <p:nvSpPr>
          <p:cNvPr id="9221" name="Text Box 3"/>
          <p:cNvSpPr txBox="1">
            <a:spLocks noChangeArrowheads="1"/>
          </p:cNvSpPr>
          <p:nvPr/>
        </p:nvSpPr>
        <p:spPr bwMode="auto">
          <a:xfrm>
            <a:off x="611188" y="1079500"/>
            <a:ext cx="8027987" cy="5040313"/>
          </a:xfrm>
          <a:prstGeom prst="rect">
            <a:avLst/>
          </a:prstGeom>
          <a:noFill/>
          <a:ln w="9525">
            <a:noFill/>
            <a:round/>
            <a:headEnd/>
            <a:tailEnd/>
          </a:ln>
        </p:spPr>
        <p:txBody>
          <a:bodyPr lIns="0" tIns="0" rIns="0" bIns="0"/>
          <a:lstStyle/>
          <a:p>
            <a:pPr marL="338138" indent="-338138" defTabSz="449263">
              <a:lnSpc>
                <a:spcPct val="125000"/>
              </a:lnSpc>
              <a:spcBef>
                <a:spcPts val="625"/>
              </a:spcBef>
              <a:buClr>
                <a:srgbClr val="007AC2"/>
              </a:buClr>
              <a:buSzPct val="120000"/>
              <a:buFont typeface="Arial" pitchFamily="34"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r>
              <a:rPr lang="en-US" sz="2000" dirty="0">
                <a:solidFill>
                  <a:srgbClr val="000000"/>
                </a:solidFill>
              </a:rPr>
              <a:t>RSA operations are done over the integer ring </a:t>
            </a:r>
            <a:r>
              <a:rPr lang="en-US" sz="2000" i="1" dirty="0">
                <a:solidFill>
                  <a:srgbClr val="000000"/>
                </a:solidFill>
              </a:rPr>
              <a:t>Z</a:t>
            </a:r>
            <a:r>
              <a:rPr lang="en-US" sz="2000" i="1" baseline="-25000" dirty="0">
                <a:solidFill>
                  <a:srgbClr val="000000"/>
                </a:solidFill>
              </a:rPr>
              <a:t>n</a:t>
            </a:r>
            <a:r>
              <a:rPr lang="en-US" sz="2000" baseline="-25000" dirty="0">
                <a:solidFill>
                  <a:srgbClr val="000000"/>
                </a:solidFill>
              </a:rPr>
              <a:t> </a:t>
            </a:r>
            <a:r>
              <a:rPr lang="en-US" sz="2000" dirty="0">
                <a:solidFill>
                  <a:srgbClr val="000000"/>
                </a:solidFill>
              </a:rPr>
              <a:t>(i.e., arithmetic modulo n), where </a:t>
            </a:r>
            <a:r>
              <a:rPr lang="en-US" sz="2000" i="1" dirty="0">
                <a:solidFill>
                  <a:srgbClr val="000000"/>
                </a:solidFill>
              </a:rPr>
              <a:t>n = p * q, </a:t>
            </a:r>
            <a:r>
              <a:rPr lang="en-US" sz="2000" dirty="0">
                <a:solidFill>
                  <a:srgbClr val="000000"/>
                </a:solidFill>
              </a:rPr>
              <a:t>with </a:t>
            </a:r>
            <a:r>
              <a:rPr lang="en-US" sz="2000" i="1" dirty="0">
                <a:solidFill>
                  <a:srgbClr val="000000"/>
                </a:solidFill>
              </a:rPr>
              <a:t>p, q</a:t>
            </a:r>
            <a:r>
              <a:rPr lang="en-US" sz="2000" dirty="0">
                <a:solidFill>
                  <a:srgbClr val="000000"/>
                </a:solidFill>
              </a:rPr>
              <a:t> being large primes</a:t>
            </a:r>
          </a:p>
          <a:p>
            <a:pPr marL="338138" indent="-338138" defTabSz="449263">
              <a:lnSpc>
                <a:spcPct val="125000"/>
              </a:lnSpc>
              <a:spcBef>
                <a:spcPts val="625"/>
              </a:spcBef>
              <a:buClr>
                <a:srgbClr val="007AC2"/>
              </a:buClr>
              <a:buSzPct val="120000"/>
              <a:buFont typeface="Arial" pitchFamily="34"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r>
              <a:rPr lang="en-US" sz="2000" dirty="0">
                <a:solidFill>
                  <a:srgbClr val="000000"/>
                </a:solidFill>
              </a:rPr>
              <a:t>Encryption and decryption are simply exponentiations in the ring</a:t>
            </a:r>
          </a:p>
          <a:p>
            <a:pPr marL="338138" indent="-338138" defTabSz="449263">
              <a:lnSpc>
                <a:spcPct val="125000"/>
              </a:lnSpc>
              <a:spcBef>
                <a:spcPts val="625"/>
              </a:spcBef>
              <a:buClr>
                <a:srgbClr val="007AC2"/>
              </a:buClr>
              <a:buSzPct val="120000"/>
              <a:buFont typeface="Arial" pitchFamily="34"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dirty="0">
              <a:solidFill>
                <a:srgbClr val="000000"/>
              </a:solidFill>
            </a:endParaRPr>
          </a:p>
          <a:p>
            <a:pPr marL="338138" indent="-338138" defTabSz="449263">
              <a:lnSpc>
                <a:spcPct val="125000"/>
              </a:lnSpc>
              <a:spcBef>
                <a:spcPts val="625"/>
              </a:spcBef>
              <a:buClr>
                <a:srgbClr val="007AC2"/>
              </a:buClr>
              <a:buSzPct val="120000"/>
              <a:buFont typeface="Arial" pitchFamily="34"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dirty="0">
              <a:solidFill>
                <a:srgbClr val="000000"/>
              </a:solidFill>
            </a:endParaRPr>
          </a:p>
          <a:p>
            <a:pPr marL="338138" indent="-338138" defTabSz="449263">
              <a:lnSpc>
                <a:spcPct val="125000"/>
              </a:lnSpc>
              <a:spcBef>
                <a:spcPts val="625"/>
              </a:spcBef>
              <a:buClr>
                <a:srgbClr val="007AC2"/>
              </a:buClr>
              <a:buSzPct val="120000"/>
              <a:buFont typeface="Arial" pitchFamily="34"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dirty="0">
              <a:solidFill>
                <a:srgbClr val="000000"/>
              </a:solidFill>
            </a:endParaRPr>
          </a:p>
          <a:p>
            <a:pPr marL="338138" indent="-338138" defTabSz="449263">
              <a:lnSpc>
                <a:spcPct val="125000"/>
              </a:lnSpc>
              <a:spcBef>
                <a:spcPts val="625"/>
              </a:spcBef>
              <a:buClr>
                <a:srgbClr val="007AC2"/>
              </a:buClr>
              <a:buSzPct val="120000"/>
              <a:buFont typeface="Arial" pitchFamily="34"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dirty="0">
              <a:solidFill>
                <a:srgbClr val="000000"/>
              </a:solidFill>
            </a:endParaRPr>
          </a:p>
          <a:p>
            <a:pPr marL="338138" indent="-338138" defTabSz="449263">
              <a:lnSpc>
                <a:spcPct val="125000"/>
              </a:lnSpc>
              <a:spcBef>
                <a:spcPts val="625"/>
              </a:spcBef>
              <a:buClr>
                <a:srgbClr val="007AC2"/>
              </a:buClr>
              <a:buSzPct val="120000"/>
              <a:buFont typeface="Arial" pitchFamily="34"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dirty="0">
              <a:solidFill>
                <a:srgbClr val="000000"/>
              </a:solidFill>
            </a:endParaRPr>
          </a:p>
          <a:p>
            <a:pPr marL="338138" indent="-338138" defTabSz="449263">
              <a:lnSpc>
                <a:spcPct val="125000"/>
              </a:lnSpc>
              <a:spcBef>
                <a:spcPts val="625"/>
              </a:spcBef>
              <a:buClr>
                <a:srgbClr val="007AC2"/>
              </a:buClr>
              <a:buSzPct val="120000"/>
              <a:buFont typeface="Arial" pitchFamily="34"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r>
              <a:rPr lang="en-US" sz="2000" dirty="0">
                <a:solidFill>
                  <a:srgbClr val="000000"/>
                </a:solidFill>
              </a:rPr>
              <a:t>In practice </a:t>
            </a:r>
            <a:r>
              <a:rPr lang="en-US" sz="2000" i="1" dirty="0">
                <a:solidFill>
                  <a:srgbClr val="000000"/>
                </a:solidFill>
              </a:rPr>
              <a:t>x, y, n</a:t>
            </a:r>
            <a:r>
              <a:rPr lang="en-US" sz="2000" dirty="0">
                <a:solidFill>
                  <a:srgbClr val="000000"/>
                </a:solidFill>
              </a:rPr>
              <a:t> and </a:t>
            </a:r>
            <a:r>
              <a:rPr lang="en-US" sz="2000" i="1" dirty="0">
                <a:solidFill>
                  <a:srgbClr val="000000"/>
                </a:solidFill>
              </a:rPr>
              <a:t>d</a:t>
            </a:r>
            <a:r>
              <a:rPr lang="en-US" sz="2000" dirty="0">
                <a:solidFill>
                  <a:srgbClr val="000000"/>
                </a:solidFill>
              </a:rPr>
              <a:t> are very long integer numbers (</a:t>
            </a:r>
            <a:r>
              <a:rPr lang="en-US" sz="2000" dirty="0">
                <a:solidFill>
                  <a:srgbClr val="000000"/>
                </a:solidFill>
                <a:cs typeface="Arial" pitchFamily="34" charset="0"/>
              </a:rPr>
              <a:t>≥</a:t>
            </a:r>
            <a:r>
              <a:rPr lang="en-US" sz="2000" dirty="0">
                <a:solidFill>
                  <a:srgbClr val="000000"/>
                </a:solidFill>
              </a:rPr>
              <a:t> 1024 bits)</a:t>
            </a:r>
          </a:p>
          <a:p>
            <a:pPr marL="338138" indent="-338138" defTabSz="449263">
              <a:lnSpc>
                <a:spcPct val="125000"/>
              </a:lnSpc>
              <a:spcBef>
                <a:spcPts val="625"/>
              </a:spcBef>
              <a:buClr>
                <a:srgbClr val="007AC2"/>
              </a:buClr>
              <a:buSzPct val="120000"/>
              <a:buFont typeface="Arial" pitchFamily="34"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r>
              <a:rPr lang="en-US" sz="2000" dirty="0">
                <a:solidFill>
                  <a:srgbClr val="000000"/>
                </a:solidFill>
              </a:rPr>
              <a:t>The security of the scheme relies on the fact that it is hard to derive the „private exponent“ </a:t>
            </a:r>
            <a:r>
              <a:rPr lang="en-US" sz="2000" i="1" dirty="0">
                <a:solidFill>
                  <a:srgbClr val="000000"/>
                </a:solidFill>
              </a:rPr>
              <a:t>d</a:t>
            </a:r>
            <a:r>
              <a:rPr lang="en-US" sz="2000" dirty="0">
                <a:solidFill>
                  <a:srgbClr val="000000"/>
                </a:solidFill>
              </a:rPr>
              <a:t> given the public-key (</a:t>
            </a:r>
            <a:r>
              <a:rPr lang="en-US" sz="2000" i="1" dirty="0">
                <a:solidFill>
                  <a:srgbClr val="000000"/>
                </a:solidFill>
              </a:rPr>
              <a:t>n, </a:t>
            </a:r>
            <a:r>
              <a:rPr lang="en-US" sz="2000" i="1" dirty="0" smtClean="0">
                <a:solidFill>
                  <a:srgbClr val="000000"/>
                </a:solidFill>
              </a:rPr>
              <a:t>e</a:t>
            </a:r>
            <a:r>
              <a:rPr lang="en-US" sz="2000" dirty="0" smtClean="0">
                <a:solidFill>
                  <a:srgbClr val="000000"/>
                </a:solidFill>
              </a:rPr>
              <a:t>)</a:t>
            </a:r>
          </a:p>
          <a:p>
            <a:pPr marL="742950" lvl="1" indent="-285750" defTabSz="449263">
              <a:lnSpc>
                <a:spcPct val="125000"/>
              </a:lnSpc>
              <a:spcBef>
                <a:spcPts val="625"/>
              </a:spcBef>
              <a:buClr>
                <a:srgbClr val="007AC2"/>
              </a:buClr>
              <a:buSzPct val="120000"/>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dirty="0" smtClean="0">
              <a:solidFill>
                <a:srgbClr val="000000"/>
              </a:solidFill>
            </a:endParaRPr>
          </a:p>
          <a:p>
            <a:pPr marL="338138" indent="-338138" defTabSz="449263">
              <a:lnSpc>
                <a:spcPct val="125000"/>
              </a:lnSpc>
              <a:spcBef>
                <a:spcPts val="625"/>
              </a:spcBef>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dirty="0">
              <a:solidFill>
                <a:srgbClr val="000000"/>
              </a:solidFill>
            </a:endParaRPr>
          </a:p>
        </p:txBody>
      </p:sp>
      <p:sp>
        <p:nvSpPr>
          <p:cNvPr id="9222" name="Rectangle 4"/>
          <p:cNvSpPr>
            <a:spLocks noChangeArrowheads="1"/>
          </p:cNvSpPr>
          <p:nvPr/>
        </p:nvSpPr>
        <p:spPr bwMode="auto">
          <a:xfrm>
            <a:off x="1219200" y="2438400"/>
            <a:ext cx="6624638" cy="2181225"/>
          </a:xfrm>
          <a:prstGeom prst="rect">
            <a:avLst/>
          </a:prstGeom>
          <a:noFill/>
          <a:ln w="25560">
            <a:solidFill>
              <a:srgbClr val="FF0000"/>
            </a:solidFill>
            <a:miter lim="800000"/>
            <a:headEnd/>
            <a:tailEnd/>
          </a:ln>
        </p:spPr>
        <p:txBody>
          <a:bodyPr lIns="0" tIns="0" rIns="0" bIns="0">
            <a:spAutoFit/>
          </a:bodyPr>
          <a:lstStyle/>
          <a:p>
            <a:pPr marL="354013" indent="-266700" defTabSz="449263">
              <a:lnSpc>
                <a:spcPct val="125000"/>
              </a:lnSpc>
              <a:spcBef>
                <a:spcPts val="500"/>
              </a:spcBef>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de-DE" sz="1600" b="1">
                <a:solidFill>
                  <a:srgbClr val="000000"/>
                </a:solidFill>
                <a:cs typeface="Arial" pitchFamily="34" charset="0"/>
              </a:rPr>
              <a:t>Definition</a:t>
            </a:r>
            <a:endParaRPr lang="en-US" sz="1600" b="1">
              <a:solidFill>
                <a:srgbClr val="000000"/>
              </a:solidFill>
              <a:cs typeface="Arial" pitchFamily="34" charset="0"/>
            </a:endParaRPr>
          </a:p>
          <a:p>
            <a:pPr marL="354013" indent="-266700" defTabSz="449263">
              <a:lnSpc>
                <a:spcPct val="125000"/>
              </a:lnSpc>
              <a:spcBef>
                <a:spcPts val="500"/>
              </a:spcBef>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1600">
                <a:solidFill>
                  <a:srgbClr val="000000"/>
                </a:solidFill>
                <a:cs typeface="Arial" pitchFamily="34" charset="0"/>
              </a:rPr>
              <a:t>Given the public key </a:t>
            </a:r>
            <a:r>
              <a:rPr lang="en-US" sz="1600" i="1">
                <a:solidFill>
                  <a:srgbClr val="000000"/>
                </a:solidFill>
                <a:cs typeface="Arial" pitchFamily="34" charset="0"/>
              </a:rPr>
              <a:t>(n,e) = k</a:t>
            </a:r>
            <a:r>
              <a:rPr lang="en-US" sz="1600" i="1" baseline="-25000">
                <a:solidFill>
                  <a:srgbClr val="000000"/>
                </a:solidFill>
                <a:cs typeface="Arial" pitchFamily="34" charset="0"/>
              </a:rPr>
              <a:t>pub</a:t>
            </a:r>
            <a:r>
              <a:rPr lang="en-US" sz="1600" i="1">
                <a:solidFill>
                  <a:srgbClr val="000000"/>
                </a:solidFill>
                <a:cs typeface="Arial" pitchFamily="34" charset="0"/>
              </a:rPr>
              <a:t> </a:t>
            </a:r>
            <a:r>
              <a:rPr lang="en-US" sz="1600">
                <a:solidFill>
                  <a:srgbClr val="000000"/>
                </a:solidFill>
                <a:cs typeface="Arial" pitchFamily="34" charset="0"/>
              </a:rPr>
              <a:t>and</a:t>
            </a:r>
            <a:r>
              <a:rPr lang="en-US" sz="1600" i="1">
                <a:solidFill>
                  <a:srgbClr val="000000"/>
                </a:solidFill>
                <a:cs typeface="Arial" pitchFamily="34" charset="0"/>
              </a:rPr>
              <a:t> </a:t>
            </a:r>
            <a:r>
              <a:rPr lang="en-US" sz="1600">
                <a:solidFill>
                  <a:srgbClr val="000000"/>
                </a:solidFill>
                <a:cs typeface="Arial" pitchFamily="34" charset="0"/>
              </a:rPr>
              <a:t>the private key </a:t>
            </a:r>
            <a:r>
              <a:rPr lang="en-US" sz="1600" i="1">
                <a:solidFill>
                  <a:srgbClr val="000000"/>
                </a:solidFill>
                <a:cs typeface="Arial" pitchFamily="34" charset="0"/>
              </a:rPr>
              <a:t>d = k</a:t>
            </a:r>
            <a:r>
              <a:rPr lang="en-US" sz="1600" i="1" baseline="-25000">
                <a:solidFill>
                  <a:srgbClr val="000000"/>
                </a:solidFill>
                <a:cs typeface="Arial" pitchFamily="34" charset="0"/>
              </a:rPr>
              <a:t>pr</a:t>
            </a:r>
            <a:r>
              <a:rPr lang="en-US" sz="1600">
                <a:solidFill>
                  <a:srgbClr val="000000"/>
                </a:solidFill>
                <a:cs typeface="Arial" pitchFamily="34" charset="0"/>
              </a:rPr>
              <a:t> we write</a:t>
            </a:r>
          </a:p>
          <a:p>
            <a:pPr marL="354013" indent="-266700" algn="ctr" defTabSz="449263">
              <a:lnSpc>
                <a:spcPct val="125000"/>
              </a:lnSpc>
              <a:spcBef>
                <a:spcPts val="500"/>
              </a:spcBef>
              <a:buClr>
                <a:srgbClr val="007AC2"/>
              </a:buClr>
              <a:buSzPct val="120000"/>
              <a:buFont typeface="Arial" pitchFamily="34"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sv-SE" sz="1600">
                <a:solidFill>
                  <a:srgbClr val="000000"/>
                </a:solidFill>
                <a:cs typeface="Arial" pitchFamily="34" charset="0"/>
              </a:rPr>
              <a:t>y = e</a:t>
            </a:r>
            <a:r>
              <a:rPr lang="sv-SE" sz="1600" baseline="-25000">
                <a:solidFill>
                  <a:srgbClr val="000000"/>
                </a:solidFill>
                <a:cs typeface="Arial" pitchFamily="34" charset="0"/>
              </a:rPr>
              <a:t>k</a:t>
            </a:r>
            <a:r>
              <a:rPr lang="sv-SE" sz="1600" baseline="-40000">
                <a:solidFill>
                  <a:srgbClr val="000000"/>
                </a:solidFill>
                <a:cs typeface="Arial" pitchFamily="34" charset="0"/>
              </a:rPr>
              <a:t>pub</a:t>
            </a:r>
            <a:r>
              <a:rPr lang="sv-SE" sz="1600">
                <a:solidFill>
                  <a:srgbClr val="000000"/>
                </a:solidFill>
                <a:cs typeface="Arial" pitchFamily="34" charset="0"/>
              </a:rPr>
              <a:t>(x) ≡ x</a:t>
            </a:r>
            <a:r>
              <a:rPr lang="sv-SE" sz="1600" baseline="30000">
                <a:solidFill>
                  <a:srgbClr val="000000"/>
                </a:solidFill>
                <a:cs typeface="Arial" pitchFamily="34" charset="0"/>
              </a:rPr>
              <a:t>e</a:t>
            </a:r>
            <a:r>
              <a:rPr lang="sv-SE" sz="1600">
                <a:solidFill>
                  <a:srgbClr val="000000"/>
                </a:solidFill>
                <a:cs typeface="Arial" pitchFamily="34" charset="0"/>
              </a:rPr>
              <a:t> mod n</a:t>
            </a:r>
          </a:p>
          <a:p>
            <a:pPr marL="354013" indent="-266700" algn="ctr" defTabSz="449263">
              <a:lnSpc>
                <a:spcPct val="125000"/>
              </a:lnSpc>
              <a:spcBef>
                <a:spcPts val="500"/>
              </a:spcBef>
              <a:buClr>
                <a:srgbClr val="007AC2"/>
              </a:buClr>
              <a:buSzPct val="120000"/>
              <a:buFont typeface="Arial" pitchFamily="34"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sv-SE" sz="1600">
                <a:solidFill>
                  <a:srgbClr val="000000"/>
                </a:solidFill>
                <a:cs typeface="Arial" pitchFamily="34" charset="0"/>
              </a:rPr>
              <a:t>x = d</a:t>
            </a:r>
            <a:r>
              <a:rPr lang="sv-SE" sz="1600" baseline="-25000">
                <a:solidFill>
                  <a:srgbClr val="000000"/>
                </a:solidFill>
                <a:cs typeface="Arial" pitchFamily="34" charset="0"/>
              </a:rPr>
              <a:t>k</a:t>
            </a:r>
            <a:r>
              <a:rPr lang="sv-SE" sz="1600" baseline="-40000">
                <a:solidFill>
                  <a:srgbClr val="000000"/>
                </a:solidFill>
                <a:cs typeface="Arial" pitchFamily="34" charset="0"/>
              </a:rPr>
              <a:t>pr</a:t>
            </a:r>
            <a:r>
              <a:rPr lang="sv-SE" sz="1600">
                <a:solidFill>
                  <a:srgbClr val="000000"/>
                </a:solidFill>
                <a:cs typeface="Arial" pitchFamily="34" charset="0"/>
              </a:rPr>
              <a:t>(y) ≡ y</a:t>
            </a:r>
            <a:r>
              <a:rPr lang="sv-SE" sz="1600" baseline="30000">
                <a:solidFill>
                  <a:srgbClr val="000000"/>
                </a:solidFill>
                <a:cs typeface="Arial" pitchFamily="34" charset="0"/>
              </a:rPr>
              <a:t>d</a:t>
            </a:r>
            <a:r>
              <a:rPr lang="sv-SE" sz="1600">
                <a:solidFill>
                  <a:srgbClr val="000000"/>
                </a:solidFill>
                <a:cs typeface="Arial" pitchFamily="34" charset="0"/>
              </a:rPr>
              <a:t> mod n</a:t>
            </a:r>
          </a:p>
          <a:p>
            <a:pPr marL="354013" indent="-266700" defTabSz="449263">
              <a:lnSpc>
                <a:spcPct val="125000"/>
              </a:lnSpc>
              <a:spcBef>
                <a:spcPts val="500"/>
              </a:spcBef>
              <a:buClr>
                <a:srgbClr val="007AC2"/>
              </a:buClr>
              <a:buSzPct val="120000"/>
              <a:buFont typeface="Arial" pitchFamily="34"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sv-SE" sz="1600">
                <a:solidFill>
                  <a:srgbClr val="000000"/>
                </a:solidFill>
              </a:rPr>
              <a:t>where x, y </a:t>
            </a:r>
            <a:r>
              <a:rPr lang="el-GR" sz="1600">
                <a:cs typeface="Arial" pitchFamily="34" charset="0"/>
              </a:rPr>
              <a:t>ε</a:t>
            </a:r>
            <a:r>
              <a:rPr lang="de-DE" sz="1600">
                <a:cs typeface="Arial" pitchFamily="34" charset="0"/>
              </a:rPr>
              <a:t> </a:t>
            </a:r>
            <a:r>
              <a:rPr lang="en-US" sz="1600">
                <a:cs typeface="Arial" pitchFamily="34" charset="0"/>
              </a:rPr>
              <a:t>Z</a:t>
            </a:r>
            <a:r>
              <a:rPr lang="en-US" sz="1600" baseline="-25000">
                <a:cs typeface="Arial" pitchFamily="34" charset="0"/>
              </a:rPr>
              <a:t>n. </a:t>
            </a:r>
          </a:p>
          <a:p>
            <a:pPr marL="354013" indent="-266700" defTabSz="449263">
              <a:lnSpc>
                <a:spcPct val="125000"/>
              </a:lnSpc>
              <a:spcBef>
                <a:spcPts val="500"/>
              </a:spcBef>
              <a:buClr>
                <a:srgbClr val="007AC2"/>
              </a:buClr>
              <a:buSzPct val="120000"/>
              <a:buFont typeface="Arial" pitchFamily="34"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de-DE" sz="1600">
                <a:solidFill>
                  <a:srgbClr val="000000"/>
                </a:solidFill>
                <a:cs typeface="Arial" pitchFamily="34" charset="0"/>
              </a:rPr>
              <a:t>We call </a:t>
            </a:r>
            <a:r>
              <a:rPr lang="sv-SE" sz="1600">
                <a:solidFill>
                  <a:srgbClr val="000000"/>
                </a:solidFill>
                <a:cs typeface="Arial" pitchFamily="34" charset="0"/>
              </a:rPr>
              <a:t>e</a:t>
            </a:r>
            <a:r>
              <a:rPr lang="sv-SE" sz="1600" baseline="-25000">
                <a:solidFill>
                  <a:srgbClr val="000000"/>
                </a:solidFill>
                <a:cs typeface="Arial" pitchFamily="34" charset="0"/>
              </a:rPr>
              <a:t>k</a:t>
            </a:r>
            <a:r>
              <a:rPr lang="sv-SE" sz="1600" baseline="-40000">
                <a:solidFill>
                  <a:srgbClr val="000000"/>
                </a:solidFill>
                <a:cs typeface="Arial" pitchFamily="34" charset="0"/>
              </a:rPr>
              <a:t>pub</a:t>
            </a:r>
            <a:r>
              <a:rPr lang="sv-SE" sz="1600">
                <a:solidFill>
                  <a:srgbClr val="000000"/>
                </a:solidFill>
                <a:cs typeface="Arial" pitchFamily="34" charset="0"/>
              </a:rPr>
              <a:t>() the encryption and d</a:t>
            </a:r>
            <a:r>
              <a:rPr lang="sv-SE" sz="1600" baseline="-25000">
                <a:solidFill>
                  <a:srgbClr val="000000"/>
                </a:solidFill>
                <a:cs typeface="Arial" pitchFamily="34" charset="0"/>
              </a:rPr>
              <a:t>k</a:t>
            </a:r>
            <a:r>
              <a:rPr lang="sv-SE" sz="1600" baseline="-40000">
                <a:solidFill>
                  <a:srgbClr val="000000"/>
                </a:solidFill>
                <a:cs typeface="Arial" pitchFamily="34" charset="0"/>
              </a:rPr>
              <a:t>pr</a:t>
            </a:r>
            <a:r>
              <a:rPr lang="sv-SE" sz="1600">
                <a:solidFill>
                  <a:srgbClr val="000000"/>
                </a:solidFill>
                <a:cs typeface="Arial" pitchFamily="34" charset="0"/>
              </a:rPr>
              <a:t>() the decryption operation.</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Fußzeilenplatzhalter 4"/>
          <p:cNvSpPr>
            <a:spLocks noGrp="1"/>
          </p:cNvSpPr>
          <p:nvPr>
            <p:ph type="ftr" sz="quarter" idx="11"/>
          </p:nvPr>
        </p:nvSpPr>
        <p:spPr>
          <a:xfrm>
            <a:off x="2438400" y="6326187"/>
            <a:ext cx="4321175" cy="260350"/>
          </a:xfrm>
          <a:noFill/>
        </p:spPr>
        <p:txBody>
          <a:bodyPr/>
          <a:lstStyle/>
          <a:p>
            <a:r>
              <a:rPr lang="de-DE" smtClean="0">
                <a:latin typeface="Arial" pitchFamily="34" charset="0"/>
              </a:rPr>
              <a:t>Chapter 7 of </a:t>
            </a:r>
            <a:r>
              <a:rPr lang="de-DE" i="1" smtClean="0">
                <a:latin typeface="Arial" pitchFamily="34" charset="0"/>
              </a:rPr>
              <a:t>Understanding Cryptography</a:t>
            </a:r>
            <a:r>
              <a:rPr lang="de-DE" smtClean="0">
                <a:latin typeface="Arial" pitchFamily="34" charset="0"/>
              </a:rPr>
              <a:t> by Christof Paar and Jan Pelzl</a:t>
            </a:r>
          </a:p>
        </p:txBody>
      </p:sp>
      <p:sp>
        <p:nvSpPr>
          <p:cNvPr id="10244" name="Rectangle 2"/>
          <p:cNvSpPr>
            <a:spLocks noGrp="1" noChangeArrowheads="1"/>
          </p:cNvSpPr>
          <p:nvPr>
            <p:ph type="title" idx="4294967295"/>
          </p:nvPr>
        </p:nvSpPr>
        <p:spPr>
          <a:xfrm>
            <a:off x="498475" y="76200"/>
            <a:ext cx="8250237" cy="541337"/>
          </a:xfrm>
        </p:spPr>
        <p:txBody>
          <a:bodyPr/>
          <a:lstStyle/>
          <a:p>
            <a:pPr marL="0" indent="0" defTabSz="449263">
              <a:spcBef>
                <a:spcPts val="7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de-DE" sz="2800" smtClean="0"/>
              <a:t>Key Generation</a:t>
            </a:r>
          </a:p>
        </p:txBody>
      </p:sp>
      <p:sp>
        <p:nvSpPr>
          <p:cNvPr id="10245" name="Text Box 3"/>
          <p:cNvSpPr txBox="1">
            <a:spLocks noChangeArrowheads="1"/>
          </p:cNvSpPr>
          <p:nvPr/>
        </p:nvSpPr>
        <p:spPr bwMode="auto">
          <a:xfrm>
            <a:off x="455612" y="539750"/>
            <a:ext cx="8027988" cy="5040312"/>
          </a:xfrm>
          <a:prstGeom prst="rect">
            <a:avLst/>
          </a:prstGeom>
          <a:noFill/>
          <a:ln w="9525">
            <a:noFill/>
            <a:round/>
            <a:headEnd/>
            <a:tailEnd/>
          </a:ln>
        </p:spPr>
        <p:txBody>
          <a:bodyPr lIns="0" tIns="0" rIns="0" bIns="0"/>
          <a:lstStyle/>
          <a:p>
            <a:pPr marL="338138" indent="-338138" defTabSz="449263">
              <a:lnSpc>
                <a:spcPct val="125000"/>
              </a:lnSpc>
              <a:spcBef>
                <a:spcPts val="625"/>
              </a:spcBef>
              <a:buClr>
                <a:srgbClr val="007AC2"/>
              </a:buClr>
              <a:buSzPct val="120000"/>
              <a:buFont typeface="Arial" pitchFamily="34"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r>
              <a:rPr lang="en-US" sz="2000" dirty="0">
                <a:solidFill>
                  <a:srgbClr val="000000"/>
                </a:solidFill>
              </a:rPr>
              <a:t>Like all asymmetric schemes, RSA has set-up phase during which the private and public keys are computed</a:t>
            </a:r>
          </a:p>
          <a:p>
            <a:pPr marL="338138" indent="-338138" defTabSz="449263">
              <a:lnSpc>
                <a:spcPct val="125000"/>
              </a:lnSpc>
              <a:spcBef>
                <a:spcPts val="625"/>
              </a:spcBef>
              <a:buClr>
                <a:srgbClr val="007AC2"/>
              </a:buClr>
              <a:buSzPct val="120000"/>
              <a:buFont typeface="Arial" pitchFamily="34"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dirty="0">
              <a:solidFill>
                <a:srgbClr val="000000"/>
              </a:solidFill>
            </a:endParaRPr>
          </a:p>
          <a:p>
            <a:pPr marL="338138" indent="-338138" defTabSz="449263">
              <a:lnSpc>
                <a:spcPct val="125000"/>
              </a:lnSpc>
              <a:spcBef>
                <a:spcPts val="625"/>
              </a:spcBef>
              <a:buClr>
                <a:srgbClr val="007AC2"/>
              </a:buClr>
              <a:buSzPct val="120000"/>
              <a:buFont typeface="Arial" pitchFamily="34"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dirty="0">
              <a:solidFill>
                <a:srgbClr val="000000"/>
              </a:solidFill>
            </a:endParaRPr>
          </a:p>
          <a:p>
            <a:pPr marL="338138" indent="-338138" defTabSz="449263">
              <a:lnSpc>
                <a:spcPct val="125000"/>
              </a:lnSpc>
              <a:spcBef>
                <a:spcPts val="625"/>
              </a:spcBef>
              <a:buClr>
                <a:srgbClr val="007AC2"/>
              </a:buClr>
              <a:buSzPct val="120000"/>
              <a:buFont typeface="Arial" pitchFamily="34"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dirty="0">
              <a:solidFill>
                <a:srgbClr val="000000"/>
              </a:solidFill>
            </a:endParaRPr>
          </a:p>
          <a:p>
            <a:pPr marL="338138" indent="-338138" defTabSz="449263">
              <a:lnSpc>
                <a:spcPct val="125000"/>
              </a:lnSpc>
              <a:spcBef>
                <a:spcPts val="625"/>
              </a:spcBef>
              <a:buClr>
                <a:srgbClr val="007AC2"/>
              </a:buClr>
              <a:buSzPct val="120000"/>
              <a:buFont typeface="Arial" pitchFamily="34"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dirty="0">
              <a:solidFill>
                <a:srgbClr val="000000"/>
              </a:solidFill>
            </a:endParaRPr>
          </a:p>
          <a:p>
            <a:pPr marL="338138" indent="-338138" defTabSz="449263">
              <a:lnSpc>
                <a:spcPct val="125000"/>
              </a:lnSpc>
              <a:spcBef>
                <a:spcPts val="625"/>
              </a:spcBef>
              <a:buClr>
                <a:srgbClr val="007AC2"/>
              </a:buClr>
              <a:buSzPct val="120000"/>
              <a:buFont typeface="Arial" pitchFamily="34"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dirty="0">
              <a:solidFill>
                <a:srgbClr val="000000"/>
              </a:solidFill>
            </a:endParaRPr>
          </a:p>
          <a:p>
            <a:pPr marL="338138" indent="-338138" defTabSz="449263">
              <a:lnSpc>
                <a:spcPct val="125000"/>
              </a:lnSpc>
              <a:spcBef>
                <a:spcPts val="625"/>
              </a:spcBef>
              <a:buClr>
                <a:srgbClr val="007AC2"/>
              </a:buClr>
              <a:buSzPct val="120000"/>
              <a:buFont typeface="Arial" pitchFamily="34"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dirty="0">
              <a:solidFill>
                <a:srgbClr val="000000"/>
              </a:solidFill>
            </a:endParaRPr>
          </a:p>
          <a:p>
            <a:pPr marL="338138" indent="-338138" defTabSz="449263">
              <a:lnSpc>
                <a:spcPct val="125000"/>
              </a:lnSpc>
              <a:spcBef>
                <a:spcPts val="625"/>
              </a:spcBef>
              <a:buClr>
                <a:srgbClr val="007AC2"/>
              </a:buClr>
              <a:buSzPct val="120000"/>
              <a:buFont typeface="Arial" pitchFamily="34"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dirty="0">
              <a:solidFill>
                <a:srgbClr val="000000"/>
              </a:solidFill>
            </a:endParaRPr>
          </a:p>
          <a:p>
            <a:pPr marL="338138" indent="-338138" defTabSz="449263">
              <a:lnSpc>
                <a:spcPct val="125000"/>
              </a:lnSpc>
              <a:spcBef>
                <a:spcPts val="625"/>
              </a:spcBef>
              <a:buClr>
                <a:srgbClr val="007AC2"/>
              </a:buClr>
              <a:buSzPct val="120000"/>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r>
              <a:rPr lang="en-US" sz="2000" dirty="0">
                <a:solidFill>
                  <a:srgbClr val="000000"/>
                </a:solidFill>
              </a:rPr>
              <a:t>Remarks:</a:t>
            </a:r>
          </a:p>
          <a:p>
            <a:pPr marL="338138" indent="-338138" defTabSz="449263">
              <a:lnSpc>
                <a:spcPct val="125000"/>
              </a:lnSpc>
              <a:spcBef>
                <a:spcPts val="625"/>
              </a:spcBef>
              <a:buClr>
                <a:srgbClr val="007AC2"/>
              </a:buClr>
              <a:buSzPct val="120000"/>
              <a:buFont typeface="Arial" pitchFamily="34"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r>
              <a:rPr lang="en-US" sz="2000" dirty="0">
                <a:solidFill>
                  <a:srgbClr val="000000"/>
                </a:solidFill>
              </a:rPr>
              <a:t>Choosing two large, distinct primes </a:t>
            </a:r>
            <a:r>
              <a:rPr lang="en-US" sz="2000" i="1" dirty="0">
                <a:solidFill>
                  <a:srgbClr val="000000"/>
                </a:solidFill>
              </a:rPr>
              <a:t>p, q</a:t>
            </a:r>
            <a:r>
              <a:rPr lang="en-US" sz="2000" dirty="0">
                <a:solidFill>
                  <a:srgbClr val="000000"/>
                </a:solidFill>
              </a:rPr>
              <a:t> (in Step 1) is non-trivial</a:t>
            </a:r>
          </a:p>
          <a:p>
            <a:pPr marL="338138" indent="-338138" defTabSz="449263">
              <a:lnSpc>
                <a:spcPct val="125000"/>
              </a:lnSpc>
              <a:spcBef>
                <a:spcPts val="625"/>
              </a:spcBef>
              <a:buClr>
                <a:srgbClr val="007AC2"/>
              </a:buClr>
              <a:buSzPct val="120000"/>
              <a:buFont typeface="Arial" pitchFamily="34"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r>
              <a:rPr lang="en-US" sz="2000" dirty="0" err="1">
                <a:solidFill>
                  <a:srgbClr val="000000"/>
                </a:solidFill>
              </a:rPr>
              <a:t>gcd</a:t>
            </a:r>
            <a:r>
              <a:rPr lang="en-US" sz="2000" i="1" dirty="0">
                <a:solidFill>
                  <a:srgbClr val="000000"/>
                </a:solidFill>
              </a:rPr>
              <a:t>(e, Φ(n)) = 1</a:t>
            </a:r>
            <a:r>
              <a:rPr lang="en-US" sz="2000" dirty="0">
                <a:solidFill>
                  <a:srgbClr val="000000"/>
                </a:solidFill>
              </a:rPr>
              <a:t> ensures that </a:t>
            </a:r>
            <a:r>
              <a:rPr lang="en-US" sz="2000" i="1" dirty="0">
                <a:solidFill>
                  <a:srgbClr val="000000"/>
                </a:solidFill>
              </a:rPr>
              <a:t>e</a:t>
            </a:r>
            <a:r>
              <a:rPr lang="en-US" sz="2000" dirty="0">
                <a:solidFill>
                  <a:srgbClr val="000000"/>
                </a:solidFill>
              </a:rPr>
              <a:t> has an inverse and, thus, that there is always a private key </a:t>
            </a:r>
            <a:r>
              <a:rPr lang="en-US" sz="2000" i="1" dirty="0" smtClean="0">
                <a:solidFill>
                  <a:srgbClr val="000000"/>
                </a:solidFill>
              </a:rPr>
              <a:t>d</a:t>
            </a:r>
          </a:p>
          <a:p>
            <a:pPr marL="338138" indent="-338138" defTabSz="449263">
              <a:lnSpc>
                <a:spcPct val="125000"/>
              </a:lnSpc>
              <a:spcBef>
                <a:spcPts val="625"/>
              </a:spcBef>
              <a:buClr>
                <a:srgbClr val="007AC2"/>
              </a:buClr>
              <a:buSzPct val="120000"/>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dirty="0" smtClean="0">
              <a:solidFill>
                <a:srgbClr val="000000"/>
              </a:solidFill>
            </a:endParaRPr>
          </a:p>
          <a:p>
            <a:pPr marL="338138" indent="-338138" defTabSz="449263">
              <a:lnSpc>
                <a:spcPct val="125000"/>
              </a:lnSpc>
              <a:spcBef>
                <a:spcPts val="625"/>
              </a:spcBef>
              <a:buClr>
                <a:srgbClr val="007AC2"/>
              </a:buClr>
              <a:buSzPct val="120000"/>
              <a:buFont typeface="Arial" pitchFamily="34"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dirty="0">
              <a:solidFill>
                <a:srgbClr val="000000"/>
              </a:solidFill>
            </a:endParaRPr>
          </a:p>
          <a:p>
            <a:pPr marL="338138" indent="-338138" defTabSz="449263">
              <a:lnSpc>
                <a:spcPct val="125000"/>
              </a:lnSpc>
              <a:spcBef>
                <a:spcPts val="625"/>
              </a:spcBef>
              <a:buClr>
                <a:srgbClr val="007AC2"/>
              </a:buClr>
              <a:buSzPct val="120000"/>
              <a:buFont typeface="Arial" pitchFamily="34"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dirty="0">
              <a:solidFill>
                <a:srgbClr val="000000"/>
              </a:solidFill>
            </a:endParaRPr>
          </a:p>
          <a:p>
            <a:pPr marL="338138" indent="-338138" defTabSz="449263">
              <a:lnSpc>
                <a:spcPct val="125000"/>
              </a:lnSpc>
              <a:spcBef>
                <a:spcPts val="625"/>
              </a:spcBef>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dirty="0">
              <a:solidFill>
                <a:srgbClr val="000000"/>
              </a:solidFill>
            </a:endParaRPr>
          </a:p>
        </p:txBody>
      </p:sp>
      <p:sp>
        <p:nvSpPr>
          <p:cNvPr id="10246" name="Rectangle 4"/>
          <p:cNvSpPr>
            <a:spLocks noChangeArrowheads="1"/>
          </p:cNvSpPr>
          <p:nvPr/>
        </p:nvSpPr>
        <p:spPr bwMode="auto">
          <a:xfrm>
            <a:off x="1598612" y="1325562"/>
            <a:ext cx="6624638" cy="3227388"/>
          </a:xfrm>
          <a:prstGeom prst="rect">
            <a:avLst/>
          </a:prstGeom>
          <a:noFill/>
          <a:ln w="25527">
            <a:solidFill>
              <a:srgbClr val="FF0000"/>
            </a:solidFill>
            <a:miter lim="800000"/>
            <a:headEnd/>
            <a:tailEnd/>
          </a:ln>
        </p:spPr>
        <p:txBody>
          <a:bodyPr lIns="0" tIns="0" rIns="0" bIns="0">
            <a:spAutoFit/>
          </a:bodyPr>
          <a:lstStyle/>
          <a:p>
            <a:pPr marL="544513" indent="-457200" defTabSz="449263">
              <a:lnSpc>
                <a:spcPct val="125000"/>
              </a:lnSpc>
              <a:spcBef>
                <a:spcPts val="500"/>
              </a:spcBef>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1600" b="1" u="sng" dirty="0">
                <a:solidFill>
                  <a:srgbClr val="000000"/>
                </a:solidFill>
                <a:cs typeface="Arial" pitchFamily="34" charset="0"/>
              </a:rPr>
              <a:t>Algorithm: RSA Key Generation</a:t>
            </a:r>
          </a:p>
          <a:p>
            <a:pPr marL="544513" indent="-457200" defTabSz="449263">
              <a:lnSpc>
                <a:spcPct val="125000"/>
              </a:lnSpc>
              <a:spcBef>
                <a:spcPts val="500"/>
              </a:spcBef>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de-DE" sz="1600" b="1" dirty="0">
                <a:solidFill>
                  <a:srgbClr val="000000"/>
                </a:solidFill>
                <a:cs typeface="Arial" pitchFamily="34" charset="0"/>
              </a:rPr>
              <a:t>Output</a:t>
            </a:r>
            <a:r>
              <a:rPr lang="de-DE" sz="1600" dirty="0">
                <a:solidFill>
                  <a:srgbClr val="000000"/>
                </a:solidFill>
                <a:cs typeface="Arial" pitchFamily="34" charset="0"/>
              </a:rPr>
              <a:t>: public key: </a:t>
            </a:r>
            <a:r>
              <a:rPr lang="de-DE" sz="1600" i="1" dirty="0">
                <a:solidFill>
                  <a:srgbClr val="000000"/>
                </a:solidFill>
                <a:cs typeface="Arial" pitchFamily="34" charset="0"/>
              </a:rPr>
              <a:t>k</a:t>
            </a:r>
            <a:r>
              <a:rPr lang="de-DE" sz="1600" i="1" baseline="-25000" dirty="0">
                <a:solidFill>
                  <a:srgbClr val="000000"/>
                </a:solidFill>
                <a:cs typeface="Arial" pitchFamily="34" charset="0"/>
              </a:rPr>
              <a:t>pub</a:t>
            </a:r>
            <a:r>
              <a:rPr lang="de-DE" sz="1600" i="1" dirty="0">
                <a:solidFill>
                  <a:srgbClr val="000000"/>
                </a:solidFill>
                <a:cs typeface="Arial" pitchFamily="34" charset="0"/>
              </a:rPr>
              <a:t> = (n, e)</a:t>
            </a:r>
            <a:r>
              <a:rPr lang="de-DE" sz="1600" dirty="0">
                <a:solidFill>
                  <a:srgbClr val="000000"/>
                </a:solidFill>
                <a:cs typeface="Arial" pitchFamily="34" charset="0"/>
              </a:rPr>
              <a:t> and private key </a:t>
            </a:r>
            <a:r>
              <a:rPr lang="de-DE" sz="1600" i="1" dirty="0">
                <a:solidFill>
                  <a:srgbClr val="000000"/>
                </a:solidFill>
                <a:cs typeface="Arial" pitchFamily="34" charset="0"/>
              </a:rPr>
              <a:t>k</a:t>
            </a:r>
            <a:r>
              <a:rPr lang="de-DE" sz="1600" i="1" baseline="-25000" dirty="0">
                <a:solidFill>
                  <a:srgbClr val="000000"/>
                </a:solidFill>
                <a:cs typeface="Arial" pitchFamily="34" charset="0"/>
              </a:rPr>
              <a:t>pr</a:t>
            </a:r>
            <a:r>
              <a:rPr lang="de-DE" sz="1600" i="1" dirty="0">
                <a:solidFill>
                  <a:srgbClr val="000000"/>
                </a:solidFill>
                <a:cs typeface="Arial" pitchFamily="34" charset="0"/>
              </a:rPr>
              <a:t> = d</a:t>
            </a:r>
          </a:p>
          <a:p>
            <a:pPr marL="544513" indent="-457200" defTabSz="449263">
              <a:lnSpc>
                <a:spcPct val="125000"/>
              </a:lnSpc>
              <a:spcBef>
                <a:spcPts val="500"/>
              </a:spcBef>
              <a:buClr>
                <a:srgbClr val="000000"/>
              </a:buClr>
              <a:buSzPct val="100000"/>
              <a:buFont typeface="Times New Roman" pitchFamily="18" charset="0"/>
              <a:buAutoNum type="arabicPeriod"/>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de-DE" sz="1600" dirty="0">
                <a:solidFill>
                  <a:srgbClr val="000000"/>
                </a:solidFill>
                <a:cs typeface="Arial" pitchFamily="34" charset="0"/>
              </a:rPr>
              <a:t>Choose two large primes </a:t>
            </a:r>
            <a:r>
              <a:rPr lang="de-DE" sz="1600" i="1" dirty="0">
                <a:solidFill>
                  <a:srgbClr val="000000"/>
                </a:solidFill>
                <a:cs typeface="Arial" pitchFamily="34" charset="0"/>
              </a:rPr>
              <a:t>p, q</a:t>
            </a:r>
          </a:p>
          <a:p>
            <a:pPr marL="544513" indent="-457200" defTabSz="449263">
              <a:lnSpc>
                <a:spcPct val="125000"/>
              </a:lnSpc>
              <a:spcBef>
                <a:spcPts val="500"/>
              </a:spcBef>
              <a:buClr>
                <a:srgbClr val="000000"/>
              </a:buClr>
              <a:buSzPct val="100000"/>
              <a:buFont typeface="Times New Roman" pitchFamily="18" charset="0"/>
              <a:buAutoNum type="arabicPeriod"/>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de-DE" sz="1600" dirty="0">
                <a:solidFill>
                  <a:srgbClr val="000000"/>
                </a:solidFill>
                <a:cs typeface="Arial" pitchFamily="34" charset="0"/>
              </a:rPr>
              <a:t>Compute </a:t>
            </a:r>
            <a:r>
              <a:rPr lang="de-DE" sz="1600" i="1" dirty="0">
                <a:solidFill>
                  <a:srgbClr val="000000"/>
                </a:solidFill>
                <a:cs typeface="Arial" pitchFamily="34" charset="0"/>
              </a:rPr>
              <a:t>n = p * q</a:t>
            </a:r>
          </a:p>
          <a:p>
            <a:pPr marL="544513" indent="-457200" defTabSz="449263">
              <a:lnSpc>
                <a:spcPct val="125000"/>
              </a:lnSpc>
              <a:spcBef>
                <a:spcPts val="500"/>
              </a:spcBef>
              <a:buClr>
                <a:srgbClr val="000000"/>
              </a:buClr>
              <a:buSzPct val="100000"/>
              <a:buFont typeface="Times New Roman" pitchFamily="18" charset="0"/>
              <a:buAutoNum type="arabicPeriod"/>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de-DE" sz="1600" dirty="0">
                <a:solidFill>
                  <a:srgbClr val="000000"/>
                </a:solidFill>
                <a:cs typeface="Arial" pitchFamily="34" charset="0"/>
              </a:rPr>
              <a:t>Compute </a:t>
            </a:r>
            <a:r>
              <a:rPr lang="el-GR" sz="1600" i="1" dirty="0">
                <a:solidFill>
                  <a:srgbClr val="000000"/>
                </a:solidFill>
                <a:cs typeface="Arial" pitchFamily="34" charset="0"/>
              </a:rPr>
              <a:t>Φ</a:t>
            </a:r>
            <a:r>
              <a:rPr lang="de-DE" sz="1600" i="1" dirty="0">
                <a:solidFill>
                  <a:srgbClr val="000000"/>
                </a:solidFill>
                <a:cs typeface="Arial" pitchFamily="34" charset="0"/>
              </a:rPr>
              <a:t>(n) = (p-1) * (q-1)</a:t>
            </a:r>
            <a:endParaRPr lang="de-DE" sz="1600" dirty="0">
              <a:solidFill>
                <a:srgbClr val="000000"/>
              </a:solidFill>
              <a:cs typeface="Arial" pitchFamily="34" charset="0"/>
            </a:endParaRPr>
          </a:p>
          <a:p>
            <a:pPr marL="544513" indent="-457200" defTabSz="449263">
              <a:lnSpc>
                <a:spcPct val="125000"/>
              </a:lnSpc>
              <a:spcBef>
                <a:spcPts val="500"/>
              </a:spcBef>
              <a:buClr>
                <a:srgbClr val="000000"/>
              </a:buClr>
              <a:buSzPct val="100000"/>
              <a:buFont typeface="Times New Roman" pitchFamily="18" charset="0"/>
              <a:buAutoNum type="arabicPeriod"/>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de-DE" sz="1600" dirty="0">
                <a:solidFill>
                  <a:srgbClr val="000000"/>
                </a:solidFill>
                <a:cs typeface="Arial" pitchFamily="34" charset="0"/>
              </a:rPr>
              <a:t>Select the public exponent </a:t>
            </a:r>
            <a:r>
              <a:rPr lang="de-DE" sz="1600" i="1" dirty="0">
                <a:solidFill>
                  <a:srgbClr val="000000"/>
                </a:solidFill>
                <a:cs typeface="Arial" pitchFamily="34" charset="0"/>
              </a:rPr>
              <a:t>e</a:t>
            </a:r>
            <a:r>
              <a:rPr lang="sv-SE" sz="1600" i="1" dirty="0">
                <a:solidFill>
                  <a:srgbClr val="000000"/>
                </a:solidFill>
                <a:cs typeface="Arial" pitchFamily="34" charset="0"/>
              </a:rPr>
              <a:t> </a:t>
            </a:r>
            <a:r>
              <a:rPr lang="el-GR" sz="1600" i="1" dirty="0">
                <a:solidFill>
                  <a:srgbClr val="000000"/>
                </a:solidFill>
                <a:cs typeface="Arial" pitchFamily="34" charset="0"/>
              </a:rPr>
              <a:t>ε</a:t>
            </a:r>
            <a:r>
              <a:rPr lang="de-DE" sz="1600" i="1" dirty="0">
                <a:solidFill>
                  <a:srgbClr val="000000"/>
                </a:solidFill>
                <a:cs typeface="Arial" pitchFamily="34" charset="0"/>
              </a:rPr>
              <a:t> </a:t>
            </a:r>
            <a:r>
              <a:rPr lang="en-US" sz="1600" i="1" dirty="0">
                <a:solidFill>
                  <a:srgbClr val="000000"/>
                </a:solidFill>
                <a:cs typeface="Arial" pitchFamily="34" charset="0"/>
              </a:rPr>
              <a:t>{1, 2, …, </a:t>
            </a:r>
            <a:r>
              <a:rPr lang="el-GR" sz="1600" i="1" dirty="0">
                <a:solidFill>
                  <a:srgbClr val="000000"/>
                </a:solidFill>
                <a:cs typeface="Arial" pitchFamily="34" charset="0"/>
              </a:rPr>
              <a:t>Φ</a:t>
            </a:r>
            <a:r>
              <a:rPr lang="de-DE" sz="1600" i="1" dirty="0">
                <a:solidFill>
                  <a:srgbClr val="000000"/>
                </a:solidFill>
                <a:cs typeface="Arial" pitchFamily="34" charset="0"/>
              </a:rPr>
              <a:t>(n)-1}</a:t>
            </a:r>
            <a:r>
              <a:rPr lang="de-DE" sz="1600" dirty="0">
                <a:solidFill>
                  <a:srgbClr val="000000"/>
                </a:solidFill>
                <a:cs typeface="Arial" pitchFamily="34" charset="0"/>
              </a:rPr>
              <a:t> such that</a:t>
            </a:r>
            <a:br>
              <a:rPr lang="de-DE" sz="1600" dirty="0">
                <a:solidFill>
                  <a:srgbClr val="000000"/>
                </a:solidFill>
                <a:cs typeface="Arial" pitchFamily="34" charset="0"/>
              </a:rPr>
            </a:br>
            <a:r>
              <a:rPr lang="de-DE" sz="1600" dirty="0">
                <a:solidFill>
                  <a:srgbClr val="000000"/>
                </a:solidFill>
                <a:cs typeface="Arial" pitchFamily="34" charset="0"/>
              </a:rPr>
              <a:t>gcd</a:t>
            </a:r>
            <a:r>
              <a:rPr lang="de-DE" sz="1600" i="1" dirty="0">
                <a:solidFill>
                  <a:srgbClr val="000000"/>
                </a:solidFill>
                <a:cs typeface="Arial" pitchFamily="34" charset="0"/>
              </a:rPr>
              <a:t>(e, </a:t>
            </a:r>
            <a:r>
              <a:rPr lang="el-GR" sz="1600" i="1" dirty="0">
                <a:solidFill>
                  <a:srgbClr val="000000"/>
                </a:solidFill>
                <a:cs typeface="Arial" pitchFamily="34" charset="0"/>
              </a:rPr>
              <a:t>Φ</a:t>
            </a:r>
            <a:r>
              <a:rPr lang="de-DE" sz="1600" i="1" dirty="0">
                <a:solidFill>
                  <a:srgbClr val="000000"/>
                </a:solidFill>
                <a:cs typeface="Arial" pitchFamily="34" charset="0"/>
              </a:rPr>
              <a:t>(n) ) = 1</a:t>
            </a:r>
          </a:p>
          <a:p>
            <a:pPr marL="544513" indent="-457200" defTabSz="449263">
              <a:lnSpc>
                <a:spcPct val="125000"/>
              </a:lnSpc>
              <a:spcBef>
                <a:spcPts val="500"/>
              </a:spcBef>
              <a:buClr>
                <a:srgbClr val="000000"/>
              </a:buClr>
              <a:buSzPct val="100000"/>
              <a:buFont typeface="Times New Roman" pitchFamily="18" charset="0"/>
              <a:buAutoNum type="arabicPeriod" startAt="5"/>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de-DE" sz="1600" dirty="0">
                <a:solidFill>
                  <a:srgbClr val="000000"/>
                </a:solidFill>
                <a:cs typeface="Arial" pitchFamily="34" charset="0"/>
              </a:rPr>
              <a:t>Compute the private key </a:t>
            </a:r>
            <a:r>
              <a:rPr lang="de-DE" sz="1600" i="1" dirty="0">
                <a:solidFill>
                  <a:srgbClr val="000000"/>
                </a:solidFill>
                <a:cs typeface="Arial" pitchFamily="34" charset="0"/>
              </a:rPr>
              <a:t>d</a:t>
            </a:r>
            <a:r>
              <a:rPr lang="de-DE" sz="1600" dirty="0">
                <a:solidFill>
                  <a:srgbClr val="000000"/>
                </a:solidFill>
                <a:cs typeface="Arial" pitchFamily="34" charset="0"/>
              </a:rPr>
              <a:t> such that </a:t>
            </a:r>
            <a:r>
              <a:rPr lang="de-DE" sz="1600" i="1" dirty="0">
                <a:solidFill>
                  <a:srgbClr val="000000"/>
                </a:solidFill>
                <a:cs typeface="Arial" pitchFamily="34" charset="0"/>
              </a:rPr>
              <a:t>d * e </a:t>
            </a:r>
            <a:r>
              <a:rPr lang="sv-SE" sz="1600" i="1" dirty="0">
                <a:solidFill>
                  <a:srgbClr val="000000"/>
                </a:solidFill>
                <a:cs typeface="Arial" pitchFamily="34" charset="0"/>
              </a:rPr>
              <a:t>≡ 1 mod </a:t>
            </a:r>
            <a:r>
              <a:rPr lang="el-GR" sz="1600" i="1" dirty="0">
                <a:solidFill>
                  <a:srgbClr val="000000"/>
                </a:solidFill>
                <a:cs typeface="Arial" pitchFamily="34" charset="0"/>
              </a:rPr>
              <a:t>Φ</a:t>
            </a:r>
            <a:r>
              <a:rPr lang="de-DE" sz="1600" i="1" dirty="0">
                <a:solidFill>
                  <a:srgbClr val="000000"/>
                </a:solidFill>
                <a:cs typeface="Arial" pitchFamily="34" charset="0"/>
              </a:rPr>
              <a:t>(n)</a:t>
            </a:r>
          </a:p>
          <a:p>
            <a:pPr marL="544513" indent="-457200" defTabSz="449263">
              <a:lnSpc>
                <a:spcPct val="125000"/>
              </a:lnSpc>
              <a:spcBef>
                <a:spcPts val="500"/>
              </a:spcBef>
              <a:buClr>
                <a:srgbClr val="000000"/>
              </a:buClr>
              <a:buSzPct val="100000"/>
              <a:buFont typeface="Times New Roman" pitchFamily="18" charset="0"/>
              <a:buAutoNum type="arabicPeriod" startAt="5"/>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de-DE" sz="1600" b="1" dirty="0">
                <a:solidFill>
                  <a:srgbClr val="000000"/>
                </a:solidFill>
                <a:cs typeface="Arial" pitchFamily="34" charset="0"/>
              </a:rPr>
              <a:t>RETURN</a:t>
            </a:r>
            <a:r>
              <a:rPr lang="de-DE" sz="1600" dirty="0">
                <a:solidFill>
                  <a:srgbClr val="000000"/>
                </a:solidFill>
                <a:cs typeface="Arial" pitchFamily="34" charset="0"/>
              </a:rPr>
              <a:t> </a:t>
            </a:r>
            <a:r>
              <a:rPr lang="de-DE" sz="1600" i="1" dirty="0">
                <a:solidFill>
                  <a:srgbClr val="000000"/>
                </a:solidFill>
                <a:cs typeface="Arial" pitchFamily="34" charset="0"/>
              </a:rPr>
              <a:t>k</a:t>
            </a:r>
            <a:r>
              <a:rPr lang="de-DE" sz="1600" i="1" baseline="-25000" dirty="0">
                <a:solidFill>
                  <a:srgbClr val="000000"/>
                </a:solidFill>
                <a:cs typeface="Arial" pitchFamily="34" charset="0"/>
              </a:rPr>
              <a:t>pub</a:t>
            </a:r>
            <a:r>
              <a:rPr lang="de-DE" sz="1600" i="1" dirty="0">
                <a:solidFill>
                  <a:srgbClr val="000000"/>
                </a:solidFill>
                <a:cs typeface="Arial" pitchFamily="34" charset="0"/>
              </a:rPr>
              <a:t> = (n, e), k</a:t>
            </a:r>
            <a:r>
              <a:rPr lang="de-DE" sz="1600" i="1" baseline="-25000" dirty="0">
                <a:solidFill>
                  <a:srgbClr val="000000"/>
                </a:solidFill>
                <a:cs typeface="Arial" pitchFamily="34" charset="0"/>
              </a:rPr>
              <a:t>pr</a:t>
            </a:r>
            <a:r>
              <a:rPr lang="de-DE" sz="1600" i="1" dirty="0">
                <a:solidFill>
                  <a:srgbClr val="000000"/>
                </a:solidFill>
                <a:cs typeface="Arial" pitchFamily="34" charset="0"/>
              </a:rPr>
              <a:t> = d</a:t>
            </a:r>
            <a:endParaRPr lang="el-GR" sz="1600" i="1" dirty="0">
              <a:solidFill>
                <a:srgbClr val="000000"/>
              </a:solidFill>
              <a:cs typeface="Arial" pitchFamily="34" charset="0"/>
            </a:endParaRP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Fußzeilenplatzhalter 4"/>
          <p:cNvSpPr>
            <a:spLocks noGrp="1"/>
          </p:cNvSpPr>
          <p:nvPr>
            <p:ph type="ftr" sz="quarter" idx="11"/>
          </p:nvPr>
        </p:nvSpPr>
        <p:spPr>
          <a:xfrm>
            <a:off x="2411413" y="6324600"/>
            <a:ext cx="4321175" cy="260350"/>
          </a:xfrm>
          <a:noFill/>
        </p:spPr>
        <p:txBody>
          <a:bodyPr/>
          <a:lstStyle/>
          <a:p>
            <a:r>
              <a:rPr lang="de-DE" dirty="0" smtClean="0">
                <a:latin typeface="Arial" pitchFamily="34" charset="0"/>
              </a:rPr>
              <a:t>Chapter 7 of </a:t>
            </a:r>
            <a:r>
              <a:rPr lang="de-DE" i="1" dirty="0" smtClean="0">
                <a:latin typeface="Arial" pitchFamily="34" charset="0"/>
              </a:rPr>
              <a:t>Understanding Cryptography</a:t>
            </a:r>
            <a:r>
              <a:rPr lang="de-DE" dirty="0" smtClean="0">
                <a:latin typeface="Arial" pitchFamily="34" charset="0"/>
              </a:rPr>
              <a:t> by Christof Paar and Jan Pelzl</a:t>
            </a:r>
          </a:p>
        </p:txBody>
      </p:sp>
      <p:sp>
        <p:nvSpPr>
          <p:cNvPr id="11268" name="Rectangle 2"/>
          <p:cNvSpPr>
            <a:spLocks noGrp="1" noChangeArrowheads="1"/>
          </p:cNvSpPr>
          <p:nvPr>
            <p:ph type="title" idx="4294967295"/>
          </p:nvPr>
        </p:nvSpPr>
        <p:spPr>
          <a:xfrm>
            <a:off x="471488" y="322263"/>
            <a:ext cx="8250237" cy="541337"/>
          </a:xfrm>
        </p:spPr>
        <p:txBody>
          <a:bodyPr/>
          <a:lstStyle/>
          <a:p>
            <a:pPr marL="0" indent="0" defTabSz="449263">
              <a:spcBef>
                <a:spcPts val="7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de-DE" sz="2800" smtClean="0"/>
              <a:t>Example: RSA with small numbers</a:t>
            </a:r>
          </a:p>
        </p:txBody>
      </p:sp>
      <p:sp>
        <p:nvSpPr>
          <p:cNvPr id="11269" name="Text Box 3"/>
          <p:cNvSpPr txBox="1">
            <a:spLocks noChangeArrowheads="1"/>
          </p:cNvSpPr>
          <p:nvPr/>
        </p:nvSpPr>
        <p:spPr bwMode="auto">
          <a:xfrm>
            <a:off x="611188" y="1079500"/>
            <a:ext cx="3656012" cy="5040313"/>
          </a:xfrm>
          <a:prstGeom prst="rect">
            <a:avLst/>
          </a:prstGeom>
          <a:noFill/>
          <a:ln w="9525">
            <a:noFill/>
            <a:round/>
            <a:headEnd/>
            <a:tailEnd/>
          </a:ln>
        </p:spPr>
        <p:txBody>
          <a:bodyPr lIns="0" tIns="0" rIns="0" bIns="0"/>
          <a:lstStyle/>
          <a:p>
            <a:pPr marL="457200" indent="-457200" algn="ctr" defTabSz="449263">
              <a:lnSpc>
                <a:spcPct val="125000"/>
              </a:lnSpc>
              <a:spcBef>
                <a:spcPts val="625"/>
              </a:spcBef>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r>
              <a:rPr lang="en-US" sz="2000" b="1">
                <a:solidFill>
                  <a:srgbClr val="000000"/>
                </a:solidFill>
              </a:rPr>
              <a:t>ALICE</a:t>
            </a:r>
          </a:p>
          <a:p>
            <a:pPr marL="457200" indent="-457200" defTabSz="449263">
              <a:lnSpc>
                <a:spcPct val="125000"/>
              </a:lnSpc>
              <a:spcBef>
                <a:spcPts val="625"/>
              </a:spcBef>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r>
              <a:rPr lang="en-US" sz="2000">
                <a:solidFill>
                  <a:srgbClr val="000000"/>
                </a:solidFill>
              </a:rPr>
              <a:t>Message </a:t>
            </a:r>
            <a:r>
              <a:rPr lang="en-US" sz="2000" b="1" i="1">
                <a:solidFill>
                  <a:srgbClr val="FF0000"/>
                </a:solidFill>
              </a:rPr>
              <a:t>x = 4</a:t>
            </a:r>
          </a:p>
          <a:p>
            <a:pPr marL="457200" indent="-457200" defTabSz="449263">
              <a:lnSpc>
                <a:spcPct val="125000"/>
              </a:lnSpc>
              <a:spcBef>
                <a:spcPts val="625"/>
              </a:spcBef>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i="1">
              <a:solidFill>
                <a:srgbClr val="000000"/>
              </a:solidFill>
            </a:endParaRPr>
          </a:p>
          <a:p>
            <a:pPr marL="457200" indent="-457200" defTabSz="449263">
              <a:lnSpc>
                <a:spcPct val="125000"/>
              </a:lnSpc>
              <a:spcBef>
                <a:spcPts val="625"/>
              </a:spcBef>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i="1">
              <a:solidFill>
                <a:srgbClr val="000000"/>
              </a:solidFill>
            </a:endParaRPr>
          </a:p>
          <a:p>
            <a:pPr marL="457200" indent="-457200" defTabSz="449263">
              <a:lnSpc>
                <a:spcPct val="125000"/>
              </a:lnSpc>
              <a:spcBef>
                <a:spcPts val="625"/>
              </a:spcBef>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i="1">
              <a:solidFill>
                <a:srgbClr val="000000"/>
              </a:solidFill>
            </a:endParaRPr>
          </a:p>
          <a:p>
            <a:pPr marL="457200" indent="-457200" defTabSz="449263">
              <a:lnSpc>
                <a:spcPct val="125000"/>
              </a:lnSpc>
              <a:spcBef>
                <a:spcPts val="625"/>
              </a:spcBef>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i="1">
              <a:solidFill>
                <a:srgbClr val="000000"/>
              </a:solidFill>
            </a:endParaRPr>
          </a:p>
          <a:p>
            <a:pPr marL="457200" indent="-457200" defTabSz="449263">
              <a:lnSpc>
                <a:spcPct val="125000"/>
              </a:lnSpc>
              <a:spcBef>
                <a:spcPts val="625"/>
              </a:spcBef>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i="1">
              <a:solidFill>
                <a:srgbClr val="000000"/>
              </a:solidFill>
            </a:endParaRPr>
          </a:p>
          <a:p>
            <a:pPr marL="457200" indent="-457200" defTabSz="449263">
              <a:lnSpc>
                <a:spcPct val="125000"/>
              </a:lnSpc>
              <a:spcBef>
                <a:spcPts val="625"/>
              </a:spcBef>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r>
              <a:rPr lang="en-US" sz="2000" i="1">
                <a:solidFill>
                  <a:srgbClr val="000000"/>
                </a:solidFill>
              </a:rPr>
              <a:t>y = x</a:t>
            </a:r>
            <a:r>
              <a:rPr lang="en-US" sz="2000" i="1" baseline="30000">
                <a:solidFill>
                  <a:srgbClr val="000000"/>
                </a:solidFill>
              </a:rPr>
              <a:t>e</a:t>
            </a:r>
            <a:r>
              <a:rPr lang="en-US" sz="2000" i="1">
                <a:solidFill>
                  <a:srgbClr val="000000"/>
                </a:solidFill>
              </a:rPr>
              <a:t> ≡ 4</a:t>
            </a:r>
            <a:r>
              <a:rPr lang="en-US" sz="2000" i="1" baseline="30000">
                <a:solidFill>
                  <a:srgbClr val="000000"/>
                </a:solidFill>
              </a:rPr>
              <a:t>3</a:t>
            </a:r>
            <a:r>
              <a:rPr lang="en-US" sz="2000" i="1">
                <a:solidFill>
                  <a:srgbClr val="000000"/>
                </a:solidFill>
              </a:rPr>
              <a:t> ≡ 31 mod 33</a:t>
            </a:r>
          </a:p>
        </p:txBody>
      </p:sp>
      <p:sp>
        <p:nvSpPr>
          <p:cNvPr id="11270" name="Text Box 4"/>
          <p:cNvSpPr txBox="1">
            <a:spLocks noChangeArrowheads="1"/>
          </p:cNvSpPr>
          <p:nvPr/>
        </p:nvSpPr>
        <p:spPr bwMode="auto">
          <a:xfrm>
            <a:off x="4876800" y="1066800"/>
            <a:ext cx="3656013" cy="5040313"/>
          </a:xfrm>
          <a:prstGeom prst="rect">
            <a:avLst/>
          </a:prstGeom>
          <a:noFill/>
          <a:ln w="9525">
            <a:noFill/>
            <a:round/>
            <a:headEnd/>
            <a:tailEnd/>
          </a:ln>
        </p:spPr>
        <p:txBody>
          <a:bodyPr lIns="0" tIns="0" rIns="0" bIns="0"/>
          <a:lstStyle/>
          <a:p>
            <a:pPr marL="457200" indent="-457200" algn="ctr" defTabSz="449263">
              <a:lnSpc>
                <a:spcPct val="125000"/>
              </a:lnSpc>
              <a:spcBef>
                <a:spcPts val="625"/>
              </a:spcBef>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r>
              <a:rPr lang="en-US" sz="2000" b="1">
                <a:solidFill>
                  <a:srgbClr val="000000"/>
                </a:solidFill>
              </a:rPr>
              <a:t>BOB</a:t>
            </a:r>
          </a:p>
          <a:p>
            <a:pPr marL="457200" indent="-457200" defTabSz="449263">
              <a:lnSpc>
                <a:spcPct val="125000"/>
              </a:lnSpc>
              <a:spcBef>
                <a:spcPts val="625"/>
              </a:spcBef>
              <a:buFontTx/>
              <a:buAutoNum type="arabicPeriod"/>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r>
              <a:rPr lang="en-US" sz="2000">
                <a:solidFill>
                  <a:srgbClr val="000000"/>
                </a:solidFill>
              </a:rPr>
              <a:t>Choose </a:t>
            </a:r>
            <a:r>
              <a:rPr lang="en-US" sz="2000" i="1">
                <a:solidFill>
                  <a:srgbClr val="000000"/>
                </a:solidFill>
              </a:rPr>
              <a:t>p =</a:t>
            </a:r>
            <a:r>
              <a:rPr lang="en-US" sz="2000">
                <a:solidFill>
                  <a:srgbClr val="000000"/>
                </a:solidFill>
              </a:rPr>
              <a:t> 3 and </a:t>
            </a:r>
            <a:r>
              <a:rPr lang="en-US" sz="2000" i="1">
                <a:solidFill>
                  <a:srgbClr val="000000"/>
                </a:solidFill>
              </a:rPr>
              <a:t>q = 11</a:t>
            </a:r>
          </a:p>
          <a:p>
            <a:pPr marL="457200" indent="-457200" defTabSz="449263">
              <a:lnSpc>
                <a:spcPct val="125000"/>
              </a:lnSpc>
              <a:spcBef>
                <a:spcPts val="625"/>
              </a:spcBef>
              <a:buFontTx/>
              <a:buAutoNum type="arabicPeriod"/>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r>
              <a:rPr lang="en-US" sz="2000">
                <a:solidFill>
                  <a:srgbClr val="000000"/>
                </a:solidFill>
              </a:rPr>
              <a:t>Compute </a:t>
            </a:r>
            <a:r>
              <a:rPr lang="en-US" sz="2000" i="1">
                <a:solidFill>
                  <a:srgbClr val="000000"/>
                </a:solidFill>
              </a:rPr>
              <a:t>n = p * q = 33</a:t>
            </a:r>
          </a:p>
          <a:p>
            <a:pPr marL="457200" indent="-457200" defTabSz="449263">
              <a:lnSpc>
                <a:spcPct val="125000"/>
              </a:lnSpc>
              <a:spcBef>
                <a:spcPts val="625"/>
              </a:spcBef>
              <a:buFontTx/>
              <a:buAutoNum type="arabicPeriod"/>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r>
              <a:rPr lang="en-US" sz="2000" i="1">
                <a:solidFill>
                  <a:srgbClr val="000000"/>
                </a:solidFill>
              </a:rPr>
              <a:t>Φ(n) = (3-1) * (11-1) = 20</a:t>
            </a:r>
          </a:p>
          <a:p>
            <a:pPr marL="457200" indent="-457200" defTabSz="449263">
              <a:lnSpc>
                <a:spcPct val="125000"/>
              </a:lnSpc>
              <a:spcBef>
                <a:spcPts val="625"/>
              </a:spcBef>
              <a:buFontTx/>
              <a:buAutoNum type="arabicPeriod"/>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r>
              <a:rPr lang="en-US" sz="2000">
                <a:solidFill>
                  <a:srgbClr val="000000"/>
                </a:solidFill>
              </a:rPr>
              <a:t>Choose </a:t>
            </a:r>
            <a:r>
              <a:rPr lang="en-US" sz="2000" i="1">
                <a:solidFill>
                  <a:srgbClr val="000000"/>
                </a:solidFill>
              </a:rPr>
              <a:t>e = 3</a:t>
            </a:r>
          </a:p>
          <a:p>
            <a:pPr marL="457200" indent="-457200" defTabSz="449263">
              <a:lnSpc>
                <a:spcPct val="125000"/>
              </a:lnSpc>
              <a:spcBef>
                <a:spcPts val="625"/>
              </a:spcBef>
              <a:buFontTx/>
              <a:buAutoNum type="arabicPeriod"/>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r>
              <a:rPr lang="en-US" sz="2000" i="1">
                <a:solidFill>
                  <a:srgbClr val="000000"/>
                </a:solidFill>
              </a:rPr>
              <a:t>d ≡ e</a:t>
            </a:r>
            <a:r>
              <a:rPr lang="en-US" sz="2000" i="1" baseline="30000">
                <a:solidFill>
                  <a:srgbClr val="000000"/>
                </a:solidFill>
              </a:rPr>
              <a:t>-1</a:t>
            </a:r>
            <a:r>
              <a:rPr lang="en-US" sz="2000" i="1">
                <a:solidFill>
                  <a:srgbClr val="000000"/>
                </a:solidFill>
              </a:rPr>
              <a:t> ≡7 mod 20</a:t>
            </a:r>
          </a:p>
          <a:p>
            <a:pPr marL="457200" indent="-457200" defTabSz="449263">
              <a:lnSpc>
                <a:spcPct val="125000"/>
              </a:lnSpc>
              <a:spcBef>
                <a:spcPts val="625"/>
              </a:spcBef>
              <a:buFontTx/>
              <a:buAutoNum type="arabicPeriod"/>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i="1">
              <a:solidFill>
                <a:srgbClr val="000000"/>
              </a:solidFill>
            </a:endParaRPr>
          </a:p>
          <a:p>
            <a:pPr marL="457200" indent="-457200" defTabSz="449263">
              <a:lnSpc>
                <a:spcPct val="125000"/>
              </a:lnSpc>
              <a:spcBef>
                <a:spcPts val="625"/>
              </a:spcBef>
              <a:buFontTx/>
              <a:buAutoNum type="arabicPeriod"/>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i="1">
              <a:solidFill>
                <a:srgbClr val="000000"/>
              </a:solidFill>
            </a:endParaRPr>
          </a:p>
          <a:p>
            <a:pPr marL="457200" indent="-457200" defTabSz="449263">
              <a:lnSpc>
                <a:spcPct val="125000"/>
              </a:lnSpc>
              <a:spcBef>
                <a:spcPts val="625"/>
              </a:spcBef>
              <a:buFontTx/>
              <a:buAutoNum type="arabicPeriod"/>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i="1">
              <a:solidFill>
                <a:srgbClr val="000000"/>
              </a:solidFill>
            </a:endParaRPr>
          </a:p>
          <a:p>
            <a:pPr marL="457200" indent="-457200" defTabSz="449263">
              <a:lnSpc>
                <a:spcPct val="125000"/>
              </a:lnSpc>
              <a:spcBef>
                <a:spcPts val="625"/>
              </a:spcBef>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i="1">
              <a:solidFill>
                <a:srgbClr val="000000"/>
              </a:solidFill>
            </a:endParaRPr>
          </a:p>
          <a:p>
            <a:pPr marL="457200" indent="-457200" defTabSz="449263">
              <a:lnSpc>
                <a:spcPct val="125000"/>
              </a:lnSpc>
              <a:spcBef>
                <a:spcPts val="625"/>
              </a:spcBef>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r>
              <a:rPr lang="en-US" sz="2000" i="1">
                <a:solidFill>
                  <a:srgbClr val="000000"/>
                </a:solidFill>
              </a:rPr>
              <a:t>y</a:t>
            </a:r>
            <a:r>
              <a:rPr lang="en-US" sz="2000" i="1" baseline="30000">
                <a:solidFill>
                  <a:srgbClr val="000000"/>
                </a:solidFill>
              </a:rPr>
              <a:t>d</a:t>
            </a:r>
            <a:r>
              <a:rPr lang="en-US" sz="2000" i="1">
                <a:solidFill>
                  <a:srgbClr val="000000"/>
                </a:solidFill>
              </a:rPr>
              <a:t> = 31</a:t>
            </a:r>
            <a:r>
              <a:rPr lang="en-US" sz="2000" i="1" baseline="30000">
                <a:solidFill>
                  <a:srgbClr val="000000"/>
                </a:solidFill>
              </a:rPr>
              <a:t>7</a:t>
            </a:r>
            <a:r>
              <a:rPr lang="en-US" sz="2000" i="1">
                <a:solidFill>
                  <a:srgbClr val="000000"/>
                </a:solidFill>
              </a:rPr>
              <a:t> ≡ </a:t>
            </a:r>
            <a:r>
              <a:rPr lang="en-US" sz="2000" b="1" i="1">
                <a:solidFill>
                  <a:srgbClr val="FF0000"/>
                </a:solidFill>
              </a:rPr>
              <a:t>4 = x</a:t>
            </a:r>
            <a:r>
              <a:rPr lang="en-US" sz="2000" i="1">
                <a:solidFill>
                  <a:srgbClr val="FF0000"/>
                </a:solidFill>
              </a:rPr>
              <a:t> </a:t>
            </a:r>
            <a:r>
              <a:rPr lang="en-US" sz="2000" i="1">
                <a:solidFill>
                  <a:srgbClr val="000000"/>
                </a:solidFill>
              </a:rPr>
              <a:t>mod 33</a:t>
            </a:r>
          </a:p>
          <a:p>
            <a:pPr marL="457200" indent="-457200" defTabSz="449263">
              <a:lnSpc>
                <a:spcPct val="125000"/>
              </a:lnSpc>
              <a:spcBef>
                <a:spcPts val="625"/>
              </a:spcBef>
              <a:buFontTx/>
              <a:buAutoNum type="arabicPeriod"/>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pPr>
            <a:endParaRPr lang="en-US" sz="2000" i="1">
              <a:solidFill>
                <a:srgbClr val="000000"/>
              </a:solidFill>
            </a:endParaRPr>
          </a:p>
        </p:txBody>
      </p:sp>
      <p:sp>
        <p:nvSpPr>
          <p:cNvPr id="11271" name="Line 5"/>
          <p:cNvSpPr>
            <a:spLocks noChangeShapeType="1"/>
          </p:cNvSpPr>
          <p:nvPr/>
        </p:nvSpPr>
        <p:spPr bwMode="auto">
          <a:xfrm flipH="1">
            <a:off x="3048000" y="3962400"/>
            <a:ext cx="1905000" cy="0"/>
          </a:xfrm>
          <a:prstGeom prst="line">
            <a:avLst/>
          </a:prstGeom>
          <a:noFill/>
          <a:ln w="9525">
            <a:solidFill>
              <a:schemeClr val="tx1"/>
            </a:solidFill>
            <a:round/>
            <a:headEnd/>
            <a:tailEnd type="triangle" w="med" len="med"/>
          </a:ln>
        </p:spPr>
        <p:txBody>
          <a:bodyPr/>
          <a:lstStyle/>
          <a:p>
            <a:endParaRPr lang="en-US"/>
          </a:p>
        </p:txBody>
      </p:sp>
      <p:sp>
        <p:nvSpPr>
          <p:cNvPr id="11272" name="Text Box 6"/>
          <p:cNvSpPr txBox="1">
            <a:spLocks noChangeArrowheads="1"/>
          </p:cNvSpPr>
          <p:nvPr/>
        </p:nvSpPr>
        <p:spPr bwMode="auto">
          <a:xfrm>
            <a:off x="3108325" y="3565525"/>
            <a:ext cx="1768475" cy="336550"/>
          </a:xfrm>
          <a:prstGeom prst="rect">
            <a:avLst/>
          </a:prstGeom>
          <a:noFill/>
          <a:ln w="9525">
            <a:noFill/>
            <a:miter lim="800000"/>
            <a:headEnd/>
            <a:tailEnd/>
          </a:ln>
        </p:spPr>
        <p:txBody>
          <a:bodyPr>
            <a:spAutoFit/>
          </a:bodyPr>
          <a:lstStyle/>
          <a:p>
            <a:pPr algn="ctr">
              <a:buClr>
                <a:srgbClr val="000000"/>
              </a:buClr>
              <a:buSzPct val="100000"/>
              <a:buFont typeface="Times New Roman" pitchFamily="18" charset="0"/>
              <a:buNone/>
            </a:pPr>
            <a:r>
              <a:rPr lang="de-DE" sz="1600">
                <a:cs typeface="Arial" pitchFamily="34" charset="0"/>
              </a:rPr>
              <a:t>K</a:t>
            </a:r>
            <a:r>
              <a:rPr lang="de-DE" sz="1600" baseline="-25000">
                <a:cs typeface="Arial" pitchFamily="34" charset="0"/>
              </a:rPr>
              <a:t>pub </a:t>
            </a:r>
            <a:r>
              <a:rPr lang="de-DE" sz="1600">
                <a:cs typeface="Arial" pitchFamily="34" charset="0"/>
              </a:rPr>
              <a:t>= (33,3)</a:t>
            </a:r>
          </a:p>
        </p:txBody>
      </p:sp>
      <p:sp>
        <p:nvSpPr>
          <p:cNvPr id="11273" name="Line 7"/>
          <p:cNvSpPr>
            <a:spLocks noChangeShapeType="1"/>
          </p:cNvSpPr>
          <p:nvPr/>
        </p:nvSpPr>
        <p:spPr bwMode="auto">
          <a:xfrm>
            <a:off x="3048000" y="5257800"/>
            <a:ext cx="1905000" cy="0"/>
          </a:xfrm>
          <a:prstGeom prst="line">
            <a:avLst/>
          </a:prstGeom>
          <a:noFill/>
          <a:ln w="9525">
            <a:solidFill>
              <a:schemeClr val="tx1"/>
            </a:solidFill>
            <a:round/>
            <a:headEnd/>
            <a:tailEnd type="triangle" w="med" len="med"/>
          </a:ln>
        </p:spPr>
        <p:txBody>
          <a:bodyPr/>
          <a:lstStyle/>
          <a:p>
            <a:endParaRPr lang="en-US"/>
          </a:p>
        </p:txBody>
      </p:sp>
      <p:sp>
        <p:nvSpPr>
          <p:cNvPr id="11274" name="Text Box 8"/>
          <p:cNvSpPr txBox="1">
            <a:spLocks noChangeArrowheads="1"/>
          </p:cNvSpPr>
          <p:nvPr/>
        </p:nvSpPr>
        <p:spPr bwMode="auto">
          <a:xfrm>
            <a:off x="3048000" y="4800600"/>
            <a:ext cx="1768475" cy="336550"/>
          </a:xfrm>
          <a:prstGeom prst="rect">
            <a:avLst/>
          </a:prstGeom>
          <a:noFill/>
          <a:ln w="9525">
            <a:noFill/>
            <a:miter lim="800000"/>
            <a:headEnd/>
            <a:tailEnd/>
          </a:ln>
        </p:spPr>
        <p:txBody>
          <a:bodyPr>
            <a:spAutoFit/>
          </a:bodyPr>
          <a:lstStyle/>
          <a:p>
            <a:pPr algn="ctr">
              <a:buClr>
                <a:srgbClr val="000000"/>
              </a:buClr>
              <a:buSzPct val="100000"/>
              <a:buFont typeface="Times New Roman" pitchFamily="18" charset="0"/>
              <a:buNone/>
            </a:pPr>
            <a:r>
              <a:rPr lang="de-DE" sz="1600">
                <a:cs typeface="Arial" pitchFamily="34" charset="0"/>
              </a:rPr>
              <a:t>y = 31</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Using the Euclidean algorithm</a:t>
            </a:r>
            <a:endParaRPr lang="en-US" dirty="0"/>
          </a:p>
        </p:txBody>
      </p:sp>
      <p:sp>
        <p:nvSpPr>
          <p:cNvPr id="3" name="Content Placeholder 2"/>
          <p:cNvSpPr>
            <a:spLocks noGrp="1"/>
          </p:cNvSpPr>
          <p:nvPr>
            <p:ph idx="1"/>
          </p:nvPr>
        </p:nvSpPr>
        <p:spPr/>
        <p:txBody>
          <a:bodyPr/>
          <a:lstStyle/>
          <a:p>
            <a:r>
              <a:rPr lang="en-US" dirty="0" smtClean="0"/>
              <a:t>If we need to find d = e</a:t>
            </a:r>
            <a:r>
              <a:rPr lang="en-US" baseline="30000" dirty="0" smtClean="0"/>
              <a:t>-1</a:t>
            </a:r>
            <a:r>
              <a:rPr lang="en-US" dirty="0" smtClean="0"/>
              <a:t> mod n and we can find integers </a:t>
            </a:r>
            <a:r>
              <a:rPr lang="en-US" i="1" dirty="0" smtClean="0"/>
              <a:t>x</a:t>
            </a:r>
            <a:r>
              <a:rPr lang="en-US" dirty="0" smtClean="0"/>
              <a:t> and </a:t>
            </a:r>
            <a:r>
              <a:rPr lang="en-US" i="1" dirty="0" smtClean="0"/>
              <a:t>y</a:t>
            </a:r>
            <a:r>
              <a:rPr lang="en-US" dirty="0" smtClean="0"/>
              <a:t> such that </a:t>
            </a:r>
          </a:p>
          <a:p>
            <a:pPr>
              <a:buNone/>
            </a:pPr>
            <a:r>
              <a:rPr lang="en-US" dirty="0" smtClean="0"/>
              <a:t>	ex + ny = 1</a:t>
            </a:r>
          </a:p>
          <a:p>
            <a:pPr>
              <a:buNone/>
            </a:pPr>
            <a:r>
              <a:rPr lang="en-US" dirty="0" smtClean="0"/>
              <a:t>then the inverse </a:t>
            </a:r>
            <a:r>
              <a:rPr lang="en-US" i="1" dirty="0" smtClean="0"/>
              <a:t>d</a:t>
            </a:r>
            <a:r>
              <a:rPr lang="en-US" dirty="0" smtClean="0"/>
              <a:t> is the value of </a:t>
            </a:r>
            <a:r>
              <a:rPr lang="en-US" i="1" dirty="0" smtClean="0"/>
              <a:t>x.</a:t>
            </a:r>
          </a:p>
          <a:p>
            <a:r>
              <a:rPr lang="en-US" dirty="0" smtClean="0"/>
              <a:t> find d = 3</a:t>
            </a:r>
            <a:r>
              <a:rPr lang="en-US" baseline="30000" dirty="0" smtClean="0"/>
              <a:t>-1</a:t>
            </a:r>
            <a:r>
              <a:rPr lang="en-US" dirty="0" smtClean="0"/>
              <a:t> mod 20, we first obtain</a:t>
            </a:r>
          </a:p>
          <a:p>
            <a:pPr>
              <a:buNone/>
            </a:pPr>
            <a:r>
              <a:rPr lang="en-US" dirty="0" smtClean="0"/>
              <a:t>	 gcd(20, 3) and check that it's 1 (otherwise the inverse doesn't exist)</a:t>
            </a:r>
          </a:p>
          <a:p>
            <a:pPr lvl="2">
              <a:buNone/>
            </a:pPr>
            <a:r>
              <a:rPr lang="en-US" dirty="0" smtClean="0"/>
              <a:t>20 = 3 x 6 + 2</a:t>
            </a:r>
          </a:p>
          <a:p>
            <a:pPr lvl="2">
              <a:buNone/>
            </a:pPr>
            <a:r>
              <a:rPr lang="en-US" dirty="0" smtClean="0"/>
              <a:t> 3 = 2 x 1 + 1</a:t>
            </a:r>
          </a:p>
          <a:p>
            <a:r>
              <a:rPr lang="en-US" dirty="0" smtClean="0"/>
              <a:t>giving gcd(20, 3) = 1</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err="1" smtClean="0"/>
              <a:t>nx</a:t>
            </a:r>
            <a:r>
              <a:rPr lang="en-US" dirty="0" smtClean="0"/>
              <a:t> + </a:t>
            </a:r>
            <a:r>
              <a:rPr lang="en-US" dirty="0" err="1" smtClean="0"/>
              <a:t>ey</a:t>
            </a:r>
            <a:r>
              <a:rPr lang="en-US" dirty="0" smtClean="0"/>
              <a:t> = 1,</a:t>
            </a:r>
          </a:p>
          <a:p>
            <a:pPr>
              <a:buNone/>
            </a:pPr>
            <a:r>
              <a:rPr lang="en-US" dirty="0" smtClean="0"/>
              <a:t>		1 = 3 - 1 x 2 </a:t>
            </a:r>
          </a:p>
          <a:p>
            <a:pPr lvl="2">
              <a:buNone/>
            </a:pPr>
            <a:r>
              <a:rPr lang="en-US" dirty="0" smtClean="0"/>
              <a:t>   = 3 - 1 x (20 - 6 x 3) </a:t>
            </a:r>
          </a:p>
          <a:p>
            <a:pPr lvl="2">
              <a:buNone/>
            </a:pPr>
            <a:r>
              <a:rPr lang="en-US" dirty="0" smtClean="0"/>
              <a:t>   = -1 x 20 + 7 x 3</a:t>
            </a:r>
          </a:p>
          <a:p>
            <a:r>
              <a:rPr lang="en-US" dirty="0" smtClean="0"/>
              <a:t> The value of </a:t>
            </a:r>
            <a:r>
              <a:rPr lang="en-US" i="1" dirty="0" smtClean="0"/>
              <a:t>x</a:t>
            </a:r>
            <a:r>
              <a:rPr lang="en-US" dirty="0" smtClean="0"/>
              <a:t> (the coefficient of 3) is 7, so the inverse is 7.</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sz="3600" smtClean="0"/>
              <a:t>RSA example:</a:t>
            </a:r>
            <a:endParaRPr lang="en-US" smtClean="0"/>
          </a:p>
        </p:txBody>
      </p:sp>
      <p:sp>
        <p:nvSpPr>
          <p:cNvPr id="29699" name="Text Box 4"/>
          <p:cNvSpPr txBox="1">
            <a:spLocks noChangeArrowheads="1"/>
          </p:cNvSpPr>
          <p:nvPr/>
        </p:nvSpPr>
        <p:spPr bwMode="auto">
          <a:xfrm>
            <a:off x="533400" y="1300163"/>
            <a:ext cx="5881688" cy="457200"/>
          </a:xfrm>
          <a:prstGeom prst="rect">
            <a:avLst/>
          </a:prstGeom>
          <a:noFill/>
          <a:ln w="9525">
            <a:noFill/>
            <a:miter lim="800000"/>
            <a:headEnd/>
            <a:tailEnd/>
          </a:ln>
        </p:spPr>
        <p:txBody>
          <a:bodyPr wrap="none">
            <a:spAutoFit/>
          </a:bodyPr>
          <a:lstStyle/>
          <a:p>
            <a:r>
              <a:rPr lang="en-US" sz="2400">
                <a:latin typeface="Comic Sans MS" pitchFamily="66" charset="0"/>
              </a:rPr>
              <a:t>Bob chooses </a:t>
            </a:r>
            <a:r>
              <a:rPr lang="en-US" sz="2400" i="1">
                <a:latin typeface="Comic Sans MS" pitchFamily="66" charset="0"/>
              </a:rPr>
              <a:t>p=5, q=7</a:t>
            </a:r>
            <a:r>
              <a:rPr lang="en-US" sz="2400">
                <a:latin typeface="Comic Sans MS" pitchFamily="66" charset="0"/>
              </a:rPr>
              <a:t>.  Then </a:t>
            </a:r>
            <a:r>
              <a:rPr lang="en-US" sz="2400" i="1">
                <a:latin typeface="Comic Sans MS" pitchFamily="66" charset="0"/>
              </a:rPr>
              <a:t>n=35, z=24</a:t>
            </a:r>
            <a:r>
              <a:rPr lang="en-US" sz="2400">
                <a:latin typeface="Comic Sans MS" pitchFamily="66" charset="0"/>
              </a:rPr>
              <a:t>.</a:t>
            </a:r>
            <a:endParaRPr lang="en-US" sz="2400">
              <a:latin typeface="Times New Roman" pitchFamily="18" charset="0"/>
            </a:endParaRPr>
          </a:p>
        </p:txBody>
      </p:sp>
      <p:sp>
        <p:nvSpPr>
          <p:cNvPr id="29700" name="Text Box 5"/>
          <p:cNvSpPr txBox="1">
            <a:spLocks noChangeArrowheads="1"/>
          </p:cNvSpPr>
          <p:nvPr/>
        </p:nvSpPr>
        <p:spPr bwMode="auto">
          <a:xfrm>
            <a:off x="2312988" y="1724025"/>
            <a:ext cx="6022803" cy="1569660"/>
          </a:xfrm>
          <a:prstGeom prst="rect">
            <a:avLst/>
          </a:prstGeom>
          <a:noFill/>
          <a:ln w="9525">
            <a:noFill/>
            <a:miter lim="800000"/>
            <a:headEnd/>
            <a:tailEnd/>
          </a:ln>
        </p:spPr>
        <p:txBody>
          <a:bodyPr wrap="none">
            <a:spAutoFit/>
          </a:bodyPr>
          <a:lstStyle/>
          <a:p>
            <a:r>
              <a:rPr lang="en-US" sz="2400" i="1" dirty="0">
                <a:latin typeface="Comic Sans MS" pitchFamily="66" charset="0"/>
              </a:rPr>
              <a:t>e=5</a:t>
            </a:r>
            <a:r>
              <a:rPr lang="en-US" sz="2400" dirty="0">
                <a:latin typeface="Comic Sans MS" pitchFamily="66" charset="0"/>
              </a:rPr>
              <a:t>  (so </a:t>
            </a:r>
            <a:r>
              <a:rPr lang="en-US" sz="2400" i="1" dirty="0">
                <a:latin typeface="Comic Sans MS" pitchFamily="66" charset="0"/>
              </a:rPr>
              <a:t>e, </a:t>
            </a:r>
            <a:r>
              <a:rPr lang="en-AU" sz="2400" dirty="0" smtClean="0">
                <a:ea typeface="ＭＳ Ｐゴシック" pitchFamily="34" charset="-128"/>
              </a:rPr>
              <a:t>ø(n)</a:t>
            </a:r>
            <a:r>
              <a:rPr lang="en-US" sz="2400" dirty="0" smtClean="0">
                <a:latin typeface="Comic Sans MS" pitchFamily="66" charset="0"/>
              </a:rPr>
              <a:t> </a:t>
            </a:r>
            <a:r>
              <a:rPr lang="en-US" sz="2400" dirty="0">
                <a:latin typeface="Comic Sans MS" pitchFamily="66" charset="0"/>
              </a:rPr>
              <a:t>relatively prime).</a:t>
            </a:r>
          </a:p>
          <a:p>
            <a:r>
              <a:rPr lang="en-US" sz="2400" i="1" dirty="0">
                <a:latin typeface="Comic Sans MS" pitchFamily="66" charset="0"/>
              </a:rPr>
              <a:t>d=29</a:t>
            </a:r>
            <a:r>
              <a:rPr lang="en-US" sz="2400" dirty="0">
                <a:latin typeface="Comic Sans MS" pitchFamily="66" charset="0"/>
              </a:rPr>
              <a:t> (so </a:t>
            </a:r>
            <a:r>
              <a:rPr lang="en-US" sz="2400" i="1" dirty="0">
                <a:latin typeface="Comic Sans MS" pitchFamily="66" charset="0"/>
              </a:rPr>
              <a:t>ed-1</a:t>
            </a:r>
            <a:r>
              <a:rPr lang="en-US" sz="2400" dirty="0">
                <a:latin typeface="Comic Sans MS" pitchFamily="66" charset="0"/>
              </a:rPr>
              <a:t> exactly divisible by </a:t>
            </a:r>
            <a:r>
              <a:rPr lang="en-AU" sz="2400" dirty="0" smtClean="0">
                <a:ea typeface="ＭＳ Ｐゴシック" pitchFamily="34" charset="-128"/>
              </a:rPr>
              <a:t>ø(n)</a:t>
            </a:r>
            <a:r>
              <a:rPr lang="en-US" sz="2400" dirty="0" smtClean="0">
                <a:latin typeface="Comic Sans MS" pitchFamily="66" charset="0"/>
              </a:rPr>
              <a:t> or</a:t>
            </a:r>
          </a:p>
          <a:p>
            <a:r>
              <a:rPr lang="en-US" sz="2400" dirty="0" smtClean="0">
                <a:latin typeface="Comic Sans MS" pitchFamily="66" charset="0"/>
              </a:rPr>
              <a:t> </a:t>
            </a:r>
            <a:r>
              <a:rPr lang="de-DE" sz="2400" i="1" dirty="0" smtClean="0">
                <a:solidFill>
                  <a:srgbClr val="000000"/>
                </a:solidFill>
                <a:cs typeface="Arial" pitchFamily="34" charset="0"/>
              </a:rPr>
              <a:t>d * e </a:t>
            </a:r>
            <a:r>
              <a:rPr lang="sv-SE" sz="2400" i="1" dirty="0" smtClean="0">
                <a:solidFill>
                  <a:srgbClr val="000000"/>
                </a:solidFill>
                <a:cs typeface="Arial" pitchFamily="34" charset="0"/>
              </a:rPr>
              <a:t>≡ 1 mod </a:t>
            </a:r>
            <a:r>
              <a:rPr lang="el-GR" sz="2400" i="1" dirty="0" smtClean="0">
                <a:solidFill>
                  <a:srgbClr val="000000"/>
                </a:solidFill>
                <a:cs typeface="Arial" pitchFamily="34" charset="0"/>
              </a:rPr>
              <a:t>Φ</a:t>
            </a:r>
            <a:r>
              <a:rPr lang="de-DE" sz="2400" i="1" dirty="0" smtClean="0">
                <a:solidFill>
                  <a:srgbClr val="000000"/>
                </a:solidFill>
                <a:cs typeface="Arial" pitchFamily="34" charset="0"/>
              </a:rPr>
              <a:t>(n)</a:t>
            </a:r>
            <a:r>
              <a:rPr lang="en-US" sz="2400" dirty="0" smtClean="0">
                <a:latin typeface="Comic Sans MS" pitchFamily="66" charset="0"/>
              </a:rPr>
              <a:t>.</a:t>
            </a:r>
            <a:endParaRPr lang="en-US" sz="2400" dirty="0">
              <a:latin typeface="Comic Sans MS" pitchFamily="66" charset="0"/>
            </a:endParaRPr>
          </a:p>
          <a:p>
            <a:r>
              <a:rPr lang="en-US" sz="2400" dirty="0">
                <a:latin typeface="Comic Sans MS" pitchFamily="66" charset="0"/>
              </a:rPr>
              <a:t> </a:t>
            </a:r>
            <a:endParaRPr lang="en-US" sz="2400" dirty="0">
              <a:latin typeface="Times New Roman" pitchFamily="18" charset="0"/>
            </a:endParaRPr>
          </a:p>
        </p:txBody>
      </p:sp>
      <p:sp>
        <p:nvSpPr>
          <p:cNvPr id="29701" name="Text Box 6"/>
          <p:cNvSpPr txBox="1">
            <a:spLocks noChangeArrowheads="1"/>
          </p:cNvSpPr>
          <p:nvPr/>
        </p:nvSpPr>
        <p:spPr bwMode="auto">
          <a:xfrm>
            <a:off x="2012950" y="3335338"/>
            <a:ext cx="1033463" cy="457200"/>
          </a:xfrm>
          <a:prstGeom prst="rect">
            <a:avLst/>
          </a:prstGeom>
          <a:noFill/>
          <a:ln w="9525">
            <a:noFill/>
            <a:miter lim="800000"/>
            <a:headEnd/>
            <a:tailEnd/>
          </a:ln>
        </p:spPr>
        <p:txBody>
          <a:bodyPr wrap="none">
            <a:spAutoFit/>
          </a:bodyPr>
          <a:lstStyle/>
          <a:p>
            <a:r>
              <a:rPr lang="en-US" sz="2400" u="sng">
                <a:latin typeface="Comic Sans MS" pitchFamily="66" charset="0"/>
              </a:rPr>
              <a:t>letter</a:t>
            </a:r>
            <a:endParaRPr lang="en-US" sz="2400" u="sng">
              <a:latin typeface="Times New Roman" pitchFamily="18" charset="0"/>
            </a:endParaRPr>
          </a:p>
        </p:txBody>
      </p:sp>
      <p:sp>
        <p:nvSpPr>
          <p:cNvPr id="29702" name="Text Box 7"/>
          <p:cNvSpPr txBox="1">
            <a:spLocks noChangeArrowheads="1"/>
          </p:cNvSpPr>
          <p:nvPr/>
        </p:nvSpPr>
        <p:spPr bwMode="auto">
          <a:xfrm>
            <a:off x="3602038" y="3311525"/>
            <a:ext cx="420687" cy="457200"/>
          </a:xfrm>
          <a:prstGeom prst="rect">
            <a:avLst/>
          </a:prstGeom>
          <a:noFill/>
          <a:ln w="9525">
            <a:noFill/>
            <a:miter lim="800000"/>
            <a:headEnd/>
            <a:tailEnd/>
          </a:ln>
        </p:spPr>
        <p:txBody>
          <a:bodyPr wrap="none">
            <a:spAutoFit/>
          </a:bodyPr>
          <a:lstStyle/>
          <a:p>
            <a:r>
              <a:rPr lang="en-US" sz="2400" u="sng">
                <a:latin typeface="Comic Sans MS" pitchFamily="66" charset="0"/>
              </a:rPr>
              <a:t>m</a:t>
            </a:r>
            <a:endParaRPr lang="en-US" sz="2400" u="sng">
              <a:latin typeface="Times New Roman" pitchFamily="18" charset="0"/>
            </a:endParaRPr>
          </a:p>
        </p:txBody>
      </p:sp>
      <p:sp>
        <p:nvSpPr>
          <p:cNvPr id="29703" name="Text Box 8"/>
          <p:cNvSpPr txBox="1">
            <a:spLocks noChangeArrowheads="1"/>
          </p:cNvSpPr>
          <p:nvPr/>
        </p:nvSpPr>
        <p:spPr bwMode="auto">
          <a:xfrm>
            <a:off x="4859338" y="3321050"/>
            <a:ext cx="420687" cy="457200"/>
          </a:xfrm>
          <a:prstGeom prst="rect">
            <a:avLst/>
          </a:prstGeom>
          <a:noFill/>
          <a:ln w="9525">
            <a:noFill/>
            <a:miter lim="800000"/>
            <a:headEnd/>
            <a:tailEnd/>
          </a:ln>
        </p:spPr>
        <p:txBody>
          <a:bodyPr wrap="none">
            <a:spAutoFit/>
          </a:bodyPr>
          <a:lstStyle/>
          <a:p>
            <a:r>
              <a:rPr lang="en-US" sz="2400" u="sng">
                <a:latin typeface="Comic Sans MS" pitchFamily="66" charset="0"/>
              </a:rPr>
              <a:t>m</a:t>
            </a:r>
            <a:endParaRPr lang="en-US" sz="2400" u="sng">
              <a:latin typeface="Times New Roman" pitchFamily="18" charset="0"/>
            </a:endParaRPr>
          </a:p>
        </p:txBody>
      </p:sp>
      <p:sp>
        <p:nvSpPr>
          <p:cNvPr id="29704" name="Text Box 9"/>
          <p:cNvSpPr txBox="1">
            <a:spLocks noChangeArrowheads="1"/>
          </p:cNvSpPr>
          <p:nvPr/>
        </p:nvSpPr>
        <p:spPr bwMode="auto">
          <a:xfrm>
            <a:off x="5081588" y="3179763"/>
            <a:ext cx="350837" cy="457200"/>
          </a:xfrm>
          <a:prstGeom prst="rect">
            <a:avLst/>
          </a:prstGeom>
          <a:noFill/>
          <a:ln w="9525">
            <a:noFill/>
            <a:miter lim="800000"/>
            <a:headEnd/>
            <a:tailEnd/>
          </a:ln>
        </p:spPr>
        <p:txBody>
          <a:bodyPr wrap="none">
            <a:spAutoFit/>
          </a:bodyPr>
          <a:lstStyle/>
          <a:p>
            <a:r>
              <a:rPr lang="en-US" sz="2400">
                <a:latin typeface="Comic Sans MS" pitchFamily="66" charset="0"/>
              </a:rPr>
              <a:t>e</a:t>
            </a:r>
            <a:endParaRPr lang="en-US" sz="2400" u="sng">
              <a:latin typeface="Times New Roman" pitchFamily="18" charset="0"/>
            </a:endParaRPr>
          </a:p>
        </p:txBody>
      </p:sp>
      <p:grpSp>
        <p:nvGrpSpPr>
          <p:cNvPr id="2" name="Group 12"/>
          <p:cNvGrpSpPr>
            <a:grpSpLocks/>
          </p:cNvGrpSpPr>
          <p:nvPr/>
        </p:nvGrpSpPr>
        <p:grpSpPr bwMode="auto">
          <a:xfrm>
            <a:off x="6496050" y="3190875"/>
            <a:ext cx="2012950" cy="585788"/>
            <a:chOff x="2721" y="1773"/>
            <a:chExt cx="1268" cy="369"/>
          </a:xfrm>
        </p:grpSpPr>
        <p:sp>
          <p:nvSpPr>
            <p:cNvPr id="29724" name="Text Box 10"/>
            <p:cNvSpPr txBox="1">
              <a:spLocks noChangeArrowheads="1"/>
            </p:cNvSpPr>
            <p:nvPr/>
          </p:nvSpPr>
          <p:spPr bwMode="auto">
            <a:xfrm>
              <a:off x="2721" y="1854"/>
              <a:ext cx="1268" cy="288"/>
            </a:xfrm>
            <a:prstGeom prst="rect">
              <a:avLst/>
            </a:prstGeom>
            <a:noFill/>
            <a:ln w="9525">
              <a:noFill/>
              <a:miter lim="800000"/>
              <a:headEnd/>
              <a:tailEnd/>
            </a:ln>
          </p:spPr>
          <p:txBody>
            <a:bodyPr wrap="none">
              <a:spAutoFit/>
            </a:bodyPr>
            <a:lstStyle/>
            <a:p>
              <a:r>
                <a:rPr lang="en-US" sz="2400" u="sng">
                  <a:latin typeface="Comic Sans MS" pitchFamily="66" charset="0"/>
                </a:rPr>
                <a:t>c = m  mod  n</a:t>
              </a:r>
              <a:endParaRPr lang="en-US" sz="2400" u="sng">
                <a:latin typeface="Times New Roman" pitchFamily="18" charset="0"/>
              </a:endParaRPr>
            </a:p>
          </p:txBody>
        </p:sp>
        <p:sp>
          <p:nvSpPr>
            <p:cNvPr id="29725" name="Text Box 11"/>
            <p:cNvSpPr txBox="1">
              <a:spLocks noChangeArrowheads="1"/>
            </p:cNvSpPr>
            <p:nvPr/>
          </p:nvSpPr>
          <p:spPr bwMode="auto">
            <a:xfrm>
              <a:off x="3170" y="1773"/>
              <a:ext cx="221" cy="288"/>
            </a:xfrm>
            <a:prstGeom prst="rect">
              <a:avLst/>
            </a:prstGeom>
            <a:noFill/>
            <a:ln w="9525">
              <a:noFill/>
              <a:miter lim="800000"/>
              <a:headEnd/>
              <a:tailEnd/>
            </a:ln>
          </p:spPr>
          <p:txBody>
            <a:bodyPr wrap="none">
              <a:spAutoFit/>
            </a:bodyPr>
            <a:lstStyle/>
            <a:p>
              <a:r>
                <a:rPr lang="en-US" sz="2400">
                  <a:latin typeface="Comic Sans MS" pitchFamily="66" charset="0"/>
                </a:rPr>
                <a:t>e</a:t>
              </a:r>
              <a:endParaRPr lang="en-US" sz="2400" u="sng">
                <a:latin typeface="Times New Roman" pitchFamily="18" charset="0"/>
              </a:endParaRPr>
            </a:p>
          </p:txBody>
        </p:sp>
      </p:grpSp>
      <p:sp>
        <p:nvSpPr>
          <p:cNvPr id="29706" name="Text Box 15"/>
          <p:cNvSpPr txBox="1">
            <a:spLocks noChangeArrowheads="1"/>
          </p:cNvSpPr>
          <p:nvPr/>
        </p:nvSpPr>
        <p:spPr bwMode="auto">
          <a:xfrm>
            <a:off x="2366963" y="3810000"/>
            <a:ext cx="252412" cy="457200"/>
          </a:xfrm>
          <a:prstGeom prst="rect">
            <a:avLst/>
          </a:prstGeom>
          <a:noFill/>
          <a:ln w="9525">
            <a:noFill/>
            <a:miter lim="800000"/>
            <a:headEnd/>
            <a:tailEnd/>
          </a:ln>
        </p:spPr>
        <p:txBody>
          <a:bodyPr wrap="none">
            <a:spAutoFit/>
          </a:bodyPr>
          <a:lstStyle/>
          <a:p>
            <a:r>
              <a:rPr lang="en-US" sz="2400">
                <a:solidFill>
                  <a:srgbClr val="FF0000"/>
                </a:solidFill>
              </a:rPr>
              <a:t>l</a:t>
            </a:r>
            <a:endParaRPr lang="en-US" sz="2400">
              <a:latin typeface="Times New Roman" pitchFamily="18" charset="0"/>
            </a:endParaRPr>
          </a:p>
        </p:txBody>
      </p:sp>
      <p:sp>
        <p:nvSpPr>
          <p:cNvPr id="29707" name="Text Box 16"/>
          <p:cNvSpPr txBox="1">
            <a:spLocks noChangeArrowheads="1"/>
          </p:cNvSpPr>
          <p:nvPr/>
        </p:nvSpPr>
        <p:spPr bwMode="auto">
          <a:xfrm>
            <a:off x="3513138" y="3832225"/>
            <a:ext cx="523875" cy="457200"/>
          </a:xfrm>
          <a:prstGeom prst="rect">
            <a:avLst/>
          </a:prstGeom>
          <a:noFill/>
          <a:ln w="9525">
            <a:noFill/>
            <a:miter lim="800000"/>
            <a:headEnd/>
            <a:tailEnd/>
          </a:ln>
        </p:spPr>
        <p:txBody>
          <a:bodyPr wrap="none">
            <a:spAutoFit/>
          </a:bodyPr>
          <a:lstStyle/>
          <a:p>
            <a:r>
              <a:rPr lang="en-US" sz="2400">
                <a:solidFill>
                  <a:srgbClr val="FF0000"/>
                </a:solidFill>
              </a:rPr>
              <a:t>12</a:t>
            </a:r>
            <a:endParaRPr lang="en-US" sz="2400">
              <a:latin typeface="Times New Roman" pitchFamily="18" charset="0"/>
            </a:endParaRPr>
          </a:p>
        </p:txBody>
      </p:sp>
      <p:sp>
        <p:nvSpPr>
          <p:cNvPr id="29708" name="Text Box 17"/>
          <p:cNvSpPr txBox="1">
            <a:spLocks noChangeArrowheads="1"/>
          </p:cNvSpPr>
          <p:nvPr/>
        </p:nvSpPr>
        <p:spPr bwMode="auto">
          <a:xfrm>
            <a:off x="4386263" y="3824288"/>
            <a:ext cx="1373187" cy="457200"/>
          </a:xfrm>
          <a:prstGeom prst="rect">
            <a:avLst/>
          </a:prstGeom>
          <a:noFill/>
          <a:ln w="9525">
            <a:noFill/>
            <a:miter lim="800000"/>
            <a:headEnd/>
            <a:tailEnd/>
          </a:ln>
        </p:spPr>
        <p:txBody>
          <a:bodyPr wrap="none">
            <a:spAutoFit/>
          </a:bodyPr>
          <a:lstStyle/>
          <a:p>
            <a:r>
              <a:rPr lang="en-US" sz="2400">
                <a:solidFill>
                  <a:srgbClr val="FF0000"/>
                </a:solidFill>
              </a:rPr>
              <a:t>1524832</a:t>
            </a:r>
            <a:endParaRPr lang="en-US" sz="2400">
              <a:latin typeface="Times New Roman" pitchFamily="18" charset="0"/>
            </a:endParaRPr>
          </a:p>
        </p:txBody>
      </p:sp>
      <p:sp>
        <p:nvSpPr>
          <p:cNvPr id="29709" name="Text Box 18"/>
          <p:cNvSpPr txBox="1">
            <a:spLocks noChangeArrowheads="1"/>
          </p:cNvSpPr>
          <p:nvPr/>
        </p:nvSpPr>
        <p:spPr bwMode="auto">
          <a:xfrm>
            <a:off x="7408863" y="3822700"/>
            <a:ext cx="523875" cy="457200"/>
          </a:xfrm>
          <a:prstGeom prst="rect">
            <a:avLst/>
          </a:prstGeom>
          <a:noFill/>
          <a:ln w="9525">
            <a:noFill/>
            <a:miter lim="800000"/>
            <a:headEnd/>
            <a:tailEnd/>
          </a:ln>
        </p:spPr>
        <p:txBody>
          <a:bodyPr wrap="none">
            <a:spAutoFit/>
          </a:bodyPr>
          <a:lstStyle/>
          <a:p>
            <a:r>
              <a:rPr lang="en-US" sz="2400">
                <a:solidFill>
                  <a:srgbClr val="FF0000"/>
                </a:solidFill>
              </a:rPr>
              <a:t>17</a:t>
            </a:r>
            <a:endParaRPr lang="en-US" sz="2400">
              <a:latin typeface="Times New Roman" pitchFamily="18" charset="0"/>
            </a:endParaRPr>
          </a:p>
        </p:txBody>
      </p:sp>
      <p:sp>
        <p:nvSpPr>
          <p:cNvPr id="29710" name="Text Box 21"/>
          <p:cNvSpPr txBox="1">
            <a:spLocks noChangeArrowheads="1"/>
          </p:cNvSpPr>
          <p:nvPr/>
        </p:nvSpPr>
        <p:spPr bwMode="auto">
          <a:xfrm>
            <a:off x="2130425" y="4732338"/>
            <a:ext cx="341313" cy="457200"/>
          </a:xfrm>
          <a:prstGeom prst="rect">
            <a:avLst/>
          </a:prstGeom>
          <a:noFill/>
          <a:ln w="9525">
            <a:noFill/>
            <a:miter lim="800000"/>
            <a:headEnd/>
            <a:tailEnd/>
          </a:ln>
        </p:spPr>
        <p:txBody>
          <a:bodyPr wrap="none">
            <a:spAutoFit/>
          </a:bodyPr>
          <a:lstStyle/>
          <a:p>
            <a:r>
              <a:rPr lang="en-US" sz="2400" u="sng">
                <a:latin typeface="Comic Sans MS" pitchFamily="66" charset="0"/>
              </a:rPr>
              <a:t>c</a:t>
            </a:r>
            <a:endParaRPr lang="en-US" sz="2400" u="sng">
              <a:latin typeface="Times New Roman" pitchFamily="18" charset="0"/>
            </a:endParaRPr>
          </a:p>
        </p:txBody>
      </p:sp>
      <p:grpSp>
        <p:nvGrpSpPr>
          <p:cNvPr id="3" name="Group 26"/>
          <p:cNvGrpSpPr>
            <a:grpSpLocks/>
          </p:cNvGrpSpPr>
          <p:nvPr/>
        </p:nvGrpSpPr>
        <p:grpSpPr bwMode="auto">
          <a:xfrm>
            <a:off x="5845175" y="4657725"/>
            <a:ext cx="2012950" cy="585788"/>
            <a:chOff x="2721" y="1773"/>
            <a:chExt cx="1268" cy="369"/>
          </a:xfrm>
        </p:grpSpPr>
        <p:sp>
          <p:nvSpPr>
            <p:cNvPr id="29722" name="Text Box 27"/>
            <p:cNvSpPr txBox="1">
              <a:spLocks noChangeArrowheads="1"/>
            </p:cNvSpPr>
            <p:nvPr/>
          </p:nvSpPr>
          <p:spPr bwMode="auto">
            <a:xfrm>
              <a:off x="2721" y="1854"/>
              <a:ext cx="1268" cy="288"/>
            </a:xfrm>
            <a:prstGeom prst="rect">
              <a:avLst/>
            </a:prstGeom>
            <a:noFill/>
            <a:ln w="9525">
              <a:noFill/>
              <a:miter lim="800000"/>
              <a:headEnd/>
              <a:tailEnd/>
            </a:ln>
          </p:spPr>
          <p:txBody>
            <a:bodyPr wrap="none">
              <a:spAutoFit/>
            </a:bodyPr>
            <a:lstStyle/>
            <a:p>
              <a:r>
                <a:rPr lang="en-US" sz="2400" u="sng">
                  <a:latin typeface="Comic Sans MS" pitchFamily="66" charset="0"/>
                </a:rPr>
                <a:t>m = c  mod  n</a:t>
              </a:r>
              <a:endParaRPr lang="en-US" sz="2400" u="sng">
                <a:latin typeface="Times New Roman" pitchFamily="18" charset="0"/>
              </a:endParaRPr>
            </a:p>
          </p:txBody>
        </p:sp>
        <p:sp>
          <p:nvSpPr>
            <p:cNvPr id="29723" name="Text Box 28"/>
            <p:cNvSpPr txBox="1">
              <a:spLocks noChangeArrowheads="1"/>
            </p:cNvSpPr>
            <p:nvPr/>
          </p:nvSpPr>
          <p:spPr bwMode="auto">
            <a:xfrm>
              <a:off x="3166" y="1773"/>
              <a:ext cx="229" cy="288"/>
            </a:xfrm>
            <a:prstGeom prst="rect">
              <a:avLst/>
            </a:prstGeom>
            <a:noFill/>
            <a:ln w="9525">
              <a:noFill/>
              <a:miter lim="800000"/>
              <a:headEnd/>
              <a:tailEnd/>
            </a:ln>
          </p:spPr>
          <p:txBody>
            <a:bodyPr wrap="none">
              <a:spAutoFit/>
            </a:bodyPr>
            <a:lstStyle/>
            <a:p>
              <a:r>
                <a:rPr lang="en-US" sz="2400">
                  <a:latin typeface="Comic Sans MS" pitchFamily="66" charset="0"/>
                </a:rPr>
                <a:t>d</a:t>
              </a:r>
              <a:endParaRPr lang="en-US" sz="2400" u="sng">
                <a:latin typeface="Times New Roman" pitchFamily="18" charset="0"/>
              </a:endParaRPr>
            </a:p>
          </p:txBody>
        </p:sp>
      </p:grpSp>
      <p:sp>
        <p:nvSpPr>
          <p:cNvPr id="29712" name="Text Box 29"/>
          <p:cNvSpPr txBox="1">
            <a:spLocks noChangeArrowheads="1"/>
          </p:cNvSpPr>
          <p:nvPr/>
        </p:nvSpPr>
        <p:spPr bwMode="auto">
          <a:xfrm>
            <a:off x="1979613" y="5159375"/>
            <a:ext cx="523875" cy="457200"/>
          </a:xfrm>
          <a:prstGeom prst="rect">
            <a:avLst/>
          </a:prstGeom>
          <a:noFill/>
          <a:ln w="9525">
            <a:noFill/>
            <a:miter lim="800000"/>
            <a:headEnd/>
            <a:tailEnd/>
          </a:ln>
        </p:spPr>
        <p:txBody>
          <a:bodyPr wrap="none">
            <a:spAutoFit/>
          </a:bodyPr>
          <a:lstStyle/>
          <a:p>
            <a:r>
              <a:rPr lang="en-US" sz="2400">
                <a:solidFill>
                  <a:srgbClr val="FF0000"/>
                </a:solidFill>
              </a:rPr>
              <a:t>17</a:t>
            </a:r>
            <a:endParaRPr lang="en-US" sz="2400">
              <a:latin typeface="Times New Roman" pitchFamily="18" charset="0"/>
            </a:endParaRPr>
          </a:p>
        </p:txBody>
      </p:sp>
      <p:sp>
        <p:nvSpPr>
          <p:cNvPr id="29713" name="Text Box 30"/>
          <p:cNvSpPr txBox="1">
            <a:spLocks noChangeArrowheads="1"/>
          </p:cNvSpPr>
          <p:nvPr/>
        </p:nvSpPr>
        <p:spPr bwMode="auto">
          <a:xfrm>
            <a:off x="2673350" y="5268913"/>
            <a:ext cx="3213100" cy="274637"/>
          </a:xfrm>
          <a:prstGeom prst="rect">
            <a:avLst/>
          </a:prstGeom>
          <a:noFill/>
          <a:ln w="9525">
            <a:noFill/>
            <a:miter lim="800000"/>
            <a:headEnd/>
            <a:tailEnd/>
          </a:ln>
        </p:spPr>
        <p:txBody>
          <a:bodyPr wrap="none">
            <a:spAutoFit/>
          </a:bodyPr>
          <a:lstStyle/>
          <a:p>
            <a:r>
              <a:rPr lang="en-US" sz="1200">
                <a:solidFill>
                  <a:srgbClr val="FF0000"/>
                </a:solidFill>
              </a:rPr>
              <a:t>481968572106750915091411825223071697</a:t>
            </a:r>
            <a:endParaRPr lang="en-US" sz="1200">
              <a:latin typeface="Times New Roman" pitchFamily="18" charset="0"/>
            </a:endParaRPr>
          </a:p>
        </p:txBody>
      </p:sp>
      <p:sp>
        <p:nvSpPr>
          <p:cNvPr id="29714" name="Text Box 32"/>
          <p:cNvSpPr txBox="1">
            <a:spLocks noChangeArrowheads="1"/>
          </p:cNvSpPr>
          <p:nvPr/>
        </p:nvSpPr>
        <p:spPr bwMode="auto">
          <a:xfrm>
            <a:off x="6580188" y="5172075"/>
            <a:ext cx="523875" cy="457200"/>
          </a:xfrm>
          <a:prstGeom prst="rect">
            <a:avLst/>
          </a:prstGeom>
          <a:noFill/>
          <a:ln w="9525">
            <a:noFill/>
            <a:miter lim="800000"/>
            <a:headEnd/>
            <a:tailEnd/>
          </a:ln>
        </p:spPr>
        <p:txBody>
          <a:bodyPr wrap="none">
            <a:spAutoFit/>
          </a:bodyPr>
          <a:lstStyle/>
          <a:p>
            <a:r>
              <a:rPr lang="en-US" sz="2400">
                <a:solidFill>
                  <a:srgbClr val="FF0000"/>
                </a:solidFill>
              </a:rPr>
              <a:t>12</a:t>
            </a:r>
            <a:endParaRPr lang="en-US" sz="2400">
              <a:latin typeface="Times New Roman" pitchFamily="18" charset="0"/>
            </a:endParaRPr>
          </a:p>
        </p:txBody>
      </p:sp>
      <p:grpSp>
        <p:nvGrpSpPr>
          <p:cNvPr id="4" name="Group 34"/>
          <p:cNvGrpSpPr>
            <a:grpSpLocks/>
          </p:cNvGrpSpPr>
          <p:nvPr/>
        </p:nvGrpSpPr>
        <p:grpSpPr bwMode="auto">
          <a:xfrm>
            <a:off x="3260725" y="4587875"/>
            <a:ext cx="514350" cy="611188"/>
            <a:chOff x="3034" y="2876"/>
            <a:chExt cx="324" cy="385"/>
          </a:xfrm>
        </p:grpSpPr>
        <p:sp>
          <p:nvSpPr>
            <p:cNvPr id="29720" name="Text Box 22"/>
            <p:cNvSpPr txBox="1">
              <a:spLocks noChangeArrowheads="1"/>
            </p:cNvSpPr>
            <p:nvPr/>
          </p:nvSpPr>
          <p:spPr bwMode="auto">
            <a:xfrm>
              <a:off x="3034" y="2973"/>
              <a:ext cx="215" cy="288"/>
            </a:xfrm>
            <a:prstGeom prst="rect">
              <a:avLst/>
            </a:prstGeom>
            <a:noFill/>
            <a:ln w="9525">
              <a:noFill/>
              <a:miter lim="800000"/>
              <a:headEnd/>
              <a:tailEnd/>
            </a:ln>
          </p:spPr>
          <p:txBody>
            <a:bodyPr wrap="none">
              <a:spAutoFit/>
            </a:bodyPr>
            <a:lstStyle/>
            <a:p>
              <a:r>
                <a:rPr lang="en-US" sz="2400" u="sng">
                  <a:latin typeface="Comic Sans MS" pitchFamily="66" charset="0"/>
                </a:rPr>
                <a:t>c</a:t>
              </a:r>
              <a:endParaRPr lang="en-US" sz="2400" u="sng">
                <a:latin typeface="Times New Roman" pitchFamily="18" charset="0"/>
              </a:endParaRPr>
            </a:p>
          </p:txBody>
        </p:sp>
        <p:sp>
          <p:nvSpPr>
            <p:cNvPr id="29721" name="Text Box 33"/>
            <p:cNvSpPr txBox="1">
              <a:spLocks noChangeArrowheads="1"/>
            </p:cNvSpPr>
            <p:nvPr/>
          </p:nvSpPr>
          <p:spPr bwMode="auto">
            <a:xfrm>
              <a:off x="3129" y="2876"/>
              <a:ext cx="229" cy="288"/>
            </a:xfrm>
            <a:prstGeom prst="rect">
              <a:avLst/>
            </a:prstGeom>
            <a:noFill/>
            <a:ln w="9525">
              <a:noFill/>
              <a:miter lim="800000"/>
              <a:headEnd/>
              <a:tailEnd/>
            </a:ln>
          </p:spPr>
          <p:txBody>
            <a:bodyPr wrap="none">
              <a:spAutoFit/>
            </a:bodyPr>
            <a:lstStyle/>
            <a:p>
              <a:r>
                <a:rPr lang="en-US" sz="2400">
                  <a:latin typeface="Comic Sans MS" pitchFamily="66" charset="0"/>
                </a:rPr>
                <a:t>d</a:t>
              </a:r>
              <a:endParaRPr lang="en-US" sz="2400" u="sng">
                <a:latin typeface="Times New Roman" pitchFamily="18" charset="0"/>
              </a:endParaRPr>
            </a:p>
          </p:txBody>
        </p:sp>
      </p:grpSp>
      <p:sp>
        <p:nvSpPr>
          <p:cNvPr id="29716" name="Text Box 35"/>
          <p:cNvSpPr txBox="1">
            <a:spLocks noChangeArrowheads="1"/>
          </p:cNvSpPr>
          <p:nvPr/>
        </p:nvSpPr>
        <p:spPr bwMode="auto">
          <a:xfrm>
            <a:off x="7867650" y="4768850"/>
            <a:ext cx="1033463" cy="457200"/>
          </a:xfrm>
          <a:prstGeom prst="rect">
            <a:avLst/>
          </a:prstGeom>
          <a:noFill/>
          <a:ln w="9525">
            <a:noFill/>
            <a:miter lim="800000"/>
            <a:headEnd/>
            <a:tailEnd/>
          </a:ln>
        </p:spPr>
        <p:txBody>
          <a:bodyPr wrap="none">
            <a:spAutoFit/>
          </a:bodyPr>
          <a:lstStyle/>
          <a:p>
            <a:r>
              <a:rPr lang="en-US" sz="2400" u="sng">
                <a:latin typeface="Comic Sans MS" pitchFamily="66" charset="0"/>
              </a:rPr>
              <a:t>letter</a:t>
            </a:r>
            <a:endParaRPr lang="en-US" sz="2400" u="sng">
              <a:latin typeface="Times New Roman" pitchFamily="18" charset="0"/>
            </a:endParaRPr>
          </a:p>
        </p:txBody>
      </p:sp>
      <p:sp>
        <p:nvSpPr>
          <p:cNvPr id="29717" name="Text Box 36"/>
          <p:cNvSpPr txBox="1">
            <a:spLocks noChangeArrowheads="1"/>
          </p:cNvSpPr>
          <p:nvPr/>
        </p:nvSpPr>
        <p:spPr bwMode="auto">
          <a:xfrm>
            <a:off x="8221663" y="5243513"/>
            <a:ext cx="252412" cy="457200"/>
          </a:xfrm>
          <a:prstGeom prst="rect">
            <a:avLst/>
          </a:prstGeom>
          <a:noFill/>
          <a:ln w="9525">
            <a:noFill/>
            <a:miter lim="800000"/>
            <a:headEnd/>
            <a:tailEnd/>
          </a:ln>
        </p:spPr>
        <p:txBody>
          <a:bodyPr wrap="none">
            <a:spAutoFit/>
          </a:bodyPr>
          <a:lstStyle/>
          <a:p>
            <a:r>
              <a:rPr lang="en-US" sz="2400">
                <a:solidFill>
                  <a:srgbClr val="FF0000"/>
                </a:solidFill>
              </a:rPr>
              <a:t>l</a:t>
            </a:r>
            <a:endParaRPr lang="en-US" sz="2400">
              <a:latin typeface="Times New Roman" pitchFamily="18" charset="0"/>
            </a:endParaRPr>
          </a:p>
        </p:txBody>
      </p:sp>
      <p:sp>
        <p:nvSpPr>
          <p:cNvPr id="29718" name="Text Box 37"/>
          <p:cNvSpPr txBox="1">
            <a:spLocks noChangeArrowheads="1"/>
          </p:cNvSpPr>
          <p:nvPr/>
        </p:nvSpPr>
        <p:spPr bwMode="auto">
          <a:xfrm>
            <a:off x="212725" y="3603625"/>
            <a:ext cx="1370013" cy="457200"/>
          </a:xfrm>
          <a:prstGeom prst="rect">
            <a:avLst/>
          </a:prstGeom>
          <a:noFill/>
          <a:ln w="9525">
            <a:noFill/>
            <a:miter lim="800000"/>
            <a:headEnd/>
            <a:tailEnd/>
          </a:ln>
        </p:spPr>
        <p:txBody>
          <a:bodyPr wrap="none">
            <a:spAutoFit/>
          </a:bodyPr>
          <a:lstStyle/>
          <a:p>
            <a:r>
              <a:rPr lang="en-US" sz="2400">
                <a:solidFill>
                  <a:schemeClr val="accent2"/>
                </a:solidFill>
                <a:latin typeface="Comic Sans MS" pitchFamily="66" charset="0"/>
              </a:rPr>
              <a:t>encrypt:</a:t>
            </a:r>
            <a:endParaRPr lang="en-US" sz="2400">
              <a:latin typeface="Times New Roman" pitchFamily="18" charset="0"/>
            </a:endParaRPr>
          </a:p>
        </p:txBody>
      </p:sp>
      <p:sp>
        <p:nvSpPr>
          <p:cNvPr id="29719" name="Text Box 38"/>
          <p:cNvSpPr txBox="1">
            <a:spLocks noChangeArrowheads="1"/>
          </p:cNvSpPr>
          <p:nvPr/>
        </p:nvSpPr>
        <p:spPr bwMode="auto">
          <a:xfrm>
            <a:off x="260350" y="4895850"/>
            <a:ext cx="1389063" cy="457200"/>
          </a:xfrm>
          <a:prstGeom prst="rect">
            <a:avLst/>
          </a:prstGeom>
          <a:noFill/>
          <a:ln w="9525">
            <a:noFill/>
            <a:miter lim="800000"/>
            <a:headEnd/>
            <a:tailEnd/>
          </a:ln>
        </p:spPr>
        <p:txBody>
          <a:bodyPr wrap="none">
            <a:spAutoFit/>
          </a:bodyPr>
          <a:lstStyle/>
          <a:p>
            <a:r>
              <a:rPr lang="en-US" sz="2400">
                <a:solidFill>
                  <a:schemeClr val="accent2"/>
                </a:solidFill>
                <a:latin typeface="Comic Sans MS" pitchFamily="66" charset="0"/>
              </a:rPr>
              <a:t>decrypt:</a:t>
            </a:r>
            <a:endParaRPr lang="en-US" sz="2400">
              <a:latin typeface="Times New Roman"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AU" smtClean="0"/>
              <a:t>RSA Security</a:t>
            </a:r>
          </a:p>
        </p:txBody>
      </p:sp>
      <p:sp>
        <p:nvSpPr>
          <p:cNvPr id="30723" name="Rectangle 3"/>
          <p:cNvSpPr>
            <a:spLocks noGrp="1" noChangeArrowheads="1"/>
          </p:cNvSpPr>
          <p:nvPr>
            <p:ph idx="1"/>
          </p:nvPr>
        </p:nvSpPr>
        <p:spPr/>
        <p:txBody>
          <a:bodyPr/>
          <a:lstStyle/>
          <a:p>
            <a:pPr eaLnBrk="1" hangingPunct="1"/>
            <a:r>
              <a:rPr lang="en-US" dirty="0" smtClean="0">
                <a:ea typeface="ＭＳ Ｐゴシック" pitchFamily="34" charset="-128"/>
              </a:rPr>
              <a:t>possible approaches to attacking RSA are:</a:t>
            </a:r>
          </a:p>
          <a:p>
            <a:pPr lvl="1" eaLnBrk="1" hangingPunct="1"/>
            <a:r>
              <a:rPr lang="en-US" dirty="0" smtClean="0">
                <a:ea typeface="ＭＳ Ｐゴシック" pitchFamily="34" charset="-128"/>
              </a:rPr>
              <a:t>brute force key search - infeasible given size of numbers</a:t>
            </a:r>
            <a:endParaRPr lang="en-AU" dirty="0" smtClean="0">
              <a:ea typeface="ＭＳ Ｐゴシック" pitchFamily="34" charset="-128"/>
            </a:endParaRPr>
          </a:p>
          <a:p>
            <a:pPr lvl="1" eaLnBrk="1" hangingPunct="1"/>
            <a:r>
              <a:rPr lang="en-AU" dirty="0" smtClean="0">
                <a:ea typeface="ＭＳ Ｐゴシック" pitchFamily="34" charset="-128"/>
              </a:rPr>
              <a:t>mathematical attacks - based on difficulty of computing ø(n) , by factoring modulus n</a:t>
            </a:r>
          </a:p>
          <a:p>
            <a:pPr lvl="1" eaLnBrk="1" hangingPunct="1"/>
            <a:r>
              <a:rPr lang="en-US" dirty="0" smtClean="0">
                <a:ea typeface="ＭＳ Ｐゴシック" pitchFamily="34" charset="-128"/>
              </a:rPr>
              <a:t>timing attacks - on running of decryption</a:t>
            </a:r>
          </a:p>
          <a:p>
            <a:pPr lvl="1" eaLnBrk="1" hangingPunct="1"/>
            <a:r>
              <a:rPr lang="en-US" dirty="0" smtClean="0">
                <a:ea typeface="ＭＳ Ｐゴシック" pitchFamily="34" charset="-128"/>
              </a:rPr>
              <a:t>chosen </a:t>
            </a:r>
            <a:r>
              <a:rPr lang="en-US" dirty="0" err="1" smtClean="0">
                <a:ea typeface="ＭＳ Ｐゴシック" pitchFamily="34" charset="-128"/>
              </a:rPr>
              <a:t>ciphertext</a:t>
            </a:r>
            <a:r>
              <a:rPr lang="en-US" dirty="0" smtClean="0">
                <a:ea typeface="ＭＳ Ｐゴシック" pitchFamily="34" charset="-128"/>
              </a:rPr>
              <a:t> attacks - given properties of RSA</a:t>
            </a:r>
            <a:endParaRPr lang="en-AU" dirty="0" smtClean="0">
              <a:ea typeface="ＭＳ Ｐゴシック" pitchFamily="34" charset="-128"/>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smtClean="0">
                <a:ea typeface="ＭＳ Ｐゴシック" pitchFamily="34" charset="-128"/>
              </a:rPr>
              <a:t>Timing Attacks</a:t>
            </a:r>
            <a:endParaRPr lang="en-AU" smtClean="0">
              <a:ea typeface="ＭＳ Ｐゴシック" pitchFamily="34" charset="-128"/>
            </a:endParaRPr>
          </a:p>
        </p:txBody>
      </p:sp>
      <p:sp>
        <p:nvSpPr>
          <p:cNvPr id="31747" name="Rectangle 3"/>
          <p:cNvSpPr>
            <a:spLocks noGrp="1" noChangeArrowheads="1"/>
          </p:cNvSpPr>
          <p:nvPr>
            <p:ph idx="1"/>
          </p:nvPr>
        </p:nvSpPr>
        <p:spPr>
          <a:xfrm>
            <a:off x="2362200" y="1600200"/>
            <a:ext cx="6657975" cy="4525963"/>
          </a:xfrm>
        </p:spPr>
        <p:txBody>
          <a:bodyPr/>
          <a:lstStyle/>
          <a:p>
            <a:pPr eaLnBrk="1" hangingPunct="1">
              <a:lnSpc>
                <a:spcPct val="90000"/>
              </a:lnSpc>
            </a:pPr>
            <a:r>
              <a:rPr lang="en-US" dirty="0" smtClean="0">
                <a:ea typeface="ＭＳ Ｐゴシック" pitchFamily="34" charset="-128"/>
              </a:rPr>
              <a:t>developed by Paul Kocher in mid-1990’s</a:t>
            </a:r>
            <a:endParaRPr lang="en-AU" dirty="0" smtClean="0">
              <a:ea typeface="ＭＳ Ｐゴシック" pitchFamily="34" charset="-128"/>
            </a:endParaRPr>
          </a:p>
          <a:p>
            <a:pPr eaLnBrk="1" hangingPunct="1">
              <a:lnSpc>
                <a:spcPct val="90000"/>
              </a:lnSpc>
            </a:pPr>
            <a:r>
              <a:rPr lang="en-AU" dirty="0" smtClean="0">
                <a:ea typeface="ＭＳ Ｐゴシック" pitchFamily="34" charset="-128"/>
              </a:rPr>
              <a:t>exploit timing variations in operations</a:t>
            </a:r>
          </a:p>
          <a:p>
            <a:pPr lvl="1" eaLnBrk="1" hangingPunct="1">
              <a:lnSpc>
                <a:spcPct val="90000"/>
              </a:lnSpc>
            </a:pPr>
            <a:r>
              <a:rPr lang="en-AU" dirty="0" err="1" smtClean="0">
                <a:ea typeface="ＭＳ Ｐゴシック" pitchFamily="34" charset="-128"/>
              </a:rPr>
              <a:t>eg</a:t>
            </a:r>
            <a:r>
              <a:rPr lang="en-AU" dirty="0" smtClean="0">
                <a:ea typeface="ＭＳ Ｐゴシック" pitchFamily="34" charset="-128"/>
              </a:rPr>
              <a:t>. multiplying by small </a:t>
            </a:r>
            <a:r>
              <a:rPr lang="en-AU" dirty="0" err="1" smtClean="0">
                <a:ea typeface="ＭＳ Ｐゴシック" pitchFamily="34" charset="-128"/>
              </a:rPr>
              <a:t>vs</a:t>
            </a:r>
            <a:r>
              <a:rPr lang="en-AU" dirty="0" smtClean="0">
                <a:ea typeface="ＭＳ Ｐゴシック" pitchFamily="34" charset="-128"/>
              </a:rPr>
              <a:t> large number </a:t>
            </a:r>
          </a:p>
          <a:p>
            <a:pPr lvl="1" eaLnBrk="1" hangingPunct="1">
              <a:lnSpc>
                <a:spcPct val="90000"/>
              </a:lnSpc>
            </a:pPr>
            <a:r>
              <a:rPr lang="en-AU" dirty="0" smtClean="0">
                <a:ea typeface="ＭＳ Ｐゴシック" pitchFamily="34" charset="-128"/>
              </a:rPr>
              <a:t>or IF's varying which instructions executed</a:t>
            </a:r>
          </a:p>
          <a:p>
            <a:pPr eaLnBrk="1" hangingPunct="1">
              <a:lnSpc>
                <a:spcPct val="90000"/>
              </a:lnSpc>
            </a:pPr>
            <a:r>
              <a:rPr lang="en-AU" dirty="0" smtClean="0">
                <a:ea typeface="ＭＳ Ｐゴシック" pitchFamily="34" charset="-128"/>
              </a:rPr>
              <a:t>infer operand size based on time taken </a:t>
            </a:r>
          </a:p>
          <a:p>
            <a:pPr eaLnBrk="1" hangingPunct="1">
              <a:lnSpc>
                <a:spcPct val="90000"/>
              </a:lnSpc>
            </a:pPr>
            <a:r>
              <a:rPr lang="en-US" dirty="0" smtClean="0">
                <a:ea typeface="ＭＳ Ｐゴシック" pitchFamily="34" charset="-128"/>
              </a:rPr>
              <a:t>RSA exploits time taken in exponentiation</a:t>
            </a:r>
          </a:p>
          <a:p>
            <a:pPr eaLnBrk="1" hangingPunct="1">
              <a:lnSpc>
                <a:spcPct val="90000"/>
              </a:lnSpc>
            </a:pPr>
            <a:r>
              <a:rPr lang="en-US" dirty="0" smtClean="0">
                <a:ea typeface="ＭＳ Ｐゴシック" pitchFamily="34" charset="-128"/>
              </a:rPr>
              <a:t>countermeasures</a:t>
            </a:r>
          </a:p>
          <a:p>
            <a:pPr lvl="1" eaLnBrk="1" hangingPunct="1">
              <a:lnSpc>
                <a:spcPct val="90000"/>
              </a:lnSpc>
            </a:pPr>
            <a:r>
              <a:rPr lang="en-US" dirty="0" smtClean="0">
                <a:ea typeface="ＭＳ Ｐゴシック" pitchFamily="34" charset="-128"/>
              </a:rPr>
              <a:t>use constant exponentiation time</a:t>
            </a:r>
          </a:p>
          <a:p>
            <a:pPr lvl="1" eaLnBrk="1" hangingPunct="1">
              <a:lnSpc>
                <a:spcPct val="90000"/>
              </a:lnSpc>
            </a:pPr>
            <a:r>
              <a:rPr lang="en-US" dirty="0" smtClean="0">
                <a:ea typeface="ＭＳ Ｐゴシック" pitchFamily="34" charset="-128"/>
              </a:rPr>
              <a:t>add random delays</a:t>
            </a:r>
          </a:p>
          <a:p>
            <a:pPr lvl="1" eaLnBrk="1" hangingPunct="1">
              <a:lnSpc>
                <a:spcPct val="90000"/>
              </a:lnSpc>
            </a:pPr>
            <a:r>
              <a:rPr lang="en-US" dirty="0" smtClean="0">
                <a:ea typeface="ＭＳ Ｐゴシック" pitchFamily="34" charset="-128"/>
              </a:rPr>
              <a:t>blind values used in calculations</a:t>
            </a:r>
          </a:p>
          <a:p>
            <a:pPr eaLnBrk="1" hangingPunct="1">
              <a:lnSpc>
                <a:spcPct val="90000"/>
              </a:lnSpc>
            </a:pPr>
            <a:endParaRPr lang="en-AU" sz="2800" dirty="0" smtClean="0">
              <a:ea typeface="ＭＳ Ｐゴシック" pitchFamily="34" charset="-128"/>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smtClean="0">
                <a:ea typeface="ＭＳ Ｐゴシック" pitchFamily="34" charset="-128"/>
              </a:rPr>
              <a:t>Chosen Ciphertext Attacks</a:t>
            </a:r>
            <a:endParaRPr lang="en-AU" smtClean="0">
              <a:ea typeface="ＭＳ Ｐゴシック" pitchFamily="34" charset="-128"/>
            </a:endParaRPr>
          </a:p>
        </p:txBody>
      </p:sp>
      <p:sp>
        <p:nvSpPr>
          <p:cNvPr id="32771" name="Rectangle 3"/>
          <p:cNvSpPr>
            <a:spLocks noGrp="1" noChangeArrowheads="1"/>
          </p:cNvSpPr>
          <p:nvPr>
            <p:ph idx="1"/>
          </p:nvPr>
        </p:nvSpPr>
        <p:spPr>
          <a:xfrm>
            <a:off x="457200" y="1676400"/>
            <a:ext cx="8229600" cy="4724400"/>
          </a:xfrm>
        </p:spPr>
        <p:txBody>
          <a:bodyPr/>
          <a:lstStyle/>
          <a:p>
            <a:pPr eaLnBrk="1" hangingPunct="1">
              <a:lnSpc>
                <a:spcPct val="90000"/>
              </a:lnSpc>
              <a:spcBef>
                <a:spcPct val="0"/>
              </a:spcBef>
              <a:buClr>
                <a:schemeClr val="bg1"/>
              </a:buClr>
              <a:buFontTx/>
              <a:buChar char="•"/>
            </a:pPr>
            <a:r>
              <a:rPr lang="en-US" smtClean="0"/>
              <a:t>RSA is vulnerable to a Chosen Ciphertext Attack (CCA)</a:t>
            </a:r>
          </a:p>
          <a:p>
            <a:pPr eaLnBrk="1" hangingPunct="1">
              <a:lnSpc>
                <a:spcPct val="90000"/>
              </a:lnSpc>
              <a:spcBef>
                <a:spcPct val="0"/>
              </a:spcBef>
              <a:buClr>
                <a:schemeClr val="bg1"/>
              </a:buClr>
              <a:buFontTx/>
              <a:buChar char="•"/>
            </a:pPr>
            <a:r>
              <a:rPr lang="en-US" smtClean="0"/>
              <a:t>attackers chooses ciphertexts &amp; gets decrypted plaintext back</a:t>
            </a:r>
          </a:p>
          <a:p>
            <a:pPr eaLnBrk="1" hangingPunct="1">
              <a:lnSpc>
                <a:spcPct val="90000"/>
              </a:lnSpc>
              <a:spcBef>
                <a:spcPct val="0"/>
              </a:spcBef>
              <a:buClr>
                <a:schemeClr val="bg1"/>
              </a:buClr>
              <a:buFontTx/>
              <a:buChar char="•"/>
            </a:pPr>
            <a:r>
              <a:rPr lang="en-US" smtClean="0"/>
              <a:t>choose ciphertext to exploit properties of RSA to provide info to help cryptanalysis</a:t>
            </a:r>
          </a:p>
          <a:p>
            <a:pPr eaLnBrk="1" hangingPunct="1">
              <a:lnSpc>
                <a:spcPct val="90000"/>
              </a:lnSpc>
              <a:spcBef>
                <a:spcPct val="0"/>
              </a:spcBef>
              <a:buClr>
                <a:schemeClr val="bg1"/>
              </a:buClr>
              <a:buFontTx/>
              <a:buChar char="•"/>
            </a:pPr>
            <a:r>
              <a:rPr lang="en-US" smtClean="0"/>
              <a:t>can counter with random pad of plaintext</a:t>
            </a:r>
          </a:p>
          <a:p>
            <a:pPr eaLnBrk="1" hangingPunct="1">
              <a:lnSpc>
                <a:spcPct val="90000"/>
              </a:lnSpc>
              <a:spcBef>
                <a:spcPct val="0"/>
              </a:spcBef>
              <a:buClr>
                <a:schemeClr val="bg1"/>
              </a:buClr>
              <a:buFontTx/>
              <a:buChar char="•"/>
            </a:pPr>
            <a:r>
              <a:rPr lang="en-US" smtClean="0"/>
              <a:t>or use Optimal Asymmetric Encryption Padding (OASP)</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0" y="228600"/>
            <a:ext cx="3657600" cy="6400800"/>
          </a:xfrm>
        </p:spPr>
        <p:txBody>
          <a:bodyPr/>
          <a:lstStyle/>
          <a:p>
            <a:pPr eaLnBrk="1" hangingPunct="1"/>
            <a:r>
              <a:rPr lang="en-US" smtClean="0"/>
              <a:t>Optimal Asymmetric Encryption Padding (OASP)</a:t>
            </a:r>
          </a:p>
        </p:txBody>
      </p:sp>
      <p:pic>
        <p:nvPicPr>
          <p:cNvPr id="33795" name="Picture 3"/>
          <p:cNvPicPr>
            <a:picLocks noChangeAspect="1"/>
          </p:cNvPicPr>
          <p:nvPr/>
        </p:nvPicPr>
        <p:blipFill>
          <a:blip r:embed="rId3" cstate="print"/>
          <a:srcRect/>
          <a:stretch>
            <a:fillRect/>
          </a:stretch>
        </p:blipFill>
        <p:spPr bwMode="auto">
          <a:xfrm>
            <a:off x="3733800" y="152400"/>
            <a:ext cx="5008563" cy="64992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smtClean="0">
                <a:ea typeface="ＭＳ Ｐゴシック" pitchFamily="34" charset="-128"/>
              </a:rPr>
              <a:t>Summary</a:t>
            </a:r>
            <a:endParaRPr lang="en-AU" smtClean="0">
              <a:ea typeface="ＭＳ Ｐゴシック" pitchFamily="34" charset="-128"/>
            </a:endParaRPr>
          </a:p>
        </p:txBody>
      </p:sp>
      <p:sp>
        <p:nvSpPr>
          <p:cNvPr id="34819" name="Rectangle 3"/>
          <p:cNvSpPr>
            <a:spLocks noGrp="1" noChangeArrowheads="1"/>
          </p:cNvSpPr>
          <p:nvPr>
            <p:ph idx="1"/>
          </p:nvPr>
        </p:nvSpPr>
        <p:spPr/>
        <p:txBody>
          <a:bodyPr/>
          <a:lstStyle/>
          <a:p>
            <a:pPr eaLnBrk="1" hangingPunct="1"/>
            <a:r>
              <a:rPr lang="en-US" smtClean="0">
                <a:ea typeface="ＭＳ Ｐゴシック" pitchFamily="34" charset="-128"/>
              </a:rPr>
              <a:t>have considered:</a:t>
            </a:r>
          </a:p>
          <a:p>
            <a:pPr lvl="1" eaLnBrk="1" hangingPunct="1"/>
            <a:r>
              <a:rPr lang="en-US" smtClean="0">
                <a:ea typeface="ＭＳ Ｐゴシック" pitchFamily="34" charset="-128"/>
              </a:rPr>
              <a:t>principles of public-key cryptography</a:t>
            </a:r>
          </a:p>
          <a:p>
            <a:pPr lvl="1" eaLnBrk="1" hangingPunct="1"/>
            <a:r>
              <a:rPr lang="en-US" smtClean="0">
                <a:ea typeface="ＭＳ Ｐゴシック" pitchFamily="34" charset="-128"/>
              </a:rPr>
              <a:t>RSA algorithm, implementation, security</a:t>
            </a:r>
          </a:p>
          <a:p>
            <a:pPr lvl="1" eaLnBrk="1" hangingPunct="1"/>
            <a:endParaRPr lang="en-US" smtClean="0">
              <a:ea typeface="ＭＳ Ｐゴシック" pitchFamily="34" charset="-128"/>
            </a:endParaRPr>
          </a:p>
          <a:p>
            <a:pPr lvl="1" eaLnBrk="1" hangingPunct="1"/>
            <a:endParaRPr lang="en-AU" smtClean="0">
              <a:ea typeface="ＭＳ Ｐゴシック" pitchFamily="34" charset="-128"/>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r>
              <a:rPr lang="en-US" dirty="0" smtClean="0"/>
              <a:t>References and further readings</a:t>
            </a:r>
            <a:endParaRPr lang="en-US" dirty="0"/>
          </a:p>
        </p:txBody>
      </p:sp>
      <p:sp>
        <p:nvSpPr>
          <p:cNvPr id="203779" name="Rectangle 3"/>
          <p:cNvSpPr>
            <a:spLocks noGrp="1" noChangeArrowheads="1"/>
          </p:cNvSpPr>
          <p:nvPr>
            <p:ph type="body" idx="1"/>
          </p:nvPr>
        </p:nvSpPr>
        <p:spPr/>
        <p:txBody>
          <a:bodyPr/>
          <a:lstStyle/>
          <a:p>
            <a:r>
              <a:rPr lang="en-US" dirty="0" smtClean="0"/>
              <a:t>Book: cryptography and network security by William Stalling 5</a:t>
            </a:r>
            <a:r>
              <a:rPr lang="en-US" baseline="30000" dirty="0" smtClean="0"/>
              <a:t>th</a:t>
            </a:r>
            <a:r>
              <a:rPr lang="en-US" dirty="0" smtClean="0"/>
              <a:t> edition chapter 9</a:t>
            </a:r>
          </a:p>
          <a:p>
            <a:r>
              <a:rPr lang="en-US" dirty="0" err="1" smtClean="0"/>
              <a:t>Book:Understanding</a:t>
            </a:r>
            <a:r>
              <a:rPr lang="en-US" dirty="0" smtClean="0"/>
              <a:t> cryptography by </a:t>
            </a:r>
            <a:r>
              <a:rPr lang="en-US" dirty="0" err="1" smtClean="0"/>
              <a:t>christof</a:t>
            </a:r>
            <a:r>
              <a:rPr lang="en-US" dirty="0" smtClean="0"/>
              <a:t>  </a:t>
            </a:r>
            <a:r>
              <a:rPr lang="en-US" dirty="0" err="1" smtClean="0"/>
              <a:t>Paar</a:t>
            </a:r>
            <a:r>
              <a:rPr lang="en-US" dirty="0" smtClean="0"/>
              <a:t> chapter 6 &amp; 7</a:t>
            </a:r>
            <a:endParaRPr lang="en-US" dirty="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RNRSTYLE" val="Indezine_SM_Title"/>
</p:tagLst>
</file>

<file path=ppt/tags/tag2.xml><?xml version="1.0" encoding="utf-8"?>
<p:tagLst xmlns:a="http://schemas.openxmlformats.org/drawingml/2006/main" xmlns:r="http://schemas.openxmlformats.org/officeDocument/2006/relationships" xmlns:p="http://schemas.openxmlformats.org/presentationml/2006/main">
  <p:tag name="RNRSTYLE" val="Indezine_SM_Text"/>
</p:tagLst>
</file>

<file path=ppt/tags/tag3.xml><?xml version="1.0" encoding="utf-8"?>
<p:tagLst xmlns:a="http://schemas.openxmlformats.org/drawingml/2006/main" xmlns:r="http://schemas.openxmlformats.org/officeDocument/2006/relationships" xmlns:p="http://schemas.openxmlformats.org/presentationml/2006/main">
  <p:tag name="RNRSTYLE" val="Indezine_TM_Title"/>
</p:tagLst>
</file>

<file path=ppt/tags/tag4.xml><?xml version="1.0" encoding="utf-8"?>
<p:tagLst xmlns:a="http://schemas.openxmlformats.org/drawingml/2006/main" xmlns:r="http://schemas.openxmlformats.org/officeDocument/2006/relationships" xmlns:p="http://schemas.openxmlformats.org/presentationml/2006/main">
  <p:tag name="RNRSTYLE" val="Indezine_TM_Text"/>
</p:tagLst>
</file>

<file path=ppt/tags/tag5.xml><?xml version="1.0" encoding="utf-8"?>
<p:tagLst xmlns:a="http://schemas.openxmlformats.org/drawingml/2006/main" xmlns:r="http://schemas.openxmlformats.org/officeDocument/2006/relationships" xmlns:p="http://schemas.openxmlformats.org/presentationml/2006/main">
  <p:tag name="RNRSTYLE" val="Indezine_SM2_Title"/>
</p:tagLst>
</file>

<file path=ppt/tags/tag6.xml><?xml version="1.0" encoding="utf-8"?>
<p:tagLst xmlns:a="http://schemas.openxmlformats.org/drawingml/2006/main" xmlns:r="http://schemas.openxmlformats.org/officeDocument/2006/relationships" xmlns:p="http://schemas.openxmlformats.org/presentationml/2006/main">
  <p:tag name="RNRSTYLE" val="Indezine_SM2_Text"/>
</p:tagLst>
</file>

<file path=ppt/tags/tag7.xml><?xml version="1.0" encoding="utf-8"?>
<p:tagLst xmlns:a="http://schemas.openxmlformats.org/drawingml/2006/main" xmlns:r="http://schemas.openxmlformats.org/officeDocument/2006/relationships" xmlns:p="http://schemas.openxmlformats.org/presentationml/2006/main">
  <p:tag name="RNRSTYLE" val="Indezine_TM2_Title"/>
</p:tagLst>
</file>

<file path=ppt/tags/tag8.xml><?xml version="1.0" encoding="utf-8"?>
<p:tagLst xmlns:a="http://schemas.openxmlformats.org/drawingml/2006/main" xmlns:r="http://schemas.openxmlformats.org/officeDocument/2006/relationships" xmlns:p="http://schemas.openxmlformats.org/presentationml/2006/main">
  <p:tag name="RNRSTYLE" val="Indezine_TM2_Text"/>
</p:tagLst>
</file>

<file path=ppt/theme/theme1.xml><?xml version="1.0" encoding="utf-8"?>
<a:theme xmlns:a="http://schemas.openxmlformats.org/drawingml/2006/main" name="ind_1940_slide">
  <a:themeElements>
    <a:clrScheme name="Custom Design 2">
      <a:dk1>
        <a:srgbClr val="000000"/>
      </a:dk1>
      <a:lt1>
        <a:srgbClr val="CCCCCC"/>
      </a:lt1>
      <a:dk2>
        <a:srgbClr val="000000"/>
      </a:dk2>
      <a:lt2>
        <a:srgbClr val="666666"/>
      </a:lt2>
      <a:accent1>
        <a:srgbClr val="803962"/>
      </a:accent1>
      <a:accent2>
        <a:srgbClr val="804A26"/>
      </a:accent2>
      <a:accent3>
        <a:srgbClr val="E2E2E2"/>
      </a:accent3>
      <a:accent4>
        <a:srgbClr val="000000"/>
      </a:accent4>
      <a:accent5>
        <a:srgbClr val="C0AEB7"/>
      </a:accent5>
      <a:accent6>
        <a:srgbClr val="734221"/>
      </a:accent6>
      <a:hlink>
        <a:srgbClr val="803939"/>
      </a:hlink>
      <a:folHlink>
        <a:srgbClr val="6E5D22"/>
      </a:folHlink>
    </a:clrScheme>
    <a:fontScheme name="Custom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CCCCCC"/>
        </a:lt1>
        <a:dk2>
          <a:srgbClr val="000000"/>
        </a:dk2>
        <a:lt2>
          <a:srgbClr val="666666"/>
        </a:lt2>
        <a:accent1>
          <a:srgbClr val="E03F3F"/>
        </a:accent1>
        <a:accent2>
          <a:srgbClr val="A31A1A"/>
        </a:accent2>
        <a:accent3>
          <a:srgbClr val="E2E2E2"/>
        </a:accent3>
        <a:accent4>
          <a:srgbClr val="000000"/>
        </a:accent4>
        <a:accent5>
          <a:srgbClr val="EDAFAF"/>
        </a:accent5>
        <a:accent6>
          <a:srgbClr val="931616"/>
        </a:accent6>
        <a:hlink>
          <a:srgbClr val="661010"/>
        </a:hlink>
        <a:folHlink>
          <a:srgbClr val="854242"/>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CCCCCC"/>
        </a:lt1>
        <a:dk2>
          <a:srgbClr val="000000"/>
        </a:dk2>
        <a:lt2>
          <a:srgbClr val="666666"/>
        </a:lt2>
        <a:accent1>
          <a:srgbClr val="803962"/>
        </a:accent1>
        <a:accent2>
          <a:srgbClr val="804A26"/>
        </a:accent2>
        <a:accent3>
          <a:srgbClr val="E2E2E2"/>
        </a:accent3>
        <a:accent4>
          <a:srgbClr val="000000"/>
        </a:accent4>
        <a:accent5>
          <a:srgbClr val="C0AEB7"/>
        </a:accent5>
        <a:accent6>
          <a:srgbClr val="734221"/>
        </a:accent6>
        <a:hlink>
          <a:srgbClr val="803939"/>
        </a:hlink>
        <a:folHlink>
          <a:srgbClr val="6E5D22"/>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CCCCCC"/>
        </a:lt1>
        <a:dk2>
          <a:srgbClr val="000000"/>
        </a:dk2>
        <a:lt2>
          <a:srgbClr val="666666"/>
        </a:lt2>
        <a:accent1>
          <a:srgbClr val="335966"/>
        </a:accent1>
        <a:accent2>
          <a:srgbClr val="803939"/>
        </a:accent2>
        <a:accent3>
          <a:srgbClr val="E2E2E2"/>
        </a:accent3>
        <a:accent4>
          <a:srgbClr val="000000"/>
        </a:accent4>
        <a:accent5>
          <a:srgbClr val="ADB5B8"/>
        </a:accent5>
        <a:accent6>
          <a:srgbClr val="733333"/>
        </a:accent6>
        <a:hlink>
          <a:srgbClr val="526614"/>
        </a:hlink>
        <a:folHlink>
          <a:srgbClr val="553366"/>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CCCCCC"/>
        </a:lt1>
        <a:dk2>
          <a:srgbClr val="000000"/>
        </a:dk2>
        <a:lt2>
          <a:srgbClr val="666666"/>
        </a:lt2>
        <a:accent1>
          <a:srgbClr val="803939"/>
        </a:accent1>
        <a:accent2>
          <a:srgbClr val="736017"/>
        </a:accent2>
        <a:accent3>
          <a:srgbClr val="E2E2E2"/>
        </a:accent3>
        <a:accent4>
          <a:srgbClr val="000000"/>
        </a:accent4>
        <a:accent5>
          <a:srgbClr val="C0AEAE"/>
        </a:accent5>
        <a:accent6>
          <a:srgbClr val="685614"/>
        </a:accent6>
        <a:hlink>
          <a:srgbClr val="4A4080"/>
        </a:hlink>
        <a:folHlink>
          <a:srgbClr val="146614"/>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CCCCCC"/>
        </a:lt1>
        <a:dk2>
          <a:srgbClr val="000000"/>
        </a:dk2>
        <a:lt2>
          <a:srgbClr val="666666"/>
        </a:lt2>
        <a:accent1>
          <a:srgbClr val="ECEC00"/>
        </a:accent1>
        <a:accent2>
          <a:srgbClr val="E6CB00"/>
        </a:accent2>
        <a:accent3>
          <a:srgbClr val="E2E2E2"/>
        </a:accent3>
        <a:accent4>
          <a:srgbClr val="000000"/>
        </a:accent4>
        <a:accent5>
          <a:srgbClr val="F4F4AA"/>
        </a:accent5>
        <a:accent6>
          <a:srgbClr val="D0B800"/>
        </a:accent6>
        <a:hlink>
          <a:srgbClr val="837D00"/>
        </a:hlink>
        <a:folHlink>
          <a:srgbClr val="A39000"/>
        </a:folHlink>
      </a:clrScheme>
      <a:clrMap bg1="lt1" tx1="dk1" bg2="lt2" tx2="dk2" accent1="accent1" accent2="accent2" accent3="accent3" accent4="accent4" accent5="accent5" accent6="accent6" hlink="hlink" folHlink="folHlink"/>
    </a:extraClrScheme>
    <a:extraClrScheme>
      <a:clrScheme name="Custom Design 6">
        <a:dk1>
          <a:srgbClr val="000000"/>
        </a:dk1>
        <a:lt1>
          <a:srgbClr val="CCCCCC"/>
        </a:lt1>
        <a:dk2>
          <a:srgbClr val="000000"/>
        </a:dk2>
        <a:lt2>
          <a:srgbClr val="666666"/>
        </a:lt2>
        <a:accent1>
          <a:srgbClr val="806919"/>
        </a:accent1>
        <a:accent2>
          <a:srgbClr val="688019"/>
        </a:accent2>
        <a:accent3>
          <a:srgbClr val="E2E2E2"/>
        </a:accent3>
        <a:accent4>
          <a:srgbClr val="000000"/>
        </a:accent4>
        <a:accent5>
          <a:srgbClr val="C0B9AB"/>
        </a:accent5>
        <a:accent6>
          <a:srgbClr val="5E7316"/>
        </a:accent6>
        <a:hlink>
          <a:srgbClr val="15616B"/>
        </a:hlink>
        <a:folHlink>
          <a:srgbClr val="807E19"/>
        </a:folHlink>
      </a:clrScheme>
      <a:clrMap bg1="lt1" tx1="dk1" bg2="lt2" tx2="dk2" accent1="accent1" accent2="accent2" accent3="accent3" accent4="accent4" accent5="accent5" accent6="accent6" hlink="hlink" folHlink="folHlink"/>
    </a:extraClrScheme>
    <a:extraClrScheme>
      <a:clrScheme name="Custom Design 7">
        <a:dk1>
          <a:srgbClr val="000000"/>
        </a:dk1>
        <a:lt1>
          <a:srgbClr val="CCCCCC"/>
        </a:lt1>
        <a:dk2>
          <a:srgbClr val="000000"/>
        </a:dk2>
        <a:lt2>
          <a:srgbClr val="666666"/>
        </a:lt2>
        <a:accent1>
          <a:srgbClr val="803966"/>
        </a:accent1>
        <a:accent2>
          <a:srgbClr val="666514"/>
        </a:accent2>
        <a:accent3>
          <a:srgbClr val="E2E2E2"/>
        </a:accent3>
        <a:accent4>
          <a:srgbClr val="000000"/>
        </a:accent4>
        <a:accent5>
          <a:srgbClr val="C0AEB8"/>
        </a:accent5>
        <a:accent6>
          <a:srgbClr val="5C5B11"/>
        </a:accent6>
        <a:hlink>
          <a:srgbClr val="804733"/>
        </a:hlink>
        <a:folHlink>
          <a:srgbClr val="342E66"/>
        </a:folHlink>
      </a:clrScheme>
      <a:clrMap bg1="lt1" tx1="dk1" bg2="lt2" tx2="dk2" accent1="accent1" accent2="accent2" accent3="accent3" accent4="accent4" accent5="accent5" accent6="accent6" hlink="hlink" folHlink="folHlink"/>
    </a:extraClrScheme>
    <a:extraClrScheme>
      <a:clrScheme name="Custom Design 8">
        <a:dk1>
          <a:srgbClr val="000000"/>
        </a:dk1>
        <a:lt1>
          <a:srgbClr val="CCCCCC"/>
        </a:lt1>
        <a:dk2>
          <a:srgbClr val="000000"/>
        </a:dk2>
        <a:lt2>
          <a:srgbClr val="666666"/>
        </a:lt2>
        <a:accent1>
          <a:srgbClr val="804119"/>
        </a:accent1>
        <a:accent2>
          <a:srgbClr val="197280"/>
        </a:accent2>
        <a:accent3>
          <a:srgbClr val="E2E2E2"/>
        </a:accent3>
        <a:accent4>
          <a:srgbClr val="000000"/>
        </a:accent4>
        <a:accent5>
          <a:srgbClr val="C0B0AB"/>
        </a:accent5>
        <a:accent6>
          <a:srgbClr val="166773"/>
        </a:accent6>
        <a:hlink>
          <a:srgbClr val="5C3D70"/>
        </a:hlink>
        <a:folHlink>
          <a:srgbClr val="5E5C13"/>
        </a:folHlink>
      </a:clrScheme>
      <a:clrMap bg1="lt1" tx1="dk1" bg2="lt2" tx2="dk2" accent1="accent1" accent2="accent2" accent3="accent3" accent4="accent4" accent5="accent5" accent6="accent6" hlink="hlink" folHlink="folHlink"/>
    </a:extraClrScheme>
    <a:extraClrScheme>
      <a:clrScheme name="Custom Design 9">
        <a:dk1>
          <a:srgbClr val="000000"/>
        </a:dk1>
        <a:lt1>
          <a:srgbClr val="CCCCCC"/>
        </a:lt1>
        <a:dk2>
          <a:srgbClr val="000000"/>
        </a:dk2>
        <a:lt2>
          <a:srgbClr val="666666"/>
        </a:lt2>
        <a:accent1>
          <a:srgbClr val="4EC100"/>
        </a:accent1>
        <a:accent2>
          <a:srgbClr val="358400"/>
        </a:accent2>
        <a:accent3>
          <a:srgbClr val="E2E2E2"/>
        </a:accent3>
        <a:accent4>
          <a:srgbClr val="000000"/>
        </a:accent4>
        <a:accent5>
          <a:srgbClr val="B2DDAA"/>
        </a:accent5>
        <a:accent6>
          <a:srgbClr val="2F7700"/>
        </a:accent6>
        <a:hlink>
          <a:srgbClr val="296500"/>
        </a:hlink>
        <a:folHlink>
          <a:srgbClr val="466530"/>
        </a:folHlink>
      </a:clrScheme>
      <a:clrMap bg1="lt1" tx1="dk1" bg2="lt2" tx2="dk2" accent1="accent1" accent2="accent2" accent3="accent3" accent4="accent4" accent5="accent5" accent6="accent6" hlink="hlink" folHlink="folHlink"/>
    </a:extraClrScheme>
    <a:extraClrScheme>
      <a:clrScheme name="Custom Design 10">
        <a:dk1>
          <a:srgbClr val="000000"/>
        </a:dk1>
        <a:lt1>
          <a:srgbClr val="CCCCCC"/>
        </a:lt1>
        <a:dk2>
          <a:srgbClr val="000000"/>
        </a:dk2>
        <a:lt2>
          <a:srgbClr val="666666"/>
        </a:lt2>
        <a:accent1>
          <a:srgbClr val="586614"/>
        </a:accent1>
        <a:accent2>
          <a:srgbClr val="295966"/>
        </a:accent2>
        <a:accent3>
          <a:srgbClr val="E2E2E2"/>
        </a:accent3>
        <a:accent4>
          <a:srgbClr val="000000"/>
        </a:accent4>
        <a:accent5>
          <a:srgbClr val="B4B8AA"/>
        </a:accent5>
        <a:accent6>
          <a:srgbClr val="24505C"/>
        </a:accent6>
        <a:hlink>
          <a:srgbClr val="735F22"/>
        </a:hlink>
        <a:folHlink>
          <a:srgbClr val="3A7317"/>
        </a:folHlink>
      </a:clrScheme>
      <a:clrMap bg1="lt1" tx1="dk1" bg2="lt2" tx2="dk2" accent1="accent1" accent2="accent2" accent3="accent3" accent4="accent4" accent5="accent5" accent6="accent6" hlink="hlink" folHlink="folHlink"/>
    </a:extraClrScheme>
    <a:extraClrScheme>
      <a:clrScheme name="Custom Design 11">
        <a:dk1>
          <a:srgbClr val="000000"/>
        </a:dk1>
        <a:lt1>
          <a:srgbClr val="CCCCCC"/>
        </a:lt1>
        <a:dk2>
          <a:srgbClr val="000000"/>
        </a:dk2>
        <a:lt2>
          <a:srgbClr val="666666"/>
        </a:lt2>
        <a:accent1>
          <a:srgbClr val="80406B"/>
        </a:accent1>
        <a:accent2>
          <a:srgbClr val="804E33"/>
        </a:accent2>
        <a:accent3>
          <a:srgbClr val="E2E2E2"/>
        </a:accent3>
        <a:accent4>
          <a:srgbClr val="000000"/>
        </a:accent4>
        <a:accent5>
          <a:srgbClr val="C0AFBA"/>
        </a:accent5>
        <a:accent6>
          <a:srgbClr val="73462D"/>
        </a:accent6>
        <a:hlink>
          <a:srgbClr val="356614"/>
        </a:hlink>
        <a:folHlink>
          <a:srgbClr val="3A3973"/>
        </a:folHlink>
      </a:clrScheme>
      <a:clrMap bg1="lt1" tx1="dk1" bg2="lt2" tx2="dk2" accent1="accent1" accent2="accent2" accent3="accent3" accent4="accent4" accent5="accent5" accent6="accent6" hlink="hlink" folHlink="folHlink"/>
    </a:extraClrScheme>
    <a:extraClrScheme>
      <a:clrScheme name="Custom Design 12">
        <a:dk1>
          <a:srgbClr val="000000"/>
        </a:dk1>
        <a:lt1>
          <a:srgbClr val="CCCCCC"/>
        </a:lt1>
        <a:dk2>
          <a:srgbClr val="000000"/>
        </a:dk2>
        <a:lt2>
          <a:srgbClr val="666666"/>
        </a:lt2>
        <a:accent1>
          <a:srgbClr val="8C3F48"/>
        </a:accent1>
        <a:accent2>
          <a:srgbClr val="3D7317"/>
        </a:accent2>
        <a:accent3>
          <a:srgbClr val="E2E2E2"/>
        </a:accent3>
        <a:accent4>
          <a:srgbClr val="000000"/>
        </a:accent4>
        <a:accent5>
          <a:srgbClr val="C5AFB1"/>
        </a:accent5>
        <a:accent6>
          <a:srgbClr val="366814"/>
        </a:accent6>
        <a:hlink>
          <a:srgbClr val="404080"/>
        </a:hlink>
        <a:folHlink>
          <a:srgbClr val="736328"/>
        </a:folHlink>
      </a:clrScheme>
      <a:clrMap bg1="lt1" tx1="dk1" bg2="lt2" tx2="dk2" accent1="accent1" accent2="accent2" accent3="accent3" accent4="accent4" accent5="accent5" accent6="accent6" hlink="hlink" folHlink="folHlink"/>
    </a:extraClrScheme>
    <a:extraClrScheme>
      <a:clrScheme name="Custom Design 13">
        <a:dk1>
          <a:srgbClr val="000000"/>
        </a:dk1>
        <a:lt1>
          <a:srgbClr val="CCCCCC"/>
        </a:lt1>
        <a:dk2>
          <a:srgbClr val="000000"/>
        </a:dk2>
        <a:lt2>
          <a:srgbClr val="666666"/>
        </a:lt2>
        <a:accent1>
          <a:srgbClr val="00A5C9"/>
        </a:accent1>
        <a:accent2>
          <a:srgbClr val="427D89"/>
        </a:accent2>
        <a:accent3>
          <a:srgbClr val="E2E2E2"/>
        </a:accent3>
        <a:accent4>
          <a:srgbClr val="000000"/>
        </a:accent4>
        <a:accent5>
          <a:srgbClr val="AACFE1"/>
        </a:accent5>
        <a:accent6>
          <a:srgbClr val="3B717C"/>
        </a:accent6>
        <a:hlink>
          <a:srgbClr val="006880"/>
        </a:hlink>
        <a:folHlink>
          <a:srgbClr val="005161"/>
        </a:folHlink>
      </a:clrScheme>
      <a:clrMap bg1="lt1" tx1="dk1" bg2="lt2" tx2="dk2" accent1="accent1" accent2="accent2" accent3="accent3" accent4="accent4" accent5="accent5" accent6="accent6" hlink="hlink" folHlink="folHlink"/>
    </a:extraClrScheme>
    <a:extraClrScheme>
      <a:clrScheme name="Custom Design 14">
        <a:dk1>
          <a:srgbClr val="000000"/>
        </a:dk1>
        <a:lt1>
          <a:srgbClr val="CCCCCC"/>
        </a:lt1>
        <a:dk2>
          <a:srgbClr val="000000"/>
        </a:dk2>
        <a:lt2>
          <a:srgbClr val="666666"/>
        </a:lt2>
        <a:accent1>
          <a:srgbClr val="1F5499"/>
        </a:accent1>
        <a:accent2>
          <a:srgbClr val="1D8019"/>
        </a:accent2>
        <a:accent3>
          <a:srgbClr val="E2E2E2"/>
        </a:accent3>
        <a:accent4>
          <a:srgbClr val="000000"/>
        </a:accent4>
        <a:accent5>
          <a:srgbClr val="ABB3CA"/>
        </a:accent5>
        <a:accent6>
          <a:srgbClr val="197316"/>
        </a:accent6>
        <a:hlink>
          <a:srgbClr val="218BA3"/>
        </a:hlink>
        <a:folHlink>
          <a:srgbClr val="574C99"/>
        </a:folHlink>
      </a:clrScheme>
      <a:clrMap bg1="lt1" tx1="dk1" bg2="lt2" tx2="dk2" accent1="accent1" accent2="accent2" accent3="accent3" accent4="accent4" accent5="accent5" accent6="accent6" hlink="hlink" folHlink="folHlink"/>
    </a:extraClrScheme>
    <a:extraClrScheme>
      <a:clrScheme name="Custom Design 15">
        <a:dk1>
          <a:srgbClr val="000000"/>
        </a:dk1>
        <a:lt1>
          <a:srgbClr val="CCCCCC"/>
        </a:lt1>
        <a:dk2>
          <a:srgbClr val="000000"/>
        </a:dk2>
        <a:lt2>
          <a:srgbClr val="666666"/>
        </a:lt2>
        <a:accent1>
          <a:srgbClr val="80393B"/>
        </a:accent1>
        <a:accent2>
          <a:srgbClr val="196D80"/>
        </a:accent2>
        <a:accent3>
          <a:srgbClr val="E2E2E2"/>
        </a:accent3>
        <a:accent4>
          <a:srgbClr val="000000"/>
        </a:accent4>
        <a:accent5>
          <a:srgbClr val="C0AEAF"/>
        </a:accent5>
        <a:accent6>
          <a:srgbClr val="166273"/>
        </a:accent6>
        <a:hlink>
          <a:srgbClr val="805519"/>
        </a:hlink>
        <a:folHlink>
          <a:srgbClr val="803965"/>
        </a:folHlink>
      </a:clrScheme>
      <a:clrMap bg1="lt1" tx1="dk1" bg2="lt2" tx2="dk2" accent1="accent1" accent2="accent2" accent3="accent3" accent4="accent4" accent5="accent5" accent6="accent6" hlink="hlink" folHlink="folHlink"/>
    </a:extraClrScheme>
    <a:extraClrScheme>
      <a:clrScheme name="Custom Design 16">
        <a:dk1>
          <a:srgbClr val="000000"/>
        </a:dk1>
        <a:lt1>
          <a:srgbClr val="CCCCCC"/>
        </a:lt1>
        <a:dk2>
          <a:srgbClr val="000000"/>
        </a:dk2>
        <a:lt2>
          <a:srgbClr val="666666"/>
        </a:lt2>
        <a:accent1>
          <a:srgbClr val="666514"/>
        </a:accent1>
        <a:accent2>
          <a:srgbClr val="145766"/>
        </a:accent2>
        <a:accent3>
          <a:srgbClr val="E2E2E2"/>
        </a:accent3>
        <a:accent4>
          <a:srgbClr val="000000"/>
        </a:accent4>
        <a:accent5>
          <a:srgbClr val="B8B8AA"/>
        </a:accent5>
        <a:accent6>
          <a:srgbClr val="114E5C"/>
        </a:accent6>
        <a:hlink>
          <a:srgbClr val="664029"/>
        </a:hlink>
        <a:folHlink>
          <a:srgbClr val="5C3473"/>
        </a:folHlink>
      </a:clrScheme>
      <a:clrMap bg1="lt1" tx1="dk1" bg2="lt2" tx2="dk2" accent1="accent1" accent2="accent2" accent3="accent3" accent4="accent4" accent5="accent5" accent6="accent6" hlink="hlink" folHlink="folHlink"/>
    </a:extraClrScheme>
    <a:extraClrScheme>
      <a:clrScheme name="Custom Design 17">
        <a:dk1>
          <a:srgbClr val="000000"/>
        </a:dk1>
        <a:lt1>
          <a:srgbClr val="FFFFFF"/>
        </a:lt1>
        <a:dk2>
          <a:srgbClr val="000000"/>
        </a:dk2>
        <a:lt2>
          <a:srgbClr val="333333"/>
        </a:lt2>
        <a:accent1>
          <a:srgbClr val="E03F3F"/>
        </a:accent1>
        <a:accent2>
          <a:srgbClr val="A31A1A"/>
        </a:accent2>
        <a:accent3>
          <a:srgbClr val="FFFFFF"/>
        </a:accent3>
        <a:accent4>
          <a:srgbClr val="000000"/>
        </a:accent4>
        <a:accent5>
          <a:srgbClr val="EDAFAF"/>
        </a:accent5>
        <a:accent6>
          <a:srgbClr val="931616"/>
        </a:accent6>
        <a:hlink>
          <a:srgbClr val="661010"/>
        </a:hlink>
        <a:folHlink>
          <a:srgbClr val="854242"/>
        </a:folHlink>
      </a:clrScheme>
      <a:clrMap bg1="lt1" tx1="dk1" bg2="lt2" tx2="dk2" accent1="accent1" accent2="accent2" accent3="accent3" accent4="accent4" accent5="accent5" accent6="accent6" hlink="hlink" folHlink="folHlink"/>
    </a:extraClrScheme>
    <a:extraClrScheme>
      <a:clrScheme name="Custom Design 18">
        <a:dk1>
          <a:srgbClr val="000000"/>
        </a:dk1>
        <a:lt1>
          <a:srgbClr val="FFFFFF"/>
        </a:lt1>
        <a:dk2>
          <a:srgbClr val="000000"/>
        </a:dk2>
        <a:lt2>
          <a:srgbClr val="333333"/>
        </a:lt2>
        <a:accent1>
          <a:srgbClr val="803962"/>
        </a:accent1>
        <a:accent2>
          <a:srgbClr val="804A26"/>
        </a:accent2>
        <a:accent3>
          <a:srgbClr val="FFFFFF"/>
        </a:accent3>
        <a:accent4>
          <a:srgbClr val="000000"/>
        </a:accent4>
        <a:accent5>
          <a:srgbClr val="C0AEB7"/>
        </a:accent5>
        <a:accent6>
          <a:srgbClr val="734221"/>
        </a:accent6>
        <a:hlink>
          <a:srgbClr val="803939"/>
        </a:hlink>
        <a:folHlink>
          <a:srgbClr val="6E5D22"/>
        </a:folHlink>
      </a:clrScheme>
      <a:clrMap bg1="lt1" tx1="dk1" bg2="lt2" tx2="dk2" accent1="accent1" accent2="accent2" accent3="accent3" accent4="accent4" accent5="accent5" accent6="accent6" hlink="hlink" folHlink="folHlink"/>
    </a:extraClrScheme>
    <a:extraClrScheme>
      <a:clrScheme name="Custom Design 19">
        <a:dk1>
          <a:srgbClr val="000000"/>
        </a:dk1>
        <a:lt1>
          <a:srgbClr val="FFFFFF"/>
        </a:lt1>
        <a:dk2>
          <a:srgbClr val="000000"/>
        </a:dk2>
        <a:lt2>
          <a:srgbClr val="333333"/>
        </a:lt2>
        <a:accent1>
          <a:srgbClr val="335966"/>
        </a:accent1>
        <a:accent2>
          <a:srgbClr val="803939"/>
        </a:accent2>
        <a:accent3>
          <a:srgbClr val="FFFFFF"/>
        </a:accent3>
        <a:accent4>
          <a:srgbClr val="000000"/>
        </a:accent4>
        <a:accent5>
          <a:srgbClr val="ADB5B8"/>
        </a:accent5>
        <a:accent6>
          <a:srgbClr val="733333"/>
        </a:accent6>
        <a:hlink>
          <a:srgbClr val="526614"/>
        </a:hlink>
        <a:folHlink>
          <a:srgbClr val="553366"/>
        </a:folHlink>
      </a:clrScheme>
      <a:clrMap bg1="lt1" tx1="dk1" bg2="lt2" tx2="dk2" accent1="accent1" accent2="accent2" accent3="accent3" accent4="accent4" accent5="accent5" accent6="accent6" hlink="hlink" folHlink="folHlink"/>
    </a:extraClrScheme>
    <a:extraClrScheme>
      <a:clrScheme name="Custom Design 20">
        <a:dk1>
          <a:srgbClr val="000000"/>
        </a:dk1>
        <a:lt1>
          <a:srgbClr val="FFFFFF"/>
        </a:lt1>
        <a:dk2>
          <a:srgbClr val="000000"/>
        </a:dk2>
        <a:lt2>
          <a:srgbClr val="333333"/>
        </a:lt2>
        <a:accent1>
          <a:srgbClr val="803939"/>
        </a:accent1>
        <a:accent2>
          <a:srgbClr val="736017"/>
        </a:accent2>
        <a:accent3>
          <a:srgbClr val="FFFFFF"/>
        </a:accent3>
        <a:accent4>
          <a:srgbClr val="000000"/>
        </a:accent4>
        <a:accent5>
          <a:srgbClr val="C0AEAE"/>
        </a:accent5>
        <a:accent6>
          <a:srgbClr val="685614"/>
        </a:accent6>
        <a:hlink>
          <a:srgbClr val="4A4080"/>
        </a:hlink>
        <a:folHlink>
          <a:srgbClr val="146614"/>
        </a:folHlink>
      </a:clrScheme>
      <a:clrMap bg1="lt1" tx1="dk1" bg2="lt2" tx2="dk2" accent1="accent1" accent2="accent2" accent3="accent3" accent4="accent4" accent5="accent5" accent6="accent6" hlink="hlink" folHlink="folHlink"/>
    </a:extraClrScheme>
    <a:extraClrScheme>
      <a:clrScheme name="Custom Design 21">
        <a:dk1>
          <a:srgbClr val="000000"/>
        </a:dk1>
        <a:lt1>
          <a:srgbClr val="FFFFFF"/>
        </a:lt1>
        <a:dk2>
          <a:srgbClr val="000000"/>
        </a:dk2>
        <a:lt2>
          <a:srgbClr val="333333"/>
        </a:lt2>
        <a:accent1>
          <a:srgbClr val="ECEC00"/>
        </a:accent1>
        <a:accent2>
          <a:srgbClr val="E6CB00"/>
        </a:accent2>
        <a:accent3>
          <a:srgbClr val="FFFFFF"/>
        </a:accent3>
        <a:accent4>
          <a:srgbClr val="000000"/>
        </a:accent4>
        <a:accent5>
          <a:srgbClr val="F4F4AA"/>
        </a:accent5>
        <a:accent6>
          <a:srgbClr val="D0B800"/>
        </a:accent6>
        <a:hlink>
          <a:srgbClr val="837D00"/>
        </a:hlink>
        <a:folHlink>
          <a:srgbClr val="A39000"/>
        </a:folHlink>
      </a:clrScheme>
      <a:clrMap bg1="lt1" tx1="dk1" bg2="lt2" tx2="dk2" accent1="accent1" accent2="accent2" accent3="accent3" accent4="accent4" accent5="accent5" accent6="accent6" hlink="hlink" folHlink="folHlink"/>
    </a:extraClrScheme>
    <a:extraClrScheme>
      <a:clrScheme name="Custom Design 22">
        <a:dk1>
          <a:srgbClr val="000000"/>
        </a:dk1>
        <a:lt1>
          <a:srgbClr val="FFFFFF"/>
        </a:lt1>
        <a:dk2>
          <a:srgbClr val="000000"/>
        </a:dk2>
        <a:lt2>
          <a:srgbClr val="333333"/>
        </a:lt2>
        <a:accent1>
          <a:srgbClr val="806919"/>
        </a:accent1>
        <a:accent2>
          <a:srgbClr val="688019"/>
        </a:accent2>
        <a:accent3>
          <a:srgbClr val="FFFFFF"/>
        </a:accent3>
        <a:accent4>
          <a:srgbClr val="000000"/>
        </a:accent4>
        <a:accent5>
          <a:srgbClr val="C0B9AB"/>
        </a:accent5>
        <a:accent6>
          <a:srgbClr val="5E7316"/>
        </a:accent6>
        <a:hlink>
          <a:srgbClr val="15616B"/>
        </a:hlink>
        <a:folHlink>
          <a:srgbClr val="807E19"/>
        </a:folHlink>
      </a:clrScheme>
      <a:clrMap bg1="lt1" tx1="dk1" bg2="lt2" tx2="dk2" accent1="accent1" accent2="accent2" accent3="accent3" accent4="accent4" accent5="accent5" accent6="accent6" hlink="hlink" folHlink="folHlink"/>
    </a:extraClrScheme>
    <a:extraClrScheme>
      <a:clrScheme name="Custom Design 23">
        <a:dk1>
          <a:srgbClr val="000000"/>
        </a:dk1>
        <a:lt1>
          <a:srgbClr val="FFFFFF"/>
        </a:lt1>
        <a:dk2>
          <a:srgbClr val="000000"/>
        </a:dk2>
        <a:lt2>
          <a:srgbClr val="333333"/>
        </a:lt2>
        <a:accent1>
          <a:srgbClr val="803966"/>
        </a:accent1>
        <a:accent2>
          <a:srgbClr val="666514"/>
        </a:accent2>
        <a:accent3>
          <a:srgbClr val="FFFFFF"/>
        </a:accent3>
        <a:accent4>
          <a:srgbClr val="000000"/>
        </a:accent4>
        <a:accent5>
          <a:srgbClr val="C0AEB8"/>
        </a:accent5>
        <a:accent6>
          <a:srgbClr val="5C5B11"/>
        </a:accent6>
        <a:hlink>
          <a:srgbClr val="804733"/>
        </a:hlink>
        <a:folHlink>
          <a:srgbClr val="342E66"/>
        </a:folHlink>
      </a:clrScheme>
      <a:clrMap bg1="lt1" tx1="dk1" bg2="lt2" tx2="dk2" accent1="accent1" accent2="accent2" accent3="accent3" accent4="accent4" accent5="accent5" accent6="accent6" hlink="hlink" folHlink="folHlink"/>
    </a:extraClrScheme>
    <a:extraClrScheme>
      <a:clrScheme name="Custom Design 24">
        <a:dk1>
          <a:srgbClr val="000000"/>
        </a:dk1>
        <a:lt1>
          <a:srgbClr val="FFFFFF"/>
        </a:lt1>
        <a:dk2>
          <a:srgbClr val="000000"/>
        </a:dk2>
        <a:lt2>
          <a:srgbClr val="333333"/>
        </a:lt2>
        <a:accent1>
          <a:srgbClr val="804119"/>
        </a:accent1>
        <a:accent2>
          <a:srgbClr val="197280"/>
        </a:accent2>
        <a:accent3>
          <a:srgbClr val="FFFFFF"/>
        </a:accent3>
        <a:accent4>
          <a:srgbClr val="000000"/>
        </a:accent4>
        <a:accent5>
          <a:srgbClr val="C0B0AB"/>
        </a:accent5>
        <a:accent6>
          <a:srgbClr val="166773"/>
        </a:accent6>
        <a:hlink>
          <a:srgbClr val="5C3D70"/>
        </a:hlink>
        <a:folHlink>
          <a:srgbClr val="5E5C13"/>
        </a:folHlink>
      </a:clrScheme>
      <a:clrMap bg1="lt1" tx1="dk1" bg2="lt2" tx2="dk2" accent1="accent1" accent2="accent2" accent3="accent3" accent4="accent4" accent5="accent5" accent6="accent6" hlink="hlink" folHlink="folHlink"/>
    </a:extraClrScheme>
    <a:extraClrScheme>
      <a:clrScheme name="Custom Design 25">
        <a:dk1>
          <a:srgbClr val="000000"/>
        </a:dk1>
        <a:lt1>
          <a:srgbClr val="FFFFFF"/>
        </a:lt1>
        <a:dk2>
          <a:srgbClr val="000000"/>
        </a:dk2>
        <a:lt2>
          <a:srgbClr val="333333"/>
        </a:lt2>
        <a:accent1>
          <a:srgbClr val="4EC100"/>
        </a:accent1>
        <a:accent2>
          <a:srgbClr val="358400"/>
        </a:accent2>
        <a:accent3>
          <a:srgbClr val="FFFFFF"/>
        </a:accent3>
        <a:accent4>
          <a:srgbClr val="000000"/>
        </a:accent4>
        <a:accent5>
          <a:srgbClr val="B2DDAA"/>
        </a:accent5>
        <a:accent6>
          <a:srgbClr val="2F7700"/>
        </a:accent6>
        <a:hlink>
          <a:srgbClr val="296500"/>
        </a:hlink>
        <a:folHlink>
          <a:srgbClr val="466530"/>
        </a:folHlink>
      </a:clrScheme>
      <a:clrMap bg1="lt1" tx1="dk1" bg2="lt2" tx2="dk2" accent1="accent1" accent2="accent2" accent3="accent3" accent4="accent4" accent5="accent5" accent6="accent6" hlink="hlink" folHlink="folHlink"/>
    </a:extraClrScheme>
    <a:extraClrScheme>
      <a:clrScheme name="Custom Design 26">
        <a:dk1>
          <a:srgbClr val="000000"/>
        </a:dk1>
        <a:lt1>
          <a:srgbClr val="FFFFFF"/>
        </a:lt1>
        <a:dk2>
          <a:srgbClr val="000000"/>
        </a:dk2>
        <a:lt2>
          <a:srgbClr val="333333"/>
        </a:lt2>
        <a:accent1>
          <a:srgbClr val="586614"/>
        </a:accent1>
        <a:accent2>
          <a:srgbClr val="295966"/>
        </a:accent2>
        <a:accent3>
          <a:srgbClr val="FFFFFF"/>
        </a:accent3>
        <a:accent4>
          <a:srgbClr val="000000"/>
        </a:accent4>
        <a:accent5>
          <a:srgbClr val="B4B8AA"/>
        </a:accent5>
        <a:accent6>
          <a:srgbClr val="24505C"/>
        </a:accent6>
        <a:hlink>
          <a:srgbClr val="735F22"/>
        </a:hlink>
        <a:folHlink>
          <a:srgbClr val="3A7317"/>
        </a:folHlink>
      </a:clrScheme>
      <a:clrMap bg1="lt1" tx1="dk1" bg2="lt2" tx2="dk2" accent1="accent1" accent2="accent2" accent3="accent3" accent4="accent4" accent5="accent5" accent6="accent6" hlink="hlink" folHlink="folHlink"/>
    </a:extraClrScheme>
    <a:extraClrScheme>
      <a:clrScheme name="Custom Design 27">
        <a:dk1>
          <a:srgbClr val="000000"/>
        </a:dk1>
        <a:lt1>
          <a:srgbClr val="FFFFFF"/>
        </a:lt1>
        <a:dk2>
          <a:srgbClr val="000000"/>
        </a:dk2>
        <a:lt2>
          <a:srgbClr val="333333"/>
        </a:lt2>
        <a:accent1>
          <a:srgbClr val="80406B"/>
        </a:accent1>
        <a:accent2>
          <a:srgbClr val="804E33"/>
        </a:accent2>
        <a:accent3>
          <a:srgbClr val="FFFFFF"/>
        </a:accent3>
        <a:accent4>
          <a:srgbClr val="000000"/>
        </a:accent4>
        <a:accent5>
          <a:srgbClr val="C0AFBA"/>
        </a:accent5>
        <a:accent6>
          <a:srgbClr val="73462D"/>
        </a:accent6>
        <a:hlink>
          <a:srgbClr val="356614"/>
        </a:hlink>
        <a:folHlink>
          <a:srgbClr val="3A3973"/>
        </a:folHlink>
      </a:clrScheme>
      <a:clrMap bg1="lt1" tx1="dk1" bg2="lt2" tx2="dk2" accent1="accent1" accent2="accent2" accent3="accent3" accent4="accent4" accent5="accent5" accent6="accent6" hlink="hlink" folHlink="folHlink"/>
    </a:extraClrScheme>
    <a:extraClrScheme>
      <a:clrScheme name="Custom Design 28">
        <a:dk1>
          <a:srgbClr val="000000"/>
        </a:dk1>
        <a:lt1>
          <a:srgbClr val="FFFFFF"/>
        </a:lt1>
        <a:dk2>
          <a:srgbClr val="000000"/>
        </a:dk2>
        <a:lt2>
          <a:srgbClr val="333333"/>
        </a:lt2>
        <a:accent1>
          <a:srgbClr val="8C3F48"/>
        </a:accent1>
        <a:accent2>
          <a:srgbClr val="3D7317"/>
        </a:accent2>
        <a:accent3>
          <a:srgbClr val="FFFFFF"/>
        </a:accent3>
        <a:accent4>
          <a:srgbClr val="000000"/>
        </a:accent4>
        <a:accent5>
          <a:srgbClr val="C5AFB1"/>
        </a:accent5>
        <a:accent6>
          <a:srgbClr val="366814"/>
        </a:accent6>
        <a:hlink>
          <a:srgbClr val="404080"/>
        </a:hlink>
        <a:folHlink>
          <a:srgbClr val="736328"/>
        </a:folHlink>
      </a:clrScheme>
      <a:clrMap bg1="lt1" tx1="dk1" bg2="lt2" tx2="dk2" accent1="accent1" accent2="accent2" accent3="accent3" accent4="accent4" accent5="accent5" accent6="accent6" hlink="hlink" folHlink="folHlink"/>
    </a:extraClrScheme>
    <a:extraClrScheme>
      <a:clrScheme name="Custom Design 29">
        <a:dk1>
          <a:srgbClr val="000000"/>
        </a:dk1>
        <a:lt1>
          <a:srgbClr val="FFFFFF"/>
        </a:lt1>
        <a:dk2>
          <a:srgbClr val="000000"/>
        </a:dk2>
        <a:lt2>
          <a:srgbClr val="333333"/>
        </a:lt2>
        <a:accent1>
          <a:srgbClr val="00A5C9"/>
        </a:accent1>
        <a:accent2>
          <a:srgbClr val="427D89"/>
        </a:accent2>
        <a:accent3>
          <a:srgbClr val="FFFFFF"/>
        </a:accent3>
        <a:accent4>
          <a:srgbClr val="000000"/>
        </a:accent4>
        <a:accent5>
          <a:srgbClr val="AACFE1"/>
        </a:accent5>
        <a:accent6>
          <a:srgbClr val="3B717C"/>
        </a:accent6>
        <a:hlink>
          <a:srgbClr val="006880"/>
        </a:hlink>
        <a:folHlink>
          <a:srgbClr val="005161"/>
        </a:folHlink>
      </a:clrScheme>
      <a:clrMap bg1="lt1" tx1="dk1" bg2="lt2" tx2="dk2" accent1="accent1" accent2="accent2" accent3="accent3" accent4="accent4" accent5="accent5" accent6="accent6" hlink="hlink" folHlink="folHlink"/>
    </a:extraClrScheme>
    <a:extraClrScheme>
      <a:clrScheme name="Custom Design 30">
        <a:dk1>
          <a:srgbClr val="000000"/>
        </a:dk1>
        <a:lt1>
          <a:srgbClr val="FFFFFF"/>
        </a:lt1>
        <a:dk2>
          <a:srgbClr val="000000"/>
        </a:dk2>
        <a:lt2>
          <a:srgbClr val="333333"/>
        </a:lt2>
        <a:accent1>
          <a:srgbClr val="1F5499"/>
        </a:accent1>
        <a:accent2>
          <a:srgbClr val="1D8019"/>
        </a:accent2>
        <a:accent3>
          <a:srgbClr val="FFFFFF"/>
        </a:accent3>
        <a:accent4>
          <a:srgbClr val="000000"/>
        </a:accent4>
        <a:accent5>
          <a:srgbClr val="ABB3CA"/>
        </a:accent5>
        <a:accent6>
          <a:srgbClr val="197316"/>
        </a:accent6>
        <a:hlink>
          <a:srgbClr val="218BA3"/>
        </a:hlink>
        <a:folHlink>
          <a:srgbClr val="574C99"/>
        </a:folHlink>
      </a:clrScheme>
      <a:clrMap bg1="lt1" tx1="dk1" bg2="lt2" tx2="dk2" accent1="accent1" accent2="accent2" accent3="accent3" accent4="accent4" accent5="accent5" accent6="accent6" hlink="hlink" folHlink="folHlink"/>
    </a:extraClrScheme>
    <a:extraClrScheme>
      <a:clrScheme name="Custom Design 31">
        <a:dk1>
          <a:srgbClr val="000000"/>
        </a:dk1>
        <a:lt1>
          <a:srgbClr val="FFFFFF"/>
        </a:lt1>
        <a:dk2>
          <a:srgbClr val="000000"/>
        </a:dk2>
        <a:lt2>
          <a:srgbClr val="333333"/>
        </a:lt2>
        <a:accent1>
          <a:srgbClr val="80393B"/>
        </a:accent1>
        <a:accent2>
          <a:srgbClr val="196D80"/>
        </a:accent2>
        <a:accent3>
          <a:srgbClr val="FFFFFF"/>
        </a:accent3>
        <a:accent4>
          <a:srgbClr val="000000"/>
        </a:accent4>
        <a:accent5>
          <a:srgbClr val="C0AEAF"/>
        </a:accent5>
        <a:accent6>
          <a:srgbClr val="166273"/>
        </a:accent6>
        <a:hlink>
          <a:srgbClr val="805519"/>
        </a:hlink>
        <a:folHlink>
          <a:srgbClr val="803965"/>
        </a:folHlink>
      </a:clrScheme>
      <a:clrMap bg1="lt1" tx1="dk1" bg2="lt2" tx2="dk2" accent1="accent1" accent2="accent2" accent3="accent3" accent4="accent4" accent5="accent5" accent6="accent6" hlink="hlink" folHlink="folHlink"/>
    </a:extraClrScheme>
    <a:extraClrScheme>
      <a:clrScheme name="Custom Design 32">
        <a:dk1>
          <a:srgbClr val="000000"/>
        </a:dk1>
        <a:lt1>
          <a:srgbClr val="FFFFFF"/>
        </a:lt1>
        <a:dk2>
          <a:srgbClr val="000000"/>
        </a:dk2>
        <a:lt2>
          <a:srgbClr val="333333"/>
        </a:lt2>
        <a:accent1>
          <a:srgbClr val="666514"/>
        </a:accent1>
        <a:accent2>
          <a:srgbClr val="145766"/>
        </a:accent2>
        <a:accent3>
          <a:srgbClr val="FFFFFF"/>
        </a:accent3>
        <a:accent4>
          <a:srgbClr val="000000"/>
        </a:accent4>
        <a:accent5>
          <a:srgbClr val="B8B8AA"/>
        </a:accent5>
        <a:accent6>
          <a:srgbClr val="114E5C"/>
        </a:accent6>
        <a:hlink>
          <a:srgbClr val="664029"/>
        </a:hlink>
        <a:folHlink>
          <a:srgbClr val="5C347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1_Default Design 2">
      <a:dk1>
        <a:srgbClr val="000000"/>
      </a:dk1>
      <a:lt1>
        <a:srgbClr val="CCCCCC"/>
      </a:lt1>
      <a:dk2>
        <a:srgbClr val="000000"/>
      </a:dk2>
      <a:lt2>
        <a:srgbClr val="666666"/>
      </a:lt2>
      <a:accent1>
        <a:srgbClr val="803962"/>
      </a:accent1>
      <a:accent2>
        <a:srgbClr val="804A26"/>
      </a:accent2>
      <a:accent3>
        <a:srgbClr val="E2E2E2"/>
      </a:accent3>
      <a:accent4>
        <a:srgbClr val="000000"/>
      </a:accent4>
      <a:accent5>
        <a:srgbClr val="C0AEB7"/>
      </a:accent5>
      <a:accent6>
        <a:srgbClr val="734221"/>
      </a:accent6>
      <a:hlink>
        <a:srgbClr val="803939"/>
      </a:hlink>
      <a:folHlink>
        <a:srgbClr val="6E5D22"/>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CCCCCC"/>
        </a:lt1>
        <a:dk2>
          <a:srgbClr val="000000"/>
        </a:dk2>
        <a:lt2>
          <a:srgbClr val="666666"/>
        </a:lt2>
        <a:accent1>
          <a:srgbClr val="E03F3F"/>
        </a:accent1>
        <a:accent2>
          <a:srgbClr val="A31A1A"/>
        </a:accent2>
        <a:accent3>
          <a:srgbClr val="E2E2E2"/>
        </a:accent3>
        <a:accent4>
          <a:srgbClr val="000000"/>
        </a:accent4>
        <a:accent5>
          <a:srgbClr val="EDAFAF"/>
        </a:accent5>
        <a:accent6>
          <a:srgbClr val="931616"/>
        </a:accent6>
        <a:hlink>
          <a:srgbClr val="661010"/>
        </a:hlink>
        <a:folHlink>
          <a:srgbClr val="854242"/>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CCCCCC"/>
        </a:lt1>
        <a:dk2>
          <a:srgbClr val="000000"/>
        </a:dk2>
        <a:lt2>
          <a:srgbClr val="666666"/>
        </a:lt2>
        <a:accent1>
          <a:srgbClr val="803962"/>
        </a:accent1>
        <a:accent2>
          <a:srgbClr val="804A26"/>
        </a:accent2>
        <a:accent3>
          <a:srgbClr val="E2E2E2"/>
        </a:accent3>
        <a:accent4>
          <a:srgbClr val="000000"/>
        </a:accent4>
        <a:accent5>
          <a:srgbClr val="C0AEB7"/>
        </a:accent5>
        <a:accent6>
          <a:srgbClr val="734221"/>
        </a:accent6>
        <a:hlink>
          <a:srgbClr val="803939"/>
        </a:hlink>
        <a:folHlink>
          <a:srgbClr val="6E5D2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CCCCCC"/>
        </a:lt1>
        <a:dk2>
          <a:srgbClr val="000000"/>
        </a:dk2>
        <a:lt2>
          <a:srgbClr val="666666"/>
        </a:lt2>
        <a:accent1>
          <a:srgbClr val="335966"/>
        </a:accent1>
        <a:accent2>
          <a:srgbClr val="803939"/>
        </a:accent2>
        <a:accent3>
          <a:srgbClr val="E2E2E2"/>
        </a:accent3>
        <a:accent4>
          <a:srgbClr val="000000"/>
        </a:accent4>
        <a:accent5>
          <a:srgbClr val="ADB5B8"/>
        </a:accent5>
        <a:accent6>
          <a:srgbClr val="733333"/>
        </a:accent6>
        <a:hlink>
          <a:srgbClr val="526614"/>
        </a:hlink>
        <a:folHlink>
          <a:srgbClr val="553366"/>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CCCCCC"/>
        </a:lt1>
        <a:dk2>
          <a:srgbClr val="000000"/>
        </a:dk2>
        <a:lt2>
          <a:srgbClr val="666666"/>
        </a:lt2>
        <a:accent1>
          <a:srgbClr val="803939"/>
        </a:accent1>
        <a:accent2>
          <a:srgbClr val="736017"/>
        </a:accent2>
        <a:accent3>
          <a:srgbClr val="E2E2E2"/>
        </a:accent3>
        <a:accent4>
          <a:srgbClr val="000000"/>
        </a:accent4>
        <a:accent5>
          <a:srgbClr val="C0AEAE"/>
        </a:accent5>
        <a:accent6>
          <a:srgbClr val="685614"/>
        </a:accent6>
        <a:hlink>
          <a:srgbClr val="4A4080"/>
        </a:hlink>
        <a:folHlink>
          <a:srgbClr val="146614"/>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CCCCCC"/>
        </a:lt1>
        <a:dk2>
          <a:srgbClr val="000000"/>
        </a:dk2>
        <a:lt2>
          <a:srgbClr val="666666"/>
        </a:lt2>
        <a:accent1>
          <a:srgbClr val="ECEC00"/>
        </a:accent1>
        <a:accent2>
          <a:srgbClr val="E6CB00"/>
        </a:accent2>
        <a:accent3>
          <a:srgbClr val="E2E2E2"/>
        </a:accent3>
        <a:accent4>
          <a:srgbClr val="000000"/>
        </a:accent4>
        <a:accent5>
          <a:srgbClr val="F4F4AA"/>
        </a:accent5>
        <a:accent6>
          <a:srgbClr val="D0B800"/>
        </a:accent6>
        <a:hlink>
          <a:srgbClr val="837D00"/>
        </a:hlink>
        <a:folHlink>
          <a:srgbClr val="A3900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CCCCCC"/>
        </a:lt1>
        <a:dk2>
          <a:srgbClr val="000000"/>
        </a:dk2>
        <a:lt2>
          <a:srgbClr val="666666"/>
        </a:lt2>
        <a:accent1>
          <a:srgbClr val="806919"/>
        </a:accent1>
        <a:accent2>
          <a:srgbClr val="688019"/>
        </a:accent2>
        <a:accent3>
          <a:srgbClr val="E2E2E2"/>
        </a:accent3>
        <a:accent4>
          <a:srgbClr val="000000"/>
        </a:accent4>
        <a:accent5>
          <a:srgbClr val="C0B9AB"/>
        </a:accent5>
        <a:accent6>
          <a:srgbClr val="5E7316"/>
        </a:accent6>
        <a:hlink>
          <a:srgbClr val="15616B"/>
        </a:hlink>
        <a:folHlink>
          <a:srgbClr val="807E19"/>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CCCCCC"/>
        </a:lt1>
        <a:dk2>
          <a:srgbClr val="000000"/>
        </a:dk2>
        <a:lt2>
          <a:srgbClr val="666666"/>
        </a:lt2>
        <a:accent1>
          <a:srgbClr val="803966"/>
        </a:accent1>
        <a:accent2>
          <a:srgbClr val="666514"/>
        </a:accent2>
        <a:accent3>
          <a:srgbClr val="E2E2E2"/>
        </a:accent3>
        <a:accent4>
          <a:srgbClr val="000000"/>
        </a:accent4>
        <a:accent5>
          <a:srgbClr val="C0AEB8"/>
        </a:accent5>
        <a:accent6>
          <a:srgbClr val="5C5B11"/>
        </a:accent6>
        <a:hlink>
          <a:srgbClr val="804733"/>
        </a:hlink>
        <a:folHlink>
          <a:srgbClr val="342E66"/>
        </a:folHlink>
      </a:clrScheme>
      <a:clrMap bg1="lt1" tx1="dk1" bg2="lt2" tx2="dk2" accent1="accent1" accent2="accent2" accent3="accent3" accent4="accent4" accent5="accent5" accent6="accent6" hlink="hlink" folHlink="folHlink"/>
    </a:extraClrScheme>
    <a:extraClrScheme>
      <a:clrScheme name="1_Default Design 8">
        <a:dk1>
          <a:srgbClr val="000000"/>
        </a:dk1>
        <a:lt1>
          <a:srgbClr val="CCCCCC"/>
        </a:lt1>
        <a:dk2>
          <a:srgbClr val="000000"/>
        </a:dk2>
        <a:lt2>
          <a:srgbClr val="666666"/>
        </a:lt2>
        <a:accent1>
          <a:srgbClr val="804119"/>
        </a:accent1>
        <a:accent2>
          <a:srgbClr val="197280"/>
        </a:accent2>
        <a:accent3>
          <a:srgbClr val="E2E2E2"/>
        </a:accent3>
        <a:accent4>
          <a:srgbClr val="000000"/>
        </a:accent4>
        <a:accent5>
          <a:srgbClr val="C0B0AB"/>
        </a:accent5>
        <a:accent6>
          <a:srgbClr val="166773"/>
        </a:accent6>
        <a:hlink>
          <a:srgbClr val="5C3D70"/>
        </a:hlink>
        <a:folHlink>
          <a:srgbClr val="5E5C13"/>
        </a:folHlink>
      </a:clrScheme>
      <a:clrMap bg1="lt1" tx1="dk1" bg2="lt2" tx2="dk2" accent1="accent1" accent2="accent2" accent3="accent3" accent4="accent4" accent5="accent5" accent6="accent6" hlink="hlink" folHlink="folHlink"/>
    </a:extraClrScheme>
    <a:extraClrScheme>
      <a:clrScheme name="1_Default Design 9">
        <a:dk1>
          <a:srgbClr val="000000"/>
        </a:dk1>
        <a:lt1>
          <a:srgbClr val="CCCCCC"/>
        </a:lt1>
        <a:dk2>
          <a:srgbClr val="000000"/>
        </a:dk2>
        <a:lt2>
          <a:srgbClr val="666666"/>
        </a:lt2>
        <a:accent1>
          <a:srgbClr val="4EC100"/>
        </a:accent1>
        <a:accent2>
          <a:srgbClr val="358400"/>
        </a:accent2>
        <a:accent3>
          <a:srgbClr val="E2E2E2"/>
        </a:accent3>
        <a:accent4>
          <a:srgbClr val="000000"/>
        </a:accent4>
        <a:accent5>
          <a:srgbClr val="B2DDAA"/>
        </a:accent5>
        <a:accent6>
          <a:srgbClr val="2F7700"/>
        </a:accent6>
        <a:hlink>
          <a:srgbClr val="296500"/>
        </a:hlink>
        <a:folHlink>
          <a:srgbClr val="466530"/>
        </a:folHlink>
      </a:clrScheme>
      <a:clrMap bg1="lt1" tx1="dk1" bg2="lt2" tx2="dk2" accent1="accent1" accent2="accent2" accent3="accent3" accent4="accent4" accent5="accent5" accent6="accent6" hlink="hlink" folHlink="folHlink"/>
    </a:extraClrScheme>
    <a:extraClrScheme>
      <a:clrScheme name="1_Default Design 10">
        <a:dk1>
          <a:srgbClr val="000000"/>
        </a:dk1>
        <a:lt1>
          <a:srgbClr val="CCCCCC"/>
        </a:lt1>
        <a:dk2>
          <a:srgbClr val="000000"/>
        </a:dk2>
        <a:lt2>
          <a:srgbClr val="666666"/>
        </a:lt2>
        <a:accent1>
          <a:srgbClr val="586614"/>
        </a:accent1>
        <a:accent2>
          <a:srgbClr val="295966"/>
        </a:accent2>
        <a:accent3>
          <a:srgbClr val="E2E2E2"/>
        </a:accent3>
        <a:accent4>
          <a:srgbClr val="000000"/>
        </a:accent4>
        <a:accent5>
          <a:srgbClr val="B4B8AA"/>
        </a:accent5>
        <a:accent6>
          <a:srgbClr val="24505C"/>
        </a:accent6>
        <a:hlink>
          <a:srgbClr val="735F22"/>
        </a:hlink>
        <a:folHlink>
          <a:srgbClr val="3A7317"/>
        </a:folHlink>
      </a:clrScheme>
      <a:clrMap bg1="lt1" tx1="dk1" bg2="lt2" tx2="dk2" accent1="accent1" accent2="accent2" accent3="accent3" accent4="accent4" accent5="accent5" accent6="accent6" hlink="hlink" folHlink="folHlink"/>
    </a:extraClrScheme>
    <a:extraClrScheme>
      <a:clrScheme name="1_Default Design 11">
        <a:dk1>
          <a:srgbClr val="000000"/>
        </a:dk1>
        <a:lt1>
          <a:srgbClr val="CCCCCC"/>
        </a:lt1>
        <a:dk2>
          <a:srgbClr val="000000"/>
        </a:dk2>
        <a:lt2>
          <a:srgbClr val="666666"/>
        </a:lt2>
        <a:accent1>
          <a:srgbClr val="80406B"/>
        </a:accent1>
        <a:accent2>
          <a:srgbClr val="804E33"/>
        </a:accent2>
        <a:accent3>
          <a:srgbClr val="E2E2E2"/>
        </a:accent3>
        <a:accent4>
          <a:srgbClr val="000000"/>
        </a:accent4>
        <a:accent5>
          <a:srgbClr val="C0AFBA"/>
        </a:accent5>
        <a:accent6>
          <a:srgbClr val="73462D"/>
        </a:accent6>
        <a:hlink>
          <a:srgbClr val="356614"/>
        </a:hlink>
        <a:folHlink>
          <a:srgbClr val="3A3973"/>
        </a:folHlink>
      </a:clrScheme>
      <a:clrMap bg1="lt1" tx1="dk1" bg2="lt2" tx2="dk2" accent1="accent1" accent2="accent2" accent3="accent3" accent4="accent4" accent5="accent5" accent6="accent6" hlink="hlink" folHlink="folHlink"/>
    </a:extraClrScheme>
    <a:extraClrScheme>
      <a:clrScheme name="1_Default Design 12">
        <a:dk1>
          <a:srgbClr val="000000"/>
        </a:dk1>
        <a:lt1>
          <a:srgbClr val="CCCCCC"/>
        </a:lt1>
        <a:dk2>
          <a:srgbClr val="000000"/>
        </a:dk2>
        <a:lt2>
          <a:srgbClr val="666666"/>
        </a:lt2>
        <a:accent1>
          <a:srgbClr val="8C3F48"/>
        </a:accent1>
        <a:accent2>
          <a:srgbClr val="3D7317"/>
        </a:accent2>
        <a:accent3>
          <a:srgbClr val="E2E2E2"/>
        </a:accent3>
        <a:accent4>
          <a:srgbClr val="000000"/>
        </a:accent4>
        <a:accent5>
          <a:srgbClr val="C5AFB1"/>
        </a:accent5>
        <a:accent6>
          <a:srgbClr val="366814"/>
        </a:accent6>
        <a:hlink>
          <a:srgbClr val="404080"/>
        </a:hlink>
        <a:folHlink>
          <a:srgbClr val="736328"/>
        </a:folHlink>
      </a:clrScheme>
      <a:clrMap bg1="lt1" tx1="dk1" bg2="lt2" tx2="dk2" accent1="accent1" accent2="accent2" accent3="accent3" accent4="accent4" accent5="accent5" accent6="accent6" hlink="hlink" folHlink="folHlink"/>
    </a:extraClrScheme>
    <a:extraClrScheme>
      <a:clrScheme name="1_Default Design 13">
        <a:dk1>
          <a:srgbClr val="000000"/>
        </a:dk1>
        <a:lt1>
          <a:srgbClr val="CCCCCC"/>
        </a:lt1>
        <a:dk2>
          <a:srgbClr val="000000"/>
        </a:dk2>
        <a:lt2>
          <a:srgbClr val="666666"/>
        </a:lt2>
        <a:accent1>
          <a:srgbClr val="00A5C9"/>
        </a:accent1>
        <a:accent2>
          <a:srgbClr val="427D89"/>
        </a:accent2>
        <a:accent3>
          <a:srgbClr val="E2E2E2"/>
        </a:accent3>
        <a:accent4>
          <a:srgbClr val="000000"/>
        </a:accent4>
        <a:accent5>
          <a:srgbClr val="AACFE1"/>
        </a:accent5>
        <a:accent6>
          <a:srgbClr val="3B717C"/>
        </a:accent6>
        <a:hlink>
          <a:srgbClr val="006880"/>
        </a:hlink>
        <a:folHlink>
          <a:srgbClr val="005161"/>
        </a:folHlink>
      </a:clrScheme>
      <a:clrMap bg1="lt1" tx1="dk1" bg2="lt2" tx2="dk2" accent1="accent1" accent2="accent2" accent3="accent3" accent4="accent4" accent5="accent5" accent6="accent6" hlink="hlink" folHlink="folHlink"/>
    </a:extraClrScheme>
    <a:extraClrScheme>
      <a:clrScheme name="1_Default Design 14">
        <a:dk1>
          <a:srgbClr val="000000"/>
        </a:dk1>
        <a:lt1>
          <a:srgbClr val="CCCCCC"/>
        </a:lt1>
        <a:dk2>
          <a:srgbClr val="000000"/>
        </a:dk2>
        <a:lt2>
          <a:srgbClr val="666666"/>
        </a:lt2>
        <a:accent1>
          <a:srgbClr val="1F5499"/>
        </a:accent1>
        <a:accent2>
          <a:srgbClr val="1D8019"/>
        </a:accent2>
        <a:accent3>
          <a:srgbClr val="E2E2E2"/>
        </a:accent3>
        <a:accent4>
          <a:srgbClr val="000000"/>
        </a:accent4>
        <a:accent5>
          <a:srgbClr val="ABB3CA"/>
        </a:accent5>
        <a:accent6>
          <a:srgbClr val="197316"/>
        </a:accent6>
        <a:hlink>
          <a:srgbClr val="218BA3"/>
        </a:hlink>
        <a:folHlink>
          <a:srgbClr val="574C99"/>
        </a:folHlink>
      </a:clrScheme>
      <a:clrMap bg1="lt1" tx1="dk1" bg2="lt2" tx2="dk2" accent1="accent1" accent2="accent2" accent3="accent3" accent4="accent4" accent5="accent5" accent6="accent6" hlink="hlink" folHlink="folHlink"/>
    </a:extraClrScheme>
    <a:extraClrScheme>
      <a:clrScheme name="1_Default Design 15">
        <a:dk1>
          <a:srgbClr val="000000"/>
        </a:dk1>
        <a:lt1>
          <a:srgbClr val="CCCCCC"/>
        </a:lt1>
        <a:dk2>
          <a:srgbClr val="000000"/>
        </a:dk2>
        <a:lt2>
          <a:srgbClr val="666666"/>
        </a:lt2>
        <a:accent1>
          <a:srgbClr val="80393B"/>
        </a:accent1>
        <a:accent2>
          <a:srgbClr val="196D80"/>
        </a:accent2>
        <a:accent3>
          <a:srgbClr val="E2E2E2"/>
        </a:accent3>
        <a:accent4>
          <a:srgbClr val="000000"/>
        </a:accent4>
        <a:accent5>
          <a:srgbClr val="C0AEAF"/>
        </a:accent5>
        <a:accent6>
          <a:srgbClr val="166273"/>
        </a:accent6>
        <a:hlink>
          <a:srgbClr val="805519"/>
        </a:hlink>
        <a:folHlink>
          <a:srgbClr val="803965"/>
        </a:folHlink>
      </a:clrScheme>
      <a:clrMap bg1="lt1" tx1="dk1" bg2="lt2" tx2="dk2" accent1="accent1" accent2="accent2" accent3="accent3" accent4="accent4" accent5="accent5" accent6="accent6" hlink="hlink" folHlink="folHlink"/>
    </a:extraClrScheme>
    <a:extraClrScheme>
      <a:clrScheme name="1_Default Design 16">
        <a:dk1>
          <a:srgbClr val="000000"/>
        </a:dk1>
        <a:lt1>
          <a:srgbClr val="CCCCCC"/>
        </a:lt1>
        <a:dk2>
          <a:srgbClr val="000000"/>
        </a:dk2>
        <a:lt2>
          <a:srgbClr val="666666"/>
        </a:lt2>
        <a:accent1>
          <a:srgbClr val="666514"/>
        </a:accent1>
        <a:accent2>
          <a:srgbClr val="145766"/>
        </a:accent2>
        <a:accent3>
          <a:srgbClr val="E2E2E2"/>
        </a:accent3>
        <a:accent4>
          <a:srgbClr val="000000"/>
        </a:accent4>
        <a:accent5>
          <a:srgbClr val="B8B8AA"/>
        </a:accent5>
        <a:accent6>
          <a:srgbClr val="114E5C"/>
        </a:accent6>
        <a:hlink>
          <a:srgbClr val="664029"/>
        </a:hlink>
        <a:folHlink>
          <a:srgbClr val="5C3473"/>
        </a:folHlink>
      </a:clrScheme>
      <a:clrMap bg1="lt1" tx1="dk1" bg2="lt2" tx2="dk2" accent1="accent1" accent2="accent2" accent3="accent3" accent4="accent4" accent5="accent5" accent6="accent6" hlink="hlink" folHlink="folHlink"/>
    </a:extraClrScheme>
    <a:extraClrScheme>
      <a:clrScheme name="1_Default Design 17">
        <a:dk1>
          <a:srgbClr val="000000"/>
        </a:dk1>
        <a:lt1>
          <a:srgbClr val="FFFFFF"/>
        </a:lt1>
        <a:dk2>
          <a:srgbClr val="000000"/>
        </a:dk2>
        <a:lt2>
          <a:srgbClr val="333333"/>
        </a:lt2>
        <a:accent1>
          <a:srgbClr val="E03F3F"/>
        </a:accent1>
        <a:accent2>
          <a:srgbClr val="A31A1A"/>
        </a:accent2>
        <a:accent3>
          <a:srgbClr val="FFFFFF"/>
        </a:accent3>
        <a:accent4>
          <a:srgbClr val="000000"/>
        </a:accent4>
        <a:accent5>
          <a:srgbClr val="EDAFAF"/>
        </a:accent5>
        <a:accent6>
          <a:srgbClr val="931616"/>
        </a:accent6>
        <a:hlink>
          <a:srgbClr val="661010"/>
        </a:hlink>
        <a:folHlink>
          <a:srgbClr val="854242"/>
        </a:folHlink>
      </a:clrScheme>
      <a:clrMap bg1="lt1" tx1="dk1" bg2="lt2" tx2="dk2" accent1="accent1" accent2="accent2" accent3="accent3" accent4="accent4" accent5="accent5" accent6="accent6" hlink="hlink" folHlink="folHlink"/>
    </a:extraClrScheme>
    <a:extraClrScheme>
      <a:clrScheme name="1_Default Design 18">
        <a:dk1>
          <a:srgbClr val="000000"/>
        </a:dk1>
        <a:lt1>
          <a:srgbClr val="FFFFFF"/>
        </a:lt1>
        <a:dk2>
          <a:srgbClr val="000000"/>
        </a:dk2>
        <a:lt2>
          <a:srgbClr val="333333"/>
        </a:lt2>
        <a:accent1>
          <a:srgbClr val="803962"/>
        </a:accent1>
        <a:accent2>
          <a:srgbClr val="804A26"/>
        </a:accent2>
        <a:accent3>
          <a:srgbClr val="FFFFFF"/>
        </a:accent3>
        <a:accent4>
          <a:srgbClr val="000000"/>
        </a:accent4>
        <a:accent5>
          <a:srgbClr val="C0AEB7"/>
        </a:accent5>
        <a:accent6>
          <a:srgbClr val="734221"/>
        </a:accent6>
        <a:hlink>
          <a:srgbClr val="803939"/>
        </a:hlink>
        <a:folHlink>
          <a:srgbClr val="6E5D22"/>
        </a:folHlink>
      </a:clrScheme>
      <a:clrMap bg1="lt1" tx1="dk1" bg2="lt2" tx2="dk2" accent1="accent1" accent2="accent2" accent3="accent3" accent4="accent4" accent5="accent5" accent6="accent6" hlink="hlink" folHlink="folHlink"/>
    </a:extraClrScheme>
    <a:extraClrScheme>
      <a:clrScheme name="1_Default Design 19">
        <a:dk1>
          <a:srgbClr val="000000"/>
        </a:dk1>
        <a:lt1>
          <a:srgbClr val="FFFFFF"/>
        </a:lt1>
        <a:dk2>
          <a:srgbClr val="000000"/>
        </a:dk2>
        <a:lt2>
          <a:srgbClr val="333333"/>
        </a:lt2>
        <a:accent1>
          <a:srgbClr val="335966"/>
        </a:accent1>
        <a:accent2>
          <a:srgbClr val="803939"/>
        </a:accent2>
        <a:accent3>
          <a:srgbClr val="FFFFFF"/>
        </a:accent3>
        <a:accent4>
          <a:srgbClr val="000000"/>
        </a:accent4>
        <a:accent5>
          <a:srgbClr val="ADB5B8"/>
        </a:accent5>
        <a:accent6>
          <a:srgbClr val="733333"/>
        </a:accent6>
        <a:hlink>
          <a:srgbClr val="526614"/>
        </a:hlink>
        <a:folHlink>
          <a:srgbClr val="553366"/>
        </a:folHlink>
      </a:clrScheme>
      <a:clrMap bg1="lt1" tx1="dk1" bg2="lt2" tx2="dk2" accent1="accent1" accent2="accent2" accent3="accent3" accent4="accent4" accent5="accent5" accent6="accent6" hlink="hlink" folHlink="folHlink"/>
    </a:extraClrScheme>
    <a:extraClrScheme>
      <a:clrScheme name="1_Default Design 20">
        <a:dk1>
          <a:srgbClr val="000000"/>
        </a:dk1>
        <a:lt1>
          <a:srgbClr val="FFFFFF"/>
        </a:lt1>
        <a:dk2>
          <a:srgbClr val="000000"/>
        </a:dk2>
        <a:lt2>
          <a:srgbClr val="333333"/>
        </a:lt2>
        <a:accent1>
          <a:srgbClr val="803939"/>
        </a:accent1>
        <a:accent2>
          <a:srgbClr val="736017"/>
        </a:accent2>
        <a:accent3>
          <a:srgbClr val="FFFFFF"/>
        </a:accent3>
        <a:accent4>
          <a:srgbClr val="000000"/>
        </a:accent4>
        <a:accent5>
          <a:srgbClr val="C0AEAE"/>
        </a:accent5>
        <a:accent6>
          <a:srgbClr val="685614"/>
        </a:accent6>
        <a:hlink>
          <a:srgbClr val="4A4080"/>
        </a:hlink>
        <a:folHlink>
          <a:srgbClr val="146614"/>
        </a:folHlink>
      </a:clrScheme>
      <a:clrMap bg1="lt1" tx1="dk1" bg2="lt2" tx2="dk2" accent1="accent1" accent2="accent2" accent3="accent3" accent4="accent4" accent5="accent5" accent6="accent6" hlink="hlink" folHlink="folHlink"/>
    </a:extraClrScheme>
    <a:extraClrScheme>
      <a:clrScheme name="1_Default Design 21">
        <a:dk1>
          <a:srgbClr val="000000"/>
        </a:dk1>
        <a:lt1>
          <a:srgbClr val="FFFFFF"/>
        </a:lt1>
        <a:dk2>
          <a:srgbClr val="000000"/>
        </a:dk2>
        <a:lt2>
          <a:srgbClr val="333333"/>
        </a:lt2>
        <a:accent1>
          <a:srgbClr val="ECEC00"/>
        </a:accent1>
        <a:accent2>
          <a:srgbClr val="E6CB00"/>
        </a:accent2>
        <a:accent3>
          <a:srgbClr val="FFFFFF"/>
        </a:accent3>
        <a:accent4>
          <a:srgbClr val="000000"/>
        </a:accent4>
        <a:accent5>
          <a:srgbClr val="F4F4AA"/>
        </a:accent5>
        <a:accent6>
          <a:srgbClr val="D0B800"/>
        </a:accent6>
        <a:hlink>
          <a:srgbClr val="837D00"/>
        </a:hlink>
        <a:folHlink>
          <a:srgbClr val="A39000"/>
        </a:folHlink>
      </a:clrScheme>
      <a:clrMap bg1="lt1" tx1="dk1" bg2="lt2" tx2="dk2" accent1="accent1" accent2="accent2" accent3="accent3" accent4="accent4" accent5="accent5" accent6="accent6" hlink="hlink" folHlink="folHlink"/>
    </a:extraClrScheme>
    <a:extraClrScheme>
      <a:clrScheme name="1_Default Design 22">
        <a:dk1>
          <a:srgbClr val="000000"/>
        </a:dk1>
        <a:lt1>
          <a:srgbClr val="FFFFFF"/>
        </a:lt1>
        <a:dk2>
          <a:srgbClr val="000000"/>
        </a:dk2>
        <a:lt2>
          <a:srgbClr val="333333"/>
        </a:lt2>
        <a:accent1>
          <a:srgbClr val="806919"/>
        </a:accent1>
        <a:accent2>
          <a:srgbClr val="688019"/>
        </a:accent2>
        <a:accent3>
          <a:srgbClr val="FFFFFF"/>
        </a:accent3>
        <a:accent4>
          <a:srgbClr val="000000"/>
        </a:accent4>
        <a:accent5>
          <a:srgbClr val="C0B9AB"/>
        </a:accent5>
        <a:accent6>
          <a:srgbClr val="5E7316"/>
        </a:accent6>
        <a:hlink>
          <a:srgbClr val="15616B"/>
        </a:hlink>
        <a:folHlink>
          <a:srgbClr val="807E19"/>
        </a:folHlink>
      </a:clrScheme>
      <a:clrMap bg1="lt1" tx1="dk1" bg2="lt2" tx2="dk2" accent1="accent1" accent2="accent2" accent3="accent3" accent4="accent4" accent5="accent5" accent6="accent6" hlink="hlink" folHlink="folHlink"/>
    </a:extraClrScheme>
    <a:extraClrScheme>
      <a:clrScheme name="1_Default Design 23">
        <a:dk1>
          <a:srgbClr val="000000"/>
        </a:dk1>
        <a:lt1>
          <a:srgbClr val="FFFFFF"/>
        </a:lt1>
        <a:dk2>
          <a:srgbClr val="000000"/>
        </a:dk2>
        <a:lt2>
          <a:srgbClr val="333333"/>
        </a:lt2>
        <a:accent1>
          <a:srgbClr val="803966"/>
        </a:accent1>
        <a:accent2>
          <a:srgbClr val="666514"/>
        </a:accent2>
        <a:accent3>
          <a:srgbClr val="FFFFFF"/>
        </a:accent3>
        <a:accent4>
          <a:srgbClr val="000000"/>
        </a:accent4>
        <a:accent5>
          <a:srgbClr val="C0AEB8"/>
        </a:accent5>
        <a:accent6>
          <a:srgbClr val="5C5B11"/>
        </a:accent6>
        <a:hlink>
          <a:srgbClr val="804733"/>
        </a:hlink>
        <a:folHlink>
          <a:srgbClr val="342E66"/>
        </a:folHlink>
      </a:clrScheme>
      <a:clrMap bg1="lt1" tx1="dk1" bg2="lt2" tx2="dk2" accent1="accent1" accent2="accent2" accent3="accent3" accent4="accent4" accent5="accent5" accent6="accent6" hlink="hlink" folHlink="folHlink"/>
    </a:extraClrScheme>
    <a:extraClrScheme>
      <a:clrScheme name="1_Default Design 24">
        <a:dk1>
          <a:srgbClr val="000000"/>
        </a:dk1>
        <a:lt1>
          <a:srgbClr val="FFFFFF"/>
        </a:lt1>
        <a:dk2>
          <a:srgbClr val="000000"/>
        </a:dk2>
        <a:lt2>
          <a:srgbClr val="333333"/>
        </a:lt2>
        <a:accent1>
          <a:srgbClr val="804119"/>
        </a:accent1>
        <a:accent2>
          <a:srgbClr val="197280"/>
        </a:accent2>
        <a:accent3>
          <a:srgbClr val="FFFFFF"/>
        </a:accent3>
        <a:accent4>
          <a:srgbClr val="000000"/>
        </a:accent4>
        <a:accent5>
          <a:srgbClr val="C0B0AB"/>
        </a:accent5>
        <a:accent6>
          <a:srgbClr val="166773"/>
        </a:accent6>
        <a:hlink>
          <a:srgbClr val="5C3D70"/>
        </a:hlink>
        <a:folHlink>
          <a:srgbClr val="5E5C13"/>
        </a:folHlink>
      </a:clrScheme>
      <a:clrMap bg1="lt1" tx1="dk1" bg2="lt2" tx2="dk2" accent1="accent1" accent2="accent2" accent3="accent3" accent4="accent4" accent5="accent5" accent6="accent6" hlink="hlink" folHlink="folHlink"/>
    </a:extraClrScheme>
    <a:extraClrScheme>
      <a:clrScheme name="1_Default Design 25">
        <a:dk1>
          <a:srgbClr val="000000"/>
        </a:dk1>
        <a:lt1>
          <a:srgbClr val="FFFFFF"/>
        </a:lt1>
        <a:dk2>
          <a:srgbClr val="000000"/>
        </a:dk2>
        <a:lt2>
          <a:srgbClr val="333333"/>
        </a:lt2>
        <a:accent1>
          <a:srgbClr val="4EC100"/>
        </a:accent1>
        <a:accent2>
          <a:srgbClr val="358400"/>
        </a:accent2>
        <a:accent3>
          <a:srgbClr val="FFFFFF"/>
        </a:accent3>
        <a:accent4>
          <a:srgbClr val="000000"/>
        </a:accent4>
        <a:accent5>
          <a:srgbClr val="B2DDAA"/>
        </a:accent5>
        <a:accent6>
          <a:srgbClr val="2F7700"/>
        </a:accent6>
        <a:hlink>
          <a:srgbClr val="296500"/>
        </a:hlink>
        <a:folHlink>
          <a:srgbClr val="466530"/>
        </a:folHlink>
      </a:clrScheme>
      <a:clrMap bg1="lt1" tx1="dk1" bg2="lt2" tx2="dk2" accent1="accent1" accent2="accent2" accent3="accent3" accent4="accent4" accent5="accent5" accent6="accent6" hlink="hlink" folHlink="folHlink"/>
    </a:extraClrScheme>
    <a:extraClrScheme>
      <a:clrScheme name="1_Default Design 26">
        <a:dk1>
          <a:srgbClr val="000000"/>
        </a:dk1>
        <a:lt1>
          <a:srgbClr val="FFFFFF"/>
        </a:lt1>
        <a:dk2>
          <a:srgbClr val="000000"/>
        </a:dk2>
        <a:lt2>
          <a:srgbClr val="333333"/>
        </a:lt2>
        <a:accent1>
          <a:srgbClr val="586614"/>
        </a:accent1>
        <a:accent2>
          <a:srgbClr val="295966"/>
        </a:accent2>
        <a:accent3>
          <a:srgbClr val="FFFFFF"/>
        </a:accent3>
        <a:accent4>
          <a:srgbClr val="000000"/>
        </a:accent4>
        <a:accent5>
          <a:srgbClr val="B4B8AA"/>
        </a:accent5>
        <a:accent6>
          <a:srgbClr val="24505C"/>
        </a:accent6>
        <a:hlink>
          <a:srgbClr val="735F22"/>
        </a:hlink>
        <a:folHlink>
          <a:srgbClr val="3A7317"/>
        </a:folHlink>
      </a:clrScheme>
      <a:clrMap bg1="lt1" tx1="dk1" bg2="lt2" tx2="dk2" accent1="accent1" accent2="accent2" accent3="accent3" accent4="accent4" accent5="accent5" accent6="accent6" hlink="hlink" folHlink="folHlink"/>
    </a:extraClrScheme>
    <a:extraClrScheme>
      <a:clrScheme name="1_Default Design 27">
        <a:dk1>
          <a:srgbClr val="000000"/>
        </a:dk1>
        <a:lt1>
          <a:srgbClr val="FFFFFF"/>
        </a:lt1>
        <a:dk2>
          <a:srgbClr val="000000"/>
        </a:dk2>
        <a:lt2>
          <a:srgbClr val="333333"/>
        </a:lt2>
        <a:accent1>
          <a:srgbClr val="80406B"/>
        </a:accent1>
        <a:accent2>
          <a:srgbClr val="804E33"/>
        </a:accent2>
        <a:accent3>
          <a:srgbClr val="FFFFFF"/>
        </a:accent3>
        <a:accent4>
          <a:srgbClr val="000000"/>
        </a:accent4>
        <a:accent5>
          <a:srgbClr val="C0AFBA"/>
        </a:accent5>
        <a:accent6>
          <a:srgbClr val="73462D"/>
        </a:accent6>
        <a:hlink>
          <a:srgbClr val="356614"/>
        </a:hlink>
        <a:folHlink>
          <a:srgbClr val="3A3973"/>
        </a:folHlink>
      </a:clrScheme>
      <a:clrMap bg1="lt1" tx1="dk1" bg2="lt2" tx2="dk2" accent1="accent1" accent2="accent2" accent3="accent3" accent4="accent4" accent5="accent5" accent6="accent6" hlink="hlink" folHlink="folHlink"/>
    </a:extraClrScheme>
    <a:extraClrScheme>
      <a:clrScheme name="1_Default Design 28">
        <a:dk1>
          <a:srgbClr val="000000"/>
        </a:dk1>
        <a:lt1>
          <a:srgbClr val="FFFFFF"/>
        </a:lt1>
        <a:dk2>
          <a:srgbClr val="000000"/>
        </a:dk2>
        <a:lt2>
          <a:srgbClr val="333333"/>
        </a:lt2>
        <a:accent1>
          <a:srgbClr val="8C3F48"/>
        </a:accent1>
        <a:accent2>
          <a:srgbClr val="3D7317"/>
        </a:accent2>
        <a:accent3>
          <a:srgbClr val="FFFFFF"/>
        </a:accent3>
        <a:accent4>
          <a:srgbClr val="000000"/>
        </a:accent4>
        <a:accent5>
          <a:srgbClr val="C5AFB1"/>
        </a:accent5>
        <a:accent6>
          <a:srgbClr val="366814"/>
        </a:accent6>
        <a:hlink>
          <a:srgbClr val="404080"/>
        </a:hlink>
        <a:folHlink>
          <a:srgbClr val="736328"/>
        </a:folHlink>
      </a:clrScheme>
      <a:clrMap bg1="lt1" tx1="dk1" bg2="lt2" tx2="dk2" accent1="accent1" accent2="accent2" accent3="accent3" accent4="accent4" accent5="accent5" accent6="accent6" hlink="hlink" folHlink="folHlink"/>
    </a:extraClrScheme>
    <a:extraClrScheme>
      <a:clrScheme name="1_Default Design 29">
        <a:dk1>
          <a:srgbClr val="000000"/>
        </a:dk1>
        <a:lt1>
          <a:srgbClr val="FFFFFF"/>
        </a:lt1>
        <a:dk2>
          <a:srgbClr val="000000"/>
        </a:dk2>
        <a:lt2>
          <a:srgbClr val="333333"/>
        </a:lt2>
        <a:accent1>
          <a:srgbClr val="00A5C9"/>
        </a:accent1>
        <a:accent2>
          <a:srgbClr val="427D89"/>
        </a:accent2>
        <a:accent3>
          <a:srgbClr val="FFFFFF"/>
        </a:accent3>
        <a:accent4>
          <a:srgbClr val="000000"/>
        </a:accent4>
        <a:accent5>
          <a:srgbClr val="AACFE1"/>
        </a:accent5>
        <a:accent6>
          <a:srgbClr val="3B717C"/>
        </a:accent6>
        <a:hlink>
          <a:srgbClr val="006880"/>
        </a:hlink>
        <a:folHlink>
          <a:srgbClr val="005161"/>
        </a:folHlink>
      </a:clrScheme>
      <a:clrMap bg1="lt1" tx1="dk1" bg2="lt2" tx2="dk2" accent1="accent1" accent2="accent2" accent3="accent3" accent4="accent4" accent5="accent5" accent6="accent6" hlink="hlink" folHlink="folHlink"/>
    </a:extraClrScheme>
    <a:extraClrScheme>
      <a:clrScheme name="1_Default Design 30">
        <a:dk1>
          <a:srgbClr val="000000"/>
        </a:dk1>
        <a:lt1>
          <a:srgbClr val="FFFFFF"/>
        </a:lt1>
        <a:dk2>
          <a:srgbClr val="000000"/>
        </a:dk2>
        <a:lt2>
          <a:srgbClr val="333333"/>
        </a:lt2>
        <a:accent1>
          <a:srgbClr val="1F5499"/>
        </a:accent1>
        <a:accent2>
          <a:srgbClr val="1D8019"/>
        </a:accent2>
        <a:accent3>
          <a:srgbClr val="FFFFFF"/>
        </a:accent3>
        <a:accent4>
          <a:srgbClr val="000000"/>
        </a:accent4>
        <a:accent5>
          <a:srgbClr val="ABB3CA"/>
        </a:accent5>
        <a:accent6>
          <a:srgbClr val="197316"/>
        </a:accent6>
        <a:hlink>
          <a:srgbClr val="218BA3"/>
        </a:hlink>
        <a:folHlink>
          <a:srgbClr val="574C99"/>
        </a:folHlink>
      </a:clrScheme>
      <a:clrMap bg1="lt1" tx1="dk1" bg2="lt2" tx2="dk2" accent1="accent1" accent2="accent2" accent3="accent3" accent4="accent4" accent5="accent5" accent6="accent6" hlink="hlink" folHlink="folHlink"/>
    </a:extraClrScheme>
    <a:extraClrScheme>
      <a:clrScheme name="1_Default Design 31">
        <a:dk1>
          <a:srgbClr val="000000"/>
        </a:dk1>
        <a:lt1>
          <a:srgbClr val="FFFFFF"/>
        </a:lt1>
        <a:dk2>
          <a:srgbClr val="000000"/>
        </a:dk2>
        <a:lt2>
          <a:srgbClr val="333333"/>
        </a:lt2>
        <a:accent1>
          <a:srgbClr val="80393B"/>
        </a:accent1>
        <a:accent2>
          <a:srgbClr val="196D80"/>
        </a:accent2>
        <a:accent3>
          <a:srgbClr val="FFFFFF"/>
        </a:accent3>
        <a:accent4>
          <a:srgbClr val="000000"/>
        </a:accent4>
        <a:accent5>
          <a:srgbClr val="C0AEAF"/>
        </a:accent5>
        <a:accent6>
          <a:srgbClr val="166273"/>
        </a:accent6>
        <a:hlink>
          <a:srgbClr val="805519"/>
        </a:hlink>
        <a:folHlink>
          <a:srgbClr val="803965"/>
        </a:folHlink>
      </a:clrScheme>
      <a:clrMap bg1="lt1" tx1="dk1" bg2="lt2" tx2="dk2" accent1="accent1" accent2="accent2" accent3="accent3" accent4="accent4" accent5="accent5" accent6="accent6" hlink="hlink" folHlink="folHlink"/>
    </a:extraClrScheme>
    <a:extraClrScheme>
      <a:clrScheme name="1_Default Design 32">
        <a:dk1>
          <a:srgbClr val="000000"/>
        </a:dk1>
        <a:lt1>
          <a:srgbClr val="FFFFFF"/>
        </a:lt1>
        <a:dk2>
          <a:srgbClr val="000000"/>
        </a:dk2>
        <a:lt2>
          <a:srgbClr val="333333"/>
        </a:lt2>
        <a:accent1>
          <a:srgbClr val="666514"/>
        </a:accent1>
        <a:accent2>
          <a:srgbClr val="145766"/>
        </a:accent2>
        <a:accent3>
          <a:srgbClr val="FFFFFF"/>
        </a:accent3>
        <a:accent4>
          <a:srgbClr val="000000"/>
        </a:accent4>
        <a:accent5>
          <a:srgbClr val="B8B8AA"/>
        </a:accent5>
        <a:accent6>
          <a:srgbClr val="114E5C"/>
        </a:accent6>
        <a:hlink>
          <a:srgbClr val="664029"/>
        </a:hlink>
        <a:folHlink>
          <a:srgbClr val="5C3473"/>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ind_1940_slide</Template>
  <TotalTime>501</TotalTime>
  <Words>3202</Words>
  <Application>Microsoft Office PowerPoint</Application>
  <PresentationFormat>On-screen Show (4:3)</PresentationFormat>
  <Paragraphs>312</Paragraphs>
  <Slides>41</Slides>
  <Notes>21</Notes>
  <HiddenSlides>0</HiddenSlides>
  <MMClips>0</MMClips>
  <ScaleCrop>false</ScaleCrop>
  <HeadingPairs>
    <vt:vector size="4" baseType="variant">
      <vt:variant>
        <vt:lpstr>Theme</vt:lpstr>
      </vt:variant>
      <vt:variant>
        <vt:i4>2</vt:i4>
      </vt:variant>
      <vt:variant>
        <vt:lpstr>Slide Titles</vt:lpstr>
      </vt:variant>
      <vt:variant>
        <vt:i4>41</vt:i4>
      </vt:variant>
    </vt:vector>
  </HeadingPairs>
  <TitlesOfParts>
    <vt:vector size="43" baseType="lpstr">
      <vt:lpstr>ind_1940_slide</vt:lpstr>
      <vt:lpstr>1_Default Design</vt:lpstr>
      <vt:lpstr>Cryptography </vt:lpstr>
      <vt:lpstr>Chapter 9 – Public Key Cryptography and RSA</vt:lpstr>
      <vt:lpstr>Private-Key Cryptography</vt:lpstr>
      <vt:lpstr>Symmetric Cryptography: Analogy</vt:lpstr>
      <vt:lpstr>PowerPoint Presentation</vt:lpstr>
      <vt:lpstr>Public-Key Cryptography</vt:lpstr>
      <vt:lpstr>Idea behind Asymmetric Cryptography</vt:lpstr>
      <vt:lpstr>Asymmetric Cryptography: Analogy</vt:lpstr>
      <vt:lpstr>Public-Key Cryptography</vt:lpstr>
      <vt:lpstr>Public-Key Cryptography</vt:lpstr>
      <vt:lpstr>Why Public-Key Cryptography?</vt:lpstr>
      <vt:lpstr>Public-Key Characteristics</vt:lpstr>
      <vt:lpstr>A breakthrough idea</vt:lpstr>
      <vt:lpstr>A word of warning</vt:lpstr>
      <vt:lpstr>…</vt:lpstr>
      <vt:lpstr>Essential steps in public-key encryption</vt:lpstr>
      <vt:lpstr>…</vt:lpstr>
      <vt:lpstr>Bob sends an encrypted message to Alice</vt:lpstr>
      <vt:lpstr> Some notation  </vt:lpstr>
      <vt:lpstr> A first attack on the public-key scheme – authenticity </vt:lpstr>
      <vt:lpstr>     The authenticity of user B can be established as follows: </vt:lpstr>
      <vt:lpstr> A scheme to authenticate the sender of the message </vt:lpstr>
      <vt:lpstr>Encryption and authenticity </vt:lpstr>
      <vt:lpstr>         One can provide both authentication and confidentiality using the public-key scheme  twice:</vt:lpstr>
      <vt:lpstr>Secrecy and authentication using public-key schemes.</vt:lpstr>
      <vt:lpstr> Applications for public-key cryptosystems </vt:lpstr>
      <vt:lpstr>Symmetric vs Public-Key</vt:lpstr>
      <vt:lpstr>Security of Public Key Schemes</vt:lpstr>
      <vt:lpstr>RSA</vt:lpstr>
      <vt:lpstr>Encryption and Decryption</vt:lpstr>
      <vt:lpstr>Key Generation</vt:lpstr>
      <vt:lpstr>Example: RSA with small numbers</vt:lpstr>
      <vt:lpstr>Using the Euclidean algorithm</vt:lpstr>
      <vt:lpstr>PowerPoint Presentation</vt:lpstr>
      <vt:lpstr>RSA example:</vt:lpstr>
      <vt:lpstr>RSA Security</vt:lpstr>
      <vt:lpstr>Timing Attacks</vt:lpstr>
      <vt:lpstr>Chosen Ciphertext Attacks</vt:lpstr>
      <vt:lpstr>Optimal Asymmetric Encryption Padding (OASP)</vt:lpstr>
      <vt:lpstr>Summary</vt:lpstr>
      <vt:lpstr>References and further readings</vt:lpstr>
    </vt:vector>
  </TitlesOfParts>
  <Company>SGS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dc:title>
  <dc:creator>Liaquat_Ali</dc:creator>
  <cp:lastModifiedBy>seecs</cp:lastModifiedBy>
  <cp:revision>12</cp:revision>
  <dcterms:created xsi:type="dcterms:W3CDTF">2017-03-07T10:32:01Z</dcterms:created>
  <dcterms:modified xsi:type="dcterms:W3CDTF">2017-03-14T11:37:10Z</dcterms:modified>
</cp:coreProperties>
</file>