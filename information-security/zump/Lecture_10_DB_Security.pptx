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9" r:id="rId3"/>
    <p:sldId id="260" r:id="rId4"/>
    <p:sldId id="257" r:id="rId5"/>
    <p:sldId id="258" r:id="rId6"/>
    <p:sldId id="261" r:id="rId7"/>
    <p:sldId id="262" r:id="rId8"/>
    <p:sldId id="265" r:id="rId9"/>
    <p:sldId id="263"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2" r:id="rId27"/>
    <p:sldId id="283" r:id="rId28"/>
    <p:sldId id="284" r:id="rId29"/>
    <p:sldId id="286" r:id="rId30"/>
    <p:sldId id="285" r:id="rId31"/>
    <p:sldId id="287" r:id="rId32"/>
    <p:sldId id="288" r:id="rId33"/>
    <p:sldId id="281" r:id="rId34"/>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766" autoAdjust="0"/>
  </p:normalViewPr>
  <p:slideViewPr>
    <p:cSldViewPr snapToGrid="0">
      <p:cViewPr varScale="1">
        <p:scale>
          <a:sx n="76" d="100"/>
          <a:sy n="76" d="100"/>
        </p:scale>
        <p:origin x="917"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3DD89B-5F63-4F01-B03E-BFED30EA9131}" type="datetimeFigureOut">
              <a:rPr lang="en-PK" smtClean="0"/>
              <a:t>20/01/2025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60B214-8770-4AD0-AEC0-947A9DDE804E}" type="slidenum">
              <a:rPr lang="en-PK" smtClean="0"/>
              <a:t>‹#›</a:t>
            </a:fld>
            <a:endParaRPr lang="en-PK"/>
          </a:p>
        </p:txBody>
      </p:sp>
    </p:spTree>
    <p:extLst>
      <p:ext uri="{BB962C8B-B14F-4D97-AF65-F5344CB8AC3E}">
        <p14:creationId xmlns:p14="http://schemas.microsoft.com/office/powerpoint/2010/main" val="2810836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Some information should be available freely.</a:t>
            </a:r>
          </a:p>
          <a:p>
            <a:pPr marL="171450" indent="-171450">
              <a:buFont typeface="Arial" panose="020B0604020202020204" pitchFamily="34" charset="0"/>
              <a:buChar char="•"/>
            </a:pPr>
            <a:r>
              <a:rPr lang="en-US" dirty="0"/>
              <a:t>Other information should only be available to certain people or groups.</a:t>
            </a:r>
            <a:endParaRPr lang="en-PK" dirty="0"/>
          </a:p>
        </p:txBody>
      </p:sp>
      <p:sp>
        <p:nvSpPr>
          <p:cNvPr id="4" name="Slide Number Placeholder 3"/>
          <p:cNvSpPr>
            <a:spLocks noGrp="1"/>
          </p:cNvSpPr>
          <p:nvPr>
            <p:ph type="sldNum" sz="quarter" idx="5"/>
          </p:nvPr>
        </p:nvSpPr>
        <p:spPr/>
        <p:txBody>
          <a:bodyPr/>
          <a:lstStyle/>
          <a:p>
            <a:fld id="{6260B214-8770-4AD0-AEC0-947A9DDE804E}" type="slidenum">
              <a:rPr lang="en-PK" smtClean="0"/>
              <a:t>4</a:t>
            </a:fld>
            <a:endParaRPr lang="en-PK"/>
          </a:p>
        </p:txBody>
      </p:sp>
    </p:spTree>
    <p:extLst>
      <p:ext uri="{BB962C8B-B14F-4D97-AF65-F5344CB8AC3E}">
        <p14:creationId xmlns:p14="http://schemas.microsoft.com/office/powerpoint/2010/main" val="2773741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a malicious query creates a table called 'users' with columns for storing user information, including a default password value of '123456'. This highlights the importance of input validation and secure default settings to prevent unauthorized access.</a:t>
            </a:r>
            <a:endParaRPr lang="en-PK" dirty="0"/>
          </a:p>
        </p:txBody>
      </p:sp>
      <p:sp>
        <p:nvSpPr>
          <p:cNvPr id="4" name="Slide Number Placeholder 3"/>
          <p:cNvSpPr>
            <a:spLocks noGrp="1"/>
          </p:cNvSpPr>
          <p:nvPr>
            <p:ph type="sldNum" sz="quarter" idx="5"/>
          </p:nvPr>
        </p:nvSpPr>
        <p:spPr/>
        <p:txBody>
          <a:bodyPr/>
          <a:lstStyle/>
          <a:p>
            <a:fld id="{6260B214-8770-4AD0-AEC0-947A9DDE804E}" type="slidenum">
              <a:rPr lang="en-PK" smtClean="0"/>
              <a:t>8</a:t>
            </a:fld>
            <a:endParaRPr lang="en-PK"/>
          </a:p>
        </p:txBody>
      </p:sp>
    </p:spTree>
    <p:extLst>
      <p:ext uri="{BB962C8B-B14F-4D97-AF65-F5344CB8AC3E}">
        <p14:creationId xmlns:p14="http://schemas.microsoft.com/office/powerpoint/2010/main" val="684860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demonstrates a potentially harmful insert query that attempts to insert a new user ('admin') with a password ('admin') and then tries to drop the 'users' table. It emphasizes the danger of SQL injection attacks and the need for proper input validation and parameterized queries.</a:t>
            </a:r>
            <a:endParaRPr lang="en-PK" dirty="0"/>
          </a:p>
        </p:txBody>
      </p:sp>
      <p:sp>
        <p:nvSpPr>
          <p:cNvPr id="4" name="Slide Number Placeholder 3"/>
          <p:cNvSpPr>
            <a:spLocks noGrp="1"/>
          </p:cNvSpPr>
          <p:nvPr>
            <p:ph type="sldNum" sz="quarter" idx="5"/>
          </p:nvPr>
        </p:nvSpPr>
        <p:spPr/>
        <p:txBody>
          <a:bodyPr/>
          <a:lstStyle/>
          <a:p>
            <a:fld id="{6260B214-8770-4AD0-AEC0-947A9DDE804E}" type="slidenum">
              <a:rPr lang="en-PK" smtClean="0"/>
              <a:t>11</a:t>
            </a:fld>
            <a:endParaRPr lang="en-PK"/>
          </a:p>
        </p:txBody>
      </p:sp>
    </p:spTree>
    <p:extLst>
      <p:ext uri="{BB962C8B-B14F-4D97-AF65-F5344CB8AC3E}">
        <p14:creationId xmlns:p14="http://schemas.microsoft.com/office/powerpoint/2010/main" val="984668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6260B214-8770-4AD0-AEC0-947A9DDE804E}" type="slidenum">
              <a:rPr lang="en-PK" smtClean="0"/>
              <a:t>12</a:t>
            </a:fld>
            <a:endParaRPr lang="en-PK"/>
          </a:p>
        </p:txBody>
      </p:sp>
    </p:spTree>
    <p:extLst>
      <p:ext uri="{BB962C8B-B14F-4D97-AF65-F5344CB8AC3E}">
        <p14:creationId xmlns:p14="http://schemas.microsoft.com/office/powerpoint/2010/main" val="37694381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6260B214-8770-4AD0-AEC0-947A9DDE804E}" type="slidenum">
              <a:rPr lang="en-PK" smtClean="0"/>
              <a:t>13</a:t>
            </a:fld>
            <a:endParaRPr lang="en-PK"/>
          </a:p>
        </p:txBody>
      </p:sp>
    </p:spTree>
    <p:extLst>
      <p:ext uri="{BB962C8B-B14F-4D97-AF65-F5344CB8AC3E}">
        <p14:creationId xmlns:p14="http://schemas.microsoft.com/office/powerpoint/2010/main" val="262303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the malicious query attempts to update all the grades in the 'grades' table and set them to 'A+'. The condition '1=1' ensures that the update operation applies to all records in the table. This highlights the potential risks of unauthorized modifications to grades and emphasizes the importance of access controls and proper authorization mechanisms to protect the integrity of student data.</a:t>
            </a:r>
            <a:endParaRPr lang="en-PK" dirty="0"/>
          </a:p>
        </p:txBody>
      </p:sp>
      <p:sp>
        <p:nvSpPr>
          <p:cNvPr id="4" name="Slide Number Placeholder 3"/>
          <p:cNvSpPr>
            <a:spLocks noGrp="1"/>
          </p:cNvSpPr>
          <p:nvPr>
            <p:ph type="sldNum" sz="quarter" idx="5"/>
          </p:nvPr>
        </p:nvSpPr>
        <p:spPr/>
        <p:txBody>
          <a:bodyPr/>
          <a:lstStyle/>
          <a:p>
            <a:fld id="{6260B214-8770-4AD0-AEC0-947A9DDE804E}" type="slidenum">
              <a:rPr lang="en-PK" smtClean="0"/>
              <a:t>14</a:t>
            </a:fld>
            <a:endParaRPr lang="en-PK"/>
          </a:p>
        </p:txBody>
      </p:sp>
    </p:spTree>
    <p:extLst>
      <p:ext uri="{BB962C8B-B14F-4D97-AF65-F5344CB8AC3E}">
        <p14:creationId xmlns:p14="http://schemas.microsoft.com/office/powerpoint/2010/main" val="132908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6260B214-8770-4AD0-AEC0-947A9DDE804E}" type="slidenum">
              <a:rPr lang="en-PK" smtClean="0"/>
              <a:t>15</a:t>
            </a:fld>
            <a:endParaRPr lang="en-PK"/>
          </a:p>
        </p:txBody>
      </p:sp>
    </p:spTree>
    <p:extLst>
      <p:ext uri="{BB962C8B-B14F-4D97-AF65-F5344CB8AC3E}">
        <p14:creationId xmlns:p14="http://schemas.microsoft.com/office/powerpoint/2010/main" val="17205517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6260B214-8770-4AD0-AEC0-947A9DDE804E}" type="slidenum">
              <a:rPr lang="en-PK" smtClean="0"/>
              <a:t>16</a:t>
            </a:fld>
            <a:endParaRPr lang="en-PK"/>
          </a:p>
        </p:txBody>
      </p:sp>
    </p:spTree>
    <p:extLst>
      <p:ext uri="{BB962C8B-B14F-4D97-AF65-F5344CB8AC3E}">
        <p14:creationId xmlns:p14="http://schemas.microsoft.com/office/powerpoint/2010/main" val="9070577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the malicious query attempts to delete all records from the 'inventory' table in the online bookstore's database. The condition '1=1' ensures that the delete operation applies to all records in the table. This highlights the potential risks of unauthorized deletion of product inventory and emphasizes the importance of access controls and proper authorization mechanisms to prevent malicious activities and protect the integrity of the online bookstore's data.</a:t>
            </a:r>
            <a:endParaRPr lang="en-PK" dirty="0"/>
          </a:p>
        </p:txBody>
      </p:sp>
      <p:sp>
        <p:nvSpPr>
          <p:cNvPr id="4" name="Slide Number Placeholder 3"/>
          <p:cNvSpPr>
            <a:spLocks noGrp="1"/>
          </p:cNvSpPr>
          <p:nvPr>
            <p:ph type="sldNum" sz="quarter" idx="5"/>
          </p:nvPr>
        </p:nvSpPr>
        <p:spPr/>
        <p:txBody>
          <a:bodyPr/>
          <a:lstStyle/>
          <a:p>
            <a:fld id="{6260B214-8770-4AD0-AEC0-947A9DDE804E}" type="slidenum">
              <a:rPr lang="en-PK" smtClean="0"/>
              <a:t>17</a:t>
            </a:fld>
            <a:endParaRPr lang="en-PK"/>
          </a:p>
        </p:txBody>
      </p:sp>
    </p:spTree>
    <p:extLst>
      <p:ext uri="{BB962C8B-B14F-4D97-AF65-F5344CB8AC3E}">
        <p14:creationId xmlns:p14="http://schemas.microsoft.com/office/powerpoint/2010/main" val="3511629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6260B214-8770-4AD0-AEC0-947A9DDE804E}" type="slidenum">
              <a:rPr lang="en-PK" smtClean="0"/>
              <a:t>18</a:t>
            </a:fld>
            <a:endParaRPr lang="en-PK"/>
          </a:p>
        </p:txBody>
      </p:sp>
    </p:spTree>
    <p:extLst>
      <p:ext uri="{BB962C8B-B14F-4D97-AF65-F5344CB8AC3E}">
        <p14:creationId xmlns:p14="http://schemas.microsoft.com/office/powerpoint/2010/main" val="32190667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6260B214-8770-4AD0-AEC0-947A9DDE804E}" type="slidenum">
              <a:rPr lang="en-PK" smtClean="0"/>
              <a:t>19</a:t>
            </a:fld>
            <a:endParaRPr lang="en-PK"/>
          </a:p>
        </p:txBody>
      </p:sp>
    </p:spTree>
    <p:extLst>
      <p:ext uri="{BB962C8B-B14F-4D97-AF65-F5344CB8AC3E}">
        <p14:creationId xmlns:p14="http://schemas.microsoft.com/office/powerpoint/2010/main" val="18802769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query grants specific permissions (SELECT, INSERT, UPDATE) to a user (‘</a:t>
            </a:r>
            <a:r>
              <a:rPr lang="en-US" dirty="0" err="1"/>
              <a:t>AnnasWasim</a:t>
            </a:r>
            <a:r>
              <a:rPr lang="en-US" dirty="0"/>
              <a:t>') on a particular table ('</a:t>
            </a:r>
            <a:r>
              <a:rPr lang="en-US" dirty="0">
                <a:solidFill>
                  <a:srgbClr val="7030A0"/>
                </a:solidFill>
              </a:rPr>
              <a:t>students_data</a:t>
            </a:r>
            <a:r>
              <a:rPr lang="en-US" dirty="0"/>
              <a:t>'). It showcases the use of the GRANT statement to provide privileges to users based on their requirements.</a:t>
            </a:r>
            <a:endParaRPr lang="en-PK" dirty="0"/>
          </a:p>
        </p:txBody>
      </p:sp>
      <p:sp>
        <p:nvSpPr>
          <p:cNvPr id="4" name="Slide Number Placeholder 3"/>
          <p:cNvSpPr>
            <a:spLocks noGrp="1"/>
          </p:cNvSpPr>
          <p:nvPr>
            <p:ph type="sldNum" sz="quarter" idx="5"/>
          </p:nvPr>
        </p:nvSpPr>
        <p:spPr/>
        <p:txBody>
          <a:bodyPr/>
          <a:lstStyle/>
          <a:p>
            <a:fld id="{6260B214-8770-4AD0-AEC0-947A9DDE804E}" type="slidenum">
              <a:rPr lang="en-PK" smtClean="0"/>
              <a:t>20</a:t>
            </a:fld>
            <a:endParaRPr lang="en-PK"/>
          </a:p>
        </p:txBody>
      </p:sp>
    </p:spTree>
    <p:extLst>
      <p:ext uri="{BB962C8B-B14F-4D97-AF65-F5344CB8AC3E}">
        <p14:creationId xmlns:p14="http://schemas.microsoft.com/office/powerpoint/2010/main" val="5275971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6260B214-8770-4AD0-AEC0-947A9DDE804E}" type="slidenum">
              <a:rPr lang="en-PK" smtClean="0"/>
              <a:t>21</a:t>
            </a:fld>
            <a:endParaRPr lang="en-PK"/>
          </a:p>
        </p:txBody>
      </p:sp>
    </p:spTree>
    <p:extLst>
      <p:ext uri="{BB962C8B-B14F-4D97-AF65-F5344CB8AC3E}">
        <p14:creationId xmlns:p14="http://schemas.microsoft.com/office/powerpoint/2010/main" val="29140771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6260B214-8770-4AD0-AEC0-947A9DDE804E}" type="slidenum">
              <a:rPr lang="en-PK" smtClean="0"/>
              <a:t>22</a:t>
            </a:fld>
            <a:endParaRPr lang="en-PK"/>
          </a:p>
        </p:txBody>
      </p:sp>
    </p:spTree>
    <p:extLst>
      <p:ext uri="{BB962C8B-B14F-4D97-AF65-F5344CB8AC3E}">
        <p14:creationId xmlns:p14="http://schemas.microsoft.com/office/powerpoint/2010/main" val="42304731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query revokes specific permissions (INSERT, UPDATE, DELETE) from a user (‘</a:t>
            </a:r>
            <a:r>
              <a:rPr lang="en-US" dirty="0" err="1">
                <a:solidFill>
                  <a:srgbClr val="FF0000"/>
                </a:solidFill>
              </a:rPr>
              <a:t>AnnasWasim</a:t>
            </a:r>
            <a:r>
              <a:rPr lang="en-US" dirty="0">
                <a:solidFill>
                  <a:srgbClr val="FF0000"/>
                </a:solidFill>
              </a:rPr>
              <a:t>’</a:t>
            </a:r>
            <a:r>
              <a:rPr lang="en-US" dirty="0"/>
              <a:t>) on a particular table (‘</a:t>
            </a:r>
            <a:r>
              <a:rPr lang="en-US" dirty="0" err="1">
                <a:solidFill>
                  <a:schemeClr val="accent6">
                    <a:lumMod val="75000"/>
                  </a:schemeClr>
                </a:solidFill>
              </a:rPr>
              <a:t>student_data</a:t>
            </a:r>
            <a:r>
              <a:rPr lang="en-US" dirty="0"/>
              <a:t>'). It demonstrates the use of the REVOKE statement to remove privileges from users when necessary.</a:t>
            </a:r>
            <a:endParaRPr lang="en-PK" dirty="0"/>
          </a:p>
        </p:txBody>
      </p:sp>
      <p:sp>
        <p:nvSpPr>
          <p:cNvPr id="4" name="Slide Number Placeholder 3"/>
          <p:cNvSpPr>
            <a:spLocks noGrp="1"/>
          </p:cNvSpPr>
          <p:nvPr>
            <p:ph type="sldNum" sz="quarter" idx="5"/>
          </p:nvPr>
        </p:nvSpPr>
        <p:spPr/>
        <p:txBody>
          <a:bodyPr/>
          <a:lstStyle/>
          <a:p>
            <a:fld id="{6260B214-8770-4AD0-AEC0-947A9DDE804E}" type="slidenum">
              <a:rPr lang="en-PK" smtClean="0"/>
              <a:t>23</a:t>
            </a:fld>
            <a:endParaRPr lang="en-PK"/>
          </a:p>
        </p:txBody>
      </p:sp>
    </p:spTree>
    <p:extLst>
      <p:ext uri="{BB962C8B-B14F-4D97-AF65-F5344CB8AC3E}">
        <p14:creationId xmlns:p14="http://schemas.microsoft.com/office/powerpoint/2010/main" val="24575590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This query retrieves the permissions assigned to a specific user (e.g., '</a:t>
            </a:r>
            <a:r>
              <a:rPr lang="en-US" dirty="0" err="1"/>
              <a:t>JohnDoe</a:t>
            </a:r>
            <a:r>
              <a:rPr lang="en-US" dirty="0"/>
              <a:t>') from a table called '</a:t>
            </a:r>
            <a:r>
              <a:rPr lang="en-US" dirty="0" err="1"/>
              <a:t>user_permissions</a:t>
            </a:r>
            <a:r>
              <a:rPr lang="en-US" dirty="0"/>
              <a:t>'. It helps administrators or users to verify the level of access granted to a particular user.</a:t>
            </a:r>
          </a:p>
          <a:p>
            <a:pPr marL="228600" indent="-228600">
              <a:buFont typeface="+mj-lt"/>
              <a:buAutoNum type="arabicPeriod"/>
            </a:pPr>
            <a:endParaRPr lang="en-US" dirty="0"/>
          </a:p>
          <a:p>
            <a:pPr marL="228600" indent="-228600">
              <a:buFont typeface="+mj-lt"/>
              <a:buAutoNum type="arabicPeriod"/>
            </a:pPr>
            <a:r>
              <a:rPr lang="en-US" dirty="0"/>
              <a:t>This query retrieves the timestamp, user, and activity details from an '</a:t>
            </a:r>
            <a:r>
              <a:rPr lang="en-US" dirty="0" err="1"/>
              <a:t>audit_log</a:t>
            </a:r>
            <a:r>
              <a:rPr lang="en-US" dirty="0"/>
              <a:t>' table within a specified date range. It helps in auditing database activity and identifying any suspicious or unauthorized actions.</a:t>
            </a:r>
          </a:p>
          <a:p>
            <a:pPr marL="228600" indent="-228600">
              <a:buFont typeface="+mj-lt"/>
              <a:buAutoNum type="arabicPeriod"/>
            </a:pPr>
            <a:endParaRPr lang="en-US" dirty="0"/>
          </a:p>
          <a:p>
            <a:pPr marL="228600" indent="-228600">
              <a:buFont typeface="+mj-lt"/>
              <a:buAutoNum type="arabicPeriod"/>
            </a:pPr>
            <a:r>
              <a:rPr lang="en-US" dirty="0"/>
              <a:t>This query demonstrates a vulnerable SQL statement susceptible to SQL injection attacks. It highlights the importance of input validation and the use of parameterized queries to prevent unauthorized access to the database.</a:t>
            </a:r>
          </a:p>
          <a:p>
            <a:pPr marL="228600" indent="-228600">
              <a:buFont typeface="+mj-lt"/>
              <a:buAutoNum type="arabicPeriod"/>
            </a:pPr>
            <a:endParaRPr lang="en-US" dirty="0"/>
          </a:p>
          <a:p>
            <a:pPr marL="228600" indent="-228600">
              <a:buFont typeface="+mj-lt"/>
              <a:buAutoNum type="arabicPeriod"/>
            </a:pPr>
            <a:r>
              <a:rPr lang="en-US" dirty="0"/>
              <a:t>This query counts the number of failed login attempts recorded in a '</a:t>
            </a:r>
            <a:r>
              <a:rPr lang="en-US" dirty="0" err="1"/>
              <a:t>login_attempts</a:t>
            </a:r>
            <a:r>
              <a:rPr lang="en-US" dirty="0"/>
              <a:t>' table since a specific date ('2023-01-01'). It helps in identifying potential brute-force attacks or unauthorized access attempts.</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These query examples illustrate different scenarios related to database security, including user permissions, auditing, granting/revoke privileges, vulnerability checks, and monitoring login attempts.</a:t>
            </a:r>
            <a:endParaRPr lang="en-PK" dirty="0"/>
          </a:p>
        </p:txBody>
      </p:sp>
      <p:sp>
        <p:nvSpPr>
          <p:cNvPr id="4" name="Slide Number Placeholder 3"/>
          <p:cNvSpPr>
            <a:spLocks noGrp="1"/>
          </p:cNvSpPr>
          <p:nvPr>
            <p:ph type="sldNum" sz="quarter" idx="5"/>
          </p:nvPr>
        </p:nvSpPr>
        <p:spPr/>
        <p:txBody>
          <a:bodyPr/>
          <a:lstStyle/>
          <a:p>
            <a:fld id="{6260B214-8770-4AD0-AEC0-947A9DDE804E}" type="slidenum">
              <a:rPr lang="en-PK" smtClean="0"/>
              <a:t>25</a:t>
            </a:fld>
            <a:endParaRPr lang="en-PK"/>
          </a:p>
        </p:txBody>
      </p:sp>
    </p:spTree>
    <p:extLst>
      <p:ext uri="{BB962C8B-B14F-4D97-AF65-F5344CB8AC3E}">
        <p14:creationId xmlns:p14="http://schemas.microsoft.com/office/powerpoint/2010/main" val="25710280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694C9-F3CD-5C26-4485-F91DBBB7F7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AD4D8965-A466-E647-1BA4-D71B29C1CE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03EBB354-5165-C09F-37CD-056FCE101232}"/>
              </a:ext>
            </a:extLst>
          </p:cNvPr>
          <p:cNvSpPr>
            <a:spLocks noGrp="1"/>
          </p:cNvSpPr>
          <p:nvPr>
            <p:ph type="dt" sz="half" idx="10"/>
          </p:nvPr>
        </p:nvSpPr>
        <p:spPr/>
        <p:txBody>
          <a:bodyPr/>
          <a:lstStyle/>
          <a:p>
            <a:fld id="{61F84FEA-82E1-4C77-AD28-4DE056485DA6}" type="datetimeFigureOut">
              <a:rPr lang="en-PK" smtClean="0"/>
              <a:t>20/01/2025</a:t>
            </a:fld>
            <a:endParaRPr lang="en-PK"/>
          </a:p>
        </p:txBody>
      </p:sp>
      <p:sp>
        <p:nvSpPr>
          <p:cNvPr id="5" name="Footer Placeholder 4">
            <a:extLst>
              <a:ext uri="{FF2B5EF4-FFF2-40B4-BE49-F238E27FC236}">
                <a16:creationId xmlns:a16="http://schemas.microsoft.com/office/drawing/2014/main" id="{632959DC-2267-B4A5-BFC4-5AE726552AB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4CCD6BBE-5297-00B6-99E4-9C19402DE5B6}"/>
              </a:ext>
            </a:extLst>
          </p:cNvPr>
          <p:cNvSpPr>
            <a:spLocks noGrp="1"/>
          </p:cNvSpPr>
          <p:nvPr>
            <p:ph type="sldNum" sz="quarter" idx="12"/>
          </p:nvPr>
        </p:nvSpPr>
        <p:spPr/>
        <p:txBody>
          <a:bodyPr/>
          <a:lstStyle/>
          <a:p>
            <a:fld id="{402AD948-0B23-45A4-B0DE-81B1BAC07D0D}" type="slidenum">
              <a:rPr lang="en-PK" smtClean="0"/>
              <a:t>‹#›</a:t>
            </a:fld>
            <a:endParaRPr lang="en-PK"/>
          </a:p>
        </p:txBody>
      </p:sp>
    </p:spTree>
    <p:extLst>
      <p:ext uri="{BB962C8B-B14F-4D97-AF65-F5344CB8AC3E}">
        <p14:creationId xmlns:p14="http://schemas.microsoft.com/office/powerpoint/2010/main" val="2038817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4EC50-757E-7FDE-E2FA-91A7B464E8C8}"/>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B7EB66EC-0BF9-E059-7FA0-B525FEAA6A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784A85E4-7078-CDE7-7DAE-F2D5E20647A3}"/>
              </a:ext>
            </a:extLst>
          </p:cNvPr>
          <p:cNvSpPr>
            <a:spLocks noGrp="1"/>
          </p:cNvSpPr>
          <p:nvPr>
            <p:ph type="dt" sz="half" idx="10"/>
          </p:nvPr>
        </p:nvSpPr>
        <p:spPr/>
        <p:txBody>
          <a:bodyPr/>
          <a:lstStyle/>
          <a:p>
            <a:fld id="{61F84FEA-82E1-4C77-AD28-4DE056485DA6}" type="datetimeFigureOut">
              <a:rPr lang="en-PK" smtClean="0"/>
              <a:t>20/01/2025</a:t>
            </a:fld>
            <a:endParaRPr lang="en-PK"/>
          </a:p>
        </p:txBody>
      </p:sp>
      <p:sp>
        <p:nvSpPr>
          <p:cNvPr id="5" name="Footer Placeholder 4">
            <a:extLst>
              <a:ext uri="{FF2B5EF4-FFF2-40B4-BE49-F238E27FC236}">
                <a16:creationId xmlns:a16="http://schemas.microsoft.com/office/drawing/2014/main" id="{CA0D4599-C9C4-4C86-1C4B-349C0F826BE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C2F63D2-7F91-FE41-ECA4-16A2C8568EDC}"/>
              </a:ext>
            </a:extLst>
          </p:cNvPr>
          <p:cNvSpPr>
            <a:spLocks noGrp="1"/>
          </p:cNvSpPr>
          <p:nvPr>
            <p:ph type="sldNum" sz="quarter" idx="12"/>
          </p:nvPr>
        </p:nvSpPr>
        <p:spPr/>
        <p:txBody>
          <a:bodyPr/>
          <a:lstStyle/>
          <a:p>
            <a:fld id="{402AD948-0B23-45A4-B0DE-81B1BAC07D0D}" type="slidenum">
              <a:rPr lang="en-PK" smtClean="0"/>
              <a:t>‹#›</a:t>
            </a:fld>
            <a:endParaRPr lang="en-PK"/>
          </a:p>
        </p:txBody>
      </p:sp>
    </p:spTree>
    <p:extLst>
      <p:ext uri="{BB962C8B-B14F-4D97-AF65-F5344CB8AC3E}">
        <p14:creationId xmlns:p14="http://schemas.microsoft.com/office/powerpoint/2010/main" val="1838779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6D57E-28B9-41D9-6932-4977DE9283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911363CF-C4DE-6716-2BA1-07EF4A2AD3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60BD9A-91C4-21AF-1603-8DA126C6A40A}"/>
              </a:ext>
            </a:extLst>
          </p:cNvPr>
          <p:cNvSpPr>
            <a:spLocks noGrp="1"/>
          </p:cNvSpPr>
          <p:nvPr>
            <p:ph type="dt" sz="half" idx="10"/>
          </p:nvPr>
        </p:nvSpPr>
        <p:spPr/>
        <p:txBody>
          <a:bodyPr/>
          <a:lstStyle/>
          <a:p>
            <a:fld id="{61F84FEA-82E1-4C77-AD28-4DE056485DA6}" type="datetimeFigureOut">
              <a:rPr lang="en-PK" smtClean="0"/>
              <a:t>20/01/2025</a:t>
            </a:fld>
            <a:endParaRPr lang="en-PK"/>
          </a:p>
        </p:txBody>
      </p:sp>
      <p:sp>
        <p:nvSpPr>
          <p:cNvPr id="5" name="Footer Placeholder 4">
            <a:extLst>
              <a:ext uri="{FF2B5EF4-FFF2-40B4-BE49-F238E27FC236}">
                <a16:creationId xmlns:a16="http://schemas.microsoft.com/office/drawing/2014/main" id="{171BFDDB-6CBB-7206-1F2C-125658F6904B}"/>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EFC782A7-A634-C3CE-6AF6-C3B2CEACF2C4}"/>
              </a:ext>
            </a:extLst>
          </p:cNvPr>
          <p:cNvSpPr>
            <a:spLocks noGrp="1"/>
          </p:cNvSpPr>
          <p:nvPr>
            <p:ph type="sldNum" sz="quarter" idx="12"/>
          </p:nvPr>
        </p:nvSpPr>
        <p:spPr/>
        <p:txBody>
          <a:bodyPr/>
          <a:lstStyle/>
          <a:p>
            <a:fld id="{402AD948-0B23-45A4-B0DE-81B1BAC07D0D}" type="slidenum">
              <a:rPr lang="en-PK" smtClean="0"/>
              <a:t>‹#›</a:t>
            </a:fld>
            <a:endParaRPr lang="en-PK"/>
          </a:p>
        </p:txBody>
      </p:sp>
    </p:spTree>
    <p:extLst>
      <p:ext uri="{BB962C8B-B14F-4D97-AF65-F5344CB8AC3E}">
        <p14:creationId xmlns:p14="http://schemas.microsoft.com/office/powerpoint/2010/main" val="202001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BD5B0-FCF1-811F-375D-FD936112ADD7}"/>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51EB5FAE-ADD1-A86A-716F-C541852545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2D9899A1-73C5-5EBF-6707-1A995A1BF2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25D87C4A-4532-17AA-6968-46F77468DF8D}"/>
              </a:ext>
            </a:extLst>
          </p:cNvPr>
          <p:cNvSpPr>
            <a:spLocks noGrp="1"/>
          </p:cNvSpPr>
          <p:nvPr>
            <p:ph type="dt" sz="half" idx="10"/>
          </p:nvPr>
        </p:nvSpPr>
        <p:spPr/>
        <p:txBody>
          <a:bodyPr/>
          <a:lstStyle/>
          <a:p>
            <a:fld id="{61F84FEA-82E1-4C77-AD28-4DE056485DA6}" type="datetimeFigureOut">
              <a:rPr lang="en-PK" smtClean="0"/>
              <a:t>20/01/2025</a:t>
            </a:fld>
            <a:endParaRPr lang="en-PK"/>
          </a:p>
        </p:txBody>
      </p:sp>
      <p:sp>
        <p:nvSpPr>
          <p:cNvPr id="6" name="Footer Placeholder 5">
            <a:extLst>
              <a:ext uri="{FF2B5EF4-FFF2-40B4-BE49-F238E27FC236}">
                <a16:creationId xmlns:a16="http://schemas.microsoft.com/office/drawing/2014/main" id="{81CCF3B2-E8A3-BD86-A51C-B372686F78F3}"/>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EB7E3D6F-82E5-7304-FBFE-C175543AAA45}"/>
              </a:ext>
            </a:extLst>
          </p:cNvPr>
          <p:cNvSpPr>
            <a:spLocks noGrp="1"/>
          </p:cNvSpPr>
          <p:nvPr>
            <p:ph type="sldNum" sz="quarter" idx="12"/>
          </p:nvPr>
        </p:nvSpPr>
        <p:spPr/>
        <p:txBody>
          <a:bodyPr/>
          <a:lstStyle/>
          <a:p>
            <a:fld id="{402AD948-0B23-45A4-B0DE-81B1BAC07D0D}" type="slidenum">
              <a:rPr lang="en-PK" smtClean="0"/>
              <a:t>‹#›</a:t>
            </a:fld>
            <a:endParaRPr lang="en-PK"/>
          </a:p>
        </p:txBody>
      </p:sp>
    </p:spTree>
    <p:extLst>
      <p:ext uri="{BB962C8B-B14F-4D97-AF65-F5344CB8AC3E}">
        <p14:creationId xmlns:p14="http://schemas.microsoft.com/office/powerpoint/2010/main" val="3977983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2759A-7CC3-43C4-75ED-835D386D853A}"/>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73ECC964-A962-3BAC-7F10-F5536933BC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929FAF-2F5A-8EE9-1EE2-F0E131EEF7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62C208D1-95B0-4D22-345A-0FFF4019E4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F67A21-DC5B-67CC-387F-0B3E8D7F15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5551850F-1668-C587-5939-FAB12BA7456C}"/>
              </a:ext>
            </a:extLst>
          </p:cNvPr>
          <p:cNvSpPr>
            <a:spLocks noGrp="1"/>
          </p:cNvSpPr>
          <p:nvPr>
            <p:ph type="dt" sz="half" idx="10"/>
          </p:nvPr>
        </p:nvSpPr>
        <p:spPr/>
        <p:txBody>
          <a:bodyPr/>
          <a:lstStyle/>
          <a:p>
            <a:fld id="{61F84FEA-82E1-4C77-AD28-4DE056485DA6}" type="datetimeFigureOut">
              <a:rPr lang="en-PK" smtClean="0"/>
              <a:t>20/01/2025</a:t>
            </a:fld>
            <a:endParaRPr lang="en-PK"/>
          </a:p>
        </p:txBody>
      </p:sp>
      <p:sp>
        <p:nvSpPr>
          <p:cNvPr id="8" name="Footer Placeholder 7">
            <a:extLst>
              <a:ext uri="{FF2B5EF4-FFF2-40B4-BE49-F238E27FC236}">
                <a16:creationId xmlns:a16="http://schemas.microsoft.com/office/drawing/2014/main" id="{B346121A-4AB2-7348-F884-50B2853F7BB9}"/>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93275364-337D-5E4F-C706-2C79CAB1FAEC}"/>
              </a:ext>
            </a:extLst>
          </p:cNvPr>
          <p:cNvSpPr>
            <a:spLocks noGrp="1"/>
          </p:cNvSpPr>
          <p:nvPr>
            <p:ph type="sldNum" sz="quarter" idx="12"/>
          </p:nvPr>
        </p:nvSpPr>
        <p:spPr/>
        <p:txBody>
          <a:bodyPr/>
          <a:lstStyle/>
          <a:p>
            <a:fld id="{402AD948-0B23-45A4-B0DE-81B1BAC07D0D}" type="slidenum">
              <a:rPr lang="en-PK" smtClean="0"/>
              <a:t>‹#›</a:t>
            </a:fld>
            <a:endParaRPr lang="en-PK"/>
          </a:p>
        </p:txBody>
      </p:sp>
    </p:spTree>
    <p:extLst>
      <p:ext uri="{BB962C8B-B14F-4D97-AF65-F5344CB8AC3E}">
        <p14:creationId xmlns:p14="http://schemas.microsoft.com/office/powerpoint/2010/main" val="1719197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51646-D88A-6337-1CB6-1A8E18FA0854}"/>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BC56C898-628E-8A94-4670-A32F5593BC07}"/>
              </a:ext>
            </a:extLst>
          </p:cNvPr>
          <p:cNvSpPr>
            <a:spLocks noGrp="1"/>
          </p:cNvSpPr>
          <p:nvPr>
            <p:ph type="dt" sz="half" idx="10"/>
          </p:nvPr>
        </p:nvSpPr>
        <p:spPr/>
        <p:txBody>
          <a:bodyPr/>
          <a:lstStyle/>
          <a:p>
            <a:fld id="{61F84FEA-82E1-4C77-AD28-4DE056485DA6}" type="datetimeFigureOut">
              <a:rPr lang="en-PK" smtClean="0"/>
              <a:t>20/01/2025</a:t>
            </a:fld>
            <a:endParaRPr lang="en-PK"/>
          </a:p>
        </p:txBody>
      </p:sp>
      <p:sp>
        <p:nvSpPr>
          <p:cNvPr id="4" name="Footer Placeholder 3">
            <a:extLst>
              <a:ext uri="{FF2B5EF4-FFF2-40B4-BE49-F238E27FC236}">
                <a16:creationId xmlns:a16="http://schemas.microsoft.com/office/drawing/2014/main" id="{541C3710-06E1-400A-9C67-32410ACA54B8}"/>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3CCAB992-945D-C734-3324-732BADBABFF7}"/>
              </a:ext>
            </a:extLst>
          </p:cNvPr>
          <p:cNvSpPr>
            <a:spLocks noGrp="1"/>
          </p:cNvSpPr>
          <p:nvPr>
            <p:ph type="sldNum" sz="quarter" idx="12"/>
          </p:nvPr>
        </p:nvSpPr>
        <p:spPr/>
        <p:txBody>
          <a:bodyPr/>
          <a:lstStyle/>
          <a:p>
            <a:fld id="{402AD948-0B23-45A4-B0DE-81B1BAC07D0D}" type="slidenum">
              <a:rPr lang="en-PK" smtClean="0"/>
              <a:t>‹#›</a:t>
            </a:fld>
            <a:endParaRPr lang="en-PK"/>
          </a:p>
        </p:txBody>
      </p:sp>
    </p:spTree>
    <p:extLst>
      <p:ext uri="{BB962C8B-B14F-4D97-AF65-F5344CB8AC3E}">
        <p14:creationId xmlns:p14="http://schemas.microsoft.com/office/powerpoint/2010/main" val="1313745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3E9A4C-1038-48E6-B15E-BA011834A85C}"/>
              </a:ext>
            </a:extLst>
          </p:cNvPr>
          <p:cNvSpPr>
            <a:spLocks noGrp="1"/>
          </p:cNvSpPr>
          <p:nvPr>
            <p:ph type="dt" sz="half" idx="10"/>
          </p:nvPr>
        </p:nvSpPr>
        <p:spPr/>
        <p:txBody>
          <a:bodyPr/>
          <a:lstStyle/>
          <a:p>
            <a:fld id="{61F84FEA-82E1-4C77-AD28-4DE056485DA6}" type="datetimeFigureOut">
              <a:rPr lang="en-PK" smtClean="0"/>
              <a:t>20/01/2025</a:t>
            </a:fld>
            <a:endParaRPr lang="en-PK"/>
          </a:p>
        </p:txBody>
      </p:sp>
      <p:sp>
        <p:nvSpPr>
          <p:cNvPr id="3" name="Footer Placeholder 2">
            <a:extLst>
              <a:ext uri="{FF2B5EF4-FFF2-40B4-BE49-F238E27FC236}">
                <a16:creationId xmlns:a16="http://schemas.microsoft.com/office/drawing/2014/main" id="{1E6C1D68-7504-3FA5-0ABA-9A4ED8F79105}"/>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2BADFCBC-3437-A97C-E56A-8A67410DCC27}"/>
              </a:ext>
            </a:extLst>
          </p:cNvPr>
          <p:cNvSpPr>
            <a:spLocks noGrp="1"/>
          </p:cNvSpPr>
          <p:nvPr>
            <p:ph type="sldNum" sz="quarter" idx="12"/>
          </p:nvPr>
        </p:nvSpPr>
        <p:spPr/>
        <p:txBody>
          <a:bodyPr/>
          <a:lstStyle/>
          <a:p>
            <a:fld id="{402AD948-0B23-45A4-B0DE-81B1BAC07D0D}" type="slidenum">
              <a:rPr lang="en-PK" smtClean="0"/>
              <a:t>‹#›</a:t>
            </a:fld>
            <a:endParaRPr lang="en-PK"/>
          </a:p>
        </p:txBody>
      </p:sp>
    </p:spTree>
    <p:extLst>
      <p:ext uri="{BB962C8B-B14F-4D97-AF65-F5344CB8AC3E}">
        <p14:creationId xmlns:p14="http://schemas.microsoft.com/office/powerpoint/2010/main" val="1243384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D8A3F-B872-E1F2-1698-7E4F875CF5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45B01222-22D3-8F98-92EC-0496F7E2F5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21009B42-F701-A8BA-7D02-4AAF28E88A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7729DF-2D38-E2BA-8106-0C92193CC1E6}"/>
              </a:ext>
            </a:extLst>
          </p:cNvPr>
          <p:cNvSpPr>
            <a:spLocks noGrp="1"/>
          </p:cNvSpPr>
          <p:nvPr>
            <p:ph type="dt" sz="half" idx="10"/>
          </p:nvPr>
        </p:nvSpPr>
        <p:spPr/>
        <p:txBody>
          <a:bodyPr/>
          <a:lstStyle/>
          <a:p>
            <a:fld id="{61F84FEA-82E1-4C77-AD28-4DE056485DA6}" type="datetimeFigureOut">
              <a:rPr lang="en-PK" smtClean="0"/>
              <a:t>20/01/2025</a:t>
            </a:fld>
            <a:endParaRPr lang="en-PK"/>
          </a:p>
        </p:txBody>
      </p:sp>
      <p:sp>
        <p:nvSpPr>
          <p:cNvPr id="6" name="Footer Placeholder 5">
            <a:extLst>
              <a:ext uri="{FF2B5EF4-FFF2-40B4-BE49-F238E27FC236}">
                <a16:creationId xmlns:a16="http://schemas.microsoft.com/office/drawing/2014/main" id="{4879DC0D-209F-3CF4-9C63-76CEEAA07839}"/>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998116E4-293F-2F93-D805-F530A38F0595}"/>
              </a:ext>
            </a:extLst>
          </p:cNvPr>
          <p:cNvSpPr>
            <a:spLocks noGrp="1"/>
          </p:cNvSpPr>
          <p:nvPr>
            <p:ph type="sldNum" sz="quarter" idx="12"/>
          </p:nvPr>
        </p:nvSpPr>
        <p:spPr/>
        <p:txBody>
          <a:bodyPr/>
          <a:lstStyle/>
          <a:p>
            <a:fld id="{402AD948-0B23-45A4-B0DE-81B1BAC07D0D}" type="slidenum">
              <a:rPr lang="en-PK" smtClean="0"/>
              <a:t>‹#›</a:t>
            </a:fld>
            <a:endParaRPr lang="en-PK"/>
          </a:p>
        </p:txBody>
      </p:sp>
    </p:spTree>
    <p:extLst>
      <p:ext uri="{BB962C8B-B14F-4D97-AF65-F5344CB8AC3E}">
        <p14:creationId xmlns:p14="http://schemas.microsoft.com/office/powerpoint/2010/main" val="3296624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9CDBB-BAE6-FDC6-1625-BDACBA4563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25A09F1D-AB6B-065B-7C91-BA4E81140A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04416C01-FC06-C205-C503-46EEAA222A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A16404-736B-80FF-6067-BE059FC5890E}"/>
              </a:ext>
            </a:extLst>
          </p:cNvPr>
          <p:cNvSpPr>
            <a:spLocks noGrp="1"/>
          </p:cNvSpPr>
          <p:nvPr>
            <p:ph type="dt" sz="half" idx="10"/>
          </p:nvPr>
        </p:nvSpPr>
        <p:spPr/>
        <p:txBody>
          <a:bodyPr/>
          <a:lstStyle/>
          <a:p>
            <a:fld id="{61F84FEA-82E1-4C77-AD28-4DE056485DA6}" type="datetimeFigureOut">
              <a:rPr lang="en-PK" smtClean="0"/>
              <a:t>20/01/2025</a:t>
            </a:fld>
            <a:endParaRPr lang="en-PK"/>
          </a:p>
        </p:txBody>
      </p:sp>
      <p:sp>
        <p:nvSpPr>
          <p:cNvPr id="6" name="Footer Placeholder 5">
            <a:extLst>
              <a:ext uri="{FF2B5EF4-FFF2-40B4-BE49-F238E27FC236}">
                <a16:creationId xmlns:a16="http://schemas.microsoft.com/office/drawing/2014/main" id="{0DF3FE0A-242C-68B2-1D01-7EF3494055EA}"/>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20C0F77B-1879-D513-72CF-21815569F40F}"/>
              </a:ext>
            </a:extLst>
          </p:cNvPr>
          <p:cNvSpPr>
            <a:spLocks noGrp="1"/>
          </p:cNvSpPr>
          <p:nvPr>
            <p:ph type="sldNum" sz="quarter" idx="12"/>
          </p:nvPr>
        </p:nvSpPr>
        <p:spPr/>
        <p:txBody>
          <a:bodyPr/>
          <a:lstStyle/>
          <a:p>
            <a:fld id="{402AD948-0B23-45A4-B0DE-81B1BAC07D0D}" type="slidenum">
              <a:rPr lang="en-PK" smtClean="0"/>
              <a:t>‹#›</a:t>
            </a:fld>
            <a:endParaRPr lang="en-PK"/>
          </a:p>
        </p:txBody>
      </p:sp>
    </p:spTree>
    <p:extLst>
      <p:ext uri="{BB962C8B-B14F-4D97-AF65-F5344CB8AC3E}">
        <p14:creationId xmlns:p14="http://schemas.microsoft.com/office/powerpoint/2010/main" val="2424190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04E65-5734-FFA4-4BEC-59BF9AB4D9BD}"/>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966E9856-4B41-B0C1-5CD8-235E03A6AC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634F2798-C458-BA12-39C3-3299D9E6194D}"/>
              </a:ext>
            </a:extLst>
          </p:cNvPr>
          <p:cNvSpPr>
            <a:spLocks noGrp="1"/>
          </p:cNvSpPr>
          <p:nvPr>
            <p:ph type="dt" sz="half" idx="10"/>
          </p:nvPr>
        </p:nvSpPr>
        <p:spPr/>
        <p:txBody>
          <a:bodyPr/>
          <a:lstStyle/>
          <a:p>
            <a:fld id="{61F84FEA-82E1-4C77-AD28-4DE056485DA6}" type="datetimeFigureOut">
              <a:rPr lang="en-PK" smtClean="0"/>
              <a:t>20/01/2025</a:t>
            </a:fld>
            <a:endParaRPr lang="en-PK"/>
          </a:p>
        </p:txBody>
      </p:sp>
      <p:sp>
        <p:nvSpPr>
          <p:cNvPr id="5" name="Footer Placeholder 4">
            <a:extLst>
              <a:ext uri="{FF2B5EF4-FFF2-40B4-BE49-F238E27FC236}">
                <a16:creationId xmlns:a16="http://schemas.microsoft.com/office/drawing/2014/main" id="{FB11570A-4471-DD00-B4B1-4EB4F5142600}"/>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F8633DB-3DC5-73A7-24A5-5DB1F6124271}"/>
              </a:ext>
            </a:extLst>
          </p:cNvPr>
          <p:cNvSpPr>
            <a:spLocks noGrp="1"/>
          </p:cNvSpPr>
          <p:nvPr>
            <p:ph type="sldNum" sz="quarter" idx="12"/>
          </p:nvPr>
        </p:nvSpPr>
        <p:spPr/>
        <p:txBody>
          <a:bodyPr/>
          <a:lstStyle/>
          <a:p>
            <a:fld id="{402AD948-0B23-45A4-B0DE-81B1BAC07D0D}" type="slidenum">
              <a:rPr lang="en-PK" smtClean="0"/>
              <a:t>‹#›</a:t>
            </a:fld>
            <a:endParaRPr lang="en-PK"/>
          </a:p>
        </p:txBody>
      </p:sp>
    </p:spTree>
    <p:extLst>
      <p:ext uri="{BB962C8B-B14F-4D97-AF65-F5344CB8AC3E}">
        <p14:creationId xmlns:p14="http://schemas.microsoft.com/office/powerpoint/2010/main" val="2820972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4C98B0-1061-F307-DF34-B5B5A0C5F93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C2DACAE5-0B1A-EB4E-BE4F-57E5E9380D4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F007C40-A212-6C82-A6DD-F7C5591640FB}"/>
              </a:ext>
            </a:extLst>
          </p:cNvPr>
          <p:cNvSpPr>
            <a:spLocks noGrp="1"/>
          </p:cNvSpPr>
          <p:nvPr>
            <p:ph type="dt" sz="half" idx="10"/>
          </p:nvPr>
        </p:nvSpPr>
        <p:spPr/>
        <p:txBody>
          <a:bodyPr/>
          <a:lstStyle/>
          <a:p>
            <a:fld id="{61F84FEA-82E1-4C77-AD28-4DE056485DA6}" type="datetimeFigureOut">
              <a:rPr lang="en-PK" smtClean="0"/>
              <a:t>20/01/2025</a:t>
            </a:fld>
            <a:endParaRPr lang="en-PK"/>
          </a:p>
        </p:txBody>
      </p:sp>
      <p:sp>
        <p:nvSpPr>
          <p:cNvPr id="5" name="Footer Placeholder 4">
            <a:extLst>
              <a:ext uri="{FF2B5EF4-FFF2-40B4-BE49-F238E27FC236}">
                <a16:creationId xmlns:a16="http://schemas.microsoft.com/office/drawing/2014/main" id="{F86D3995-8B67-EEB3-F7B8-6E99C92FD9FA}"/>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94485D8C-A2EA-9EB2-0A5D-7C5741DE460F}"/>
              </a:ext>
            </a:extLst>
          </p:cNvPr>
          <p:cNvSpPr>
            <a:spLocks noGrp="1"/>
          </p:cNvSpPr>
          <p:nvPr>
            <p:ph type="sldNum" sz="quarter" idx="12"/>
          </p:nvPr>
        </p:nvSpPr>
        <p:spPr/>
        <p:txBody>
          <a:bodyPr/>
          <a:lstStyle/>
          <a:p>
            <a:fld id="{402AD948-0B23-45A4-B0DE-81B1BAC07D0D}" type="slidenum">
              <a:rPr lang="en-PK" smtClean="0"/>
              <a:t>‹#›</a:t>
            </a:fld>
            <a:endParaRPr lang="en-PK"/>
          </a:p>
        </p:txBody>
      </p:sp>
    </p:spTree>
    <p:extLst>
      <p:ext uri="{BB962C8B-B14F-4D97-AF65-F5344CB8AC3E}">
        <p14:creationId xmlns:p14="http://schemas.microsoft.com/office/powerpoint/2010/main" val="1639722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B8810D-789D-2B51-7187-7DF062D9FB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72C025BD-DAC3-86DC-6197-BC5288CF14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5E7175D3-77E8-0768-93F2-40A63F1739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F84FEA-82E1-4C77-AD28-4DE056485DA6}" type="datetimeFigureOut">
              <a:rPr lang="en-PK" smtClean="0"/>
              <a:t>20/01/2025</a:t>
            </a:fld>
            <a:endParaRPr lang="en-PK"/>
          </a:p>
        </p:txBody>
      </p:sp>
      <p:sp>
        <p:nvSpPr>
          <p:cNvPr id="5" name="Footer Placeholder 4">
            <a:extLst>
              <a:ext uri="{FF2B5EF4-FFF2-40B4-BE49-F238E27FC236}">
                <a16:creationId xmlns:a16="http://schemas.microsoft.com/office/drawing/2014/main" id="{8F356400-5E06-F20E-8747-2B66133260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6A0883C9-45CA-D713-BE26-478419BFDD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AD948-0B23-45A4-B0DE-81B1BAC07D0D}" type="slidenum">
              <a:rPr lang="en-PK" smtClean="0"/>
              <a:t>‹#›</a:t>
            </a:fld>
            <a:endParaRPr lang="en-PK"/>
          </a:p>
        </p:txBody>
      </p:sp>
    </p:spTree>
    <p:extLst>
      <p:ext uri="{BB962C8B-B14F-4D97-AF65-F5344CB8AC3E}">
        <p14:creationId xmlns:p14="http://schemas.microsoft.com/office/powerpoint/2010/main" val="28890807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github.com/payloadbox/sql-injection-payload-list"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publicdomainpictures.net/view-image.php?image=341288&amp;picture=ecranul-de-incheiere-a-filmului-final-pe"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F54F1-789F-96BB-AB29-DE1D6CF67B9E}"/>
              </a:ext>
            </a:extLst>
          </p:cNvPr>
          <p:cNvSpPr>
            <a:spLocks noGrp="1"/>
          </p:cNvSpPr>
          <p:nvPr>
            <p:ph type="ctrTitle"/>
          </p:nvPr>
        </p:nvSpPr>
        <p:spPr/>
        <p:txBody>
          <a:bodyPr/>
          <a:lstStyle/>
          <a:p>
            <a:r>
              <a:rPr lang="en-US" dirty="0"/>
              <a:t>Lecture – 10</a:t>
            </a:r>
            <a:br>
              <a:rPr lang="en-US" dirty="0"/>
            </a:br>
            <a:r>
              <a:rPr lang="en-US" sz="2800" b="1" dirty="0"/>
              <a:t>Database Security</a:t>
            </a:r>
            <a:endParaRPr lang="en-PK" sz="2800" b="1" dirty="0"/>
          </a:p>
        </p:txBody>
      </p:sp>
      <p:sp>
        <p:nvSpPr>
          <p:cNvPr id="3" name="Subtitle 2">
            <a:extLst>
              <a:ext uri="{FF2B5EF4-FFF2-40B4-BE49-F238E27FC236}">
                <a16:creationId xmlns:a16="http://schemas.microsoft.com/office/drawing/2014/main" id="{FAB70C9D-3B82-52DA-EBE6-28359ED40219}"/>
              </a:ext>
            </a:extLst>
          </p:cNvPr>
          <p:cNvSpPr>
            <a:spLocks noGrp="1"/>
          </p:cNvSpPr>
          <p:nvPr>
            <p:ph type="subTitle" idx="1"/>
          </p:nvPr>
        </p:nvSpPr>
        <p:spPr/>
        <p:txBody>
          <a:bodyPr/>
          <a:lstStyle/>
          <a:p>
            <a:endParaRPr lang="en-PK" dirty="0"/>
          </a:p>
        </p:txBody>
      </p:sp>
    </p:spTree>
    <p:extLst>
      <p:ext uri="{BB962C8B-B14F-4D97-AF65-F5344CB8AC3E}">
        <p14:creationId xmlns:p14="http://schemas.microsoft.com/office/powerpoint/2010/main" val="4106003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017CB-CC0F-DA1D-4135-A661CA5E3AA3}"/>
              </a:ext>
            </a:extLst>
          </p:cNvPr>
          <p:cNvSpPr>
            <a:spLocks noGrp="1"/>
          </p:cNvSpPr>
          <p:nvPr>
            <p:ph type="title"/>
          </p:nvPr>
        </p:nvSpPr>
        <p:spPr/>
        <p:txBody>
          <a:bodyPr/>
          <a:lstStyle/>
          <a:p>
            <a:r>
              <a:rPr lang="en-US" dirty="0"/>
              <a:t>Databases</a:t>
            </a:r>
            <a:endParaRPr lang="en-PK" dirty="0"/>
          </a:p>
        </p:txBody>
      </p:sp>
      <p:sp>
        <p:nvSpPr>
          <p:cNvPr id="3" name="Content Placeholder 2">
            <a:extLst>
              <a:ext uri="{FF2B5EF4-FFF2-40B4-BE49-F238E27FC236}">
                <a16:creationId xmlns:a16="http://schemas.microsoft.com/office/drawing/2014/main" id="{B0563131-8438-9599-3BD1-239AE06338A7}"/>
              </a:ext>
            </a:extLst>
          </p:cNvPr>
          <p:cNvSpPr>
            <a:spLocks noGrp="1"/>
          </p:cNvSpPr>
          <p:nvPr>
            <p:ph idx="1"/>
          </p:nvPr>
        </p:nvSpPr>
        <p:spPr/>
        <p:txBody>
          <a:bodyPr/>
          <a:lstStyle/>
          <a:p>
            <a:r>
              <a:rPr lang="en-US" dirty="0"/>
              <a:t>Collection of:</a:t>
            </a:r>
          </a:p>
          <a:p>
            <a:pPr lvl="1">
              <a:buFont typeface="Wingdings" panose="05000000000000000000" pitchFamily="2" charset="2"/>
              <a:buChar char="§"/>
            </a:pPr>
            <a:r>
              <a:rPr lang="en-US" dirty="0"/>
              <a:t>Interrelated data.</a:t>
            </a:r>
          </a:p>
          <a:p>
            <a:pPr lvl="1">
              <a:buFont typeface="Wingdings" panose="05000000000000000000" pitchFamily="2" charset="2"/>
              <a:buChar char="§"/>
            </a:pPr>
            <a:r>
              <a:rPr lang="en-US" dirty="0"/>
              <a:t>Set of programs to access the data.</a:t>
            </a:r>
          </a:p>
          <a:p>
            <a:r>
              <a:rPr lang="en-US" u="sng" dirty="0"/>
              <a:t>Convenient</a:t>
            </a:r>
            <a:r>
              <a:rPr lang="en-US" dirty="0"/>
              <a:t> and </a:t>
            </a:r>
            <a:r>
              <a:rPr lang="en-US" u="sng" dirty="0"/>
              <a:t>efficient</a:t>
            </a:r>
            <a:r>
              <a:rPr lang="en-US" dirty="0"/>
              <a:t> processing of data.</a:t>
            </a:r>
          </a:p>
          <a:p>
            <a:r>
              <a:rPr lang="en-US" dirty="0"/>
              <a:t>Database Management Software (DBMS).</a:t>
            </a:r>
            <a:endParaRPr lang="en-PK" dirty="0"/>
          </a:p>
        </p:txBody>
      </p:sp>
    </p:spTree>
    <p:extLst>
      <p:ext uri="{BB962C8B-B14F-4D97-AF65-F5344CB8AC3E}">
        <p14:creationId xmlns:p14="http://schemas.microsoft.com/office/powerpoint/2010/main" val="4212631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B39D2-B604-2E9A-FB84-D11552D60CBA}"/>
              </a:ext>
            </a:extLst>
          </p:cNvPr>
          <p:cNvSpPr>
            <a:spLocks noGrp="1"/>
          </p:cNvSpPr>
          <p:nvPr>
            <p:ph type="title"/>
          </p:nvPr>
        </p:nvSpPr>
        <p:spPr/>
        <p:txBody>
          <a:bodyPr/>
          <a:lstStyle/>
          <a:p>
            <a:r>
              <a:rPr lang="en-US" dirty="0"/>
              <a:t>DBMS Security Support</a:t>
            </a:r>
            <a:endParaRPr lang="en-PK" dirty="0"/>
          </a:p>
        </p:txBody>
      </p:sp>
      <p:sp>
        <p:nvSpPr>
          <p:cNvPr id="3" name="Content Placeholder 2">
            <a:extLst>
              <a:ext uri="{FF2B5EF4-FFF2-40B4-BE49-F238E27FC236}">
                <a16:creationId xmlns:a16="http://schemas.microsoft.com/office/drawing/2014/main" id="{9DD8EDCF-E373-4B3F-50C0-033FFA55B8EA}"/>
              </a:ext>
            </a:extLst>
          </p:cNvPr>
          <p:cNvSpPr>
            <a:spLocks noGrp="1"/>
          </p:cNvSpPr>
          <p:nvPr>
            <p:ph idx="1"/>
          </p:nvPr>
        </p:nvSpPr>
        <p:spPr/>
        <p:txBody>
          <a:bodyPr/>
          <a:lstStyle/>
          <a:p>
            <a:r>
              <a:rPr lang="en-US" dirty="0"/>
              <a:t>DBMSs can provide some security:</a:t>
            </a:r>
          </a:p>
          <a:p>
            <a:pPr lvl="1">
              <a:buFont typeface="Wingdings" panose="05000000000000000000" pitchFamily="2" charset="2"/>
              <a:buChar char="§"/>
            </a:pPr>
            <a:r>
              <a:rPr lang="en-US" dirty="0"/>
              <a:t>Each user has an account, username and password</a:t>
            </a:r>
          </a:p>
          <a:p>
            <a:pPr lvl="1">
              <a:buFont typeface="Wingdings" panose="05000000000000000000" pitchFamily="2" charset="2"/>
              <a:buChar char="§"/>
            </a:pPr>
            <a:r>
              <a:rPr lang="en-US" dirty="0"/>
              <a:t>These are used to identify a user and control their access to information</a:t>
            </a:r>
          </a:p>
          <a:p>
            <a:r>
              <a:rPr lang="en-US" dirty="0"/>
              <a:t>The DBMS verifies password and checks a user’s permissions when they try to:</a:t>
            </a:r>
          </a:p>
          <a:p>
            <a:pPr lvl="1">
              <a:buFont typeface="Wingdings" panose="05000000000000000000" pitchFamily="2" charset="2"/>
              <a:buChar char="§"/>
            </a:pPr>
            <a:r>
              <a:rPr lang="en-US" dirty="0"/>
              <a:t>Retrieve data</a:t>
            </a:r>
          </a:p>
          <a:p>
            <a:pPr lvl="1">
              <a:buFont typeface="Wingdings" panose="05000000000000000000" pitchFamily="2" charset="2"/>
              <a:buChar char="§"/>
            </a:pPr>
            <a:r>
              <a:rPr lang="en-US" dirty="0"/>
              <a:t>Modify data</a:t>
            </a:r>
          </a:p>
          <a:p>
            <a:pPr lvl="1">
              <a:buFont typeface="Wingdings" panose="05000000000000000000" pitchFamily="2" charset="2"/>
              <a:buChar char="§"/>
            </a:pPr>
            <a:r>
              <a:rPr lang="en-US" dirty="0"/>
              <a:t>Modify the database structure</a:t>
            </a:r>
            <a:endParaRPr lang="en-PK" dirty="0"/>
          </a:p>
        </p:txBody>
      </p:sp>
    </p:spTree>
    <p:extLst>
      <p:ext uri="{BB962C8B-B14F-4D97-AF65-F5344CB8AC3E}">
        <p14:creationId xmlns:p14="http://schemas.microsoft.com/office/powerpoint/2010/main" val="1942306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01A14-650D-807D-3C14-1C476DD1D952}"/>
              </a:ext>
            </a:extLst>
          </p:cNvPr>
          <p:cNvSpPr>
            <a:spLocks noGrp="1"/>
          </p:cNvSpPr>
          <p:nvPr>
            <p:ph type="title"/>
          </p:nvPr>
        </p:nvSpPr>
        <p:spPr/>
        <p:txBody>
          <a:bodyPr/>
          <a:lstStyle/>
          <a:p>
            <a:r>
              <a:rPr lang="en-US" dirty="0"/>
              <a:t>Database Security: </a:t>
            </a:r>
            <a:r>
              <a:rPr lang="en-US" dirty="0">
                <a:solidFill>
                  <a:srgbClr val="FF0000"/>
                </a:solidFill>
              </a:rPr>
              <a:t>Protecting Your Data Assets</a:t>
            </a:r>
            <a:endParaRPr lang="en-PK" dirty="0">
              <a:solidFill>
                <a:srgbClr val="FF0000"/>
              </a:solidFill>
            </a:endParaRPr>
          </a:p>
        </p:txBody>
      </p:sp>
      <p:sp>
        <p:nvSpPr>
          <p:cNvPr id="3" name="Content Placeholder 2">
            <a:extLst>
              <a:ext uri="{FF2B5EF4-FFF2-40B4-BE49-F238E27FC236}">
                <a16:creationId xmlns:a16="http://schemas.microsoft.com/office/drawing/2014/main" id="{3AB01314-83E5-96CF-F13E-121FCE3A99C2}"/>
              </a:ext>
            </a:extLst>
          </p:cNvPr>
          <p:cNvSpPr>
            <a:spLocks noGrp="1"/>
          </p:cNvSpPr>
          <p:nvPr>
            <p:ph idx="1"/>
          </p:nvPr>
        </p:nvSpPr>
        <p:spPr/>
        <p:txBody>
          <a:bodyPr/>
          <a:lstStyle/>
          <a:p>
            <a:r>
              <a:rPr lang="en-US" dirty="0"/>
              <a:t>Introduction to Database Security:</a:t>
            </a:r>
          </a:p>
          <a:p>
            <a:pPr lvl="1">
              <a:buClr>
                <a:srgbClr val="002060"/>
              </a:buClr>
              <a:buFont typeface="Wingdings" panose="05000000000000000000" pitchFamily="2" charset="2"/>
              <a:buChar char="§"/>
            </a:pPr>
            <a:r>
              <a:rPr lang="en-US" dirty="0"/>
              <a:t>Database security is about controlling access to information.</a:t>
            </a:r>
          </a:p>
          <a:p>
            <a:pPr lvl="1">
              <a:buClr>
                <a:srgbClr val="002060"/>
              </a:buClr>
              <a:buFont typeface="Wingdings" panose="05000000000000000000" pitchFamily="2" charset="2"/>
              <a:buChar char="§"/>
            </a:pPr>
            <a:r>
              <a:rPr lang="en-US" dirty="0"/>
              <a:t>It refers to the measures taken to protect databases and their contents from unauthorized access, misuse, or malicious activities.</a:t>
            </a:r>
          </a:p>
          <a:p>
            <a:pPr lvl="1">
              <a:buClr>
                <a:srgbClr val="002060"/>
              </a:buClr>
              <a:buFont typeface="Wingdings" panose="05000000000000000000" pitchFamily="2" charset="2"/>
              <a:buChar char="§"/>
            </a:pPr>
            <a:r>
              <a:rPr lang="en-US" dirty="0"/>
              <a:t>It involves implementing various security controls to ensure the confidentiality, integrity, and availability of data stored in databases.</a:t>
            </a:r>
          </a:p>
          <a:p>
            <a:pPr lvl="1">
              <a:buClr>
                <a:srgbClr val="002060"/>
              </a:buClr>
              <a:buFont typeface="Wingdings" panose="05000000000000000000" pitchFamily="2" charset="2"/>
              <a:buChar char="§"/>
            </a:pPr>
            <a:r>
              <a:rPr lang="en-US" dirty="0"/>
              <a:t>In this lecture, we will explore key aspects of database security, including create, insert, update, delete, grant, and revoke operations.</a:t>
            </a:r>
            <a:endParaRPr lang="en-PK" dirty="0"/>
          </a:p>
        </p:txBody>
      </p:sp>
    </p:spTree>
    <p:extLst>
      <p:ext uri="{BB962C8B-B14F-4D97-AF65-F5344CB8AC3E}">
        <p14:creationId xmlns:p14="http://schemas.microsoft.com/office/powerpoint/2010/main" val="737516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53A14A1-9A0D-5F6D-96D2-8574C6059893}"/>
              </a:ext>
            </a:extLst>
          </p:cNvPr>
          <p:cNvSpPr>
            <a:spLocks noGrp="1" noRot="1" noChangeArrowheads="1"/>
          </p:cNvSpPr>
          <p:nvPr>
            <p:ph type="title"/>
          </p:nvPr>
        </p:nvSpPr>
        <p:spPr bwMode="auto">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itchFamily="18" charset="0"/>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itchFamily="18" charset="0"/>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itchFamily="18" charset="0"/>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itchFamily="18" charset="0"/>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Garamond" pitchFamily="18"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Garamond" pitchFamily="18"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Garamond" pitchFamily="18"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Garamond" pitchFamily="18" charset="0"/>
              </a:defRPr>
            </a:lvl9pPr>
          </a:lstStyle>
          <a:p>
            <a:pPr algn="l" eaLnBrk="1" hangingPunct="1">
              <a:defRPr/>
            </a:pPr>
            <a:r>
              <a:rPr lang="en-US" b="0" dirty="0">
                <a:solidFill>
                  <a:schemeClr val="tx1"/>
                </a:solidFill>
                <a:effectLst/>
              </a:rPr>
              <a:t>Security Objectives</a:t>
            </a:r>
          </a:p>
        </p:txBody>
      </p:sp>
      <p:grpSp>
        <p:nvGrpSpPr>
          <p:cNvPr id="7" name="Group 6">
            <a:extLst>
              <a:ext uri="{FF2B5EF4-FFF2-40B4-BE49-F238E27FC236}">
                <a16:creationId xmlns:a16="http://schemas.microsoft.com/office/drawing/2014/main" id="{F31DE2CD-A760-8806-F6DD-C597539A8054}"/>
              </a:ext>
            </a:extLst>
          </p:cNvPr>
          <p:cNvGrpSpPr>
            <a:grpSpLocks/>
          </p:cNvGrpSpPr>
          <p:nvPr/>
        </p:nvGrpSpPr>
        <p:grpSpPr bwMode="auto">
          <a:xfrm>
            <a:off x="4773561" y="1956388"/>
            <a:ext cx="4802188" cy="2590800"/>
            <a:chOff x="2400" y="960"/>
            <a:chExt cx="3025" cy="1632"/>
          </a:xfrm>
        </p:grpSpPr>
        <p:grpSp>
          <p:nvGrpSpPr>
            <p:cNvPr id="18" name="Group 17">
              <a:extLst>
                <a:ext uri="{FF2B5EF4-FFF2-40B4-BE49-F238E27FC236}">
                  <a16:creationId xmlns:a16="http://schemas.microsoft.com/office/drawing/2014/main" id="{955C785C-E16F-1A15-5B51-F20109AF00F5}"/>
                </a:ext>
              </a:extLst>
            </p:cNvPr>
            <p:cNvGrpSpPr>
              <a:grpSpLocks/>
            </p:cNvGrpSpPr>
            <p:nvPr/>
          </p:nvGrpSpPr>
          <p:grpSpPr bwMode="auto">
            <a:xfrm>
              <a:off x="2400" y="1344"/>
              <a:ext cx="1296" cy="1248"/>
              <a:chOff x="2400" y="1344"/>
              <a:chExt cx="1296" cy="1248"/>
            </a:xfrm>
          </p:grpSpPr>
          <p:sp>
            <p:nvSpPr>
              <p:cNvPr id="20" name="Oval 19">
                <a:extLst>
                  <a:ext uri="{FF2B5EF4-FFF2-40B4-BE49-F238E27FC236}">
                    <a16:creationId xmlns:a16="http://schemas.microsoft.com/office/drawing/2014/main" id="{6377B674-1081-1605-2D14-2A188E8D478E}"/>
                  </a:ext>
                </a:extLst>
              </p:cNvPr>
              <p:cNvSpPr>
                <a:spLocks noChangeArrowheads="1"/>
              </p:cNvSpPr>
              <p:nvPr/>
            </p:nvSpPr>
            <p:spPr bwMode="auto">
              <a:xfrm>
                <a:off x="2400" y="1344"/>
                <a:ext cx="1296" cy="1248"/>
              </a:xfrm>
              <a:prstGeom prst="ellipse">
                <a:avLst/>
              </a:prstGeom>
              <a:noFill/>
              <a:ln w="158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5pPr>
                <a:lvl6pPr marL="2286000" algn="l" defTabSz="914400" rtl="0" eaLnBrk="1" latinLnBrk="0" hangingPunct="1">
                  <a:defRPr kern="1200">
                    <a:solidFill>
                      <a:schemeClr val="tx1"/>
                    </a:solidFill>
                    <a:latin typeface="Garamond" panose="02020404030301010803" pitchFamily="18" charset="0"/>
                    <a:ea typeface="+mn-ea"/>
                    <a:cs typeface="+mn-cs"/>
                  </a:defRPr>
                </a:lvl6pPr>
                <a:lvl7pPr marL="2743200" algn="l" defTabSz="914400" rtl="0" eaLnBrk="1" latinLnBrk="0" hangingPunct="1">
                  <a:defRPr kern="1200">
                    <a:solidFill>
                      <a:schemeClr val="tx1"/>
                    </a:solidFill>
                    <a:latin typeface="Garamond" panose="02020404030301010803" pitchFamily="18" charset="0"/>
                    <a:ea typeface="+mn-ea"/>
                    <a:cs typeface="+mn-cs"/>
                  </a:defRPr>
                </a:lvl7pPr>
                <a:lvl8pPr marL="3200400" algn="l" defTabSz="914400" rtl="0" eaLnBrk="1" latinLnBrk="0" hangingPunct="1">
                  <a:defRPr kern="1200">
                    <a:solidFill>
                      <a:schemeClr val="tx1"/>
                    </a:solidFill>
                    <a:latin typeface="Garamond" panose="02020404030301010803" pitchFamily="18" charset="0"/>
                    <a:ea typeface="+mn-ea"/>
                    <a:cs typeface="+mn-cs"/>
                  </a:defRPr>
                </a:lvl8pPr>
                <a:lvl9pPr marL="3657600" algn="l" defTabSz="914400" rtl="0" eaLnBrk="1" latinLnBrk="0" hangingPunct="1">
                  <a:defRPr kern="1200">
                    <a:solidFill>
                      <a:schemeClr val="tx1"/>
                    </a:solidFill>
                    <a:latin typeface="Garamond" panose="02020404030301010803" pitchFamily="18" charset="0"/>
                    <a:ea typeface="+mn-ea"/>
                    <a:cs typeface="+mn-cs"/>
                  </a:defRPr>
                </a:lvl9pPr>
              </a:lstStyle>
              <a:p>
                <a:endParaRPr lang="en-PK" altLang="en-PK"/>
              </a:p>
            </p:txBody>
          </p:sp>
          <p:sp>
            <p:nvSpPr>
              <p:cNvPr id="21" name="Text Box 8">
                <a:extLst>
                  <a:ext uri="{FF2B5EF4-FFF2-40B4-BE49-F238E27FC236}">
                    <a16:creationId xmlns:a16="http://schemas.microsoft.com/office/drawing/2014/main" id="{ADF3686A-707B-8454-9636-7223EB58D80E}"/>
                  </a:ext>
                </a:extLst>
              </p:cNvPr>
              <p:cNvSpPr txBox="1">
                <a:spLocks noChangeArrowheads="1"/>
              </p:cNvSpPr>
              <p:nvPr/>
            </p:nvSpPr>
            <p:spPr bwMode="auto">
              <a:xfrm>
                <a:off x="2688" y="1568"/>
                <a:ext cx="761"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5pPr>
                <a:lvl6pPr marL="2286000" algn="l" defTabSz="914400" rtl="0" eaLnBrk="1" latinLnBrk="0" hangingPunct="1">
                  <a:defRPr kern="1200">
                    <a:solidFill>
                      <a:schemeClr val="tx1"/>
                    </a:solidFill>
                    <a:latin typeface="Garamond" panose="02020404030301010803" pitchFamily="18" charset="0"/>
                    <a:ea typeface="+mn-ea"/>
                    <a:cs typeface="+mn-cs"/>
                  </a:defRPr>
                </a:lvl6pPr>
                <a:lvl7pPr marL="2743200" algn="l" defTabSz="914400" rtl="0" eaLnBrk="1" latinLnBrk="0" hangingPunct="1">
                  <a:defRPr kern="1200">
                    <a:solidFill>
                      <a:schemeClr val="tx1"/>
                    </a:solidFill>
                    <a:latin typeface="Garamond" panose="02020404030301010803" pitchFamily="18" charset="0"/>
                    <a:ea typeface="+mn-ea"/>
                    <a:cs typeface="+mn-cs"/>
                  </a:defRPr>
                </a:lvl7pPr>
                <a:lvl8pPr marL="3200400" algn="l" defTabSz="914400" rtl="0" eaLnBrk="1" latinLnBrk="0" hangingPunct="1">
                  <a:defRPr kern="1200">
                    <a:solidFill>
                      <a:schemeClr val="tx1"/>
                    </a:solidFill>
                    <a:latin typeface="Garamond" panose="02020404030301010803" pitchFamily="18" charset="0"/>
                    <a:ea typeface="+mn-ea"/>
                    <a:cs typeface="+mn-cs"/>
                  </a:defRPr>
                </a:lvl8pPr>
                <a:lvl9pPr marL="3657600" algn="l" defTabSz="914400" rtl="0" eaLnBrk="1" latinLnBrk="0" hangingPunct="1">
                  <a:defRPr kern="1200">
                    <a:solidFill>
                      <a:schemeClr val="tx1"/>
                    </a:solidFill>
                    <a:latin typeface="Garamond" panose="02020404030301010803" pitchFamily="18" charset="0"/>
                    <a:ea typeface="+mn-ea"/>
                    <a:cs typeface="+mn-cs"/>
                  </a:defRPr>
                </a:lvl9pPr>
              </a:lstStyle>
              <a:p>
                <a:pPr eaLnBrk="1" hangingPunct="1"/>
                <a:r>
                  <a:rPr lang="en-US" altLang="en-PK" sz="2600" i="1">
                    <a:latin typeface="Times New Roman" panose="02020603050405020304" pitchFamily="18" charset="0"/>
                  </a:rPr>
                  <a:t>Secrecy</a:t>
                </a:r>
              </a:p>
            </p:txBody>
          </p:sp>
        </p:grpSp>
        <p:sp>
          <p:nvSpPr>
            <p:cNvPr id="19" name="Text Box 13">
              <a:extLst>
                <a:ext uri="{FF2B5EF4-FFF2-40B4-BE49-F238E27FC236}">
                  <a16:creationId xmlns:a16="http://schemas.microsoft.com/office/drawing/2014/main" id="{ACD6B410-86B3-7E64-0B45-E876E04943DD}"/>
                </a:ext>
              </a:extLst>
            </p:cNvPr>
            <p:cNvSpPr txBox="1">
              <a:spLocks noChangeArrowheads="1"/>
            </p:cNvSpPr>
            <p:nvPr/>
          </p:nvSpPr>
          <p:spPr bwMode="auto">
            <a:xfrm>
              <a:off x="3408" y="960"/>
              <a:ext cx="2017"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5pPr>
              <a:lvl6pPr marL="2286000" algn="l" defTabSz="914400" rtl="0" eaLnBrk="1" latinLnBrk="0" hangingPunct="1">
                <a:defRPr kern="1200">
                  <a:solidFill>
                    <a:schemeClr val="tx1"/>
                  </a:solidFill>
                  <a:latin typeface="Garamond" panose="02020404030301010803" pitchFamily="18" charset="0"/>
                  <a:ea typeface="+mn-ea"/>
                  <a:cs typeface="+mn-cs"/>
                </a:defRPr>
              </a:lvl6pPr>
              <a:lvl7pPr marL="2743200" algn="l" defTabSz="914400" rtl="0" eaLnBrk="1" latinLnBrk="0" hangingPunct="1">
                <a:defRPr kern="1200">
                  <a:solidFill>
                    <a:schemeClr val="tx1"/>
                  </a:solidFill>
                  <a:latin typeface="Garamond" panose="02020404030301010803" pitchFamily="18" charset="0"/>
                  <a:ea typeface="+mn-ea"/>
                  <a:cs typeface="+mn-cs"/>
                </a:defRPr>
              </a:lvl7pPr>
              <a:lvl8pPr marL="3200400" algn="l" defTabSz="914400" rtl="0" eaLnBrk="1" latinLnBrk="0" hangingPunct="1">
                <a:defRPr kern="1200">
                  <a:solidFill>
                    <a:schemeClr val="tx1"/>
                  </a:solidFill>
                  <a:latin typeface="Garamond" panose="02020404030301010803" pitchFamily="18" charset="0"/>
                  <a:ea typeface="+mn-ea"/>
                  <a:cs typeface="+mn-cs"/>
                </a:defRPr>
              </a:lvl8pPr>
              <a:lvl9pPr marL="3657600" algn="l" defTabSz="914400" rtl="0" eaLnBrk="1" latinLnBrk="0" hangingPunct="1">
                <a:defRPr kern="1200">
                  <a:solidFill>
                    <a:schemeClr val="tx1"/>
                  </a:solidFill>
                  <a:latin typeface="Garamond" panose="02020404030301010803" pitchFamily="18" charset="0"/>
                  <a:ea typeface="+mn-ea"/>
                  <a:cs typeface="+mn-cs"/>
                </a:defRPr>
              </a:lvl9pPr>
            </a:lstStyle>
            <a:p>
              <a:pPr eaLnBrk="1" hangingPunct="1"/>
              <a:r>
                <a:rPr lang="en-US" altLang="en-PK" sz="2000">
                  <a:latin typeface="Times New Roman" panose="02020603050405020304" pitchFamily="18" charset="0"/>
                </a:rPr>
                <a:t>Prevent/detect/deter improper</a:t>
              </a:r>
            </a:p>
            <a:p>
              <a:pPr eaLnBrk="1" hangingPunct="1"/>
              <a:r>
                <a:rPr lang="en-US" altLang="en-PK" sz="2000" b="1">
                  <a:latin typeface="Times New Roman" panose="02020603050405020304" pitchFamily="18" charset="0"/>
                </a:rPr>
                <a:t>Disclosure</a:t>
              </a:r>
              <a:r>
                <a:rPr lang="en-US" altLang="en-PK" sz="2000">
                  <a:latin typeface="Times New Roman" panose="02020603050405020304" pitchFamily="18" charset="0"/>
                </a:rPr>
                <a:t> of information</a:t>
              </a:r>
            </a:p>
          </p:txBody>
        </p:sp>
      </p:grpSp>
      <p:grpSp>
        <p:nvGrpSpPr>
          <p:cNvPr id="8" name="Group 7">
            <a:extLst>
              <a:ext uri="{FF2B5EF4-FFF2-40B4-BE49-F238E27FC236}">
                <a16:creationId xmlns:a16="http://schemas.microsoft.com/office/drawing/2014/main" id="{8871ACCB-188D-4D6B-EC32-BC760FD78D76}"/>
              </a:ext>
            </a:extLst>
          </p:cNvPr>
          <p:cNvGrpSpPr>
            <a:grpSpLocks/>
          </p:cNvGrpSpPr>
          <p:nvPr/>
        </p:nvGrpSpPr>
        <p:grpSpPr bwMode="auto">
          <a:xfrm>
            <a:off x="5687961" y="3556588"/>
            <a:ext cx="3506788" cy="2682875"/>
            <a:chOff x="2976" y="1968"/>
            <a:chExt cx="2209" cy="1690"/>
          </a:xfrm>
        </p:grpSpPr>
        <p:grpSp>
          <p:nvGrpSpPr>
            <p:cNvPr id="14" name="Group 13">
              <a:extLst>
                <a:ext uri="{FF2B5EF4-FFF2-40B4-BE49-F238E27FC236}">
                  <a16:creationId xmlns:a16="http://schemas.microsoft.com/office/drawing/2014/main" id="{84A5BBFB-8924-FE73-6A2E-A13C0A721ACA}"/>
                </a:ext>
              </a:extLst>
            </p:cNvPr>
            <p:cNvGrpSpPr>
              <a:grpSpLocks/>
            </p:cNvGrpSpPr>
            <p:nvPr/>
          </p:nvGrpSpPr>
          <p:grpSpPr bwMode="auto">
            <a:xfrm>
              <a:off x="2976" y="1968"/>
              <a:ext cx="1296" cy="1248"/>
              <a:chOff x="2976" y="1968"/>
              <a:chExt cx="1296" cy="1248"/>
            </a:xfrm>
          </p:grpSpPr>
          <p:sp>
            <p:nvSpPr>
              <p:cNvPr id="16" name="Oval 15">
                <a:extLst>
                  <a:ext uri="{FF2B5EF4-FFF2-40B4-BE49-F238E27FC236}">
                    <a16:creationId xmlns:a16="http://schemas.microsoft.com/office/drawing/2014/main" id="{E6E0D6C8-EA43-3E51-DDD6-F93396BC68AB}"/>
                  </a:ext>
                </a:extLst>
              </p:cNvPr>
              <p:cNvSpPr>
                <a:spLocks noChangeArrowheads="1"/>
              </p:cNvSpPr>
              <p:nvPr/>
            </p:nvSpPr>
            <p:spPr bwMode="auto">
              <a:xfrm>
                <a:off x="2976" y="1968"/>
                <a:ext cx="1296" cy="1248"/>
              </a:xfrm>
              <a:prstGeom prst="ellipse">
                <a:avLst/>
              </a:prstGeom>
              <a:noFill/>
              <a:ln w="158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5pPr>
                <a:lvl6pPr marL="2286000" algn="l" defTabSz="914400" rtl="0" eaLnBrk="1" latinLnBrk="0" hangingPunct="1">
                  <a:defRPr kern="1200">
                    <a:solidFill>
                      <a:schemeClr val="tx1"/>
                    </a:solidFill>
                    <a:latin typeface="Garamond" panose="02020404030301010803" pitchFamily="18" charset="0"/>
                    <a:ea typeface="+mn-ea"/>
                    <a:cs typeface="+mn-cs"/>
                  </a:defRPr>
                </a:lvl6pPr>
                <a:lvl7pPr marL="2743200" algn="l" defTabSz="914400" rtl="0" eaLnBrk="1" latinLnBrk="0" hangingPunct="1">
                  <a:defRPr kern="1200">
                    <a:solidFill>
                      <a:schemeClr val="tx1"/>
                    </a:solidFill>
                    <a:latin typeface="Garamond" panose="02020404030301010803" pitchFamily="18" charset="0"/>
                    <a:ea typeface="+mn-ea"/>
                    <a:cs typeface="+mn-cs"/>
                  </a:defRPr>
                </a:lvl7pPr>
                <a:lvl8pPr marL="3200400" algn="l" defTabSz="914400" rtl="0" eaLnBrk="1" latinLnBrk="0" hangingPunct="1">
                  <a:defRPr kern="1200">
                    <a:solidFill>
                      <a:schemeClr val="tx1"/>
                    </a:solidFill>
                    <a:latin typeface="Garamond" panose="02020404030301010803" pitchFamily="18" charset="0"/>
                    <a:ea typeface="+mn-ea"/>
                    <a:cs typeface="+mn-cs"/>
                  </a:defRPr>
                </a:lvl8pPr>
                <a:lvl9pPr marL="3657600" algn="l" defTabSz="914400" rtl="0" eaLnBrk="1" latinLnBrk="0" hangingPunct="1">
                  <a:defRPr kern="1200">
                    <a:solidFill>
                      <a:schemeClr val="tx1"/>
                    </a:solidFill>
                    <a:latin typeface="Garamond" panose="02020404030301010803" pitchFamily="18" charset="0"/>
                    <a:ea typeface="+mn-ea"/>
                    <a:cs typeface="+mn-cs"/>
                  </a:defRPr>
                </a:lvl9pPr>
              </a:lstStyle>
              <a:p>
                <a:endParaRPr lang="en-PK" altLang="en-PK"/>
              </a:p>
            </p:txBody>
          </p:sp>
          <p:sp>
            <p:nvSpPr>
              <p:cNvPr id="17" name="Text Box 9">
                <a:extLst>
                  <a:ext uri="{FF2B5EF4-FFF2-40B4-BE49-F238E27FC236}">
                    <a16:creationId xmlns:a16="http://schemas.microsoft.com/office/drawing/2014/main" id="{A2C2D973-5E63-FAB5-DC7D-CFC35F25420C}"/>
                  </a:ext>
                </a:extLst>
              </p:cNvPr>
              <p:cNvSpPr txBox="1">
                <a:spLocks noChangeArrowheads="1"/>
              </p:cNvSpPr>
              <p:nvPr/>
            </p:nvSpPr>
            <p:spPr bwMode="auto">
              <a:xfrm>
                <a:off x="3168" y="2544"/>
                <a:ext cx="10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5pPr>
                <a:lvl6pPr marL="2286000" algn="l" defTabSz="914400" rtl="0" eaLnBrk="1" latinLnBrk="0" hangingPunct="1">
                  <a:defRPr kern="1200">
                    <a:solidFill>
                      <a:schemeClr val="tx1"/>
                    </a:solidFill>
                    <a:latin typeface="Garamond" panose="02020404030301010803" pitchFamily="18" charset="0"/>
                    <a:ea typeface="+mn-ea"/>
                    <a:cs typeface="+mn-cs"/>
                  </a:defRPr>
                </a:lvl6pPr>
                <a:lvl7pPr marL="2743200" algn="l" defTabSz="914400" rtl="0" eaLnBrk="1" latinLnBrk="0" hangingPunct="1">
                  <a:defRPr kern="1200">
                    <a:solidFill>
                      <a:schemeClr val="tx1"/>
                    </a:solidFill>
                    <a:latin typeface="Garamond" panose="02020404030301010803" pitchFamily="18" charset="0"/>
                    <a:ea typeface="+mn-ea"/>
                    <a:cs typeface="+mn-cs"/>
                  </a:defRPr>
                </a:lvl7pPr>
                <a:lvl8pPr marL="3200400" algn="l" defTabSz="914400" rtl="0" eaLnBrk="1" latinLnBrk="0" hangingPunct="1">
                  <a:defRPr kern="1200">
                    <a:solidFill>
                      <a:schemeClr val="tx1"/>
                    </a:solidFill>
                    <a:latin typeface="Garamond" panose="02020404030301010803" pitchFamily="18" charset="0"/>
                    <a:ea typeface="+mn-ea"/>
                    <a:cs typeface="+mn-cs"/>
                  </a:defRPr>
                </a:lvl8pPr>
                <a:lvl9pPr marL="3657600" algn="l" defTabSz="914400" rtl="0" eaLnBrk="1" latinLnBrk="0" hangingPunct="1">
                  <a:defRPr kern="1200">
                    <a:solidFill>
                      <a:schemeClr val="tx1"/>
                    </a:solidFill>
                    <a:latin typeface="Garamond" panose="02020404030301010803" pitchFamily="18" charset="0"/>
                    <a:ea typeface="+mn-ea"/>
                    <a:cs typeface="+mn-cs"/>
                  </a:defRPr>
                </a:lvl9pPr>
              </a:lstStyle>
              <a:p>
                <a:pPr eaLnBrk="1" hangingPunct="1"/>
                <a:r>
                  <a:rPr lang="en-US" altLang="en-PK" sz="2400" i="1">
                    <a:latin typeface="Times New Roman" panose="02020603050405020304" pitchFamily="18" charset="0"/>
                  </a:rPr>
                  <a:t>Availability</a:t>
                </a:r>
              </a:p>
            </p:txBody>
          </p:sp>
        </p:grpSp>
        <p:sp>
          <p:nvSpPr>
            <p:cNvPr id="15" name="Text Box 14">
              <a:extLst>
                <a:ext uri="{FF2B5EF4-FFF2-40B4-BE49-F238E27FC236}">
                  <a16:creationId xmlns:a16="http://schemas.microsoft.com/office/drawing/2014/main" id="{9D201C36-029D-6473-2FC5-91F1AB8F0D33}"/>
                </a:ext>
              </a:extLst>
            </p:cNvPr>
            <p:cNvSpPr txBox="1">
              <a:spLocks noChangeArrowheads="1"/>
            </p:cNvSpPr>
            <p:nvPr/>
          </p:nvSpPr>
          <p:spPr bwMode="auto">
            <a:xfrm>
              <a:off x="3168" y="3216"/>
              <a:ext cx="2017"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5pPr>
              <a:lvl6pPr marL="2286000" algn="l" defTabSz="914400" rtl="0" eaLnBrk="1" latinLnBrk="0" hangingPunct="1">
                <a:defRPr kern="1200">
                  <a:solidFill>
                    <a:schemeClr val="tx1"/>
                  </a:solidFill>
                  <a:latin typeface="Garamond" panose="02020404030301010803" pitchFamily="18" charset="0"/>
                  <a:ea typeface="+mn-ea"/>
                  <a:cs typeface="+mn-cs"/>
                </a:defRPr>
              </a:lvl6pPr>
              <a:lvl7pPr marL="2743200" algn="l" defTabSz="914400" rtl="0" eaLnBrk="1" latinLnBrk="0" hangingPunct="1">
                <a:defRPr kern="1200">
                  <a:solidFill>
                    <a:schemeClr val="tx1"/>
                  </a:solidFill>
                  <a:latin typeface="Garamond" panose="02020404030301010803" pitchFamily="18" charset="0"/>
                  <a:ea typeface="+mn-ea"/>
                  <a:cs typeface="+mn-cs"/>
                </a:defRPr>
              </a:lvl7pPr>
              <a:lvl8pPr marL="3200400" algn="l" defTabSz="914400" rtl="0" eaLnBrk="1" latinLnBrk="0" hangingPunct="1">
                <a:defRPr kern="1200">
                  <a:solidFill>
                    <a:schemeClr val="tx1"/>
                  </a:solidFill>
                  <a:latin typeface="Garamond" panose="02020404030301010803" pitchFamily="18" charset="0"/>
                  <a:ea typeface="+mn-ea"/>
                  <a:cs typeface="+mn-cs"/>
                </a:defRPr>
              </a:lvl8pPr>
              <a:lvl9pPr marL="3657600" algn="l" defTabSz="914400" rtl="0" eaLnBrk="1" latinLnBrk="0" hangingPunct="1">
                <a:defRPr kern="1200">
                  <a:solidFill>
                    <a:schemeClr val="tx1"/>
                  </a:solidFill>
                  <a:latin typeface="Garamond" panose="02020404030301010803" pitchFamily="18" charset="0"/>
                  <a:ea typeface="+mn-ea"/>
                  <a:cs typeface="+mn-cs"/>
                </a:defRPr>
              </a:lvl9pPr>
            </a:lstStyle>
            <a:p>
              <a:pPr eaLnBrk="1" hangingPunct="1"/>
              <a:r>
                <a:rPr lang="en-US" altLang="en-PK" sz="2000">
                  <a:latin typeface="Times New Roman" panose="02020603050405020304" pitchFamily="18" charset="0"/>
                </a:rPr>
                <a:t>Prevent/detect/deter improper</a:t>
              </a:r>
            </a:p>
            <a:p>
              <a:pPr eaLnBrk="1" hangingPunct="1"/>
              <a:r>
                <a:rPr lang="en-US" altLang="en-PK" sz="2000" b="1">
                  <a:latin typeface="Times New Roman" panose="02020603050405020304" pitchFamily="18" charset="0"/>
                </a:rPr>
                <a:t>Denial of access</a:t>
              </a:r>
              <a:r>
                <a:rPr lang="en-US" altLang="en-PK" sz="2000">
                  <a:latin typeface="Times New Roman" panose="02020603050405020304" pitchFamily="18" charset="0"/>
                </a:rPr>
                <a:t> to services</a:t>
              </a:r>
            </a:p>
          </p:txBody>
        </p:sp>
      </p:grpSp>
      <p:grpSp>
        <p:nvGrpSpPr>
          <p:cNvPr id="9" name="Group 8">
            <a:extLst>
              <a:ext uri="{FF2B5EF4-FFF2-40B4-BE49-F238E27FC236}">
                <a16:creationId xmlns:a16="http://schemas.microsoft.com/office/drawing/2014/main" id="{39B8BA4A-30A0-F34F-5D7E-3C40762E7D22}"/>
              </a:ext>
            </a:extLst>
          </p:cNvPr>
          <p:cNvGrpSpPr>
            <a:grpSpLocks/>
          </p:cNvGrpSpPr>
          <p:nvPr/>
        </p:nvGrpSpPr>
        <p:grpSpPr bwMode="auto">
          <a:xfrm>
            <a:off x="2182761" y="3099388"/>
            <a:ext cx="4114800" cy="2438400"/>
            <a:chOff x="768" y="1680"/>
            <a:chExt cx="2592" cy="1536"/>
          </a:xfrm>
        </p:grpSpPr>
        <p:grpSp>
          <p:nvGrpSpPr>
            <p:cNvPr id="10" name="Group 9">
              <a:extLst>
                <a:ext uri="{FF2B5EF4-FFF2-40B4-BE49-F238E27FC236}">
                  <a16:creationId xmlns:a16="http://schemas.microsoft.com/office/drawing/2014/main" id="{E119BC4F-9B7A-9F12-2B60-C66F717CB66B}"/>
                </a:ext>
              </a:extLst>
            </p:cNvPr>
            <p:cNvGrpSpPr>
              <a:grpSpLocks/>
            </p:cNvGrpSpPr>
            <p:nvPr/>
          </p:nvGrpSpPr>
          <p:grpSpPr bwMode="auto">
            <a:xfrm>
              <a:off x="2064" y="1968"/>
              <a:ext cx="1296" cy="1248"/>
              <a:chOff x="2064" y="1968"/>
              <a:chExt cx="1296" cy="1248"/>
            </a:xfrm>
          </p:grpSpPr>
          <p:sp>
            <p:nvSpPr>
              <p:cNvPr id="12" name="Oval 11">
                <a:extLst>
                  <a:ext uri="{FF2B5EF4-FFF2-40B4-BE49-F238E27FC236}">
                    <a16:creationId xmlns:a16="http://schemas.microsoft.com/office/drawing/2014/main" id="{63005161-1688-7C5A-6C2D-C9073A8B1DF4}"/>
                  </a:ext>
                </a:extLst>
              </p:cNvPr>
              <p:cNvSpPr>
                <a:spLocks noChangeArrowheads="1"/>
              </p:cNvSpPr>
              <p:nvPr/>
            </p:nvSpPr>
            <p:spPr bwMode="auto">
              <a:xfrm>
                <a:off x="2064" y="1968"/>
                <a:ext cx="1296" cy="1248"/>
              </a:xfrm>
              <a:prstGeom prst="ellipse">
                <a:avLst/>
              </a:prstGeom>
              <a:noFill/>
              <a:ln w="158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5pPr>
                <a:lvl6pPr marL="2286000" algn="l" defTabSz="914400" rtl="0" eaLnBrk="1" latinLnBrk="0" hangingPunct="1">
                  <a:defRPr kern="1200">
                    <a:solidFill>
                      <a:schemeClr val="tx1"/>
                    </a:solidFill>
                    <a:latin typeface="Garamond" panose="02020404030301010803" pitchFamily="18" charset="0"/>
                    <a:ea typeface="+mn-ea"/>
                    <a:cs typeface="+mn-cs"/>
                  </a:defRPr>
                </a:lvl6pPr>
                <a:lvl7pPr marL="2743200" algn="l" defTabSz="914400" rtl="0" eaLnBrk="1" latinLnBrk="0" hangingPunct="1">
                  <a:defRPr kern="1200">
                    <a:solidFill>
                      <a:schemeClr val="tx1"/>
                    </a:solidFill>
                    <a:latin typeface="Garamond" panose="02020404030301010803" pitchFamily="18" charset="0"/>
                    <a:ea typeface="+mn-ea"/>
                    <a:cs typeface="+mn-cs"/>
                  </a:defRPr>
                </a:lvl7pPr>
                <a:lvl8pPr marL="3200400" algn="l" defTabSz="914400" rtl="0" eaLnBrk="1" latinLnBrk="0" hangingPunct="1">
                  <a:defRPr kern="1200">
                    <a:solidFill>
                      <a:schemeClr val="tx1"/>
                    </a:solidFill>
                    <a:latin typeface="Garamond" panose="02020404030301010803" pitchFamily="18" charset="0"/>
                    <a:ea typeface="+mn-ea"/>
                    <a:cs typeface="+mn-cs"/>
                  </a:defRPr>
                </a:lvl8pPr>
                <a:lvl9pPr marL="3657600" algn="l" defTabSz="914400" rtl="0" eaLnBrk="1" latinLnBrk="0" hangingPunct="1">
                  <a:defRPr kern="1200">
                    <a:solidFill>
                      <a:schemeClr val="tx1"/>
                    </a:solidFill>
                    <a:latin typeface="Garamond" panose="02020404030301010803" pitchFamily="18" charset="0"/>
                    <a:ea typeface="+mn-ea"/>
                    <a:cs typeface="+mn-cs"/>
                  </a:defRPr>
                </a:lvl9pPr>
              </a:lstStyle>
              <a:p>
                <a:endParaRPr lang="en-PK" altLang="en-PK"/>
              </a:p>
            </p:txBody>
          </p:sp>
          <p:sp>
            <p:nvSpPr>
              <p:cNvPr id="13" name="Text Box 6">
                <a:extLst>
                  <a:ext uri="{FF2B5EF4-FFF2-40B4-BE49-F238E27FC236}">
                    <a16:creationId xmlns:a16="http://schemas.microsoft.com/office/drawing/2014/main" id="{DB50A278-1F90-631C-0B2F-4E42B2B67B7B}"/>
                  </a:ext>
                </a:extLst>
              </p:cNvPr>
              <p:cNvSpPr txBox="1">
                <a:spLocks noChangeArrowheads="1"/>
              </p:cNvSpPr>
              <p:nvPr/>
            </p:nvSpPr>
            <p:spPr bwMode="auto">
              <a:xfrm>
                <a:off x="2160" y="2496"/>
                <a:ext cx="7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5pPr>
                <a:lvl6pPr marL="2286000" algn="l" defTabSz="914400" rtl="0" eaLnBrk="1" latinLnBrk="0" hangingPunct="1">
                  <a:defRPr kern="1200">
                    <a:solidFill>
                      <a:schemeClr val="tx1"/>
                    </a:solidFill>
                    <a:latin typeface="Garamond" panose="02020404030301010803" pitchFamily="18" charset="0"/>
                    <a:ea typeface="+mn-ea"/>
                    <a:cs typeface="+mn-cs"/>
                  </a:defRPr>
                </a:lvl6pPr>
                <a:lvl7pPr marL="2743200" algn="l" defTabSz="914400" rtl="0" eaLnBrk="1" latinLnBrk="0" hangingPunct="1">
                  <a:defRPr kern="1200">
                    <a:solidFill>
                      <a:schemeClr val="tx1"/>
                    </a:solidFill>
                    <a:latin typeface="Garamond" panose="02020404030301010803" pitchFamily="18" charset="0"/>
                    <a:ea typeface="+mn-ea"/>
                    <a:cs typeface="+mn-cs"/>
                  </a:defRPr>
                </a:lvl7pPr>
                <a:lvl8pPr marL="3200400" algn="l" defTabSz="914400" rtl="0" eaLnBrk="1" latinLnBrk="0" hangingPunct="1">
                  <a:defRPr kern="1200">
                    <a:solidFill>
                      <a:schemeClr val="tx1"/>
                    </a:solidFill>
                    <a:latin typeface="Garamond" panose="02020404030301010803" pitchFamily="18" charset="0"/>
                    <a:ea typeface="+mn-ea"/>
                    <a:cs typeface="+mn-cs"/>
                  </a:defRPr>
                </a:lvl8pPr>
                <a:lvl9pPr marL="3657600" algn="l" defTabSz="914400" rtl="0" eaLnBrk="1" latinLnBrk="0" hangingPunct="1">
                  <a:defRPr kern="1200">
                    <a:solidFill>
                      <a:schemeClr val="tx1"/>
                    </a:solidFill>
                    <a:latin typeface="Garamond" panose="02020404030301010803" pitchFamily="18" charset="0"/>
                    <a:ea typeface="+mn-ea"/>
                    <a:cs typeface="+mn-cs"/>
                  </a:defRPr>
                </a:lvl9pPr>
              </a:lstStyle>
              <a:p>
                <a:pPr eaLnBrk="1" hangingPunct="1"/>
                <a:r>
                  <a:rPr lang="en-US" altLang="en-PK" sz="2400" i="1">
                    <a:latin typeface="Times New Roman" panose="02020603050405020304" pitchFamily="18" charset="0"/>
                  </a:rPr>
                  <a:t>Integrity</a:t>
                </a:r>
              </a:p>
            </p:txBody>
          </p:sp>
        </p:grpSp>
        <p:sp>
          <p:nvSpPr>
            <p:cNvPr id="11" name="Text Box 15">
              <a:extLst>
                <a:ext uri="{FF2B5EF4-FFF2-40B4-BE49-F238E27FC236}">
                  <a16:creationId xmlns:a16="http://schemas.microsoft.com/office/drawing/2014/main" id="{CDC1F826-7989-E45C-58F1-0C550791E42F}"/>
                </a:ext>
              </a:extLst>
            </p:cNvPr>
            <p:cNvSpPr txBox="1">
              <a:spLocks noChangeArrowheads="1"/>
            </p:cNvSpPr>
            <p:nvPr/>
          </p:nvSpPr>
          <p:spPr bwMode="auto">
            <a:xfrm>
              <a:off x="768" y="1680"/>
              <a:ext cx="1610"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5pPr>
              <a:lvl6pPr marL="2286000" algn="l" defTabSz="914400" rtl="0" eaLnBrk="1" latinLnBrk="0" hangingPunct="1">
                <a:defRPr kern="1200">
                  <a:solidFill>
                    <a:schemeClr val="tx1"/>
                  </a:solidFill>
                  <a:latin typeface="Garamond" panose="02020404030301010803" pitchFamily="18" charset="0"/>
                  <a:ea typeface="+mn-ea"/>
                  <a:cs typeface="+mn-cs"/>
                </a:defRPr>
              </a:lvl6pPr>
              <a:lvl7pPr marL="2743200" algn="l" defTabSz="914400" rtl="0" eaLnBrk="1" latinLnBrk="0" hangingPunct="1">
                <a:defRPr kern="1200">
                  <a:solidFill>
                    <a:schemeClr val="tx1"/>
                  </a:solidFill>
                  <a:latin typeface="Garamond" panose="02020404030301010803" pitchFamily="18" charset="0"/>
                  <a:ea typeface="+mn-ea"/>
                  <a:cs typeface="+mn-cs"/>
                </a:defRPr>
              </a:lvl7pPr>
              <a:lvl8pPr marL="3200400" algn="l" defTabSz="914400" rtl="0" eaLnBrk="1" latinLnBrk="0" hangingPunct="1">
                <a:defRPr kern="1200">
                  <a:solidFill>
                    <a:schemeClr val="tx1"/>
                  </a:solidFill>
                  <a:latin typeface="Garamond" panose="02020404030301010803" pitchFamily="18" charset="0"/>
                  <a:ea typeface="+mn-ea"/>
                  <a:cs typeface="+mn-cs"/>
                </a:defRPr>
              </a:lvl8pPr>
              <a:lvl9pPr marL="3657600" algn="l" defTabSz="914400" rtl="0" eaLnBrk="1" latinLnBrk="0" hangingPunct="1">
                <a:defRPr kern="1200">
                  <a:solidFill>
                    <a:schemeClr val="tx1"/>
                  </a:solidFill>
                  <a:latin typeface="Garamond" panose="02020404030301010803" pitchFamily="18" charset="0"/>
                  <a:ea typeface="+mn-ea"/>
                  <a:cs typeface="+mn-cs"/>
                </a:defRPr>
              </a:lvl9pPr>
            </a:lstStyle>
            <a:p>
              <a:pPr eaLnBrk="1" hangingPunct="1"/>
              <a:r>
                <a:rPr lang="en-US" altLang="en-PK" sz="2000">
                  <a:latin typeface="Times New Roman" panose="02020603050405020304" pitchFamily="18" charset="0"/>
                </a:rPr>
                <a:t>Prevent/detect/deter </a:t>
              </a:r>
            </a:p>
            <a:p>
              <a:pPr eaLnBrk="1" hangingPunct="1"/>
              <a:r>
                <a:rPr lang="en-US" altLang="en-PK" sz="2000">
                  <a:latin typeface="Times New Roman" panose="02020603050405020304" pitchFamily="18" charset="0"/>
                </a:rPr>
                <a:t>Improper </a:t>
              </a:r>
              <a:r>
                <a:rPr lang="en-US" altLang="en-PK" sz="2000" b="1">
                  <a:latin typeface="Times New Roman" panose="02020603050405020304" pitchFamily="18" charset="0"/>
                </a:rPr>
                <a:t>modification</a:t>
              </a:r>
            </a:p>
            <a:p>
              <a:pPr eaLnBrk="1" hangingPunct="1"/>
              <a:r>
                <a:rPr lang="en-US" altLang="en-PK" sz="2000">
                  <a:latin typeface="Times New Roman" panose="02020603050405020304" pitchFamily="18" charset="0"/>
                </a:rPr>
                <a:t>of information</a:t>
              </a:r>
            </a:p>
          </p:txBody>
        </p:sp>
      </p:grpSp>
    </p:spTree>
    <p:extLst>
      <p:ext uri="{BB962C8B-B14F-4D97-AF65-F5344CB8AC3E}">
        <p14:creationId xmlns:p14="http://schemas.microsoft.com/office/powerpoint/2010/main" val="19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76C2F-B2E5-8ABB-DBB4-3E890BAEE077}"/>
              </a:ext>
            </a:extLst>
          </p:cNvPr>
          <p:cNvSpPr>
            <a:spLocks noGrp="1"/>
          </p:cNvSpPr>
          <p:nvPr>
            <p:ph type="title"/>
          </p:nvPr>
        </p:nvSpPr>
        <p:spPr/>
        <p:txBody>
          <a:bodyPr/>
          <a:lstStyle/>
          <a:p>
            <a:r>
              <a:rPr lang="en-US" dirty="0"/>
              <a:t>Operations: </a:t>
            </a:r>
            <a:r>
              <a:rPr lang="en-US" dirty="0">
                <a:solidFill>
                  <a:srgbClr val="FF0000"/>
                </a:solidFill>
              </a:rPr>
              <a:t>Create Operation</a:t>
            </a:r>
            <a:endParaRPr lang="en-PK" dirty="0">
              <a:solidFill>
                <a:srgbClr val="FF0000"/>
              </a:solidFill>
            </a:endParaRPr>
          </a:p>
        </p:txBody>
      </p:sp>
      <p:sp>
        <p:nvSpPr>
          <p:cNvPr id="3" name="Content Placeholder 2">
            <a:extLst>
              <a:ext uri="{FF2B5EF4-FFF2-40B4-BE49-F238E27FC236}">
                <a16:creationId xmlns:a16="http://schemas.microsoft.com/office/drawing/2014/main" id="{9BB26C32-3FD2-0DDD-FE8B-630BAD87A790}"/>
              </a:ext>
            </a:extLst>
          </p:cNvPr>
          <p:cNvSpPr>
            <a:spLocks noGrp="1"/>
          </p:cNvSpPr>
          <p:nvPr>
            <p:ph idx="1"/>
          </p:nvPr>
        </p:nvSpPr>
        <p:spPr/>
        <p:txBody>
          <a:bodyPr/>
          <a:lstStyle/>
          <a:p>
            <a:r>
              <a:rPr lang="en-US" dirty="0"/>
              <a:t>The create operation involves the creation of a new database or the creation of database objects such as tables, views, indexes, etc.</a:t>
            </a:r>
          </a:p>
          <a:p>
            <a:r>
              <a:rPr lang="en-US" dirty="0"/>
              <a:t>Database administrators or authorized users typically perform this operation.</a:t>
            </a:r>
          </a:p>
          <a:p>
            <a:r>
              <a:rPr lang="en-US" dirty="0"/>
              <a:t>To enhance security, access to the create operation should be restricted to authorized personnel only.</a:t>
            </a:r>
          </a:p>
          <a:p>
            <a:r>
              <a:rPr lang="en-US" dirty="0"/>
              <a:t>Regular monitoring and auditing of create operations can help identify any unauthorized attempts.</a:t>
            </a:r>
            <a:endParaRPr lang="en-PK" dirty="0"/>
          </a:p>
        </p:txBody>
      </p:sp>
    </p:spTree>
    <p:extLst>
      <p:ext uri="{BB962C8B-B14F-4D97-AF65-F5344CB8AC3E}">
        <p14:creationId xmlns:p14="http://schemas.microsoft.com/office/powerpoint/2010/main" val="3454055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E9A1-811E-035B-1E11-AF90E3B5816C}"/>
              </a:ext>
            </a:extLst>
          </p:cNvPr>
          <p:cNvSpPr>
            <a:spLocks noGrp="1"/>
          </p:cNvSpPr>
          <p:nvPr>
            <p:ph type="title"/>
          </p:nvPr>
        </p:nvSpPr>
        <p:spPr/>
        <p:txBody>
          <a:bodyPr/>
          <a:lstStyle/>
          <a:p>
            <a:r>
              <a:rPr lang="en-US" dirty="0"/>
              <a:t>Operations: </a:t>
            </a:r>
            <a:r>
              <a:rPr lang="en-US" dirty="0">
                <a:solidFill>
                  <a:srgbClr val="FF0000"/>
                </a:solidFill>
              </a:rPr>
              <a:t>Create Operation</a:t>
            </a:r>
            <a:endParaRPr lang="en-PK" dirty="0"/>
          </a:p>
        </p:txBody>
      </p:sp>
      <p:sp>
        <p:nvSpPr>
          <p:cNvPr id="3" name="Content Placeholder 2">
            <a:extLst>
              <a:ext uri="{FF2B5EF4-FFF2-40B4-BE49-F238E27FC236}">
                <a16:creationId xmlns:a16="http://schemas.microsoft.com/office/drawing/2014/main" id="{8A27DBD9-B193-B452-ACA2-D24D2E4EEDBF}"/>
              </a:ext>
            </a:extLst>
          </p:cNvPr>
          <p:cNvSpPr>
            <a:spLocks noGrp="1"/>
          </p:cNvSpPr>
          <p:nvPr>
            <p:ph idx="1"/>
          </p:nvPr>
        </p:nvSpPr>
        <p:spPr/>
        <p:txBody>
          <a:bodyPr/>
          <a:lstStyle/>
          <a:p>
            <a:r>
              <a:rPr lang="en-US" dirty="0"/>
              <a:t>Imagine you are creating a new social media platform. The "create" operation would involve setting up the entire platform, including creating user profiles, posts, and comments.</a:t>
            </a:r>
          </a:p>
          <a:p>
            <a:r>
              <a:rPr lang="en-US" dirty="0"/>
              <a:t>To ensure security, only authorized administrators should have the power to create the platform and its components.</a:t>
            </a:r>
          </a:p>
          <a:p>
            <a:r>
              <a:rPr lang="en-US" dirty="0"/>
              <a:t>For example, a database administrator would be responsible for creating user accounts and maintaining the overall structure of the social media platform.</a:t>
            </a:r>
            <a:endParaRPr lang="en-PK" dirty="0"/>
          </a:p>
        </p:txBody>
      </p:sp>
    </p:spTree>
    <p:extLst>
      <p:ext uri="{BB962C8B-B14F-4D97-AF65-F5344CB8AC3E}">
        <p14:creationId xmlns:p14="http://schemas.microsoft.com/office/powerpoint/2010/main" val="1304168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E9A1-811E-035B-1E11-AF90E3B5816C}"/>
              </a:ext>
            </a:extLst>
          </p:cNvPr>
          <p:cNvSpPr>
            <a:spLocks noGrp="1"/>
          </p:cNvSpPr>
          <p:nvPr>
            <p:ph type="title"/>
          </p:nvPr>
        </p:nvSpPr>
        <p:spPr/>
        <p:txBody>
          <a:bodyPr/>
          <a:lstStyle/>
          <a:p>
            <a:r>
              <a:rPr lang="en-US" dirty="0"/>
              <a:t>Operations: </a:t>
            </a:r>
            <a:r>
              <a:rPr lang="en-US" dirty="0">
                <a:solidFill>
                  <a:srgbClr val="FF0000"/>
                </a:solidFill>
              </a:rPr>
              <a:t>Create Operation</a:t>
            </a:r>
            <a:endParaRPr lang="en-PK" dirty="0"/>
          </a:p>
        </p:txBody>
      </p:sp>
      <p:sp>
        <p:nvSpPr>
          <p:cNvPr id="3" name="Content Placeholder 2">
            <a:extLst>
              <a:ext uri="{FF2B5EF4-FFF2-40B4-BE49-F238E27FC236}">
                <a16:creationId xmlns:a16="http://schemas.microsoft.com/office/drawing/2014/main" id="{8A27DBD9-B193-B452-ACA2-D24D2E4EEDBF}"/>
              </a:ext>
            </a:extLst>
          </p:cNvPr>
          <p:cNvSpPr>
            <a:spLocks noGrp="1"/>
          </p:cNvSpPr>
          <p:nvPr>
            <p:ph idx="1"/>
          </p:nvPr>
        </p:nvSpPr>
        <p:spPr/>
        <p:txBody>
          <a:bodyPr/>
          <a:lstStyle/>
          <a:p>
            <a:pPr marL="0" indent="0">
              <a:buNone/>
            </a:pPr>
            <a:r>
              <a:rPr lang="en-US" b="0" i="0" dirty="0">
                <a:solidFill>
                  <a:srgbClr val="2E95D3"/>
                </a:solidFill>
                <a:effectLst/>
                <a:latin typeface="Söhne Mono"/>
              </a:rPr>
              <a:t>CREATE</a:t>
            </a:r>
            <a:r>
              <a:rPr lang="en-US" b="0" i="0" dirty="0">
                <a:solidFill>
                  <a:srgbClr val="FFFFFF"/>
                </a:solidFill>
                <a:effectLst/>
                <a:latin typeface="Söhne Mono"/>
              </a:rPr>
              <a:t> </a:t>
            </a:r>
            <a:r>
              <a:rPr lang="en-US" b="0" i="0" dirty="0">
                <a:solidFill>
                  <a:srgbClr val="2E95D3"/>
                </a:solidFill>
                <a:effectLst/>
                <a:latin typeface="Söhne Mono"/>
              </a:rPr>
              <a:t>TABLE</a:t>
            </a:r>
            <a:r>
              <a:rPr lang="en-US" b="0" i="0" dirty="0">
                <a:solidFill>
                  <a:srgbClr val="FFFFFF"/>
                </a:solidFill>
                <a:effectLst/>
                <a:latin typeface="Söhne Mono"/>
              </a:rPr>
              <a:t> </a:t>
            </a:r>
            <a:r>
              <a:rPr lang="en-US" b="0" i="0" dirty="0">
                <a:effectLst/>
                <a:latin typeface="Söhne Mono"/>
              </a:rPr>
              <a:t>users ( </a:t>
            </a:r>
          </a:p>
          <a:p>
            <a:pPr marL="0" indent="0">
              <a:buNone/>
            </a:pPr>
            <a:r>
              <a:rPr lang="en-US" b="0" i="0" dirty="0">
                <a:effectLst/>
                <a:latin typeface="Söhne Mono"/>
              </a:rPr>
              <a:t>id </a:t>
            </a:r>
            <a:r>
              <a:rPr lang="en-US" b="0" i="0" dirty="0">
                <a:solidFill>
                  <a:srgbClr val="DF3079"/>
                </a:solidFill>
                <a:effectLst/>
                <a:latin typeface="Söhne Mono"/>
              </a:rPr>
              <a:t>INT</a:t>
            </a:r>
            <a:r>
              <a:rPr lang="en-US" b="0" i="0" dirty="0">
                <a:solidFill>
                  <a:srgbClr val="FFFFFF"/>
                </a:solidFill>
                <a:effectLst/>
                <a:latin typeface="Söhne Mono"/>
              </a:rPr>
              <a:t> </a:t>
            </a:r>
            <a:r>
              <a:rPr lang="en-US" b="0" i="0" dirty="0">
                <a:solidFill>
                  <a:srgbClr val="2E95D3"/>
                </a:solidFill>
                <a:effectLst/>
                <a:latin typeface="Söhne Mono"/>
              </a:rPr>
              <a:t>PRIMARY</a:t>
            </a:r>
            <a:r>
              <a:rPr lang="en-US" b="0" i="0" dirty="0">
                <a:solidFill>
                  <a:srgbClr val="FFFFFF"/>
                </a:solidFill>
                <a:effectLst/>
                <a:latin typeface="Söhne Mono"/>
              </a:rPr>
              <a:t> </a:t>
            </a:r>
            <a:r>
              <a:rPr lang="en-US" b="0" i="0" dirty="0">
                <a:effectLst/>
                <a:latin typeface="Söhne Mono"/>
              </a:rPr>
              <a:t>KEY, </a:t>
            </a:r>
          </a:p>
          <a:p>
            <a:pPr marL="0" indent="0">
              <a:buNone/>
            </a:pPr>
            <a:r>
              <a:rPr lang="en-US" b="0" i="0" dirty="0">
                <a:effectLst/>
                <a:latin typeface="Söhne Mono"/>
              </a:rPr>
              <a:t>username </a:t>
            </a:r>
            <a:r>
              <a:rPr lang="en-US" b="0" i="0" dirty="0">
                <a:solidFill>
                  <a:srgbClr val="DF3079"/>
                </a:solidFill>
                <a:effectLst/>
                <a:latin typeface="Söhne Mono"/>
              </a:rPr>
              <a:t>VARCHAR</a:t>
            </a:r>
            <a:r>
              <a:rPr lang="en-US" b="0" i="0" dirty="0">
                <a:effectLst/>
                <a:latin typeface="Söhne Mono"/>
              </a:rPr>
              <a:t>(</a:t>
            </a:r>
            <a:r>
              <a:rPr lang="en-US" b="0" i="0" dirty="0">
                <a:solidFill>
                  <a:srgbClr val="DF3079"/>
                </a:solidFill>
                <a:effectLst/>
                <a:latin typeface="Söhne Mono"/>
              </a:rPr>
              <a:t>50</a:t>
            </a:r>
            <a:r>
              <a:rPr lang="en-US" b="0" i="0" dirty="0">
                <a:effectLst/>
                <a:latin typeface="Söhne Mono"/>
              </a:rPr>
              <a:t>), </a:t>
            </a:r>
          </a:p>
          <a:p>
            <a:pPr marL="0" indent="0">
              <a:buNone/>
            </a:pPr>
            <a:r>
              <a:rPr lang="en-US" b="0" i="0" dirty="0">
                <a:effectLst/>
                <a:latin typeface="Söhne Mono"/>
              </a:rPr>
              <a:t>password </a:t>
            </a:r>
            <a:r>
              <a:rPr lang="en-US" b="0" i="0" dirty="0">
                <a:solidFill>
                  <a:srgbClr val="DF3079"/>
                </a:solidFill>
                <a:effectLst/>
                <a:latin typeface="Söhne Mono"/>
              </a:rPr>
              <a:t>VARCHAR</a:t>
            </a:r>
            <a:r>
              <a:rPr lang="en-US" b="0" i="0" dirty="0">
                <a:effectLst/>
                <a:latin typeface="Söhne Mono"/>
              </a:rPr>
              <a:t>(</a:t>
            </a:r>
            <a:r>
              <a:rPr lang="en-US" b="0" i="0" dirty="0">
                <a:solidFill>
                  <a:srgbClr val="DF3079"/>
                </a:solidFill>
                <a:effectLst/>
                <a:latin typeface="Söhne Mono"/>
              </a:rPr>
              <a:t>50</a:t>
            </a:r>
            <a:r>
              <a:rPr lang="en-US" b="0" i="0" dirty="0">
                <a:effectLst/>
                <a:latin typeface="Söhne Mono"/>
              </a:rPr>
              <a:t>) </a:t>
            </a:r>
            <a:r>
              <a:rPr lang="en-US" b="0" i="0" dirty="0">
                <a:solidFill>
                  <a:srgbClr val="2E95D3"/>
                </a:solidFill>
                <a:effectLst/>
                <a:latin typeface="Söhne Mono"/>
              </a:rPr>
              <a:t>DEFAULT</a:t>
            </a:r>
            <a:r>
              <a:rPr lang="en-US" b="0" i="0" dirty="0">
                <a:solidFill>
                  <a:srgbClr val="FFFFFF"/>
                </a:solidFill>
                <a:effectLst/>
                <a:latin typeface="Söhne Mono"/>
              </a:rPr>
              <a:t> </a:t>
            </a:r>
            <a:r>
              <a:rPr lang="en-US" b="0" i="0" dirty="0">
                <a:solidFill>
                  <a:srgbClr val="00A67D"/>
                </a:solidFill>
                <a:effectLst/>
                <a:latin typeface="Söhne Mono"/>
              </a:rPr>
              <a:t>'123456’</a:t>
            </a:r>
            <a:r>
              <a:rPr lang="en-US" b="0" i="0" dirty="0">
                <a:solidFill>
                  <a:srgbClr val="FFFFFF"/>
                </a:solidFill>
                <a:effectLst/>
                <a:latin typeface="Söhne Mono"/>
              </a:rPr>
              <a:t> </a:t>
            </a:r>
          </a:p>
          <a:p>
            <a:pPr marL="0" indent="0">
              <a:buNone/>
            </a:pPr>
            <a:r>
              <a:rPr lang="en-US" b="0" i="0" dirty="0">
                <a:effectLst/>
                <a:latin typeface="Söhne Mono"/>
              </a:rPr>
              <a:t>);</a:t>
            </a:r>
            <a:endParaRPr lang="en-PK" dirty="0"/>
          </a:p>
        </p:txBody>
      </p:sp>
    </p:spTree>
    <p:extLst>
      <p:ext uri="{BB962C8B-B14F-4D97-AF65-F5344CB8AC3E}">
        <p14:creationId xmlns:p14="http://schemas.microsoft.com/office/powerpoint/2010/main" val="917937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E9A1-811E-035B-1E11-AF90E3B5816C}"/>
              </a:ext>
            </a:extLst>
          </p:cNvPr>
          <p:cNvSpPr>
            <a:spLocks noGrp="1"/>
          </p:cNvSpPr>
          <p:nvPr>
            <p:ph type="title"/>
          </p:nvPr>
        </p:nvSpPr>
        <p:spPr/>
        <p:txBody>
          <a:bodyPr/>
          <a:lstStyle/>
          <a:p>
            <a:r>
              <a:rPr lang="en-US" dirty="0"/>
              <a:t>Operations: </a:t>
            </a:r>
            <a:r>
              <a:rPr lang="en-US" dirty="0">
                <a:solidFill>
                  <a:srgbClr val="FF0000"/>
                </a:solidFill>
              </a:rPr>
              <a:t>Insert Operation</a:t>
            </a:r>
            <a:endParaRPr lang="en-PK" dirty="0"/>
          </a:p>
        </p:txBody>
      </p:sp>
      <p:sp>
        <p:nvSpPr>
          <p:cNvPr id="3" name="Content Placeholder 2">
            <a:extLst>
              <a:ext uri="{FF2B5EF4-FFF2-40B4-BE49-F238E27FC236}">
                <a16:creationId xmlns:a16="http://schemas.microsoft.com/office/drawing/2014/main" id="{8A27DBD9-B193-B452-ACA2-D24D2E4EEDBF}"/>
              </a:ext>
            </a:extLst>
          </p:cNvPr>
          <p:cNvSpPr>
            <a:spLocks noGrp="1"/>
          </p:cNvSpPr>
          <p:nvPr>
            <p:ph idx="1"/>
          </p:nvPr>
        </p:nvSpPr>
        <p:spPr/>
        <p:txBody>
          <a:bodyPr/>
          <a:lstStyle/>
          <a:p>
            <a:r>
              <a:rPr lang="en-US" dirty="0"/>
              <a:t>The insert operation is used to add new records or rows to a database table.</a:t>
            </a:r>
          </a:p>
          <a:p>
            <a:r>
              <a:rPr lang="en-US" dirty="0"/>
              <a:t>It is essential to validate and sanitize input data to prevent SQL injection attacks.</a:t>
            </a:r>
          </a:p>
          <a:p>
            <a:r>
              <a:rPr lang="en-US" dirty="0"/>
              <a:t>Access controls should be implemented to restrict who can perform insert operations.</a:t>
            </a:r>
          </a:p>
          <a:p>
            <a:r>
              <a:rPr lang="en-US" dirty="0"/>
              <a:t>Database auditing can help track insert operations and identify any suspicious activities.</a:t>
            </a:r>
            <a:endParaRPr lang="en-PK" dirty="0"/>
          </a:p>
        </p:txBody>
      </p:sp>
    </p:spTree>
    <p:extLst>
      <p:ext uri="{BB962C8B-B14F-4D97-AF65-F5344CB8AC3E}">
        <p14:creationId xmlns:p14="http://schemas.microsoft.com/office/powerpoint/2010/main" val="1722547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E9A1-811E-035B-1E11-AF90E3B5816C}"/>
              </a:ext>
            </a:extLst>
          </p:cNvPr>
          <p:cNvSpPr>
            <a:spLocks noGrp="1"/>
          </p:cNvSpPr>
          <p:nvPr>
            <p:ph type="title"/>
          </p:nvPr>
        </p:nvSpPr>
        <p:spPr/>
        <p:txBody>
          <a:bodyPr/>
          <a:lstStyle/>
          <a:p>
            <a:r>
              <a:rPr lang="en-US" dirty="0"/>
              <a:t>Operations: </a:t>
            </a:r>
            <a:r>
              <a:rPr lang="en-US" dirty="0">
                <a:solidFill>
                  <a:srgbClr val="FF0000"/>
                </a:solidFill>
              </a:rPr>
              <a:t>Insert Operation</a:t>
            </a:r>
            <a:endParaRPr lang="en-PK" dirty="0"/>
          </a:p>
        </p:txBody>
      </p:sp>
      <p:sp>
        <p:nvSpPr>
          <p:cNvPr id="3" name="Content Placeholder 2">
            <a:extLst>
              <a:ext uri="{FF2B5EF4-FFF2-40B4-BE49-F238E27FC236}">
                <a16:creationId xmlns:a16="http://schemas.microsoft.com/office/drawing/2014/main" id="{8A27DBD9-B193-B452-ACA2-D24D2E4EEDBF}"/>
              </a:ext>
            </a:extLst>
          </p:cNvPr>
          <p:cNvSpPr>
            <a:spLocks noGrp="1"/>
          </p:cNvSpPr>
          <p:nvPr>
            <p:ph idx="1"/>
          </p:nvPr>
        </p:nvSpPr>
        <p:spPr/>
        <p:txBody>
          <a:bodyPr/>
          <a:lstStyle/>
          <a:p>
            <a:r>
              <a:rPr lang="en-US" dirty="0"/>
              <a:t>Let's say you have a music streaming application, and users can create playlists and add songs to them. The "insert" operation would allow users to add new songs to their playlists.</a:t>
            </a:r>
          </a:p>
          <a:p>
            <a:r>
              <a:rPr lang="en-US" dirty="0"/>
              <a:t>It's crucial to validate and sanitize the songs users add to prevent any malicious files from being inserted.</a:t>
            </a:r>
          </a:p>
          <a:p>
            <a:r>
              <a:rPr lang="en-US" dirty="0"/>
              <a:t>Access controls should be in place to allow only the user who created the playlist to insert songs into it.</a:t>
            </a:r>
            <a:endParaRPr lang="en-PK" dirty="0"/>
          </a:p>
        </p:txBody>
      </p:sp>
    </p:spTree>
    <p:extLst>
      <p:ext uri="{BB962C8B-B14F-4D97-AF65-F5344CB8AC3E}">
        <p14:creationId xmlns:p14="http://schemas.microsoft.com/office/powerpoint/2010/main" val="2993190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E9A1-811E-035B-1E11-AF90E3B5816C}"/>
              </a:ext>
            </a:extLst>
          </p:cNvPr>
          <p:cNvSpPr>
            <a:spLocks noGrp="1"/>
          </p:cNvSpPr>
          <p:nvPr>
            <p:ph type="title"/>
          </p:nvPr>
        </p:nvSpPr>
        <p:spPr/>
        <p:txBody>
          <a:bodyPr/>
          <a:lstStyle/>
          <a:p>
            <a:r>
              <a:rPr lang="en-US" dirty="0"/>
              <a:t>Operations: </a:t>
            </a:r>
            <a:r>
              <a:rPr lang="en-US" dirty="0">
                <a:solidFill>
                  <a:srgbClr val="FF0000"/>
                </a:solidFill>
              </a:rPr>
              <a:t>Insert Operation</a:t>
            </a:r>
            <a:endParaRPr lang="en-PK" dirty="0"/>
          </a:p>
        </p:txBody>
      </p:sp>
      <p:sp>
        <p:nvSpPr>
          <p:cNvPr id="3" name="Content Placeholder 2">
            <a:extLst>
              <a:ext uri="{FF2B5EF4-FFF2-40B4-BE49-F238E27FC236}">
                <a16:creationId xmlns:a16="http://schemas.microsoft.com/office/drawing/2014/main" id="{8A27DBD9-B193-B452-ACA2-D24D2E4EEDBF}"/>
              </a:ext>
            </a:extLst>
          </p:cNvPr>
          <p:cNvSpPr>
            <a:spLocks noGrp="1"/>
          </p:cNvSpPr>
          <p:nvPr>
            <p:ph idx="1"/>
          </p:nvPr>
        </p:nvSpPr>
        <p:spPr/>
        <p:txBody>
          <a:bodyPr/>
          <a:lstStyle/>
          <a:p>
            <a:pPr marL="0" indent="0">
              <a:buNone/>
            </a:pPr>
            <a:r>
              <a:rPr lang="en-US" dirty="0">
                <a:solidFill>
                  <a:srgbClr val="7030A0"/>
                </a:solidFill>
              </a:rPr>
              <a:t>INSERT</a:t>
            </a:r>
            <a:r>
              <a:rPr lang="en-US" dirty="0"/>
              <a:t> INTO </a:t>
            </a:r>
            <a:r>
              <a:rPr lang="en-US" dirty="0">
                <a:solidFill>
                  <a:srgbClr val="FF0000"/>
                </a:solidFill>
              </a:rPr>
              <a:t>users</a:t>
            </a:r>
            <a:r>
              <a:rPr lang="en-US" dirty="0"/>
              <a:t> (username, password) </a:t>
            </a:r>
            <a:r>
              <a:rPr lang="en-US" dirty="0">
                <a:solidFill>
                  <a:schemeClr val="accent1"/>
                </a:solidFill>
              </a:rPr>
              <a:t>VALUES</a:t>
            </a:r>
            <a:r>
              <a:rPr lang="en-US" dirty="0"/>
              <a:t> ('admin', 'admin'); </a:t>
            </a:r>
            <a:r>
              <a:rPr lang="en-US" dirty="0">
                <a:solidFill>
                  <a:schemeClr val="accent1"/>
                </a:solidFill>
              </a:rPr>
              <a:t>DROP</a:t>
            </a:r>
            <a:r>
              <a:rPr lang="en-US" dirty="0"/>
              <a:t> TABLE </a:t>
            </a:r>
            <a:r>
              <a:rPr lang="en-US" dirty="0">
                <a:solidFill>
                  <a:srgbClr val="FF0000"/>
                </a:solidFill>
              </a:rPr>
              <a:t>users</a:t>
            </a:r>
            <a:r>
              <a:rPr lang="en-US" dirty="0"/>
              <a:t>;</a:t>
            </a:r>
          </a:p>
          <a:p>
            <a:pPr marL="0" indent="0">
              <a:buNone/>
            </a:pPr>
            <a:endParaRPr lang="en-PK" dirty="0"/>
          </a:p>
        </p:txBody>
      </p:sp>
    </p:spTree>
    <p:extLst>
      <p:ext uri="{BB962C8B-B14F-4D97-AF65-F5344CB8AC3E}">
        <p14:creationId xmlns:p14="http://schemas.microsoft.com/office/powerpoint/2010/main" val="1699969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E9A1-811E-035B-1E11-AF90E3B5816C}"/>
              </a:ext>
            </a:extLst>
          </p:cNvPr>
          <p:cNvSpPr>
            <a:spLocks noGrp="1"/>
          </p:cNvSpPr>
          <p:nvPr>
            <p:ph type="title"/>
          </p:nvPr>
        </p:nvSpPr>
        <p:spPr/>
        <p:txBody>
          <a:bodyPr/>
          <a:lstStyle/>
          <a:p>
            <a:r>
              <a:rPr lang="en-US" dirty="0"/>
              <a:t>Operations: </a:t>
            </a:r>
            <a:r>
              <a:rPr lang="en-US" dirty="0">
                <a:solidFill>
                  <a:srgbClr val="FF0000"/>
                </a:solidFill>
              </a:rPr>
              <a:t>Update Operation</a:t>
            </a:r>
            <a:endParaRPr lang="en-PK" dirty="0"/>
          </a:p>
        </p:txBody>
      </p:sp>
      <p:sp>
        <p:nvSpPr>
          <p:cNvPr id="3" name="Content Placeholder 2">
            <a:extLst>
              <a:ext uri="{FF2B5EF4-FFF2-40B4-BE49-F238E27FC236}">
                <a16:creationId xmlns:a16="http://schemas.microsoft.com/office/drawing/2014/main" id="{8A27DBD9-B193-B452-ACA2-D24D2E4EEDBF}"/>
              </a:ext>
            </a:extLst>
          </p:cNvPr>
          <p:cNvSpPr>
            <a:spLocks noGrp="1"/>
          </p:cNvSpPr>
          <p:nvPr>
            <p:ph idx="1"/>
          </p:nvPr>
        </p:nvSpPr>
        <p:spPr/>
        <p:txBody>
          <a:bodyPr/>
          <a:lstStyle/>
          <a:p>
            <a:r>
              <a:rPr lang="en-US" dirty="0"/>
              <a:t>The update operation modifies existing data within a database.</a:t>
            </a:r>
          </a:p>
          <a:p>
            <a:r>
              <a:rPr lang="en-US" dirty="0"/>
              <a:t>It is crucial to enforce proper access controls to ensure that only authorized users can perform updates.</a:t>
            </a:r>
          </a:p>
          <a:p>
            <a:r>
              <a:rPr lang="en-US" dirty="0"/>
              <a:t>Implementing parameterized queries and input validation can prevent update operations from being used for unauthorized purposes.</a:t>
            </a:r>
          </a:p>
          <a:p>
            <a:r>
              <a:rPr lang="en-US" dirty="0"/>
              <a:t>Regular monitoring and logging of update operations can aid in detecting unauthorized modifications.</a:t>
            </a:r>
            <a:endParaRPr lang="en-PK" dirty="0"/>
          </a:p>
        </p:txBody>
      </p:sp>
    </p:spTree>
    <p:extLst>
      <p:ext uri="{BB962C8B-B14F-4D97-AF65-F5344CB8AC3E}">
        <p14:creationId xmlns:p14="http://schemas.microsoft.com/office/powerpoint/2010/main" val="1091809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E9A1-811E-035B-1E11-AF90E3B5816C}"/>
              </a:ext>
            </a:extLst>
          </p:cNvPr>
          <p:cNvSpPr>
            <a:spLocks noGrp="1"/>
          </p:cNvSpPr>
          <p:nvPr>
            <p:ph type="title"/>
          </p:nvPr>
        </p:nvSpPr>
        <p:spPr/>
        <p:txBody>
          <a:bodyPr/>
          <a:lstStyle/>
          <a:p>
            <a:r>
              <a:rPr lang="en-US" dirty="0"/>
              <a:t>Operations: </a:t>
            </a:r>
            <a:r>
              <a:rPr lang="en-US" dirty="0">
                <a:solidFill>
                  <a:srgbClr val="FF0000"/>
                </a:solidFill>
              </a:rPr>
              <a:t>Update Operation</a:t>
            </a:r>
            <a:endParaRPr lang="en-PK" dirty="0"/>
          </a:p>
        </p:txBody>
      </p:sp>
      <p:sp>
        <p:nvSpPr>
          <p:cNvPr id="3" name="Content Placeholder 2">
            <a:extLst>
              <a:ext uri="{FF2B5EF4-FFF2-40B4-BE49-F238E27FC236}">
                <a16:creationId xmlns:a16="http://schemas.microsoft.com/office/drawing/2014/main" id="{8A27DBD9-B193-B452-ACA2-D24D2E4EEDBF}"/>
              </a:ext>
            </a:extLst>
          </p:cNvPr>
          <p:cNvSpPr>
            <a:spLocks noGrp="1"/>
          </p:cNvSpPr>
          <p:nvPr>
            <p:ph idx="1"/>
          </p:nvPr>
        </p:nvSpPr>
        <p:spPr/>
        <p:txBody>
          <a:bodyPr/>
          <a:lstStyle/>
          <a:p>
            <a:r>
              <a:rPr lang="en-US" dirty="0"/>
              <a:t>Imagine you have a student database where you keep track of their grades. The "update" operation would allow you to change a student's grade if there was an error or if they improved their score.</a:t>
            </a:r>
          </a:p>
          <a:p>
            <a:r>
              <a:rPr lang="en-US" dirty="0"/>
              <a:t>Access controls should be set up to ensure that only teachers or authorized staff can update grades.</a:t>
            </a:r>
          </a:p>
          <a:p>
            <a:r>
              <a:rPr lang="en-US" dirty="0"/>
              <a:t>For example, a teacher would use the update operation to correct a student's grade if they made a mistake while entering it.</a:t>
            </a:r>
            <a:endParaRPr lang="en-PK" dirty="0"/>
          </a:p>
        </p:txBody>
      </p:sp>
    </p:spTree>
    <p:extLst>
      <p:ext uri="{BB962C8B-B14F-4D97-AF65-F5344CB8AC3E}">
        <p14:creationId xmlns:p14="http://schemas.microsoft.com/office/powerpoint/2010/main" val="1064119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E9A1-811E-035B-1E11-AF90E3B5816C}"/>
              </a:ext>
            </a:extLst>
          </p:cNvPr>
          <p:cNvSpPr>
            <a:spLocks noGrp="1"/>
          </p:cNvSpPr>
          <p:nvPr>
            <p:ph type="title"/>
          </p:nvPr>
        </p:nvSpPr>
        <p:spPr/>
        <p:txBody>
          <a:bodyPr/>
          <a:lstStyle/>
          <a:p>
            <a:r>
              <a:rPr lang="en-US" dirty="0"/>
              <a:t>Operations: </a:t>
            </a:r>
            <a:r>
              <a:rPr lang="en-US" dirty="0">
                <a:solidFill>
                  <a:srgbClr val="FF0000"/>
                </a:solidFill>
              </a:rPr>
              <a:t>Update Operation</a:t>
            </a:r>
            <a:endParaRPr lang="en-PK" dirty="0"/>
          </a:p>
        </p:txBody>
      </p:sp>
      <p:sp>
        <p:nvSpPr>
          <p:cNvPr id="3" name="Content Placeholder 2">
            <a:extLst>
              <a:ext uri="{FF2B5EF4-FFF2-40B4-BE49-F238E27FC236}">
                <a16:creationId xmlns:a16="http://schemas.microsoft.com/office/drawing/2014/main" id="{8A27DBD9-B193-B452-ACA2-D24D2E4EEDBF}"/>
              </a:ext>
            </a:extLst>
          </p:cNvPr>
          <p:cNvSpPr>
            <a:spLocks noGrp="1"/>
          </p:cNvSpPr>
          <p:nvPr>
            <p:ph idx="1"/>
          </p:nvPr>
        </p:nvSpPr>
        <p:spPr/>
        <p:txBody>
          <a:bodyPr/>
          <a:lstStyle/>
          <a:p>
            <a:pPr marL="0" indent="0">
              <a:buNone/>
            </a:pPr>
            <a:r>
              <a:rPr lang="en-US" dirty="0">
                <a:solidFill>
                  <a:srgbClr val="002060"/>
                </a:solidFill>
              </a:rPr>
              <a:t>UPDATE</a:t>
            </a:r>
            <a:r>
              <a:rPr lang="en-US" dirty="0"/>
              <a:t> grades </a:t>
            </a:r>
            <a:r>
              <a:rPr lang="en-US" dirty="0">
                <a:solidFill>
                  <a:srgbClr val="7030A0"/>
                </a:solidFill>
              </a:rPr>
              <a:t>SET</a:t>
            </a:r>
            <a:r>
              <a:rPr lang="en-US" dirty="0"/>
              <a:t> grade = </a:t>
            </a:r>
            <a:r>
              <a:rPr lang="en-US" dirty="0">
                <a:solidFill>
                  <a:srgbClr val="FF0000"/>
                </a:solidFill>
              </a:rPr>
              <a:t>'A+' </a:t>
            </a:r>
            <a:r>
              <a:rPr lang="en-US" dirty="0"/>
              <a:t>WHERE </a:t>
            </a:r>
            <a:r>
              <a:rPr lang="en-US" dirty="0">
                <a:solidFill>
                  <a:srgbClr val="FF0000"/>
                </a:solidFill>
              </a:rPr>
              <a:t>1=1</a:t>
            </a:r>
            <a:r>
              <a:rPr lang="en-US" dirty="0"/>
              <a:t>;</a:t>
            </a:r>
          </a:p>
          <a:p>
            <a:pPr marL="0" indent="0">
              <a:buNone/>
            </a:pPr>
            <a:endParaRPr lang="en-PK" dirty="0"/>
          </a:p>
        </p:txBody>
      </p:sp>
    </p:spTree>
    <p:extLst>
      <p:ext uri="{BB962C8B-B14F-4D97-AF65-F5344CB8AC3E}">
        <p14:creationId xmlns:p14="http://schemas.microsoft.com/office/powerpoint/2010/main" val="2011739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E9A1-811E-035B-1E11-AF90E3B5816C}"/>
              </a:ext>
            </a:extLst>
          </p:cNvPr>
          <p:cNvSpPr>
            <a:spLocks noGrp="1"/>
          </p:cNvSpPr>
          <p:nvPr>
            <p:ph type="title"/>
          </p:nvPr>
        </p:nvSpPr>
        <p:spPr/>
        <p:txBody>
          <a:bodyPr/>
          <a:lstStyle/>
          <a:p>
            <a:r>
              <a:rPr lang="en-US" dirty="0"/>
              <a:t>Operations: </a:t>
            </a:r>
            <a:r>
              <a:rPr lang="en-US" dirty="0">
                <a:solidFill>
                  <a:srgbClr val="FF0000"/>
                </a:solidFill>
              </a:rPr>
              <a:t>Delete Operation</a:t>
            </a:r>
            <a:endParaRPr lang="en-PK" dirty="0"/>
          </a:p>
        </p:txBody>
      </p:sp>
      <p:sp>
        <p:nvSpPr>
          <p:cNvPr id="3" name="Content Placeholder 2">
            <a:extLst>
              <a:ext uri="{FF2B5EF4-FFF2-40B4-BE49-F238E27FC236}">
                <a16:creationId xmlns:a16="http://schemas.microsoft.com/office/drawing/2014/main" id="{8A27DBD9-B193-B452-ACA2-D24D2E4EEDBF}"/>
              </a:ext>
            </a:extLst>
          </p:cNvPr>
          <p:cNvSpPr>
            <a:spLocks noGrp="1"/>
          </p:cNvSpPr>
          <p:nvPr>
            <p:ph idx="1"/>
          </p:nvPr>
        </p:nvSpPr>
        <p:spPr/>
        <p:txBody>
          <a:bodyPr/>
          <a:lstStyle/>
          <a:p>
            <a:r>
              <a:rPr lang="en-US" dirty="0"/>
              <a:t>The delete operation removes data from a database table.</a:t>
            </a:r>
          </a:p>
          <a:p>
            <a:r>
              <a:rPr lang="en-US" dirty="0"/>
              <a:t>Access controls should be strictly enforced to prevent unauthorized deletion of data.</a:t>
            </a:r>
          </a:p>
          <a:p>
            <a:r>
              <a:rPr lang="en-US" dirty="0"/>
              <a:t>Careful consideration should be given to implementing proper backup and recovery mechanisms to mitigate the risk of accidental or malicious data deletion.</a:t>
            </a:r>
          </a:p>
          <a:p>
            <a:r>
              <a:rPr lang="en-US" dirty="0"/>
              <a:t>Monitoring and auditing delete operations can help detect and investigate any suspicious activities.</a:t>
            </a:r>
            <a:endParaRPr lang="en-PK" dirty="0"/>
          </a:p>
        </p:txBody>
      </p:sp>
    </p:spTree>
    <p:extLst>
      <p:ext uri="{BB962C8B-B14F-4D97-AF65-F5344CB8AC3E}">
        <p14:creationId xmlns:p14="http://schemas.microsoft.com/office/powerpoint/2010/main" val="1328943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E9A1-811E-035B-1E11-AF90E3B5816C}"/>
              </a:ext>
            </a:extLst>
          </p:cNvPr>
          <p:cNvSpPr>
            <a:spLocks noGrp="1"/>
          </p:cNvSpPr>
          <p:nvPr>
            <p:ph type="title"/>
          </p:nvPr>
        </p:nvSpPr>
        <p:spPr/>
        <p:txBody>
          <a:bodyPr/>
          <a:lstStyle/>
          <a:p>
            <a:r>
              <a:rPr lang="en-US" dirty="0"/>
              <a:t>Operations: </a:t>
            </a:r>
            <a:r>
              <a:rPr lang="en-US" dirty="0">
                <a:solidFill>
                  <a:srgbClr val="FF0000"/>
                </a:solidFill>
              </a:rPr>
              <a:t>Delete Operation</a:t>
            </a:r>
            <a:endParaRPr lang="en-PK" dirty="0"/>
          </a:p>
        </p:txBody>
      </p:sp>
      <p:sp>
        <p:nvSpPr>
          <p:cNvPr id="3" name="Content Placeholder 2">
            <a:extLst>
              <a:ext uri="{FF2B5EF4-FFF2-40B4-BE49-F238E27FC236}">
                <a16:creationId xmlns:a16="http://schemas.microsoft.com/office/drawing/2014/main" id="{8A27DBD9-B193-B452-ACA2-D24D2E4EEDBF}"/>
              </a:ext>
            </a:extLst>
          </p:cNvPr>
          <p:cNvSpPr>
            <a:spLocks noGrp="1"/>
          </p:cNvSpPr>
          <p:nvPr>
            <p:ph idx="1"/>
          </p:nvPr>
        </p:nvSpPr>
        <p:spPr/>
        <p:txBody>
          <a:bodyPr/>
          <a:lstStyle/>
          <a:p>
            <a:r>
              <a:rPr lang="en-US" dirty="0"/>
              <a:t>Let's consider an online bookstore. The "delete" operation would come into play when a customer wants to remove a book from their shopping cart.</a:t>
            </a:r>
          </a:p>
          <a:p>
            <a:r>
              <a:rPr lang="en-US" dirty="0"/>
              <a:t>Access controls should be in place to prevent anyone other than the customer from deleting items from their cart.</a:t>
            </a:r>
          </a:p>
          <a:p>
            <a:r>
              <a:rPr lang="en-US" dirty="0"/>
              <a:t>For instance, when a customer decides not to purchase a book, they can use the delete operation to remove it from their cart.</a:t>
            </a:r>
            <a:endParaRPr lang="en-PK" dirty="0"/>
          </a:p>
        </p:txBody>
      </p:sp>
    </p:spTree>
    <p:extLst>
      <p:ext uri="{BB962C8B-B14F-4D97-AF65-F5344CB8AC3E}">
        <p14:creationId xmlns:p14="http://schemas.microsoft.com/office/powerpoint/2010/main" val="2723513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E9A1-811E-035B-1E11-AF90E3B5816C}"/>
              </a:ext>
            </a:extLst>
          </p:cNvPr>
          <p:cNvSpPr>
            <a:spLocks noGrp="1"/>
          </p:cNvSpPr>
          <p:nvPr>
            <p:ph type="title"/>
          </p:nvPr>
        </p:nvSpPr>
        <p:spPr/>
        <p:txBody>
          <a:bodyPr/>
          <a:lstStyle/>
          <a:p>
            <a:r>
              <a:rPr lang="en-US" dirty="0"/>
              <a:t>Operations: </a:t>
            </a:r>
            <a:r>
              <a:rPr lang="en-US" dirty="0">
                <a:solidFill>
                  <a:srgbClr val="FF0000"/>
                </a:solidFill>
              </a:rPr>
              <a:t>Delete Operation</a:t>
            </a:r>
            <a:endParaRPr lang="en-PK" dirty="0"/>
          </a:p>
        </p:txBody>
      </p:sp>
      <p:sp>
        <p:nvSpPr>
          <p:cNvPr id="3" name="Content Placeholder 2">
            <a:extLst>
              <a:ext uri="{FF2B5EF4-FFF2-40B4-BE49-F238E27FC236}">
                <a16:creationId xmlns:a16="http://schemas.microsoft.com/office/drawing/2014/main" id="{8A27DBD9-B193-B452-ACA2-D24D2E4EEDBF}"/>
              </a:ext>
            </a:extLst>
          </p:cNvPr>
          <p:cNvSpPr>
            <a:spLocks noGrp="1"/>
          </p:cNvSpPr>
          <p:nvPr>
            <p:ph idx="1"/>
          </p:nvPr>
        </p:nvSpPr>
        <p:spPr/>
        <p:txBody>
          <a:bodyPr/>
          <a:lstStyle/>
          <a:p>
            <a:pPr marL="0" indent="0">
              <a:buNone/>
            </a:pPr>
            <a:r>
              <a:rPr lang="en-US" dirty="0">
                <a:solidFill>
                  <a:srgbClr val="FF0000"/>
                </a:solidFill>
              </a:rPr>
              <a:t>DELETE</a:t>
            </a:r>
            <a:r>
              <a:rPr lang="en-US" dirty="0"/>
              <a:t> FROM </a:t>
            </a:r>
            <a:r>
              <a:rPr lang="en-US" dirty="0">
                <a:solidFill>
                  <a:srgbClr val="7030A0"/>
                </a:solidFill>
              </a:rPr>
              <a:t>inventory</a:t>
            </a:r>
            <a:r>
              <a:rPr lang="en-US" dirty="0"/>
              <a:t> WHERE </a:t>
            </a:r>
            <a:r>
              <a:rPr lang="en-US" dirty="0">
                <a:solidFill>
                  <a:srgbClr val="FF0000"/>
                </a:solidFill>
              </a:rPr>
              <a:t>1=1</a:t>
            </a:r>
            <a:r>
              <a:rPr lang="en-US" dirty="0"/>
              <a:t>;</a:t>
            </a:r>
          </a:p>
          <a:p>
            <a:pPr marL="0" indent="0">
              <a:buNone/>
            </a:pPr>
            <a:endParaRPr lang="en-PK" dirty="0"/>
          </a:p>
        </p:txBody>
      </p:sp>
    </p:spTree>
    <p:extLst>
      <p:ext uri="{BB962C8B-B14F-4D97-AF65-F5344CB8AC3E}">
        <p14:creationId xmlns:p14="http://schemas.microsoft.com/office/powerpoint/2010/main" val="3871005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E9A1-811E-035B-1E11-AF90E3B5816C}"/>
              </a:ext>
            </a:extLst>
          </p:cNvPr>
          <p:cNvSpPr>
            <a:spLocks noGrp="1"/>
          </p:cNvSpPr>
          <p:nvPr>
            <p:ph type="title"/>
          </p:nvPr>
        </p:nvSpPr>
        <p:spPr/>
        <p:txBody>
          <a:bodyPr/>
          <a:lstStyle/>
          <a:p>
            <a:r>
              <a:rPr lang="en-US" dirty="0"/>
              <a:t>Operations: </a:t>
            </a:r>
            <a:r>
              <a:rPr lang="en-US" dirty="0">
                <a:solidFill>
                  <a:srgbClr val="FF0000"/>
                </a:solidFill>
              </a:rPr>
              <a:t>Grant Operation</a:t>
            </a:r>
            <a:endParaRPr lang="en-PK" dirty="0"/>
          </a:p>
        </p:txBody>
      </p:sp>
      <p:sp>
        <p:nvSpPr>
          <p:cNvPr id="3" name="Content Placeholder 2">
            <a:extLst>
              <a:ext uri="{FF2B5EF4-FFF2-40B4-BE49-F238E27FC236}">
                <a16:creationId xmlns:a16="http://schemas.microsoft.com/office/drawing/2014/main" id="{8A27DBD9-B193-B452-ACA2-D24D2E4EEDBF}"/>
              </a:ext>
            </a:extLst>
          </p:cNvPr>
          <p:cNvSpPr>
            <a:spLocks noGrp="1"/>
          </p:cNvSpPr>
          <p:nvPr>
            <p:ph idx="1"/>
          </p:nvPr>
        </p:nvSpPr>
        <p:spPr/>
        <p:txBody>
          <a:bodyPr>
            <a:normAutofit/>
          </a:bodyPr>
          <a:lstStyle/>
          <a:p>
            <a:r>
              <a:rPr lang="en-US" dirty="0"/>
              <a:t>The grant operation allows a user or role to be given specific privileges or permissions in a database.</a:t>
            </a:r>
          </a:p>
          <a:p>
            <a:r>
              <a:rPr lang="en-US" dirty="0"/>
              <a:t>Database administrators typically perform grant operations to control access to various database objects.</a:t>
            </a:r>
          </a:p>
          <a:p>
            <a:r>
              <a:rPr lang="en-US" dirty="0"/>
              <a:t>It is essential to follow the principle of least privilege, granting only the necessary permissions to users.</a:t>
            </a:r>
          </a:p>
          <a:p>
            <a:r>
              <a:rPr lang="en-US" dirty="0"/>
              <a:t>Regular review and revocation of unnecessary grants are crucial to maintaining a secure database environment.</a:t>
            </a:r>
            <a:endParaRPr lang="en-PK" dirty="0"/>
          </a:p>
        </p:txBody>
      </p:sp>
    </p:spTree>
    <p:extLst>
      <p:ext uri="{BB962C8B-B14F-4D97-AF65-F5344CB8AC3E}">
        <p14:creationId xmlns:p14="http://schemas.microsoft.com/office/powerpoint/2010/main" val="1358057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E9A1-811E-035B-1E11-AF90E3B5816C}"/>
              </a:ext>
            </a:extLst>
          </p:cNvPr>
          <p:cNvSpPr>
            <a:spLocks noGrp="1"/>
          </p:cNvSpPr>
          <p:nvPr>
            <p:ph type="title"/>
          </p:nvPr>
        </p:nvSpPr>
        <p:spPr/>
        <p:txBody>
          <a:bodyPr/>
          <a:lstStyle/>
          <a:p>
            <a:r>
              <a:rPr lang="en-US" dirty="0"/>
              <a:t>Operations: </a:t>
            </a:r>
            <a:r>
              <a:rPr lang="en-US" dirty="0">
                <a:solidFill>
                  <a:srgbClr val="FF0000"/>
                </a:solidFill>
              </a:rPr>
              <a:t>Grant Operation</a:t>
            </a:r>
            <a:endParaRPr lang="en-PK" dirty="0"/>
          </a:p>
        </p:txBody>
      </p:sp>
      <p:sp>
        <p:nvSpPr>
          <p:cNvPr id="3" name="Content Placeholder 2">
            <a:extLst>
              <a:ext uri="{FF2B5EF4-FFF2-40B4-BE49-F238E27FC236}">
                <a16:creationId xmlns:a16="http://schemas.microsoft.com/office/drawing/2014/main" id="{8A27DBD9-B193-B452-ACA2-D24D2E4EEDBF}"/>
              </a:ext>
            </a:extLst>
          </p:cNvPr>
          <p:cNvSpPr>
            <a:spLocks noGrp="1"/>
          </p:cNvSpPr>
          <p:nvPr>
            <p:ph idx="1"/>
          </p:nvPr>
        </p:nvSpPr>
        <p:spPr/>
        <p:txBody>
          <a:bodyPr>
            <a:normAutofit/>
          </a:bodyPr>
          <a:lstStyle/>
          <a:p>
            <a:r>
              <a:rPr lang="en-US" dirty="0"/>
              <a:t>Suppose you have a group project, and different team members have different roles and responsibilities. The "grant" operation would allow you to assign specific tasks to each team member.</a:t>
            </a:r>
          </a:p>
          <a:p>
            <a:r>
              <a:rPr lang="en-US" dirty="0"/>
              <a:t>Access controls would be used to determine who has the authority to assign tasks and grant permissions.</a:t>
            </a:r>
          </a:p>
          <a:p>
            <a:r>
              <a:rPr lang="en-US" dirty="0"/>
              <a:t>For example, the project manager could use the grant operation to assign specific tasks to each team member, giving them the necessary permissions to work on their respective tasks.</a:t>
            </a:r>
            <a:endParaRPr lang="en-PK" dirty="0"/>
          </a:p>
        </p:txBody>
      </p:sp>
    </p:spTree>
    <p:extLst>
      <p:ext uri="{BB962C8B-B14F-4D97-AF65-F5344CB8AC3E}">
        <p14:creationId xmlns:p14="http://schemas.microsoft.com/office/powerpoint/2010/main" val="33979164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4A6D9-541D-E3F9-130C-F6F5752F8176}"/>
              </a:ext>
            </a:extLst>
          </p:cNvPr>
          <p:cNvSpPr>
            <a:spLocks noGrp="1"/>
          </p:cNvSpPr>
          <p:nvPr>
            <p:ph type="title"/>
          </p:nvPr>
        </p:nvSpPr>
        <p:spPr/>
        <p:txBody>
          <a:bodyPr/>
          <a:lstStyle/>
          <a:p>
            <a:r>
              <a:rPr lang="en-US" dirty="0"/>
              <a:t>Operations: </a:t>
            </a:r>
            <a:r>
              <a:rPr lang="en-US" dirty="0">
                <a:solidFill>
                  <a:srgbClr val="FF0000"/>
                </a:solidFill>
              </a:rPr>
              <a:t>Grant Operation</a:t>
            </a:r>
            <a:endParaRPr lang="en-PK" dirty="0"/>
          </a:p>
        </p:txBody>
      </p:sp>
      <p:sp>
        <p:nvSpPr>
          <p:cNvPr id="3" name="Content Placeholder 2">
            <a:extLst>
              <a:ext uri="{FF2B5EF4-FFF2-40B4-BE49-F238E27FC236}">
                <a16:creationId xmlns:a16="http://schemas.microsoft.com/office/drawing/2014/main" id="{994DC877-1DD0-B990-AB55-90E2C062B3B3}"/>
              </a:ext>
            </a:extLst>
          </p:cNvPr>
          <p:cNvSpPr>
            <a:spLocks noGrp="1"/>
          </p:cNvSpPr>
          <p:nvPr>
            <p:ph idx="1"/>
          </p:nvPr>
        </p:nvSpPr>
        <p:spPr/>
        <p:txBody>
          <a:bodyPr/>
          <a:lstStyle/>
          <a:p>
            <a:pPr marL="0" indent="0">
              <a:buNone/>
            </a:pPr>
            <a:r>
              <a:rPr lang="en-US" dirty="0">
                <a:solidFill>
                  <a:srgbClr val="7030A0"/>
                </a:solidFill>
              </a:rPr>
              <a:t>GRANT </a:t>
            </a:r>
            <a:r>
              <a:rPr lang="en-US" dirty="0"/>
              <a:t>SELECT, INSERT, UPDATE ON </a:t>
            </a:r>
            <a:r>
              <a:rPr lang="en-US" dirty="0">
                <a:solidFill>
                  <a:srgbClr val="7030A0"/>
                </a:solidFill>
              </a:rPr>
              <a:t>students_data</a:t>
            </a:r>
            <a:r>
              <a:rPr lang="en-US" dirty="0"/>
              <a:t> TO ‘</a:t>
            </a:r>
            <a:r>
              <a:rPr lang="en-US" dirty="0" err="1">
                <a:solidFill>
                  <a:srgbClr val="FF0000"/>
                </a:solidFill>
              </a:rPr>
              <a:t>AnnasWasim</a:t>
            </a:r>
            <a:r>
              <a:rPr lang="en-US" dirty="0"/>
              <a:t>';</a:t>
            </a:r>
          </a:p>
          <a:p>
            <a:pPr marL="0" indent="0">
              <a:buNone/>
            </a:pPr>
            <a:endParaRPr lang="en-PK" dirty="0"/>
          </a:p>
        </p:txBody>
      </p:sp>
    </p:spTree>
    <p:extLst>
      <p:ext uri="{BB962C8B-B14F-4D97-AF65-F5344CB8AC3E}">
        <p14:creationId xmlns:p14="http://schemas.microsoft.com/office/powerpoint/2010/main" val="29746585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4A6D9-541D-E3F9-130C-F6F5752F8176}"/>
              </a:ext>
            </a:extLst>
          </p:cNvPr>
          <p:cNvSpPr>
            <a:spLocks noGrp="1"/>
          </p:cNvSpPr>
          <p:nvPr>
            <p:ph type="title"/>
          </p:nvPr>
        </p:nvSpPr>
        <p:spPr/>
        <p:txBody>
          <a:bodyPr/>
          <a:lstStyle/>
          <a:p>
            <a:r>
              <a:rPr lang="en-US" dirty="0"/>
              <a:t>Operations: </a:t>
            </a:r>
            <a:r>
              <a:rPr lang="en-US" dirty="0">
                <a:solidFill>
                  <a:srgbClr val="FF0000"/>
                </a:solidFill>
              </a:rPr>
              <a:t>Revoke Operation</a:t>
            </a:r>
            <a:endParaRPr lang="en-PK" dirty="0"/>
          </a:p>
        </p:txBody>
      </p:sp>
      <p:sp>
        <p:nvSpPr>
          <p:cNvPr id="3" name="Content Placeholder 2">
            <a:extLst>
              <a:ext uri="{FF2B5EF4-FFF2-40B4-BE49-F238E27FC236}">
                <a16:creationId xmlns:a16="http://schemas.microsoft.com/office/drawing/2014/main" id="{994DC877-1DD0-B990-AB55-90E2C062B3B3}"/>
              </a:ext>
            </a:extLst>
          </p:cNvPr>
          <p:cNvSpPr>
            <a:spLocks noGrp="1"/>
          </p:cNvSpPr>
          <p:nvPr>
            <p:ph idx="1"/>
          </p:nvPr>
        </p:nvSpPr>
        <p:spPr/>
        <p:txBody>
          <a:bodyPr>
            <a:normAutofit/>
          </a:bodyPr>
          <a:lstStyle/>
          <a:p>
            <a:r>
              <a:rPr lang="en-US" dirty="0"/>
              <a:t>The revoke operation is used to remove or revoke previously granted privileges from a user or role.</a:t>
            </a:r>
          </a:p>
          <a:p>
            <a:r>
              <a:rPr lang="en-US" dirty="0"/>
              <a:t>Database administrators should regularly review and revoke unnecessary privileges to minimize the attack surface.</a:t>
            </a:r>
          </a:p>
          <a:p>
            <a:r>
              <a:rPr lang="en-US" dirty="0"/>
              <a:t>Auditing the revoke operations can help ensure that the appropriate access controls are in place.</a:t>
            </a:r>
          </a:p>
          <a:p>
            <a:r>
              <a:rPr lang="en-US" dirty="0"/>
              <a:t>Quick response to user role changes or employee terminations is crucial to promptly revoke privileges.</a:t>
            </a:r>
            <a:endParaRPr lang="en-PK" dirty="0"/>
          </a:p>
        </p:txBody>
      </p:sp>
    </p:spTree>
    <p:extLst>
      <p:ext uri="{BB962C8B-B14F-4D97-AF65-F5344CB8AC3E}">
        <p14:creationId xmlns:p14="http://schemas.microsoft.com/office/powerpoint/2010/main" val="1138358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4A6D9-541D-E3F9-130C-F6F5752F8176}"/>
              </a:ext>
            </a:extLst>
          </p:cNvPr>
          <p:cNvSpPr>
            <a:spLocks noGrp="1"/>
          </p:cNvSpPr>
          <p:nvPr>
            <p:ph type="title"/>
          </p:nvPr>
        </p:nvSpPr>
        <p:spPr/>
        <p:txBody>
          <a:bodyPr/>
          <a:lstStyle/>
          <a:p>
            <a:r>
              <a:rPr lang="en-US" dirty="0"/>
              <a:t>Operations: </a:t>
            </a:r>
            <a:r>
              <a:rPr lang="en-US" dirty="0">
                <a:solidFill>
                  <a:srgbClr val="FF0000"/>
                </a:solidFill>
              </a:rPr>
              <a:t>Revoke Operation</a:t>
            </a:r>
            <a:endParaRPr lang="en-PK" dirty="0"/>
          </a:p>
        </p:txBody>
      </p:sp>
      <p:sp>
        <p:nvSpPr>
          <p:cNvPr id="3" name="Content Placeholder 2">
            <a:extLst>
              <a:ext uri="{FF2B5EF4-FFF2-40B4-BE49-F238E27FC236}">
                <a16:creationId xmlns:a16="http://schemas.microsoft.com/office/drawing/2014/main" id="{994DC877-1DD0-B990-AB55-90E2C062B3B3}"/>
              </a:ext>
            </a:extLst>
          </p:cNvPr>
          <p:cNvSpPr>
            <a:spLocks noGrp="1"/>
          </p:cNvSpPr>
          <p:nvPr>
            <p:ph idx="1"/>
          </p:nvPr>
        </p:nvSpPr>
        <p:spPr/>
        <p:txBody>
          <a:bodyPr>
            <a:normAutofit/>
          </a:bodyPr>
          <a:lstStyle/>
          <a:p>
            <a:r>
              <a:rPr lang="en-US" dirty="0"/>
              <a:t>Imagine you have a collaborative document where multiple students are working together. The "revoke" operation would allow you to remove editing rights from a student who is no longer part of the project.</a:t>
            </a:r>
          </a:p>
          <a:p>
            <a:r>
              <a:rPr lang="en-US" dirty="0"/>
              <a:t>Access controls should be regularly reviewed and revoked to ensure that only authorized individuals have the necessary privileges.</a:t>
            </a:r>
          </a:p>
          <a:p>
            <a:r>
              <a:rPr lang="en-US" dirty="0"/>
              <a:t>For instance, if a student leaves the project, the team lead would use the revoke operation to remove their editing rights from the document.</a:t>
            </a:r>
            <a:endParaRPr lang="en-PK" dirty="0"/>
          </a:p>
        </p:txBody>
      </p:sp>
    </p:spTree>
    <p:extLst>
      <p:ext uri="{BB962C8B-B14F-4D97-AF65-F5344CB8AC3E}">
        <p14:creationId xmlns:p14="http://schemas.microsoft.com/office/powerpoint/2010/main" val="5632782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4A6D9-541D-E3F9-130C-F6F5752F8176}"/>
              </a:ext>
            </a:extLst>
          </p:cNvPr>
          <p:cNvSpPr>
            <a:spLocks noGrp="1"/>
          </p:cNvSpPr>
          <p:nvPr>
            <p:ph type="title"/>
          </p:nvPr>
        </p:nvSpPr>
        <p:spPr/>
        <p:txBody>
          <a:bodyPr/>
          <a:lstStyle/>
          <a:p>
            <a:r>
              <a:rPr lang="en-US" dirty="0"/>
              <a:t>Operations: </a:t>
            </a:r>
            <a:r>
              <a:rPr lang="en-US" dirty="0">
                <a:solidFill>
                  <a:srgbClr val="FF0000"/>
                </a:solidFill>
              </a:rPr>
              <a:t>Revoke Operation</a:t>
            </a:r>
            <a:endParaRPr lang="en-PK" dirty="0"/>
          </a:p>
        </p:txBody>
      </p:sp>
      <p:sp>
        <p:nvSpPr>
          <p:cNvPr id="3" name="Content Placeholder 2">
            <a:extLst>
              <a:ext uri="{FF2B5EF4-FFF2-40B4-BE49-F238E27FC236}">
                <a16:creationId xmlns:a16="http://schemas.microsoft.com/office/drawing/2014/main" id="{994DC877-1DD0-B990-AB55-90E2C062B3B3}"/>
              </a:ext>
            </a:extLst>
          </p:cNvPr>
          <p:cNvSpPr>
            <a:spLocks noGrp="1"/>
          </p:cNvSpPr>
          <p:nvPr>
            <p:ph idx="1"/>
          </p:nvPr>
        </p:nvSpPr>
        <p:spPr/>
        <p:txBody>
          <a:bodyPr>
            <a:normAutofit/>
          </a:bodyPr>
          <a:lstStyle/>
          <a:p>
            <a:pPr marL="0" indent="0">
              <a:buNone/>
            </a:pPr>
            <a:r>
              <a:rPr lang="en-US" dirty="0">
                <a:solidFill>
                  <a:srgbClr val="002060"/>
                </a:solidFill>
              </a:rPr>
              <a:t>REVOKE</a:t>
            </a:r>
            <a:r>
              <a:rPr lang="en-US" dirty="0"/>
              <a:t> INSERT, UPDATE, DELETE </a:t>
            </a:r>
            <a:r>
              <a:rPr lang="en-US" dirty="0">
                <a:solidFill>
                  <a:srgbClr val="7030A0"/>
                </a:solidFill>
              </a:rPr>
              <a:t>ON</a:t>
            </a:r>
            <a:r>
              <a:rPr lang="en-US" dirty="0"/>
              <a:t> </a:t>
            </a:r>
            <a:r>
              <a:rPr lang="en-US" dirty="0" err="1">
                <a:solidFill>
                  <a:schemeClr val="accent6">
                    <a:lumMod val="75000"/>
                  </a:schemeClr>
                </a:solidFill>
              </a:rPr>
              <a:t>student_data</a:t>
            </a:r>
            <a:r>
              <a:rPr lang="en-US" dirty="0">
                <a:solidFill>
                  <a:schemeClr val="accent6">
                    <a:lumMod val="75000"/>
                  </a:schemeClr>
                </a:solidFill>
              </a:rPr>
              <a:t> </a:t>
            </a:r>
            <a:r>
              <a:rPr lang="en-US" dirty="0"/>
              <a:t>FROM ‘</a:t>
            </a:r>
            <a:r>
              <a:rPr lang="en-US" dirty="0" err="1">
                <a:solidFill>
                  <a:srgbClr val="FF0000"/>
                </a:solidFill>
              </a:rPr>
              <a:t>AnnasWasim</a:t>
            </a:r>
            <a:r>
              <a:rPr lang="en-US" dirty="0"/>
              <a:t>';</a:t>
            </a:r>
            <a:endParaRPr lang="en-PK" dirty="0"/>
          </a:p>
        </p:txBody>
      </p:sp>
    </p:spTree>
    <p:extLst>
      <p:ext uri="{BB962C8B-B14F-4D97-AF65-F5344CB8AC3E}">
        <p14:creationId xmlns:p14="http://schemas.microsoft.com/office/powerpoint/2010/main" val="27781049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DB91A-60C8-8406-803E-1B95B6F746C1}"/>
              </a:ext>
            </a:extLst>
          </p:cNvPr>
          <p:cNvSpPr>
            <a:spLocks noGrp="1"/>
          </p:cNvSpPr>
          <p:nvPr>
            <p:ph type="title"/>
          </p:nvPr>
        </p:nvSpPr>
        <p:spPr/>
        <p:txBody>
          <a:bodyPr/>
          <a:lstStyle/>
          <a:p>
            <a:r>
              <a:rPr lang="en-US" dirty="0"/>
              <a:t>Best Practices for </a:t>
            </a:r>
            <a:r>
              <a:rPr lang="en-US" dirty="0">
                <a:solidFill>
                  <a:srgbClr val="FF0000"/>
                </a:solidFill>
              </a:rPr>
              <a:t>Database Security</a:t>
            </a:r>
            <a:endParaRPr lang="en-PK" dirty="0">
              <a:solidFill>
                <a:srgbClr val="FF0000"/>
              </a:solidFill>
            </a:endParaRPr>
          </a:p>
        </p:txBody>
      </p:sp>
      <p:sp>
        <p:nvSpPr>
          <p:cNvPr id="3" name="Content Placeholder 2">
            <a:extLst>
              <a:ext uri="{FF2B5EF4-FFF2-40B4-BE49-F238E27FC236}">
                <a16:creationId xmlns:a16="http://schemas.microsoft.com/office/drawing/2014/main" id="{9D6F5D55-EB71-0453-02B3-806391F29406}"/>
              </a:ext>
            </a:extLst>
          </p:cNvPr>
          <p:cNvSpPr>
            <a:spLocks noGrp="1"/>
          </p:cNvSpPr>
          <p:nvPr>
            <p:ph idx="1"/>
          </p:nvPr>
        </p:nvSpPr>
        <p:spPr/>
        <p:txBody>
          <a:bodyPr>
            <a:normAutofit fontScale="85000" lnSpcReduction="10000"/>
          </a:bodyPr>
          <a:lstStyle/>
          <a:p>
            <a:r>
              <a:rPr lang="en-US" dirty="0"/>
              <a:t>Implement strong authentication mechanisms to control access to databases.</a:t>
            </a:r>
          </a:p>
          <a:p>
            <a:r>
              <a:rPr lang="en-US" dirty="0"/>
              <a:t>Regularly patch and update database software to address security vulnerabilities.</a:t>
            </a:r>
          </a:p>
          <a:p>
            <a:r>
              <a:rPr lang="en-US" dirty="0"/>
              <a:t>Employ encryption techniques to protect sensitive data at rest and in transit.</a:t>
            </a:r>
          </a:p>
          <a:p>
            <a:r>
              <a:rPr lang="en-US" dirty="0"/>
              <a:t>Use robust access controls and role-based permissions to enforce the principle of least privilege.</a:t>
            </a:r>
          </a:p>
          <a:p>
            <a:r>
              <a:rPr lang="en-US" dirty="0"/>
              <a:t>Implement monitoring and auditing mechanisms to detect and respond to security incidents.</a:t>
            </a:r>
          </a:p>
          <a:p>
            <a:r>
              <a:rPr lang="en-US" dirty="0"/>
              <a:t>Regularly backup and test data restoration procedures to ensure business continuity.</a:t>
            </a:r>
          </a:p>
          <a:p>
            <a:r>
              <a:rPr lang="en-US" dirty="0"/>
              <a:t>Educate users and administrators about security best practices and the importance of data protection.</a:t>
            </a:r>
            <a:endParaRPr lang="en-PK" dirty="0"/>
          </a:p>
        </p:txBody>
      </p:sp>
    </p:spTree>
    <p:extLst>
      <p:ext uri="{BB962C8B-B14F-4D97-AF65-F5344CB8AC3E}">
        <p14:creationId xmlns:p14="http://schemas.microsoft.com/office/powerpoint/2010/main" val="2585961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1454C-07B2-7BE5-AE16-910F7E5F6554}"/>
              </a:ext>
            </a:extLst>
          </p:cNvPr>
          <p:cNvSpPr>
            <a:spLocks noGrp="1"/>
          </p:cNvSpPr>
          <p:nvPr>
            <p:ph type="title"/>
          </p:nvPr>
        </p:nvSpPr>
        <p:spPr/>
        <p:txBody>
          <a:bodyPr/>
          <a:lstStyle/>
          <a:p>
            <a:r>
              <a:rPr lang="en-US" dirty="0"/>
              <a:t>Some Other Queries</a:t>
            </a:r>
            <a:endParaRPr lang="en-PK" dirty="0"/>
          </a:p>
        </p:txBody>
      </p:sp>
      <p:sp>
        <p:nvSpPr>
          <p:cNvPr id="3" name="Content Placeholder 2">
            <a:extLst>
              <a:ext uri="{FF2B5EF4-FFF2-40B4-BE49-F238E27FC236}">
                <a16:creationId xmlns:a16="http://schemas.microsoft.com/office/drawing/2014/main" id="{96032B42-4337-54A9-06B2-39534F2586DC}"/>
              </a:ext>
            </a:extLst>
          </p:cNvPr>
          <p:cNvSpPr>
            <a:spLocks noGrp="1"/>
          </p:cNvSpPr>
          <p:nvPr>
            <p:ph idx="1"/>
          </p:nvPr>
        </p:nvSpPr>
        <p:spPr/>
        <p:txBody>
          <a:bodyPr>
            <a:normAutofit fontScale="92500" lnSpcReduction="10000"/>
          </a:bodyPr>
          <a:lstStyle/>
          <a:p>
            <a:pPr marL="514350" indent="-514350">
              <a:buFont typeface="+mj-lt"/>
              <a:buAutoNum type="arabicPeriod"/>
            </a:pPr>
            <a:r>
              <a:rPr lang="en-US" dirty="0"/>
              <a:t>SELECT user, permissions FROM </a:t>
            </a:r>
            <a:r>
              <a:rPr lang="en-US" dirty="0" err="1"/>
              <a:t>user_permissions</a:t>
            </a:r>
            <a:r>
              <a:rPr lang="en-US" dirty="0"/>
              <a:t> WHERE user = ‘Ali’;</a:t>
            </a:r>
          </a:p>
          <a:p>
            <a:pPr marL="514350" indent="-514350">
              <a:buFont typeface="+mj-lt"/>
              <a:buAutoNum type="arabicPeriod"/>
            </a:pPr>
            <a:endParaRPr lang="en-US" dirty="0"/>
          </a:p>
          <a:p>
            <a:pPr marL="514350" indent="-514350">
              <a:buFont typeface="+mj-lt"/>
              <a:buAutoNum type="arabicPeriod"/>
            </a:pPr>
            <a:r>
              <a:rPr lang="en-US" dirty="0"/>
              <a:t>SELECT timestamp, user, activity FROM </a:t>
            </a:r>
            <a:r>
              <a:rPr lang="en-US" dirty="0" err="1"/>
              <a:t>audit_log</a:t>
            </a:r>
            <a:r>
              <a:rPr lang="en-US" dirty="0"/>
              <a:t> WHERE timestamp &gt;= '2023-01-01' AND timestamp &lt;= '2023-05-31’;</a:t>
            </a:r>
          </a:p>
          <a:p>
            <a:pPr marL="514350" indent="-514350">
              <a:buFont typeface="+mj-lt"/>
              <a:buAutoNum type="arabicPeriod"/>
            </a:pPr>
            <a:endParaRPr lang="en-US" dirty="0"/>
          </a:p>
          <a:p>
            <a:pPr marL="514350" indent="-514350">
              <a:buFont typeface="+mj-lt"/>
              <a:buAutoNum type="arabicPeriod"/>
            </a:pPr>
            <a:r>
              <a:rPr lang="en-US" dirty="0"/>
              <a:t>SELECT * FROM users WHERE username = 'input' AND password = 'input’;</a:t>
            </a:r>
          </a:p>
          <a:p>
            <a:pPr marL="514350" indent="-514350">
              <a:buFont typeface="+mj-lt"/>
              <a:buAutoNum type="arabicPeriod"/>
            </a:pPr>
            <a:endParaRPr lang="en-US" dirty="0"/>
          </a:p>
          <a:p>
            <a:pPr marL="514350" indent="-514350">
              <a:buFont typeface="+mj-lt"/>
              <a:buAutoNum type="arabicPeriod"/>
            </a:pPr>
            <a:r>
              <a:rPr lang="en-US" dirty="0"/>
              <a:t>SELECT COUNT(*) AS </a:t>
            </a:r>
            <a:r>
              <a:rPr lang="en-US" dirty="0" err="1"/>
              <a:t>failed_attempts</a:t>
            </a:r>
            <a:r>
              <a:rPr lang="en-US" dirty="0"/>
              <a:t> FROM </a:t>
            </a:r>
            <a:r>
              <a:rPr lang="en-US" dirty="0" err="1"/>
              <a:t>login_attempts</a:t>
            </a:r>
            <a:r>
              <a:rPr lang="en-US" dirty="0"/>
              <a:t> WHERE success = 0 AND timestamp &gt;= '2023-01-01';</a:t>
            </a:r>
          </a:p>
          <a:p>
            <a:endParaRPr lang="en-US" dirty="0"/>
          </a:p>
          <a:p>
            <a:endParaRPr lang="en-US" dirty="0"/>
          </a:p>
          <a:p>
            <a:endParaRPr lang="en-PK" dirty="0"/>
          </a:p>
        </p:txBody>
      </p:sp>
    </p:spTree>
    <p:extLst>
      <p:ext uri="{BB962C8B-B14F-4D97-AF65-F5344CB8AC3E}">
        <p14:creationId xmlns:p14="http://schemas.microsoft.com/office/powerpoint/2010/main" val="39215086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DE54F-2A37-10C5-7913-69CB03941467}"/>
              </a:ext>
            </a:extLst>
          </p:cNvPr>
          <p:cNvSpPr>
            <a:spLocks noGrp="1"/>
          </p:cNvSpPr>
          <p:nvPr>
            <p:ph type="title"/>
          </p:nvPr>
        </p:nvSpPr>
        <p:spPr/>
        <p:txBody>
          <a:bodyPr/>
          <a:lstStyle/>
          <a:p>
            <a:r>
              <a:rPr lang="en-US" dirty="0"/>
              <a:t>SQL Vulnerabilities and Attacks (SQLi)</a:t>
            </a:r>
          </a:p>
        </p:txBody>
      </p:sp>
      <p:pic>
        <p:nvPicPr>
          <p:cNvPr id="1026" name="Picture 2" descr="SQL Injection: The Cyber Attack Hiding in Your Database">
            <a:extLst>
              <a:ext uri="{FF2B5EF4-FFF2-40B4-BE49-F238E27FC236}">
                <a16:creationId xmlns:a16="http://schemas.microsoft.com/office/drawing/2014/main" id="{20D5F1C1-D018-FA14-7F3A-C85B450B06C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60004" y="1690688"/>
            <a:ext cx="8071991" cy="48431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3964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AF1BC-11EA-29E4-795B-35B11C4A6DF4}"/>
              </a:ext>
            </a:extLst>
          </p:cNvPr>
          <p:cNvSpPr>
            <a:spLocks noGrp="1"/>
          </p:cNvSpPr>
          <p:nvPr>
            <p:ph type="title"/>
          </p:nvPr>
        </p:nvSpPr>
        <p:spPr/>
        <p:txBody>
          <a:bodyPr/>
          <a:lstStyle/>
          <a:p>
            <a:r>
              <a:rPr lang="en-US" dirty="0"/>
              <a:t> SQL Injection (</a:t>
            </a:r>
            <a:r>
              <a:rPr lang="en-US" dirty="0">
                <a:solidFill>
                  <a:srgbClr val="FF0000"/>
                </a:solidFill>
              </a:rPr>
              <a:t>SQLi</a:t>
            </a:r>
            <a:r>
              <a:rPr lang="en-US" dirty="0"/>
              <a:t>)</a:t>
            </a:r>
          </a:p>
        </p:txBody>
      </p:sp>
      <p:sp>
        <p:nvSpPr>
          <p:cNvPr id="3" name="Content Placeholder 2">
            <a:extLst>
              <a:ext uri="{FF2B5EF4-FFF2-40B4-BE49-F238E27FC236}">
                <a16:creationId xmlns:a16="http://schemas.microsoft.com/office/drawing/2014/main" id="{B6845411-A283-37DE-AB57-8B93408E51F9}"/>
              </a:ext>
            </a:extLst>
          </p:cNvPr>
          <p:cNvSpPr>
            <a:spLocks noGrp="1"/>
          </p:cNvSpPr>
          <p:nvPr>
            <p:ph idx="1"/>
          </p:nvPr>
        </p:nvSpPr>
        <p:spPr/>
        <p:txBody>
          <a:bodyPr/>
          <a:lstStyle/>
          <a:p>
            <a:r>
              <a:rPr lang="en-US" dirty="0"/>
              <a:t>SQL injection is a code injection technique used to attack data-driven applications, in which malicious SQL statements are inserted into an entry field for execution.</a:t>
            </a:r>
          </a:p>
          <a:p>
            <a:r>
              <a:rPr lang="en-US" dirty="0"/>
              <a:t>SQL Injection occurs when user-supplied data is not properly validated or sanitized before being used in an SQL query.</a:t>
            </a:r>
          </a:p>
          <a:p>
            <a:r>
              <a:rPr lang="en-US" dirty="0"/>
              <a:t>SQL Injection can lead to unauthorized access, data theft, data modification, or even complete server compromise.</a:t>
            </a:r>
          </a:p>
        </p:txBody>
      </p:sp>
    </p:spTree>
    <p:extLst>
      <p:ext uri="{BB962C8B-B14F-4D97-AF65-F5344CB8AC3E}">
        <p14:creationId xmlns:p14="http://schemas.microsoft.com/office/powerpoint/2010/main" val="24373671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10D1F-937A-2279-33BB-679E68897CBB}"/>
              </a:ext>
            </a:extLst>
          </p:cNvPr>
          <p:cNvSpPr>
            <a:spLocks noGrp="1"/>
          </p:cNvSpPr>
          <p:nvPr>
            <p:ph type="title"/>
          </p:nvPr>
        </p:nvSpPr>
        <p:spPr/>
        <p:txBody>
          <a:bodyPr/>
          <a:lstStyle/>
          <a:p>
            <a:r>
              <a:rPr lang="en-US" dirty="0"/>
              <a:t>Common Types of </a:t>
            </a:r>
            <a:r>
              <a:rPr lang="en-US" dirty="0">
                <a:solidFill>
                  <a:srgbClr val="FF0000"/>
                </a:solidFill>
              </a:rPr>
              <a:t>SQL Injection </a:t>
            </a:r>
            <a:r>
              <a:rPr lang="en-US" dirty="0"/>
              <a:t>Attacks</a:t>
            </a:r>
          </a:p>
        </p:txBody>
      </p:sp>
      <p:sp>
        <p:nvSpPr>
          <p:cNvPr id="3" name="Content Placeholder 2">
            <a:extLst>
              <a:ext uri="{FF2B5EF4-FFF2-40B4-BE49-F238E27FC236}">
                <a16:creationId xmlns:a16="http://schemas.microsoft.com/office/drawing/2014/main" id="{4BA70F46-A5D5-E95C-4A7A-F0E09EBAE617}"/>
              </a:ext>
            </a:extLst>
          </p:cNvPr>
          <p:cNvSpPr>
            <a:spLocks noGrp="1"/>
          </p:cNvSpPr>
          <p:nvPr>
            <p:ph idx="1"/>
          </p:nvPr>
        </p:nvSpPr>
        <p:spPr/>
        <p:txBody>
          <a:bodyPr/>
          <a:lstStyle/>
          <a:p>
            <a:r>
              <a:rPr lang="en-US" dirty="0"/>
              <a:t>The most common types of SQL Injection attacks:</a:t>
            </a:r>
          </a:p>
          <a:p>
            <a:pPr lvl="1">
              <a:buFont typeface="Wingdings" panose="05000000000000000000" pitchFamily="2" charset="2"/>
              <a:buChar char="§"/>
            </a:pPr>
            <a:r>
              <a:rPr lang="en-US" dirty="0"/>
              <a:t>Union-based SQL Injection</a:t>
            </a:r>
          </a:p>
          <a:p>
            <a:pPr lvl="1">
              <a:buFont typeface="Wingdings" panose="05000000000000000000" pitchFamily="2" charset="2"/>
              <a:buChar char="§"/>
            </a:pPr>
            <a:r>
              <a:rPr lang="en-US" dirty="0"/>
              <a:t>Boolean-based SQL Injection</a:t>
            </a:r>
          </a:p>
          <a:p>
            <a:pPr lvl="1">
              <a:buFont typeface="Wingdings" panose="05000000000000000000" pitchFamily="2" charset="2"/>
              <a:buChar char="§"/>
            </a:pPr>
            <a:r>
              <a:rPr lang="en-US" dirty="0"/>
              <a:t>Time-based SQL Injection</a:t>
            </a:r>
          </a:p>
          <a:p>
            <a:pPr lvl="1">
              <a:buFont typeface="Wingdings" panose="05000000000000000000" pitchFamily="2" charset="2"/>
              <a:buChar char="§"/>
            </a:pPr>
            <a:r>
              <a:rPr lang="en-US" dirty="0"/>
              <a:t>Error-based SQL Injection</a:t>
            </a:r>
          </a:p>
          <a:p>
            <a:pPr lvl="1">
              <a:buFont typeface="Wingdings" panose="05000000000000000000" pitchFamily="2" charset="2"/>
              <a:buChar char="§"/>
            </a:pPr>
            <a:r>
              <a:rPr lang="en-US" dirty="0"/>
              <a:t>Blind SQL Injection</a:t>
            </a:r>
          </a:p>
          <a:p>
            <a:r>
              <a:rPr lang="en-US" dirty="0"/>
              <a:t>Some common SQLi queries are listed at the following address:</a:t>
            </a:r>
          </a:p>
          <a:p>
            <a:pPr marL="457200" lvl="1" indent="0">
              <a:buNone/>
            </a:pPr>
            <a:r>
              <a:rPr lang="en-US" dirty="0">
                <a:hlinkClick r:id="rId2"/>
              </a:rPr>
              <a:t>https://github.com/payloadbox/sql-injection-payload-list</a:t>
            </a:r>
            <a:endParaRPr lang="en-US" dirty="0"/>
          </a:p>
          <a:p>
            <a:pPr marL="457200" lvl="1" indent="0">
              <a:buNone/>
            </a:pPr>
            <a:endParaRPr lang="en-US" dirty="0"/>
          </a:p>
        </p:txBody>
      </p:sp>
    </p:spTree>
    <p:extLst>
      <p:ext uri="{BB962C8B-B14F-4D97-AF65-F5344CB8AC3E}">
        <p14:creationId xmlns:p14="http://schemas.microsoft.com/office/powerpoint/2010/main" val="22704026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A5537-FDFF-EA2A-203D-87F9734A4F7F}"/>
              </a:ext>
            </a:extLst>
          </p:cNvPr>
          <p:cNvSpPr>
            <a:spLocks noGrp="1"/>
          </p:cNvSpPr>
          <p:nvPr>
            <p:ph type="title"/>
          </p:nvPr>
        </p:nvSpPr>
        <p:spPr/>
        <p:txBody>
          <a:bodyPr/>
          <a:lstStyle/>
          <a:p>
            <a:r>
              <a:rPr lang="en-US" dirty="0"/>
              <a:t>Best Practices for Validating and Sanitizing User-Provided Data</a:t>
            </a:r>
          </a:p>
        </p:txBody>
      </p:sp>
      <p:sp>
        <p:nvSpPr>
          <p:cNvPr id="3" name="Content Placeholder 2">
            <a:extLst>
              <a:ext uri="{FF2B5EF4-FFF2-40B4-BE49-F238E27FC236}">
                <a16:creationId xmlns:a16="http://schemas.microsoft.com/office/drawing/2014/main" id="{2867C943-2B8F-14C6-9EFF-AA1CF47EBC3C}"/>
              </a:ext>
            </a:extLst>
          </p:cNvPr>
          <p:cNvSpPr>
            <a:spLocks noGrp="1"/>
          </p:cNvSpPr>
          <p:nvPr>
            <p:ph idx="1"/>
          </p:nvPr>
        </p:nvSpPr>
        <p:spPr/>
        <p:txBody>
          <a:bodyPr>
            <a:normAutofit fontScale="85000" lnSpcReduction="10000"/>
          </a:bodyPr>
          <a:lstStyle/>
          <a:p>
            <a:r>
              <a:rPr lang="en-US" dirty="0"/>
              <a:t>To validate and sanitize user-provided data, you can follow these general guidelines:</a:t>
            </a:r>
          </a:p>
          <a:p>
            <a:pPr lvl="1">
              <a:buFont typeface="Wingdings" panose="05000000000000000000" pitchFamily="2" charset="2"/>
              <a:buChar char="§"/>
            </a:pPr>
            <a:r>
              <a:rPr lang="en-US" b="1" dirty="0"/>
              <a:t>Input Validation: </a:t>
            </a:r>
            <a:r>
              <a:rPr lang="en-US" dirty="0"/>
              <a:t>Define strict validation rules based on expected data formats and use regular expressions or built-in validation functions to check if the input matches those rules.</a:t>
            </a:r>
          </a:p>
          <a:p>
            <a:pPr lvl="1">
              <a:buFont typeface="Wingdings" panose="05000000000000000000" pitchFamily="2" charset="2"/>
              <a:buChar char="§"/>
            </a:pPr>
            <a:r>
              <a:rPr lang="en-US" b="1" dirty="0"/>
              <a:t>Parameterized Queries or Prepared Statements: </a:t>
            </a:r>
            <a:r>
              <a:rPr lang="en-US" dirty="0"/>
              <a:t>Use placeholders and bind user input to them in SQL queries, separating the SQL code from the input values and preventing SQL injection.</a:t>
            </a:r>
          </a:p>
          <a:p>
            <a:pPr lvl="1">
              <a:buFont typeface="Wingdings" panose="05000000000000000000" pitchFamily="2" charset="2"/>
              <a:buChar char="§"/>
            </a:pPr>
            <a:r>
              <a:rPr lang="en-US" b="1" dirty="0"/>
              <a:t>Sanitization:</a:t>
            </a:r>
            <a:r>
              <a:rPr lang="en-US" dirty="0"/>
              <a:t> Implement input sanitization to remove or escape potentially harmful characters from user input, using built-in sanitization functions or libraries specific to your programming language or framework.</a:t>
            </a:r>
          </a:p>
          <a:p>
            <a:pPr lvl="1">
              <a:buFont typeface="Wingdings" panose="05000000000000000000" pitchFamily="2" charset="2"/>
              <a:buChar char="§"/>
            </a:pPr>
            <a:r>
              <a:rPr lang="en-US" b="1" dirty="0"/>
              <a:t>Whitelist Filtering:</a:t>
            </a:r>
            <a:r>
              <a:rPr lang="en-US" dirty="0"/>
              <a:t> Use a whitelist approach to define an allowed set of characters or patterns for each input field and filter out any input that doesn't match the whitelist.</a:t>
            </a:r>
          </a:p>
          <a:p>
            <a:pPr lvl="1">
              <a:buFont typeface="Wingdings" panose="05000000000000000000" pitchFamily="2" charset="2"/>
              <a:buChar char="§"/>
            </a:pPr>
            <a:r>
              <a:rPr lang="en-US" b="1" dirty="0"/>
              <a:t>Input Length Limitations: </a:t>
            </a:r>
            <a:r>
              <a:rPr lang="en-US" dirty="0"/>
              <a:t>Enforce length limitations on user input to prevent excessively long inputs that could be used for SQL injection or other attacks, setting maximum lengths for input fields and rejecting or truncating input that exceeds those limits.</a:t>
            </a:r>
          </a:p>
          <a:p>
            <a:pPr lvl="1">
              <a:buFont typeface="Wingdings" panose="05000000000000000000" pitchFamily="2" charset="2"/>
              <a:buChar char="§"/>
            </a:pPr>
            <a:endParaRPr lang="en-US" dirty="0"/>
          </a:p>
        </p:txBody>
      </p:sp>
    </p:spTree>
    <p:extLst>
      <p:ext uri="{BB962C8B-B14F-4D97-AF65-F5344CB8AC3E}">
        <p14:creationId xmlns:p14="http://schemas.microsoft.com/office/powerpoint/2010/main" val="40970980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FFB4C-7493-181E-E77E-4CC97905107A}"/>
              </a:ext>
            </a:extLst>
          </p:cNvPr>
          <p:cNvSpPr>
            <a:spLocks noGrp="1"/>
          </p:cNvSpPr>
          <p:nvPr>
            <p:ph type="title"/>
          </p:nvPr>
        </p:nvSpPr>
        <p:spPr/>
        <p:txBody>
          <a:bodyPr/>
          <a:lstStyle/>
          <a:p>
            <a:r>
              <a:rPr lang="en-US" dirty="0"/>
              <a:t>Mitigation of SQL Injection using Regular Expressions (</a:t>
            </a:r>
            <a:r>
              <a:rPr lang="en-US" dirty="0" err="1">
                <a:solidFill>
                  <a:srgbClr val="FF0000"/>
                </a:solidFill>
              </a:rPr>
              <a:t>RegEx</a:t>
            </a:r>
            <a:r>
              <a:rPr lang="en-US" dirty="0"/>
              <a:t>)</a:t>
            </a:r>
          </a:p>
        </p:txBody>
      </p:sp>
      <p:sp>
        <p:nvSpPr>
          <p:cNvPr id="3" name="Content Placeholder 2">
            <a:extLst>
              <a:ext uri="{FF2B5EF4-FFF2-40B4-BE49-F238E27FC236}">
                <a16:creationId xmlns:a16="http://schemas.microsoft.com/office/drawing/2014/main" id="{021F1418-3C5A-59C0-781D-593E5F7FDC94}"/>
              </a:ext>
            </a:extLst>
          </p:cNvPr>
          <p:cNvSpPr>
            <a:spLocks noGrp="1"/>
          </p:cNvSpPr>
          <p:nvPr>
            <p:ph idx="1"/>
          </p:nvPr>
        </p:nvSpPr>
        <p:spPr/>
        <p:txBody>
          <a:bodyPr/>
          <a:lstStyle/>
          <a:p>
            <a:r>
              <a:rPr lang="en-US" dirty="0"/>
              <a:t>Explain that regular expressions are powerful pattern-matching tools used to validate and sanitize user input.</a:t>
            </a:r>
          </a:p>
          <a:p>
            <a:r>
              <a:rPr lang="en-US" dirty="0"/>
              <a:t>Describe how </a:t>
            </a:r>
            <a:r>
              <a:rPr lang="en-US" dirty="0" err="1"/>
              <a:t>RegEx</a:t>
            </a:r>
            <a:r>
              <a:rPr lang="en-US" dirty="0"/>
              <a:t> can be used to validate and sanitize input before using it in an SQL query.</a:t>
            </a:r>
          </a:p>
          <a:p>
            <a:r>
              <a:rPr lang="en-US" dirty="0"/>
              <a:t>Mention that </a:t>
            </a:r>
            <a:r>
              <a:rPr lang="en-US" dirty="0" err="1"/>
              <a:t>RegEx</a:t>
            </a:r>
            <a:r>
              <a:rPr lang="en-US" dirty="0"/>
              <a:t> can enforce specific formats, detect malicious patterns, and prevent SQL Injection vulnerabilities.</a:t>
            </a:r>
          </a:p>
        </p:txBody>
      </p:sp>
    </p:spTree>
    <p:extLst>
      <p:ext uri="{BB962C8B-B14F-4D97-AF65-F5344CB8AC3E}">
        <p14:creationId xmlns:p14="http://schemas.microsoft.com/office/powerpoint/2010/main" val="1846938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73692-36CF-5728-8DA6-D6C59100E8A2}"/>
              </a:ext>
            </a:extLst>
          </p:cNvPr>
          <p:cNvSpPr>
            <a:spLocks noGrp="1"/>
          </p:cNvSpPr>
          <p:nvPr>
            <p:ph type="title"/>
          </p:nvPr>
        </p:nvSpPr>
        <p:spPr/>
        <p:txBody>
          <a:bodyPr/>
          <a:lstStyle/>
          <a:p>
            <a:r>
              <a:rPr lang="en-US" dirty="0"/>
              <a:t>Examples of </a:t>
            </a:r>
            <a:r>
              <a:rPr lang="en-US" dirty="0" err="1">
                <a:solidFill>
                  <a:srgbClr val="FF0000"/>
                </a:solidFill>
              </a:rPr>
              <a:t>RegEx</a:t>
            </a:r>
            <a:r>
              <a:rPr lang="en-US" dirty="0"/>
              <a:t> Patterns for Input Validation</a:t>
            </a:r>
          </a:p>
        </p:txBody>
      </p:sp>
      <p:sp>
        <p:nvSpPr>
          <p:cNvPr id="3" name="Content Placeholder 2">
            <a:extLst>
              <a:ext uri="{FF2B5EF4-FFF2-40B4-BE49-F238E27FC236}">
                <a16:creationId xmlns:a16="http://schemas.microsoft.com/office/drawing/2014/main" id="{7C5816D6-0B41-909C-1448-B6D04E0903FF}"/>
              </a:ext>
            </a:extLst>
          </p:cNvPr>
          <p:cNvSpPr>
            <a:spLocks noGrp="1"/>
          </p:cNvSpPr>
          <p:nvPr>
            <p:ph idx="1"/>
          </p:nvPr>
        </p:nvSpPr>
        <p:spPr/>
        <p:txBody>
          <a:bodyPr/>
          <a:lstStyle/>
          <a:p>
            <a:r>
              <a:rPr lang="en-US" dirty="0"/>
              <a:t>Ensuring alphanumeric characters only: </a:t>
            </a:r>
            <a:r>
              <a:rPr lang="en-US" dirty="0">
                <a:solidFill>
                  <a:srgbClr val="7030A0"/>
                </a:solidFill>
              </a:rPr>
              <a:t>^[a-zA-Z0-9]+$</a:t>
            </a:r>
          </a:p>
          <a:p>
            <a:r>
              <a:rPr lang="en-US" dirty="0"/>
              <a:t>Validating email addresses: </a:t>
            </a:r>
            <a:r>
              <a:rPr lang="en-US" dirty="0">
                <a:solidFill>
                  <a:srgbClr val="FF0000"/>
                </a:solidFill>
              </a:rPr>
              <a:t>^[a-zA-Z0-9._%+-]+@[a-zA-Z0-9.-]+.[a-</a:t>
            </a:r>
            <a:r>
              <a:rPr lang="en-US" dirty="0" err="1">
                <a:solidFill>
                  <a:srgbClr val="FF0000"/>
                </a:solidFill>
              </a:rPr>
              <a:t>zA</a:t>
            </a:r>
            <a:r>
              <a:rPr lang="en-US" dirty="0">
                <a:solidFill>
                  <a:srgbClr val="FF0000"/>
                </a:solidFill>
              </a:rPr>
              <a:t>-Z]{2,}$</a:t>
            </a:r>
          </a:p>
          <a:p>
            <a:r>
              <a:rPr lang="en-US" dirty="0"/>
              <a:t>Checking for special characters: </a:t>
            </a:r>
            <a:r>
              <a:rPr lang="en-US" dirty="0">
                <a:solidFill>
                  <a:srgbClr val="002060"/>
                </a:solidFill>
              </a:rPr>
              <a:t>[^\w\s]</a:t>
            </a:r>
          </a:p>
          <a:p>
            <a:r>
              <a:rPr lang="en-US" dirty="0"/>
              <a:t>Validating numeric input: </a:t>
            </a:r>
            <a:r>
              <a:rPr lang="en-US" dirty="0">
                <a:solidFill>
                  <a:schemeClr val="accent2"/>
                </a:solidFill>
              </a:rPr>
              <a:t>^[0-9]+$</a:t>
            </a:r>
          </a:p>
        </p:txBody>
      </p:sp>
    </p:spTree>
    <p:extLst>
      <p:ext uri="{BB962C8B-B14F-4D97-AF65-F5344CB8AC3E}">
        <p14:creationId xmlns:p14="http://schemas.microsoft.com/office/powerpoint/2010/main" val="17505797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670E9-3E3A-3091-535B-D6F385817C70}"/>
              </a:ext>
            </a:extLst>
          </p:cNvPr>
          <p:cNvSpPr>
            <a:spLocks noGrp="1"/>
          </p:cNvSpPr>
          <p:nvPr>
            <p:ph type="title"/>
          </p:nvPr>
        </p:nvSpPr>
        <p:spPr/>
        <p:txBody>
          <a:bodyPr/>
          <a:lstStyle/>
          <a:p>
            <a:r>
              <a:rPr lang="en-US" dirty="0"/>
              <a:t>Sanitizing User-provided Data Using </a:t>
            </a:r>
            <a:r>
              <a:rPr lang="en-US" dirty="0">
                <a:solidFill>
                  <a:srgbClr val="FF0000"/>
                </a:solidFill>
              </a:rPr>
              <a:t>HTML Entity Encoding</a:t>
            </a:r>
          </a:p>
        </p:txBody>
      </p:sp>
      <p:sp>
        <p:nvSpPr>
          <p:cNvPr id="3" name="Content Placeholder 2">
            <a:extLst>
              <a:ext uri="{FF2B5EF4-FFF2-40B4-BE49-F238E27FC236}">
                <a16:creationId xmlns:a16="http://schemas.microsoft.com/office/drawing/2014/main" id="{DDE11276-7BAA-F026-FDEA-26EDCFA1DB87}"/>
              </a:ext>
            </a:extLst>
          </p:cNvPr>
          <p:cNvSpPr>
            <a:spLocks noGrp="1"/>
          </p:cNvSpPr>
          <p:nvPr>
            <p:ph idx="1"/>
          </p:nvPr>
        </p:nvSpPr>
        <p:spPr/>
        <p:txBody>
          <a:bodyPr/>
          <a:lstStyle/>
          <a:p>
            <a:r>
              <a:rPr lang="en-US" dirty="0"/>
              <a:t>Replace characters with their corresponding HTML entities to prevent HTML injection.</a:t>
            </a:r>
          </a:p>
          <a:p>
            <a:pPr lvl="1">
              <a:buFont typeface="Wingdings" panose="05000000000000000000" pitchFamily="2" charset="2"/>
              <a:buChar char="§"/>
            </a:pPr>
            <a:r>
              <a:rPr lang="en-US" dirty="0"/>
              <a:t>Example: Convert &lt; to &amp;</a:t>
            </a:r>
            <a:r>
              <a:rPr lang="en-US" dirty="0" err="1"/>
              <a:t>lt</a:t>
            </a:r>
            <a:r>
              <a:rPr lang="en-US" dirty="0"/>
              <a:t>;, &gt; to &amp;</a:t>
            </a:r>
            <a:r>
              <a:rPr lang="en-US" dirty="0" err="1"/>
              <a:t>gt</a:t>
            </a:r>
            <a:r>
              <a:rPr lang="en-US" dirty="0"/>
              <a:t>;, " to &amp;</a:t>
            </a:r>
            <a:r>
              <a:rPr lang="en-US" dirty="0" err="1"/>
              <a:t>quot</a:t>
            </a:r>
            <a:r>
              <a:rPr lang="en-US" dirty="0"/>
              <a:t>;, and ' to &amp;#39;.</a:t>
            </a:r>
          </a:p>
        </p:txBody>
      </p:sp>
    </p:spTree>
    <p:extLst>
      <p:ext uri="{BB962C8B-B14F-4D97-AF65-F5344CB8AC3E}">
        <p14:creationId xmlns:p14="http://schemas.microsoft.com/office/powerpoint/2010/main" val="10535000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219BDD2-ACB9-B2B3-51E3-FCAE4267AC5F}"/>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703512" y="1825625"/>
            <a:ext cx="4784976" cy="4351338"/>
          </a:xfrm>
        </p:spPr>
      </p:pic>
    </p:spTree>
    <p:extLst>
      <p:ext uri="{BB962C8B-B14F-4D97-AF65-F5344CB8AC3E}">
        <p14:creationId xmlns:p14="http://schemas.microsoft.com/office/powerpoint/2010/main" val="35424023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497</TotalTime>
  <Words>2397</Words>
  <Application>Microsoft Office PowerPoint</Application>
  <PresentationFormat>Widescreen</PresentationFormat>
  <Paragraphs>185</Paragraphs>
  <Slides>33</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Calibri</vt:lpstr>
      <vt:lpstr>Calibri Light</vt:lpstr>
      <vt:lpstr>Garamond</vt:lpstr>
      <vt:lpstr>Söhne Mono</vt:lpstr>
      <vt:lpstr>Times New Roman</vt:lpstr>
      <vt:lpstr>Wingdings</vt:lpstr>
      <vt:lpstr>Office Theme</vt:lpstr>
      <vt:lpstr>Lecture – 10 Database Security</vt:lpstr>
      <vt:lpstr>Databases</vt:lpstr>
      <vt:lpstr>DBMS Security Support</vt:lpstr>
      <vt:lpstr>Database Security: Protecting Your Data Assets</vt:lpstr>
      <vt:lpstr>Security Objectives</vt:lpstr>
      <vt:lpstr>Operations: Create Operation</vt:lpstr>
      <vt:lpstr>Operations: Create Operation</vt:lpstr>
      <vt:lpstr>Operations: Create Operation</vt:lpstr>
      <vt:lpstr>Operations: Insert Operation</vt:lpstr>
      <vt:lpstr>Operations: Insert Operation</vt:lpstr>
      <vt:lpstr>Operations: Insert Operation</vt:lpstr>
      <vt:lpstr>Operations: Update Operation</vt:lpstr>
      <vt:lpstr>Operations: Update Operation</vt:lpstr>
      <vt:lpstr>Operations: Update Operation</vt:lpstr>
      <vt:lpstr>Operations: Delete Operation</vt:lpstr>
      <vt:lpstr>Operations: Delete Operation</vt:lpstr>
      <vt:lpstr>Operations: Delete Operation</vt:lpstr>
      <vt:lpstr>Operations: Grant Operation</vt:lpstr>
      <vt:lpstr>Operations: Grant Operation</vt:lpstr>
      <vt:lpstr>Operations: Grant Operation</vt:lpstr>
      <vt:lpstr>Operations: Revoke Operation</vt:lpstr>
      <vt:lpstr>Operations: Revoke Operation</vt:lpstr>
      <vt:lpstr>Operations: Revoke Operation</vt:lpstr>
      <vt:lpstr>Best Practices for Database Security</vt:lpstr>
      <vt:lpstr>Some Other Queries</vt:lpstr>
      <vt:lpstr>SQL Vulnerabilities and Attacks (SQLi)</vt:lpstr>
      <vt:lpstr> SQL Injection (SQLi)</vt:lpstr>
      <vt:lpstr>Common Types of SQL Injection Attacks</vt:lpstr>
      <vt:lpstr>Best Practices for Validating and Sanitizing User-Provided Data</vt:lpstr>
      <vt:lpstr>Mitigation of SQL Injection using Regular Expressions (RegEx)</vt:lpstr>
      <vt:lpstr>Examples of RegEx Patterns for Input Validation</vt:lpstr>
      <vt:lpstr>Sanitizing User-provided Data Using HTML Entity Encoding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 10 Database Security</dc:title>
  <dc:creator>Annas Malik</dc:creator>
  <cp:lastModifiedBy>Muhammad Tauseef Hanif</cp:lastModifiedBy>
  <cp:revision>36</cp:revision>
  <dcterms:created xsi:type="dcterms:W3CDTF">2023-06-11T05:56:32Z</dcterms:created>
  <dcterms:modified xsi:type="dcterms:W3CDTF">2025-01-20T12:20:52Z</dcterms:modified>
</cp:coreProperties>
</file>