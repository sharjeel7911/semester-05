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
  </p:notesMasterIdLst>
  <p:sldIdLst>
    <p:sldId id="257" r:id="rId2"/>
    <p:sldId id="258" r:id="rId3"/>
    <p:sldId id="259" r:id="rId4"/>
    <p:sldId id="260" r:id="rId5"/>
    <p:sldId id="261" r:id="rId6"/>
    <p:sldId id="264" r:id="rId7"/>
    <p:sldId id="262" r:id="rId8"/>
    <p:sldId id="263" r:id="rId9"/>
    <p:sldId id="265" r:id="rId10"/>
    <p:sldId id="266" r:id="rId11"/>
    <p:sldId id="267" r:id="rId12"/>
  </p:sldIdLst>
  <p:sldSz cx="12192000" cy="6858000"/>
  <p:notesSz cx="6858000" cy="9144000"/>
  <p:defaultTextStyle>
    <a:defPPr>
      <a:defRPr lang="en-P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1952" autoAdjust="0"/>
  </p:normalViewPr>
  <p:slideViewPr>
    <p:cSldViewPr snapToGrid="0">
      <p:cViewPr varScale="1">
        <p:scale>
          <a:sx n="45" d="100"/>
          <a:sy n="45" d="100"/>
        </p:scale>
        <p:origin x="1123" y="3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PK"/>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BBFB77-E5CB-4AA7-8C39-D210AAD9E6BE}" type="datetimeFigureOut">
              <a:rPr lang="en-PK" smtClean="0"/>
              <a:t>31/10/2024</a:t>
            </a:fld>
            <a:endParaRPr lang="en-PK"/>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PK"/>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PK"/>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43BC047-F641-40AB-BFD8-552C4D7F1CFC}" type="slidenum">
              <a:rPr lang="en-PK" smtClean="0"/>
              <a:t>‹#›</a:t>
            </a:fld>
            <a:endParaRPr lang="en-PK"/>
          </a:p>
        </p:txBody>
      </p:sp>
    </p:spTree>
    <p:extLst>
      <p:ext uri="{BB962C8B-B14F-4D97-AF65-F5344CB8AC3E}">
        <p14:creationId xmlns:p14="http://schemas.microsoft.com/office/powerpoint/2010/main" val="28915622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 While the objective of cryptanalysis is to find weaknesses in or otherwise defeat cryptographic algorithms, cryptanalysts' research results are used by cryptographers to improve and strengthen or replace flawed algorithms.</a:t>
            </a:r>
          </a:p>
          <a:p>
            <a:endParaRPr lang="en-PK" dirty="0"/>
          </a:p>
        </p:txBody>
      </p:sp>
      <p:sp>
        <p:nvSpPr>
          <p:cNvPr id="4" name="Slide Number Placeholder 3"/>
          <p:cNvSpPr>
            <a:spLocks noGrp="1"/>
          </p:cNvSpPr>
          <p:nvPr>
            <p:ph type="sldNum" sz="quarter" idx="5"/>
          </p:nvPr>
        </p:nvSpPr>
        <p:spPr/>
        <p:txBody>
          <a:bodyPr/>
          <a:lstStyle/>
          <a:p>
            <a:fld id="{F43BC047-F641-40AB-BFD8-552C4D7F1CFC}" type="slidenum">
              <a:rPr lang="en-PK" smtClean="0"/>
              <a:t>5</a:t>
            </a:fld>
            <a:endParaRPr lang="en-PK"/>
          </a:p>
        </p:txBody>
      </p:sp>
    </p:spTree>
    <p:extLst>
      <p:ext uri="{BB962C8B-B14F-4D97-AF65-F5344CB8AC3E}">
        <p14:creationId xmlns:p14="http://schemas.microsoft.com/office/powerpoint/2010/main" val="353672877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1372BA-2911-87BC-1BF5-25DE3571F78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PK"/>
          </a:p>
        </p:txBody>
      </p:sp>
      <p:sp>
        <p:nvSpPr>
          <p:cNvPr id="3" name="Subtitle 2">
            <a:extLst>
              <a:ext uri="{FF2B5EF4-FFF2-40B4-BE49-F238E27FC236}">
                <a16:creationId xmlns:a16="http://schemas.microsoft.com/office/drawing/2014/main" id="{454262E9-D647-60B4-3AFD-EAD9A2095E8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PK"/>
          </a:p>
        </p:txBody>
      </p:sp>
      <p:sp>
        <p:nvSpPr>
          <p:cNvPr id="4" name="Date Placeholder 3">
            <a:extLst>
              <a:ext uri="{FF2B5EF4-FFF2-40B4-BE49-F238E27FC236}">
                <a16:creationId xmlns:a16="http://schemas.microsoft.com/office/drawing/2014/main" id="{D0E5476A-53B4-7941-2669-2F5C156A5F1B}"/>
              </a:ext>
            </a:extLst>
          </p:cNvPr>
          <p:cNvSpPr>
            <a:spLocks noGrp="1"/>
          </p:cNvSpPr>
          <p:nvPr>
            <p:ph type="dt" sz="half" idx="10"/>
          </p:nvPr>
        </p:nvSpPr>
        <p:spPr/>
        <p:txBody>
          <a:bodyPr/>
          <a:lstStyle/>
          <a:p>
            <a:fld id="{15207C84-84A7-401E-A333-802A71896985}" type="datetimeFigureOut">
              <a:rPr lang="en-PK" smtClean="0"/>
              <a:t>31/10/2024</a:t>
            </a:fld>
            <a:endParaRPr lang="en-PK"/>
          </a:p>
        </p:txBody>
      </p:sp>
      <p:sp>
        <p:nvSpPr>
          <p:cNvPr id="5" name="Footer Placeholder 4">
            <a:extLst>
              <a:ext uri="{FF2B5EF4-FFF2-40B4-BE49-F238E27FC236}">
                <a16:creationId xmlns:a16="http://schemas.microsoft.com/office/drawing/2014/main" id="{86825E67-509F-5F4C-8367-53E8E3FAC5C6}"/>
              </a:ext>
            </a:extLst>
          </p:cNvPr>
          <p:cNvSpPr>
            <a:spLocks noGrp="1"/>
          </p:cNvSpPr>
          <p:nvPr>
            <p:ph type="ftr" sz="quarter" idx="11"/>
          </p:nvPr>
        </p:nvSpPr>
        <p:spPr/>
        <p:txBody>
          <a:bodyPr/>
          <a:lstStyle/>
          <a:p>
            <a:endParaRPr lang="en-PK"/>
          </a:p>
        </p:txBody>
      </p:sp>
      <p:sp>
        <p:nvSpPr>
          <p:cNvPr id="6" name="Slide Number Placeholder 5">
            <a:extLst>
              <a:ext uri="{FF2B5EF4-FFF2-40B4-BE49-F238E27FC236}">
                <a16:creationId xmlns:a16="http://schemas.microsoft.com/office/drawing/2014/main" id="{1BA12516-67C4-A2E9-97D1-9298982D52D9}"/>
              </a:ext>
            </a:extLst>
          </p:cNvPr>
          <p:cNvSpPr>
            <a:spLocks noGrp="1"/>
          </p:cNvSpPr>
          <p:nvPr>
            <p:ph type="sldNum" sz="quarter" idx="12"/>
          </p:nvPr>
        </p:nvSpPr>
        <p:spPr/>
        <p:txBody>
          <a:bodyPr/>
          <a:lstStyle/>
          <a:p>
            <a:fld id="{4DE9FEAE-A04A-4017-A011-D7B5B8B2268D}" type="slidenum">
              <a:rPr lang="en-PK" smtClean="0"/>
              <a:t>‹#›</a:t>
            </a:fld>
            <a:endParaRPr lang="en-PK"/>
          </a:p>
        </p:txBody>
      </p:sp>
    </p:spTree>
    <p:extLst>
      <p:ext uri="{BB962C8B-B14F-4D97-AF65-F5344CB8AC3E}">
        <p14:creationId xmlns:p14="http://schemas.microsoft.com/office/powerpoint/2010/main" val="35236243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48F1B8-67E4-16B5-7BF8-9B67C833DDAB}"/>
              </a:ext>
            </a:extLst>
          </p:cNvPr>
          <p:cNvSpPr>
            <a:spLocks noGrp="1"/>
          </p:cNvSpPr>
          <p:nvPr>
            <p:ph type="title"/>
          </p:nvPr>
        </p:nvSpPr>
        <p:spPr/>
        <p:txBody>
          <a:bodyPr/>
          <a:lstStyle/>
          <a:p>
            <a:r>
              <a:rPr lang="en-US"/>
              <a:t>Click to edit Master title style</a:t>
            </a:r>
            <a:endParaRPr lang="en-PK"/>
          </a:p>
        </p:txBody>
      </p:sp>
      <p:sp>
        <p:nvSpPr>
          <p:cNvPr id="3" name="Content Placeholder 2">
            <a:extLst>
              <a:ext uri="{FF2B5EF4-FFF2-40B4-BE49-F238E27FC236}">
                <a16:creationId xmlns:a16="http://schemas.microsoft.com/office/drawing/2014/main" id="{E96DB54D-7C8C-8920-75A7-94C1677FB37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Date Placeholder 3">
            <a:extLst>
              <a:ext uri="{FF2B5EF4-FFF2-40B4-BE49-F238E27FC236}">
                <a16:creationId xmlns:a16="http://schemas.microsoft.com/office/drawing/2014/main" id="{E52077C6-9A04-52AD-EBA9-1988A4052BBA}"/>
              </a:ext>
            </a:extLst>
          </p:cNvPr>
          <p:cNvSpPr>
            <a:spLocks noGrp="1"/>
          </p:cNvSpPr>
          <p:nvPr>
            <p:ph type="dt" sz="half" idx="10"/>
          </p:nvPr>
        </p:nvSpPr>
        <p:spPr/>
        <p:txBody>
          <a:bodyPr/>
          <a:lstStyle/>
          <a:p>
            <a:fld id="{15207C84-84A7-401E-A333-802A71896985}" type="datetimeFigureOut">
              <a:rPr lang="en-PK" smtClean="0"/>
              <a:t>31/10/2024</a:t>
            </a:fld>
            <a:endParaRPr lang="en-PK"/>
          </a:p>
        </p:txBody>
      </p:sp>
      <p:sp>
        <p:nvSpPr>
          <p:cNvPr id="5" name="Footer Placeholder 4">
            <a:extLst>
              <a:ext uri="{FF2B5EF4-FFF2-40B4-BE49-F238E27FC236}">
                <a16:creationId xmlns:a16="http://schemas.microsoft.com/office/drawing/2014/main" id="{F7EFCB44-AB29-46C6-C69A-ADD808F3BF6F}"/>
              </a:ext>
            </a:extLst>
          </p:cNvPr>
          <p:cNvSpPr>
            <a:spLocks noGrp="1"/>
          </p:cNvSpPr>
          <p:nvPr>
            <p:ph type="ftr" sz="quarter" idx="11"/>
          </p:nvPr>
        </p:nvSpPr>
        <p:spPr/>
        <p:txBody>
          <a:bodyPr/>
          <a:lstStyle/>
          <a:p>
            <a:endParaRPr lang="en-PK"/>
          </a:p>
        </p:txBody>
      </p:sp>
      <p:sp>
        <p:nvSpPr>
          <p:cNvPr id="6" name="Slide Number Placeholder 5">
            <a:extLst>
              <a:ext uri="{FF2B5EF4-FFF2-40B4-BE49-F238E27FC236}">
                <a16:creationId xmlns:a16="http://schemas.microsoft.com/office/drawing/2014/main" id="{E9E38EA9-DFBD-231B-72AF-68CDB5F1EA5D}"/>
              </a:ext>
            </a:extLst>
          </p:cNvPr>
          <p:cNvSpPr>
            <a:spLocks noGrp="1"/>
          </p:cNvSpPr>
          <p:nvPr>
            <p:ph type="sldNum" sz="quarter" idx="12"/>
          </p:nvPr>
        </p:nvSpPr>
        <p:spPr/>
        <p:txBody>
          <a:bodyPr/>
          <a:lstStyle/>
          <a:p>
            <a:fld id="{4DE9FEAE-A04A-4017-A011-D7B5B8B2268D}" type="slidenum">
              <a:rPr lang="en-PK" smtClean="0"/>
              <a:t>‹#›</a:t>
            </a:fld>
            <a:endParaRPr lang="en-PK"/>
          </a:p>
        </p:txBody>
      </p:sp>
    </p:spTree>
    <p:extLst>
      <p:ext uri="{BB962C8B-B14F-4D97-AF65-F5344CB8AC3E}">
        <p14:creationId xmlns:p14="http://schemas.microsoft.com/office/powerpoint/2010/main" val="29337534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D04A7-6F87-CC5B-F8B3-C0E0BE8A517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PK"/>
          </a:p>
        </p:txBody>
      </p:sp>
      <p:sp>
        <p:nvSpPr>
          <p:cNvPr id="3" name="Text Placeholder 2">
            <a:extLst>
              <a:ext uri="{FF2B5EF4-FFF2-40B4-BE49-F238E27FC236}">
                <a16:creationId xmlns:a16="http://schemas.microsoft.com/office/drawing/2014/main" id="{CACD089D-C6A3-1610-DFD9-446E0BBC5D0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C327FF1-52A0-2E9C-82A3-E1ABEB1DC06D}"/>
              </a:ext>
            </a:extLst>
          </p:cNvPr>
          <p:cNvSpPr>
            <a:spLocks noGrp="1"/>
          </p:cNvSpPr>
          <p:nvPr>
            <p:ph type="dt" sz="half" idx="10"/>
          </p:nvPr>
        </p:nvSpPr>
        <p:spPr/>
        <p:txBody>
          <a:bodyPr/>
          <a:lstStyle/>
          <a:p>
            <a:fld id="{15207C84-84A7-401E-A333-802A71896985}" type="datetimeFigureOut">
              <a:rPr lang="en-PK" smtClean="0"/>
              <a:t>31/10/2024</a:t>
            </a:fld>
            <a:endParaRPr lang="en-PK"/>
          </a:p>
        </p:txBody>
      </p:sp>
      <p:sp>
        <p:nvSpPr>
          <p:cNvPr id="5" name="Footer Placeholder 4">
            <a:extLst>
              <a:ext uri="{FF2B5EF4-FFF2-40B4-BE49-F238E27FC236}">
                <a16:creationId xmlns:a16="http://schemas.microsoft.com/office/drawing/2014/main" id="{55E0F10F-E9D3-A442-7597-F22D04D403C9}"/>
              </a:ext>
            </a:extLst>
          </p:cNvPr>
          <p:cNvSpPr>
            <a:spLocks noGrp="1"/>
          </p:cNvSpPr>
          <p:nvPr>
            <p:ph type="ftr" sz="quarter" idx="11"/>
          </p:nvPr>
        </p:nvSpPr>
        <p:spPr/>
        <p:txBody>
          <a:bodyPr/>
          <a:lstStyle/>
          <a:p>
            <a:endParaRPr lang="en-PK"/>
          </a:p>
        </p:txBody>
      </p:sp>
      <p:sp>
        <p:nvSpPr>
          <p:cNvPr id="6" name="Slide Number Placeholder 5">
            <a:extLst>
              <a:ext uri="{FF2B5EF4-FFF2-40B4-BE49-F238E27FC236}">
                <a16:creationId xmlns:a16="http://schemas.microsoft.com/office/drawing/2014/main" id="{1155DFDF-313F-7577-F3D0-2B19988CD437}"/>
              </a:ext>
            </a:extLst>
          </p:cNvPr>
          <p:cNvSpPr>
            <a:spLocks noGrp="1"/>
          </p:cNvSpPr>
          <p:nvPr>
            <p:ph type="sldNum" sz="quarter" idx="12"/>
          </p:nvPr>
        </p:nvSpPr>
        <p:spPr/>
        <p:txBody>
          <a:bodyPr/>
          <a:lstStyle/>
          <a:p>
            <a:fld id="{4DE9FEAE-A04A-4017-A011-D7B5B8B2268D}" type="slidenum">
              <a:rPr lang="en-PK" smtClean="0"/>
              <a:t>‹#›</a:t>
            </a:fld>
            <a:endParaRPr lang="en-PK"/>
          </a:p>
        </p:txBody>
      </p:sp>
    </p:spTree>
    <p:extLst>
      <p:ext uri="{BB962C8B-B14F-4D97-AF65-F5344CB8AC3E}">
        <p14:creationId xmlns:p14="http://schemas.microsoft.com/office/powerpoint/2010/main" val="5016388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99F915-F45C-2968-BA2B-34F88953CC88}"/>
              </a:ext>
            </a:extLst>
          </p:cNvPr>
          <p:cNvSpPr>
            <a:spLocks noGrp="1"/>
          </p:cNvSpPr>
          <p:nvPr>
            <p:ph type="title"/>
          </p:nvPr>
        </p:nvSpPr>
        <p:spPr/>
        <p:txBody>
          <a:bodyPr/>
          <a:lstStyle/>
          <a:p>
            <a:r>
              <a:rPr lang="en-US"/>
              <a:t>Click to edit Master title style</a:t>
            </a:r>
            <a:endParaRPr lang="en-PK"/>
          </a:p>
        </p:txBody>
      </p:sp>
      <p:sp>
        <p:nvSpPr>
          <p:cNvPr id="3" name="Content Placeholder 2">
            <a:extLst>
              <a:ext uri="{FF2B5EF4-FFF2-40B4-BE49-F238E27FC236}">
                <a16:creationId xmlns:a16="http://schemas.microsoft.com/office/drawing/2014/main" id="{0EBA48FD-D889-EEEA-FB14-3E8E3DED3A7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Content Placeholder 3">
            <a:extLst>
              <a:ext uri="{FF2B5EF4-FFF2-40B4-BE49-F238E27FC236}">
                <a16:creationId xmlns:a16="http://schemas.microsoft.com/office/drawing/2014/main" id="{AC807495-C66C-4F0E-09A1-0A72FCEF550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5" name="Date Placeholder 4">
            <a:extLst>
              <a:ext uri="{FF2B5EF4-FFF2-40B4-BE49-F238E27FC236}">
                <a16:creationId xmlns:a16="http://schemas.microsoft.com/office/drawing/2014/main" id="{E8D3BD04-3E25-73D3-D7F4-CA82C0E2BBCF}"/>
              </a:ext>
            </a:extLst>
          </p:cNvPr>
          <p:cNvSpPr>
            <a:spLocks noGrp="1"/>
          </p:cNvSpPr>
          <p:nvPr>
            <p:ph type="dt" sz="half" idx="10"/>
          </p:nvPr>
        </p:nvSpPr>
        <p:spPr/>
        <p:txBody>
          <a:bodyPr/>
          <a:lstStyle/>
          <a:p>
            <a:fld id="{15207C84-84A7-401E-A333-802A71896985}" type="datetimeFigureOut">
              <a:rPr lang="en-PK" smtClean="0"/>
              <a:t>31/10/2024</a:t>
            </a:fld>
            <a:endParaRPr lang="en-PK"/>
          </a:p>
        </p:txBody>
      </p:sp>
      <p:sp>
        <p:nvSpPr>
          <p:cNvPr id="6" name="Footer Placeholder 5">
            <a:extLst>
              <a:ext uri="{FF2B5EF4-FFF2-40B4-BE49-F238E27FC236}">
                <a16:creationId xmlns:a16="http://schemas.microsoft.com/office/drawing/2014/main" id="{A61098CE-6321-3919-0B36-58A6F98E219B}"/>
              </a:ext>
            </a:extLst>
          </p:cNvPr>
          <p:cNvSpPr>
            <a:spLocks noGrp="1"/>
          </p:cNvSpPr>
          <p:nvPr>
            <p:ph type="ftr" sz="quarter" idx="11"/>
          </p:nvPr>
        </p:nvSpPr>
        <p:spPr/>
        <p:txBody>
          <a:bodyPr/>
          <a:lstStyle/>
          <a:p>
            <a:endParaRPr lang="en-PK"/>
          </a:p>
        </p:txBody>
      </p:sp>
      <p:sp>
        <p:nvSpPr>
          <p:cNvPr id="7" name="Slide Number Placeholder 6">
            <a:extLst>
              <a:ext uri="{FF2B5EF4-FFF2-40B4-BE49-F238E27FC236}">
                <a16:creationId xmlns:a16="http://schemas.microsoft.com/office/drawing/2014/main" id="{1714E9E1-4E53-EC92-6F5E-89B3D9A319EF}"/>
              </a:ext>
            </a:extLst>
          </p:cNvPr>
          <p:cNvSpPr>
            <a:spLocks noGrp="1"/>
          </p:cNvSpPr>
          <p:nvPr>
            <p:ph type="sldNum" sz="quarter" idx="12"/>
          </p:nvPr>
        </p:nvSpPr>
        <p:spPr/>
        <p:txBody>
          <a:bodyPr/>
          <a:lstStyle/>
          <a:p>
            <a:fld id="{4DE9FEAE-A04A-4017-A011-D7B5B8B2268D}" type="slidenum">
              <a:rPr lang="en-PK" smtClean="0"/>
              <a:t>‹#›</a:t>
            </a:fld>
            <a:endParaRPr lang="en-PK"/>
          </a:p>
        </p:txBody>
      </p:sp>
    </p:spTree>
    <p:extLst>
      <p:ext uri="{BB962C8B-B14F-4D97-AF65-F5344CB8AC3E}">
        <p14:creationId xmlns:p14="http://schemas.microsoft.com/office/powerpoint/2010/main" val="83765566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BF297D-C038-6774-2591-65F4A6C72516}"/>
              </a:ext>
            </a:extLst>
          </p:cNvPr>
          <p:cNvSpPr>
            <a:spLocks noGrp="1"/>
          </p:cNvSpPr>
          <p:nvPr>
            <p:ph type="title"/>
          </p:nvPr>
        </p:nvSpPr>
        <p:spPr>
          <a:xfrm>
            <a:off x="839788" y="365125"/>
            <a:ext cx="10515600" cy="1325563"/>
          </a:xfrm>
        </p:spPr>
        <p:txBody>
          <a:bodyPr/>
          <a:lstStyle/>
          <a:p>
            <a:r>
              <a:rPr lang="en-US"/>
              <a:t>Click to edit Master title style</a:t>
            </a:r>
            <a:endParaRPr lang="en-PK"/>
          </a:p>
        </p:txBody>
      </p:sp>
      <p:sp>
        <p:nvSpPr>
          <p:cNvPr id="3" name="Text Placeholder 2">
            <a:extLst>
              <a:ext uri="{FF2B5EF4-FFF2-40B4-BE49-F238E27FC236}">
                <a16:creationId xmlns:a16="http://schemas.microsoft.com/office/drawing/2014/main" id="{DCA3757B-F7CB-F376-4FCA-20E7AA73804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7AB022A-4C32-C66F-7DD6-4FE3606C0CD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5" name="Text Placeholder 4">
            <a:extLst>
              <a:ext uri="{FF2B5EF4-FFF2-40B4-BE49-F238E27FC236}">
                <a16:creationId xmlns:a16="http://schemas.microsoft.com/office/drawing/2014/main" id="{528E5D65-CA07-BDEF-07DC-7908ACD1F98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F61F0F7-868E-9190-E209-E956CABBD78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7" name="Date Placeholder 6">
            <a:extLst>
              <a:ext uri="{FF2B5EF4-FFF2-40B4-BE49-F238E27FC236}">
                <a16:creationId xmlns:a16="http://schemas.microsoft.com/office/drawing/2014/main" id="{9C1443CD-5D23-0C3F-E01A-FFD7CEF3A81B}"/>
              </a:ext>
            </a:extLst>
          </p:cNvPr>
          <p:cNvSpPr>
            <a:spLocks noGrp="1"/>
          </p:cNvSpPr>
          <p:nvPr>
            <p:ph type="dt" sz="half" idx="10"/>
          </p:nvPr>
        </p:nvSpPr>
        <p:spPr/>
        <p:txBody>
          <a:bodyPr/>
          <a:lstStyle/>
          <a:p>
            <a:fld id="{15207C84-84A7-401E-A333-802A71896985}" type="datetimeFigureOut">
              <a:rPr lang="en-PK" smtClean="0"/>
              <a:t>31/10/2024</a:t>
            </a:fld>
            <a:endParaRPr lang="en-PK"/>
          </a:p>
        </p:txBody>
      </p:sp>
      <p:sp>
        <p:nvSpPr>
          <p:cNvPr id="8" name="Footer Placeholder 7">
            <a:extLst>
              <a:ext uri="{FF2B5EF4-FFF2-40B4-BE49-F238E27FC236}">
                <a16:creationId xmlns:a16="http://schemas.microsoft.com/office/drawing/2014/main" id="{7FFBECCB-617C-78D0-46AF-9409074832E0}"/>
              </a:ext>
            </a:extLst>
          </p:cNvPr>
          <p:cNvSpPr>
            <a:spLocks noGrp="1"/>
          </p:cNvSpPr>
          <p:nvPr>
            <p:ph type="ftr" sz="quarter" idx="11"/>
          </p:nvPr>
        </p:nvSpPr>
        <p:spPr/>
        <p:txBody>
          <a:bodyPr/>
          <a:lstStyle/>
          <a:p>
            <a:endParaRPr lang="en-PK"/>
          </a:p>
        </p:txBody>
      </p:sp>
      <p:sp>
        <p:nvSpPr>
          <p:cNvPr id="9" name="Slide Number Placeholder 8">
            <a:extLst>
              <a:ext uri="{FF2B5EF4-FFF2-40B4-BE49-F238E27FC236}">
                <a16:creationId xmlns:a16="http://schemas.microsoft.com/office/drawing/2014/main" id="{68B170D8-0EEE-D94E-15B8-6BDC8DE3E7F9}"/>
              </a:ext>
            </a:extLst>
          </p:cNvPr>
          <p:cNvSpPr>
            <a:spLocks noGrp="1"/>
          </p:cNvSpPr>
          <p:nvPr>
            <p:ph type="sldNum" sz="quarter" idx="12"/>
          </p:nvPr>
        </p:nvSpPr>
        <p:spPr/>
        <p:txBody>
          <a:bodyPr/>
          <a:lstStyle/>
          <a:p>
            <a:fld id="{4DE9FEAE-A04A-4017-A011-D7B5B8B2268D}" type="slidenum">
              <a:rPr lang="en-PK" smtClean="0"/>
              <a:t>‹#›</a:t>
            </a:fld>
            <a:endParaRPr lang="en-PK"/>
          </a:p>
        </p:txBody>
      </p:sp>
    </p:spTree>
    <p:extLst>
      <p:ext uri="{BB962C8B-B14F-4D97-AF65-F5344CB8AC3E}">
        <p14:creationId xmlns:p14="http://schemas.microsoft.com/office/powerpoint/2010/main" val="408618559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DBB184-7430-B04C-0309-03584EA05AFB}"/>
              </a:ext>
            </a:extLst>
          </p:cNvPr>
          <p:cNvSpPr>
            <a:spLocks noGrp="1"/>
          </p:cNvSpPr>
          <p:nvPr>
            <p:ph type="title"/>
          </p:nvPr>
        </p:nvSpPr>
        <p:spPr/>
        <p:txBody>
          <a:bodyPr/>
          <a:lstStyle/>
          <a:p>
            <a:r>
              <a:rPr lang="en-US"/>
              <a:t>Click to edit Master title style</a:t>
            </a:r>
            <a:endParaRPr lang="en-PK"/>
          </a:p>
        </p:txBody>
      </p:sp>
      <p:sp>
        <p:nvSpPr>
          <p:cNvPr id="3" name="Date Placeholder 2">
            <a:extLst>
              <a:ext uri="{FF2B5EF4-FFF2-40B4-BE49-F238E27FC236}">
                <a16:creationId xmlns:a16="http://schemas.microsoft.com/office/drawing/2014/main" id="{2B2F1999-36AD-CC01-8E90-12EED622A5E2}"/>
              </a:ext>
            </a:extLst>
          </p:cNvPr>
          <p:cNvSpPr>
            <a:spLocks noGrp="1"/>
          </p:cNvSpPr>
          <p:nvPr>
            <p:ph type="dt" sz="half" idx="10"/>
          </p:nvPr>
        </p:nvSpPr>
        <p:spPr/>
        <p:txBody>
          <a:bodyPr/>
          <a:lstStyle/>
          <a:p>
            <a:fld id="{15207C84-84A7-401E-A333-802A71896985}" type="datetimeFigureOut">
              <a:rPr lang="en-PK" smtClean="0"/>
              <a:t>31/10/2024</a:t>
            </a:fld>
            <a:endParaRPr lang="en-PK"/>
          </a:p>
        </p:txBody>
      </p:sp>
      <p:sp>
        <p:nvSpPr>
          <p:cNvPr id="4" name="Footer Placeholder 3">
            <a:extLst>
              <a:ext uri="{FF2B5EF4-FFF2-40B4-BE49-F238E27FC236}">
                <a16:creationId xmlns:a16="http://schemas.microsoft.com/office/drawing/2014/main" id="{EDFDD074-F740-81AA-244C-826C525D83CA}"/>
              </a:ext>
            </a:extLst>
          </p:cNvPr>
          <p:cNvSpPr>
            <a:spLocks noGrp="1"/>
          </p:cNvSpPr>
          <p:nvPr>
            <p:ph type="ftr" sz="quarter" idx="11"/>
          </p:nvPr>
        </p:nvSpPr>
        <p:spPr/>
        <p:txBody>
          <a:bodyPr/>
          <a:lstStyle/>
          <a:p>
            <a:endParaRPr lang="en-PK"/>
          </a:p>
        </p:txBody>
      </p:sp>
      <p:sp>
        <p:nvSpPr>
          <p:cNvPr id="5" name="Slide Number Placeholder 4">
            <a:extLst>
              <a:ext uri="{FF2B5EF4-FFF2-40B4-BE49-F238E27FC236}">
                <a16:creationId xmlns:a16="http://schemas.microsoft.com/office/drawing/2014/main" id="{82B3A563-60D7-5248-AEC4-B6FB2065FE83}"/>
              </a:ext>
            </a:extLst>
          </p:cNvPr>
          <p:cNvSpPr>
            <a:spLocks noGrp="1"/>
          </p:cNvSpPr>
          <p:nvPr>
            <p:ph type="sldNum" sz="quarter" idx="12"/>
          </p:nvPr>
        </p:nvSpPr>
        <p:spPr/>
        <p:txBody>
          <a:bodyPr/>
          <a:lstStyle/>
          <a:p>
            <a:fld id="{4DE9FEAE-A04A-4017-A011-D7B5B8B2268D}" type="slidenum">
              <a:rPr lang="en-PK" smtClean="0"/>
              <a:t>‹#›</a:t>
            </a:fld>
            <a:endParaRPr lang="en-PK"/>
          </a:p>
        </p:txBody>
      </p:sp>
    </p:spTree>
    <p:extLst>
      <p:ext uri="{BB962C8B-B14F-4D97-AF65-F5344CB8AC3E}">
        <p14:creationId xmlns:p14="http://schemas.microsoft.com/office/powerpoint/2010/main" val="3118703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1E5220A-615E-728C-6656-0D536347BF39}"/>
              </a:ext>
            </a:extLst>
          </p:cNvPr>
          <p:cNvSpPr>
            <a:spLocks noGrp="1"/>
          </p:cNvSpPr>
          <p:nvPr>
            <p:ph type="dt" sz="half" idx="10"/>
          </p:nvPr>
        </p:nvSpPr>
        <p:spPr/>
        <p:txBody>
          <a:bodyPr/>
          <a:lstStyle/>
          <a:p>
            <a:fld id="{15207C84-84A7-401E-A333-802A71896985}" type="datetimeFigureOut">
              <a:rPr lang="en-PK" smtClean="0"/>
              <a:t>31/10/2024</a:t>
            </a:fld>
            <a:endParaRPr lang="en-PK"/>
          </a:p>
        </p:txBody>
      </p:sp>
      <p:sp>
        <p:nvSpPr>
          <p:cNvPr id="3" name="Footer Placeholder 2">
            <a:extLst>
              <a:ext uri="{FF2B5EF4-FFF2-40B4-BE49-F238E27FC236}">
                <a16:creationId xmlns:a16="http://schemas.microsoft.com/office/drawing/2014/main" id="{C4852E4B-24F7-D4A4-4686-E82EE8127C3F}"/>
              </a:ext>
            </a:extLst>
          </p:cNvPr>
          <p:cNvSpPr>
            <a:spLocks noGrp="1"/>
          </p:cNvSpPr>
          <p:nvPr>
            <p:ph type="ftr" sz="quarter" idx="11"/>
          </p:nvPr>
        </p:nvSpPr>
        <p:spPr/>
        <p:txBody>
          <a:bodyPr/>
          <a:lstStyle/>
          <a:p>
            <a:endParaRPr lang="en-PK"/>
          </a:p>
        </p:txBody>
      </p:sp>
      <p:sp>
        <p:nvSpPr>
          <p:cNvPr id="4" name="Slide Number Placeholder 3">
            <a:extLst>
              <a:ext uri="{FF2B5EF4-FFF2-40B4-BE49-F238E27FC236}">
                <a16:creationId xmlns:a16="http://schemas.microsoft.com/office/drawing/2014/main" id="{2967D1BF-5D43-1494-0DFC-0E79665D9A1F}"/>
              </a:ext>
            </a:extLst>
          </p:cNvPr>
          <p:cNvSpPr>
            <a:spLocks noGrp="1"/>
          </p:cNvSpPr>
          <p:nvPr>
            <p:ph type="sldNum" sz="quarter" idx="12"/>
          </p:nvPr>
        </p:nvSpPr>
        <p:spPr/>
        <p:txBody>
          <a:bodyPr/>
          <a:lstStyle/>
          <a:p>
            <a:fld id="{4DE9FEAE-A04A-4017-A011-D7B5B8B2268D}" type="slidenum">
              <a:rPr lang="en-PK" smtClean="0"/>
              <a:t>‹#›</a:t>
            </a:fld>
            <a:endParaRPr lang="en-PK"/>
          </a:p>
        </p:txBody>
      </p:sp>
    </p:spTree>
    <p:extLst>
      <p:ext uri="{BB962C8B-B14F-4D97-AF65-F5344CB8AC3E}">
        <p14:creationId xmlns:p14="http://schemas.microsoft.com/office/powerpoint/2010/main" val="12974602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099A97-BF63-247D-2764-0A1895EDD45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PK"/>
          </a:p>
        </p:txBody>
      </p:sp>
      <p:sp>
        <p:nvSpPr>
          <p:cNvPr id="3" name="Content Placeholder 2">
            <a:extLst>
              <a:ext uri="{FF2B5EF4-FFF2-40B4-BE49-F238E27FC236}">
                <a16:creationId xmlns:a16="http://schemas.microsoft.com/office/drawing/2014/main" id="{3E455F97-1651-9796-441A-9AD98340D75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Text Placeholder 3">
            <a:extLst>
              <a:ext uri="{FF2B5EF4-FFF2-40B4-BE49-F238E27FC236}">
                <a16:creationId xmlns:a16="http://schemas.microsoft.com/office/drawing/2014/main" id="{975735D9-1298-94CA-955C-6E32012CE24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92624AE-533A-8777-052F-DC7FB8871730}"/>
              </a:ext>
            </a:extLst>
          </p:cNvPr>
          <p:cNvSpPr>
            <a:spLocks noGrp="1"/>
          </p:cNvSpPr>
          <p:nvPr>
            <p:ph type="dt" sz="half" idx="10"/>
          </p:nvPr>
        </p:nvSpPr>
        <p:spPr/>
        <p:txBody>
          <a:bodyPr/>
          <a:lstStyle/>
          <a:p>
            <a:fld id="{15207C84-84A7-401E-A333-802A71896985}" type="datetimeFigureOut">
              <a:rPr lang="en-PK" smtClean="0"/>
              <a:t>31/10/2024</a:t>
            </a:fld>
            <a:endParaRPr lang="en-PK"/>
          </a:p>
        </p:txBody>
      </p:sp>
      <p:sp>
        <p:nvSpPr>
          <p:cNvPr id="6" name="Footer Placeholder 5">
            <a:extLst>
              <a:ext uri="{FF2B5EF4-FFF2-40B4-BE49-F238E27FC236}">
                <a16:creationId xmlns:a16="http://schemas.microsoft.com/office/drawing/2014/main" id="{A18402BC-86EB-5EE4-BFCB-5BEB3D3B3C0B}"/>
              </a:ext>
            </a:extLst>
          </p:cNvPr>
          <p:cNvSpPr>
            <a:spLocks noGrp="1"/>
          </p:cNvSpPr>
          <p:nvPr>
            <p:ph type="ftr" sz="quarter" idx="11"/>
          </p:nvPr>
        </p:nvSpPr>
        <p:spPr/>
        <p:txBody>
          <a:bodyPr/>
          <a:lstStyle/>
          <a:p>
            <a:endParaRPr lang="en-PK"/>
          </a:p>
        </p:txBody>
      </p:sp>
      <p:sp>
        <p:nvSpPr>
          <p:cNvPr id="7" name="Slide Number Placeholder 6">
            <a:extLst>
              <a:ext uri="{FF2B5EF4-FFF2-40B4-BE49-F238E27FC236}">
                <a16:creationId xmlns:a16="http://schemas.microsoft.com/office/drawing/2014/main" id="{069994F9-0BD8-7D19-B7D3-454D6B5A0AD1}"/>
              </a:ext>
            </a:extLst>
          </p:cNvPr>
          <p:cNvSpPr>
            <a:spLocks noGrp="1"/>
          </p:cNvSpPr>
          <p:nvPr>
            <p:ph type="sldNum" sz="quarter" idx="12"/>
          </p:nvPr>
        </p:nvSpPr>
        <p:spPr/>
        <p:txBody>
          <a:bodyPr/>
          <a:lstStyle/>
          <a:p>
            <a:fld id="{4DE9FEAE-A04A-4017-A011-D7B5B8B2268D}" type="slidenum">
              <a:rPr lang="en-PK" smtClean="0"/>
              <a:t>‹#›</a:t>
            </a:fld>
            <a:endParaRPr lang="en-PK"/>
          </a:p>
        </p:txBody>
      </p:sp>
    </p:spTree>
    <p:extLst>
      <p:ext uri="{BB962C8B-B14F-4D97-AF65-F5344CB8AC3E}">
        <p14:creationId xmlns:p14="http://schemas.microsoft.com/office/powerpoint/2010/main" val="77612833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3886C9-07EE-C319-2B14-11A3E92CAAD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PK"/>
          </a:p>
        </p:txBody>
      </p:sp>
      <p:sp>
        <p:nvSpPr>
          <p:cNvPr id="3" name="Picture Placeholder 2">
            <a:extLst>
              <a:ext uri="{FF2B5EF4-FFF2-40B4-BE49-F238E27FC236}">
                <a16:creationId xmlns:a16="http://schemas.microsoft.com/office/drawing/2014/main" id="{9E455448-1325-5836-7BF3-492D046F14A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PK"/>
          </a:p>
        </p:txBody>
      </p:sp>
      <p:sp>
        <p:nvSpPr>
          <p:cNvPr id="4" name="Text Placeholder 3">
            <a:extLst>
              <a:ext uri="{FF2B5EF4-FFF2-40B4-BE49-F238E27FC236}">
                <a16:creationId xmlns:a16="http://schemas.microsoft.com/office/drawing/2014/main" id="{5B91BB3C-D79A-43C1-3CE3-CC52C9340F0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D88E484-537A-EEEF-C371-00B651ACC6AD}"/>
              </a:ext>
            </a:extLst>
          </p:cNvPr>
          <p:cNvSpPr>
            <a:spLocks noGrp="1"/>
          </p:cNvSpPr>
          <p:nvPr>
            <p:ph type="dt" sz="half" idx="10"/>
          </p:nvPr>
        </p:nvSpPr>
        <p:spPr/>
        <p:txBody>
          <a:bodyPr/>
          <a:lstStyle/>
          <a:p>
            <a:fld id="{15207C84-84A7-401E-A333-802A71896985}" type="datetimeFigureOut">
              <a:rPr lang="en-PK" smtClean="0"/>
              <a:t>31/10/2024</a:t>
            </a:fld>
            <a:endParaRPr lang="en-PK"/>
          </a:p>
        </p:txBody>
      </p:sp>
      <p:sp>
        <p:nvSpPr>
          <p:cNvPr id="6" name="Footer Placeholder 5">
            <a:extLst>
              <a:ext uri="{FF2B5EF4-FFF2-40B4-BE49-F238E27FC236}">
                <a16:creationId xmlns:a16="http://schemas.microsoft.com/office/drawing/2014/main" id="{32D57F14-C190-9F37-9448-C23BBA90FCAB}"/>
              </a:ext>
            </a:extLst>
          </p:cNvPr>
          <p:cNvSpPr>
            <a:spLocks noGrp="1"/>
          </p:cNvSpPr>
          <p:nvPr>
            <p:ph type="ftr" sz="quarter" idx="11"/>
          </p:nvPr>
        </p:nvSpPr>
        <p:spPr/>
        <p:txBody>
          <a:bodyPr/>
          <a:lstStyle/>
          <a:p>
            <a:endParaRPr lang="en-PK"/>
          </a:p>
        </p:txBody>
      </p:sp>
      <p:sp>
        <p:nvSpPr>
          <p:cNvPr id="7" name="Slide Number Placeholder 6">
            <a:extLst>
              <a:ext uri="{FF2B5EF4-FFF2-40B4-BE49-F238E27FC236}">
                <a16:creationId xmlns:a16="http://schemas.microsoft.com/office/drawing/2014/main" id="{BB0F72C1-89DB-9F5A-2FD3-3325B7408DB3}"/>
              </a:ext>
            </a:extLst>
          </p:cNvPr>
          <p:cNvSpPr>
            <a:spLocks noGrp="1"/>
          </p:cNvSpPr>
          <p:nvPr>
            <p:ph type="sldNum" sz="quarter" idx="12"/>
          </p:nvPr>
        </p:nvSpPr>
        <p:spPr/>
        <p:txBody>
          <a:bodyPr/>
          <a:lstStyle/>
          <a:p>
            <a:fld id="{4DE9FEAE-A04A-4017-A011-D7B5B8B2268D}" type="slidenum">
              <a:rPr lang="en-PK" smtClean="0"/>
              <a:t>‹#›</a:t>
            </a:fld>
            <a:endParaRPr lang="en-PK"/>
          </a:p>
        </p:txBody>
      </p:sp>
    </p:spTree>
    <p:extLst>
      <p:ext uri="{BB962C8B-B14F-4D97-AF65-F5344CB8AC3E}">
        <p14:creationId xmlns:p14="http://schemas.microsoft.com/office/powerpoint/2010/main" val="25602156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B93D3F-A230-E22A-2532-3EB359E1F0C4}"/>
              </a:ext>
            </a:extLst>
          </p:cNvPr>
          <p:cNvSpPr>
            <a:spLocks noGrp="1"/>
          </p:cNvSpPr>
          <p:nvPr>
            <p:ph type="title"/>
          </p:nvPr>
        </p:nvSpPr>
        <p:spPr/>
        <p:txBody>
          <a:bodyPr/>
          <a:lstStyle/>
          <a:p>
            <a:r>
              <a:rPr lang="en-US"/>
              <a:t>Click to edit Master title style</a:t>
            </a:r>
            <a:endParaRPr lang="en-PK"/>
          </a:p>
        </p:txBody>
      </p:sp>
      <p:sp>
        <p:nvSpPr>
          <p:cNvPr id="3" name="Vertical Text Placeholder 2">
            <a:extLst>
              <a:ext uri="{FF2B5EF4-FFF2-40B4-BE49-F238E27FC236}">
                <a16:creationId xmlns:a16="http://schemas.microsoft.com/office/drawing/2014/main" id="{28994F58-481F-7168-DE1B-E066C2C63C0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Date Placeholder 3">
            <a:extLst>
              <a:ext uri="{FF2B5EF4-FFF2-40B4-BE49-F238E27FC236}">
                <a16:creationId xmlns:a16="http://schemas.microsoft.com/office/drawing/2014/main" id="{4E61A650-8074-D722-069D-D214C100EA08}"/>
              </a:ext>
            </a:extLst>
          </p:cNvPr>
          <p:cNvSpPr>
            <a:spLocks noGrp="1"/>
          </p:cNvSpPr>
          <p:nvPr>
            <p:ph type="dt" sz="half" idx="10"/>
          </p:nvPr>
        </p:nvSpPr>
        <p:spPr/>
        <p:txBody>
          <a:bodyPr/>
          <a:lstStyle/>
          <a:p>
            <a:fld id="{15207C84-84A7-401E-A333-802A71896985}" type="datetimeFigureOut">
              <a:rPr lang="en-PK" smtClean="0"/>
              <a:t>31/10/2024</a:t>
            </a:fld>
            <a:endParaRPr lang="en-PK"/>
          </a:p>
        </p:txBody>
      </p:sp>
      <p:sp>
        <p:nvSpPr>
          <p:cNvPr id="5" name="Footer Placeholder 4">
            <a:extLst>
              <a:ext uri="{FF2B5EF4-FFF2-40B4-BE49-F238E27FC236}">
                <a16:creationId xmlns:a16="http://schemas.microsoft.com/office/drawing/2014/main" id="{1D39C705-0B1D-DE8F-AC39-2F102562B81C}"/>
              </a:ext>
            </a:extLst>
          </p:cNvPr>
          <p:cNvSpPr>
            <a:spLocks noGrp="1"/>
          </p:cNvSpPr>
          <p:nvPr>
            <p:ph type="ftr" sz="quarter" idx="11"/>
          </p:nvPr>
        </p:nvSpPr>
        <p:spPr/>
        <p:txBody>
          <a:bodyPr/>
          <a:lstStyle/>
          <a:p>
            <a:endParaRPr lang="en-PK"/>
          </a:p>
        </p:txBody>
      </p:sp>
      <p:sp>
        <p:nvSpPr>
          <p:cNvPr id="6" name="Slide Number Placeholder 5">
            <a:extLst>
              <a:ext uri="{FF2B5EF4-FFF2-40B4-BE49-F238E27FC236}">
                <a16:creationId xmlns:a16="http://schemas.microsoft.com/office/drawing/2014/main" id="{E629DDAD-9380-46FC-0E32-6CEF1C3BF7E7}"/>
              </a:ext>
            </a:extLst>
          </p:cNvPr>
          <p:cNvSpPr>
            <a:spLocks noGrp="1"/>
          </p:cNvSpPr>
          <p:nvPr>
            <p:ph type="sldNum" sz="quarter" idx="12"/>
          </p:nvPr>
        </p:nvSpPr>
        <p:spPr/>
        <p:txBody>
          <a:bodyPr/>
          <a:lstStyle/>
          <a:p>
            <a:fld id="{4DE9FEAE-A04A-4017-A011-D7B5B8B2268D}" type="slidenum">
              <a:rPr lang="en-PK" smtClean="0"/>
              <a:t>‹#›</a:t>
            </a:fld>
            <a:endParaRPr lang="en-PK"/>
          </a:p>
        </p:txBody>
      </p:sp>
    </p:spTree>
    <p:extLst>
      <p:ext uri="{BB962C8B-B14F-4D97-AF65-F5344CB8AC3E}">
        <p14:creationId xmlns:p14="http://schemas.microsoft.com/office/powerpoint/2010/main" val="281765530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C90ACFC-D282-E813-9676-994E04C24A8C}"/>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PK"/>
          </a:p>
        </p:txBody>
      </p:sp>
      <p:sp>
        <p:nvSpPr>
          <p:cNvPr id="3" name="Vertical Text Placeholder 2">
            <a:extLst>
              <a:ext uri="{FF2B5EF4-FFF2-40B4-BE49-F238E27FC236}">
                <a16:creationId xmlns:a16="http://schemas.microsoft.com/office/drawing/2014/main" id="{92D8D1A3-5F5E-5777-BBDE-2A635C8808A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Date Placeholder 3">
            <a:extLst>
              <a:ext uri="{FF2B5EF4-FFF2-40B4-BE49-F238E27FC236}">
                <a16:creationId xmlns:a16="http://schemas.microsoft.com/office/drawing/2014/main" id="{D1C6EB88-01EE-24F4-77CE-54C46E1F491D}"/>
              </a:ext>
            </a:extLst>
          </p:cNvPr>
          <p:cNvSpPr>
            <a:spLocks noGrp="1"/>
          </p:cNvSpPr>
          <p:nvPr>
            <p:ph type="dt" sz="half" idx="10"/>
          </p:nvPr>
        </p:nvSpPr>
        <p:spPr/>
        <p:txBody>
          <a:bodyPr/>
          <a:lstStyle/>
          <a:p>
            <a:fld id="{15207C84-84A7-401E-A333-802A71896985}" type="datetimeFigureOut">
              <a:rPr lang="en-PK" smtClean="0"/>
              <a:t>31/10/2024</a:t>
            </a:fld>
            <a:endParaRPr lang="en-PK"/>
          </a:p>
        </p:txBody>
      </p:sp>
      <p:sp>
        <p:nvSpPr>
          <p:cNvPr id="5" name="Footer Placeholder 4">
            <a:extLst>
              <a:ext uri="{FF2B5EF4-FFF2-40B4-BE49-F238E27FC236}">
                <a16:creationId xmlns:a16="http://schemas.microsoft.com/office/drawing/2014/main" id="{1EF88223-136A-1D0D-66A6-6B1E1239CBB5}"/>
              </a:ext>
            </a:extLst>
          </p:cNvPr>
          <p:cNvSpPr>
            <a:spLocks noGrp="1"/>
          </p:cNvSpPr>
          <p:nvPr>
            <p:ph type="ftr" sz="quarter" idx="11"/>
          </p:nvPr>
        </p:nvSpPr>
        <p:spPr/>
        <p:txBody>
          <a:bodyPr/>
          <a:lstStyle/>
          <a:p>
            <a:endParaRPr lang="en-PK"/>
          </a:p>
        </p:txBody>
      </p:sp>
      <p:sp>
        <p:nvSpPr>
          <p:cNvPr id="6" name="Slide Number Placeholder 5">
            <a:extLst>
              <a:ext uri="{FF2B5EF4-FFF2-40B4-BE49-F238E27FC236}">
                <a16:creationId xmlns:a16="http://schemas.microsoft.com/office/drawing/2014/main" id="{E6DAAC25-4640-00AF-A650-6D11789740A6}"/>
              </a:ext>
            </a:extLst>
          </p:cNvPr>
          <p:cNvSpPr>
            <a:spLocks noGrp="1"/>
          </p:cNvSpPr>
          <p:nvPr>
            <p:ph type="sldNum" sz="quarter" idx="12"/>
          </p:nvPr>
        </p:nvSpPr>
        <p:spPr/>
        <p:txBody>
          <a:bodyPr/>
          <a:lstStyle/>
          <a:p>
            <a:fld id="{4DE9FEAE-A04A-4017-A011-D7B5B8B2268D}" type="slidenum">
              <a:rPr lang="en-PK" smtClean="0"/>
              <a:t>‹#›</a:t>
            </a:fld>
            <a:endParaRPr lang="en-PK"/>
          </a:p>
        </p:txBody>
      </p:sp>
    </p:spTree>
    <p:extLst>
      <p:ext uri="{BB962C8B-B14F-4D97-AF65-F5344CB8AC3E}">
        <p14:creationId xmlns:p14="http://schemas.microsoft.com/office/powerpoint/2010/main" val="9338055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672CC9C-159C-D20C-5A77-9FBE7CB4709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PK"/>
          </a:p>
        </p:txBody>
      </p:sp>
      <p:sp>
        <p:nvSpPr>
          <p:cNvPr id="3" name="Text Placeholder 2">
            <a:extLst>
              <a:ext uri="{FF2B5EF4-FFF2-40B4-BE49-F238E27FC236}">
                <a16:creationId xmlns:a16="http://schemas.microsoft.com/office/drawing/2014/main" id="{F143F7F5-C45F-EBCF-E3B7-0176EBBFBF4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Date Placeholder 3">
            <a:extLst>
              <a:ext uri="{FF2B5EF4-FFF2-40B4-BE49-F238E27FC236}">
                <a16:creationId xmlns:a16="http://schemas.microsoft.com/office/drawing/2014/main" id="{382D5B08-1D3A-A014-9CBB-71F319BE5D4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5207C84-84A7-401E-A333-802A71896985}" type="datetimeFigureOut">
              <a:rPr lang="en-PK" smtClean="0"/>
              <a:t>31/10/2024</a:t>
            </a:fld>
            <a:endParaRPr lang="en-PK"/>
          </a:p>
        </p:txBody>
      </p:sp>
      <p:sp>
        <p:nvSpPr>
          <p:cNvPr id="5" name="Footer Placeholder 4">
            <a:extLst>
              <a:ext uri="{FF2B5EF4-FFF2-40B4-BE49-F238E27FC236}">
                <a16:creationId xmlns:a16="http://schemas.microsoft.com/office/drawing/2014/main" id="{3B68668E-A107-A7DC-E1C8-DE2EDC37F82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PK"/>
          </a:p>
        </p:txBody>
      </p:sp>
      <p:sp>
        <p:nvSpPr>
          <p:cNvPr id="6" name="Slide Number Placeholder 5">
            <a:extLst>
              <a:ext uri="{FF2B5EF4-FFF2-40B4-BE49-F238E27FC236}">
                <a16:creationId xmlns:a16="http://schemas.microsoft.com/office/drawing/2014/main" id="{DA482C31-B72E-5E58-8D7B-2194B87CF29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DE9FEAE-A04A-4017-A011-D7B5B8B2268D}" type="slidenum">
              <a:rPr lang="en-PK" smtClean="0"/>
              <a:t>‹#›</a:t>
            </a:fld>
            <a:endParaRPr lang="en-PK"/>
          </a:p>
        </p:txBody>
      </p:sp>
    </p:spTree>
    <p:extLst>
      <p:ext uri="{BB962C8B-B14F-4D97-AF65-F5344CB8AC3E}">
        <p14:creationId xmlns:p14="http://schemas.microsoft.com/office/powerpoint/2010/main" val="229455402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P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4F54F1-789F-96BB-AB29-DE1D6CF67B9E}"/>
              </a:ext>
            </a:extLst>
          </p:cNvPr>
          <p:cNvSpPr>
            <a:spLocks noGrp="1"/>
          </p:cNvSpPr>
          <p:nvPr>
            <p:ph type="ctrTitle"/>
          </p:nvPr>
        </p:nvSpPr>
        <p:spPr/>
        <p:txBody>
          <a:bodyPr/>
          <a:lstStyle/>
          <a:p>
            <a:r>
              <a:rPr lang="en-US" dirty="0"/>
              <a:t>Lecture – 3</a:t>
            </a:r>
            <a:endParaRPr lang="en-PK" dirty="0"/>
          </a:p>
        </p:txBody>
      </p:sp>
      <p:sp>
        <p:nvSpPr>
          <p:cNvPr id="3" name="Subtitle 2">
            <a:extLst>
              <a:ext uri="{FF2B5EF4-FFF2-40B4-BE49-F238E27FC236}">
                <a16:creationId xmlns:a16="http://schemas.microsoft.com/office/drawing/2014/main" id="{FAB70C9D-3B82-52DA-EBE6-28359ED40219}"/>
              </a:ext>
            </a:extLst>
          </p:cNvPr>
          <p:cNvSpPr>
            <a:spLocks noGrp="1"/>
          </p:cNvSpPr>
          <p:nvPr>
            <p:ph type="subTitle" idx="1"/>
          </p:nvPr>
        </p:nvSpPr>
        <p:spPr/>
        <p:txBody>
          <a:bodyPr>
            <a:normAutofit/>
          </a:bodyPr>
          <a:lstStyle/>
          <a:p>
            <a:r>
              <a:rPr lang="en-US" sz="6000" b="1" dirty="0"/>
              <a:t>Cryptanalysis</a:t>
            </a:r>
            <a:endParaRPr lang="en-PK" sz="6000" b="1" dirty="0"/>
          </a:p>
        </p:txBody>
      </p:sp>
    </p:spTree>
    <p:extLst>
      <p:ext uri="{BB962C8B-B14F-4D97-AF65-F5344CB8AC3E}">
        <p14:creationId xmlns:p14="http://schemas.microsoft.com/office/powerpoint/2010/main" val="410600328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A9E47A-110B-7A6A-43A4-08B32D3092F5}"/>
              </a:ext>
            </a:extLst>
          </p:cNvPr>
          <p:cNvSpPr>
            <a:spLocks noGrp="1"/>
          </p:cNvSpPr>
          <p:nvPr>
            <p:ph type="title"/>
          </p:nvPr>
        </p:nvSpPr>
        <p:spPr/>
        <p:txBody>
          <a:bodyPr/>
          <a:lstStyle/>
          <a:p>
            <a:r>
              <a:rPr lang="en-US" dirty="0"/>
              <a:t>Contents</a:t>
            </a:r>
            <a:endParaRPr lang="en-PK" dirty="0"/>
          </a:p>
        </p:txBody>
      </p:sp>
      <p:sp>
        <p:nvSpPr>
          <p:cNvPr id="3" name="Content Placeholder 2">
            <a:extLst>
              <a:ext uri="{FF2B5EF4-FFF2-40B4-BE49-F238E27FC236}">
                <a16:creationId xmlns:a16="http://schemas.microsoft.com/office/drawing/2014/main" id="{E89E7498-6C3E-A28E-CB95-7192784BDD0B}"/>
              </a:ext>
            </a:extLst>
          </p:cNvPr>
          <p:cNvSpPr>
            <a:spLocks noGrp="1"/>
          </p:cNvSpPr>
          <p:nvPr>
            <p:ph idx="1"/>
          </p:nvPr>
        </p:nvSpPr>
        <p:spPr/>
        <p:txBody>
          <a:bodyPr/>
          <a:lstStyle/>
          <a:p>
            <a:r>
              <a:rPr lang="en-US" b="1" dirty="0"/>
              <a:t>Cryptanalysis</a:t>
            </a:r>
          </a:p>
          <a:p>
            <a:pPr lvl="1"/>
            <a:r>
              <a:rPr lang="en-US" dirty="0"/>
              <a:t>How does cryptanalysis work?</a:t>
            </a:r>
          </a:p>
          <a:p>
            <a:pPr lvl="1"/>
            <a:r>
              <a:rPr lang="en-US" dirty="0"/>
              <a:t>Cryptanalysis techniques</a:t>
            </a:r>
          </a:p>
          <a:p>
            <a:pPr lvl="1"/>
            <a:r>
              <a:rPr lang="en-US" dirty="0"/>
              <a:t>Cryptanalysis of Caesar Cipher (Using Brute Force) </a:t>
            </a:r>
            <a:endParaRPr lang="en-PK" dirty="0"/>
          </a:p>
        </p:txBody>
      </p:sp>
    </p:spTree>
    <p:extLst>
      <p:ext uri="{BB962C8B-B14F-4D97-AF65-F5344CB8AC3E}">
        <p14:creationId xmlns:p14="http://schemas.microsoft.com/office/powerpoint/2010/main" val="18393481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83F0FE-C4B9-768D-C0F7-44746874714B}"/>
              </a:ext>
            </a:extLst>
          </p:cNvPr>
          <p:cNvSpPr>
            <a:spLocks noGrp="1"/>
          </p:cNvSpPr>
          <p:nvPr>
            <p:ph type="title"/>
          </p:nvPr>
        </p:nvSpPr>
        <p:spPr/>
        <p:txBody>
          <a:bodyPr/>
          <a:lstStyle/>
          <a:p>
            <a:r>
              <a:rPr lang="en-US" dirty="0"/>
              <a:t>What is Cryptanalysis?</a:t>
            </a:r>
            <a:endParaRPr lang="en-PK" dirty="0"/>
          </a:p>
        </p:txBody>
      </p:sp>
      <p:sp>
        <p:nvSpPr>
          <p:cNvPr id="3" name="Content Placeholder 2">
            <a:extLst>
              <a:ext uri="{FF2B5EF4-FFF2-40B4-BE49-F238E27FC236}">
                <a16:creationId xmlns:a16="http://schemas.microsoft.com/office/drawing/2014/main" id="{1EE6A807-40F4-2D11-802A-AAB379438E79}"/>
              </a:ext>
            </a:extLst>
          </p:cNvPr>
          <p:cNvSpPr>
            <a:spLocks noGrp="1"/>
          </p:cNvSpPr>
          <p:nvPr>
            <p:ph idx="1"/>
          </p:nvPr>
        </p:nvSpPr>
        <p:spPr/>
        <p:txBody>
          <a:bodyPr/>
          <a:lstStyle/>
          <a:p>
            <a:pPr algn="just"/>
            <a:r>
              <a:rPr lang="en-US" b="1" dirty="0">
                <a:solidFill>
                  <a:srgbClr val="FF0000"/>
                </a:solidFill>
              </a:rPr>
              <a:t>Cryptanalysis</a:t>
            </a:r>
            <a:r>
              <a:rPr lang="en-US" dirty="0"/>
              <a:t> is the study of cryptographic systems with the goal of </a:t>
            </a:r>
            <a:r>
              <a:rPr lang="en-US" dirty="0">
                <a:solidFill>
                  <a:srgbClr val="FF0000"/>
                </a:solidFill>
              </a:rPr>
              <a:t>breaking</a:t>
            </a:r>
            <a:r>
              <a:rPr lang="en-US" dirty="0"/>
              <a:t> them or discovering their </a:t>
            </a:r>
            <a:r>
              <a:rPr lang="en-US" dirty="0">
                <a:solidFill>
                  <a:srgbClr val="FF0000"/>
                </a:solidFill>
              </a:rPr>
              <a:t>weaknesses</a:t>
            </a:r>
            <a:r>
              <a:rPr lang="en-US" dirty="0"/>
              <a:t>.</a:t>
            </a:r>
          </a:p>
          <a:p>
            <a:pPr algn="just"/>
            <a:r>
              <a:rPr lang="en-US" dirty="0"/>
              <a:t>It involves analyzing encrypted data or ciphertext to extract useful information, such as the original plaintext or the encryption key.</a:t>
            </a:r>
          </a:p>
          <a:p>
            <a:pPr algn="just"/>
            <a:r>
              <a:rPr lang="en-US" dirty="0"/>
              <a:t>Cryptanalysis is a fundamental part of modern cryptography and plays an important role in the development of new cryptographic algorithms and systems.</a:t>
            </a:r>
            <a:endParaRPr lang="en-PK" dirty="0"/>
          </a:p>
        </p:txBody>
      </p:sp>
    </p:spTree>
    <p:extLst>
      <p:ext uri="{BB962C8B-B14F-4D97-AF65-F5344CB8AC3E}">
        <p14:creationId xmlns:p14="http://schemas.microsoft.com/office/powerpoint/2010/main" val="127651049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A4C778-1263-1BF1-5DD9-9756CA35A599}"/>
              </a:ext>
            </a:extLst>
          </p:cNvPr>
          <p:cNvSpPr>
            <a:spLocks noGrp="1"/>
          </p:cNvSpPr>
          <p:nvPr>
            <p:ph type="title"/>
          </p:nvPr>
        </p:nvSpPr>
        <p:spPr/>
        <p:txBody>
          <a:bodyPr/>
          <a:lstStyle/>
          <a:p>
            <a:r>
              <a:rPr lang="en-US" dirty="0"/>
              <a:t>What is Cryptanalysis?</a:t>
            </a:r>
            <a:endParaRPr lang="en-PK" dirty="0"/>
          </a:p>
        </p:txBody>
      </p:sp>
      <p:sp>
        <p:nvSpPr>
          <p:cNvPr id="3" name="Content Placeholder 2">
            <a:extLst>
              <a:ext uri="{FF2B5EF4-FFF2-40B4-BE49-F238E27FC236}">
                <a16:creationId xmlns:a16="http://schemas.microsoft.com/office/drawing/2014/main" id="{637F0BFF-5DC7-82AA-AC96-AE760D866FB3}"/>
              </a:ext>
            </a:extLst>
          </p:cNvPr>
          <p:cNvSpPr>
            <a:spLocks noGrp="1"/>
          </p:cNvSpPr>
          <p:nvPr>
            <p:ph idx="1"/>
          </p:nvPr>
        </p:nvSpPr>
        <p:spPr/>
        <p:txBody>
          <a:bodyPr/>
          <a:lstStyle/>
          <a:p>
            <a:pPr algn="just"/>
            <a:r>
              <a:rPr lang="en-US" dirty="0"/>
              <a:t>Cryptanalysis can be classified into two categories: </a:t>
            </a:r>
            <a:r>
              <a:rPr lang="en-US" b="1" dirty="0">
                <a:solidFill>
                  <a:srgbClr val="FF0000"/>
                </a:solidFill>
              </a:rPr>
              <a:t>classical cryptanalysis</a:t>
            </a:r>
            <a:r>
              <a:rPr lang="en-US" dirty="0"/>
              <a:t> and </a:t>
            </a:r>
            <a:r>
              <a:rPr lang="en-US" b="1" dirty="0">
                <a:solidFill>
                  <a:srgbClr val="FF0000"/>
                </a:solidFill>
              </a:rPr>
              <a:t>modern cryptanalysis</a:t>
            </a:r>
            <a:r>
              <a:rPr lang="en-US" dirty="0"/>
              <a:t>.</a:t>
            </a:r>
          </a:p>
          <a:p>
            <a:pPr lvl="1" algn="just">
              <a:buFont typeface="Courier New" panose="02070309020205020404" pitchFamily="49" charset="0"/>
              <a:buChar char="o"/>
            </a:pPr>
            <a:r>
              <a:rPr lang="en-US" dirty="0"/>
              <a:t>Classical cryptanalysis involves the study of historical cryptographic systems, such as the Caesar cipher, the Vigenère cipher, and the Enigma machine, and their weaknesses. </a:t>
            </a:r>
          </a:p>
          <a:p>
            <a:pPr lvl="1" algn="just">
              <a:buFont typeface="Courier New" panose="02070309020205020404" pitchFamily="49" charset="0"/>
              <a:buChar char="o"/>
            </a:pPr>
            <a:r>
              <a:rPr lang="en-US" dirty="0"/>
              <a:t>Modern cryptanalysis, on the other hand, focuses on analyzing modern cryptographic systems, such as symmetric-key encryption, public-key encryption, and hash functions, and finding vulnerabilities or weaknesses that can be exploited.</a:t>
            </a:r>
            <a:endParaRPr lang="en-PK" dirty="0"/>
          </a:p>
        </p:txBody>
      </p:sp>
    </p:spTree>
    <p:extLst>
      <p:ext uri="{BB962C8B-B14F-4D97-AF65-F5344CB8AC3E}">
        <p14:creationId xmlns:p14="http://schemas.microsoft.com/office/powerpoint/2010/main" val="156359462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0AE0F9-BA33-6203-B890-EF5A8265512E}"/>
              </a:ext>
            </a:extLst>
          </p:cNvPr>
          <p:cNvSpPr>
            <a:spLocks noGrp="1"/>
          </p:cNvSpPr>
          <p:nvPr>
            <p:ph type="title"/>
          </p:nvPr>
        </p:nvSpPr>
        <p:spPr/>
        <p:txBody>
          <a:bodyPr/>
          <a:lstStyle/>
          <a:p>
            <a:r>
              <a:rPr lang="en-US" dirty="0"/>
              <a:t>How does cryptanalysis work?</a:t>
            </a:r>
            <a:endParaRPr lang="en-PK" dirty="0"/>
          </a:p>
        </p:txBody>
      </p:sp>
      <p:sp>
        <p:nvSpPr>
          <p:cNvPr id="3" name="Content Placeholder 2">
            <a:extLst>
              <a:ext uri="{FF2B5EF4-FFF2-40B4-BE49-F238E27FC236}">
                <a16:creationId xmlns:a16="http://schemas.microsoft.com/office/drawing/2014/main" id="{66E6B0A6-5B8E-769E-5E15-EE04A53A6D95}"/>
              </a:ext>
            </a:extLst>
          </p:cNvPr>
          <p:cNvSpPr>
            <a:spLocks noGrp="1"/>
          </p:cNvSpPr>
          <p:nvPr>
            <p:ph idx="1"/>
          </p:nvPr>
        </p:nvSpPr>
        <p:spPr/>
        <p:txBody>
          <a:bodyPr>
            <a:normAutofit/>
          </a:bodyPr>
          <a:lstStyle/>
          <a:p>
            <a:r>
              <a:rPr lang="en-US" dirty="0"/>
              <a:t>Cryptanalysis involves analyzing the cryptographic system to find vulnerabilities that can be exploited to recover the plaintext or encryption key. </a:t>
            </a:r>
          </a:p>
          <a:p>
            <a:r>
              <a:rPr lang="en-US" dirty="0"/>
              <a:t>The techniques used in cryptanalysis vary depending on the type of encryption and the resources available. </a:t>
            </a:r>
          </a:p>
          <a:p>
            <a:r>
              <a:rPr lang="en-US" dirty="0"/>
              <a:t>Cryptanalysts use </a:t>
            </a:r>
            <a:r>
              <a:rPr lang="en-US" i="1" dirty="0"/>
              <a:t>analytical</a:t>
            </a:r>
            <a:r>
              <a:rPr lang="en-US" dirty="0"/>
              <a:t>, </a:t>
            </a:r>
            <a:r>
              <a:rPr lang="en-US" i="1" dirty="0"/>
              <a:t>computational</a:t>
            </a:r>
            <a:r>
              <a:rPr lang="en-US" dirty="0"/>
              <a:t>, and </a:t>
            </a:r>
            <a:r>
              <a:rPr lang="en-US" i="1" dirty="0"/>
              <a:t>creative</a:t>
            </a:r>
            <a:r>
              <a:rPr lang="en-US" dirty="0"/>
              <a:t> thinking to break the cryptographic system and ensure the security of encrypted data and communications.</a:t>
            </a:r>
          </a:p>
          <a:p>
            <a:r>
              <a:rPr lang="en-US" dirty="0"/>
              <a:t>Cryptanalysis is a complex and iterative process that requires a deep understanding of cryptography, mathematics, and computer science. </a:t>
            </a:r>
          </a:p>
          <a:p>
            <a:endParaRPr lang="en-PK" dirty="0"/>
          </a:p>
        </p:txBody>
      </p:sp>
    </p:spTree>
    <p:extLst>
      <p:ext uri="{BB962C8B-B14F-4D97-AF65-F5344CB8AC3E}">
        <p14:creationId xmlns:p14="http://schemas.microsoft.com/office/powerpoint/2010/main" val="38931323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9AEC07-42AA-B12A-7E8D-19FFAFF1247A}"/>
              </a:ext>
            </a:extLst>
          </p:cNvPr>
          <p:cNvSpPr>
            <a:spLocks noGrp="1"/>
          </p:cNvSpPr>
          <p:nvPr>
            <p:ph type="title"/>
          </p:nvPr>
        </p:nvSpPr>
        <p:spPr/>
        <p:txBody>
          <a:bodyPr/>
          <a:lstStyle/>
          <a:p>
            <a:r>
              <a:rPr lang="en-US" dirty="0"/>
              <a:t>How does cryptanalysis work?</a:t>
            </a:r>
            <a:endParaRPr lang="en-PK" dirty="0"/>
          </a:p>
        </p:txBody>
      </p:sp>
      <p:sp>
        <p:nvSpPr>
          <p:cNvPr id="3" name="Content Placeholder 2">
            <a:extLst>
              <a:ext uri="{FF2B5EF4-FFF2-40B4-BE49-F238E27FC236}">
                <a16:creationId xmlns:a16="http://schemas.microsoft.com/office/drawing/2014/main" id="{8F01D930-4916-09B5-B28D-B782737EF019}"/>
              </a:ext>
            </a:extLst>
          </p:cNvPr>
          <p:cNvSpPr>
            <a:spLocks noGrp="1"/>
          </p:cNvSpPr>
          <p:nvPr>
            <p:ph idx="1"/>
          </p:nvPr>
        </p:nvSpPr>
        <p:spPr/>
        <p:txBody>
          <a:bodyPr/>
          <a:lstStyle/>
          <a:p>
            <a:r>
              <a:rPr lang="en-US" dirty="0"/>
              <a:t>Here are some general steps involved in cryptanalysis:</a:t>
            </a:r>
          </a:p>
          <a:p>
            <a:pPr lvl="1">
              <a:buFont typeface="Courier New" panose="02070309020205020404" pitchFamily="49" charset="0"/>
              <a:buChar char="o"/>
            </a:pPr>
            <a:r>
              <a:rPr lang="en-US" dirty="0"/>
              <a:t>Obtain or intercept the ciphertext</a:t>
            </a:r>
          </a:p>
          <a:p>
            <a:pPr lvl="1">
              <a:buFont typeface="Courier New" panose="02070309020205020404" pitchFamily="49" charset="0"/>
              <a:buChar char="o"/>
            </a:pPr>
            <a:r>
              <a:rPr lang="en-US" dirty="0"/>
              <a:t>Determine the type of encryption</a:t>
            </a:r>
          </a:p>
          <a:p>
            <a:pPr lvl="1">
              <a:buFont typeface="Courier New" panose="02070309020205020404" pitchFamily="49" charset="0"/>
              <a:buChar char="o"/>
            </a:pPr>
            <a:r>
              <a:rPr lang="en-US" dirty="0"/>
              <a:t>Identify weaknesses in the encryption</a:t>
            </a:r>
          </a:p>
          <a:p>
            <a:pPr lvl="1">
              <a:buFont typeface="Courier New" panose="02070309020205020404" pitchFamily="49" charset="0"/>
              <a:buChar char="o"/>
            </a:pPr>
            <a:r>
              <a:rPr lang="en-US" dirty="0"/>
              <a:t>Apply cryptanalysis techniques</a:t>
            </a:r>
          </a:p>
          <a:p>
            <a:pPr lvl="1">
              <a:buFont typeface="Courier New" panose="02070309020205020404" pitchFamily="49" charset="0"/>
              <a:buChar char="o"/>
            </a:pPr>
            <a:r>
              <a:rPr lang="en-US" dirty="0"/>
              <a:t>Verify the results</a:t>
            </a:r>
            <a:endParaRPr lang="en-PK" dirty="0"/>
          </a:p>
        </p:txBody>
      </p:sp>
    </p:spTree>
    <p:extLst>
      <p:ext uri="{BB962C8B-B14F-4D97-AF65-F5344CB8AC3E}">
        <p14:creationId xmlns:p14="http://schemas.microsoft.com/office/powerpoint/2010/main" val="387346329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12AD6C-9B71-04C9-3516-75F4410E7020}"/>
              </a:ext>
            </a:extLst>
          </p:cNvPr>
          <p:cNvSpPr>
            <a:spLocks noGrp="1"/>
          </p:cNvSpPr>
          <p:nvPr>
            <p:ph type="title"/>
          </p:nvPr>
        </p:nvSpPr>
        <p:spPr/>
        <p:txBody>
          <a:bodyPr/>
          <a:lstStyle/>
          <a:p>
            <a:r>
              <a:rPr lang="en-US" dirty="0"/>
              <a:t>Cryptanalysis Techniques</a:t>
            </a:r>
          </a:p>
        </p:txBody>
      </p:sp>
      <p:sp>
        <p:nvSpPr>
          <p:cNvPr id="3" name="Content Placeholder 2">
            <a:extLst>
              <a:ext uri="{FF2B5EF4-FFF2-40B4-BE49-F238E27FC236}">
                <a16:creationId xmlns:a16="http://schemas.microsoft.com/office/drawing/2014/main" id="{C770A757-7398-1622-16EA-FC18C9F8CF7C}"/>
              </a:ext>
            </a:extLst>
          </p:cNvPr>
          <p:cNvSpPr>
            <a:spLocks noGrp="1"/>
          </p:cNvSpPr>
          <p:nvPr>
            <p:ph idx="1"/>
          </p:nvPr>
        </p:nvSpPr>
        <p:spPr/>
        <p:txBody>
          <a:bodyPr>
            <a:normAutofit fontScale="92500" lnSpcReduction="20000"/>
          </a:bodyPr>
          <a:lstStyle/>
          <a:p>
            <a:r>
              <a:rPr lang="en-US" b="1" dirty="0"/>
              <a:t>There are several techniques used in cryptanalysis, such as brute force attacks, frequency analysis, side-channel attacks, and differential cryptanalysis:</a:t>
            </a:r>
          </a:p>
          <a:p>
            <a:pPr lvl="1"/>
            <a:r>
              <a:rPr lang="en-US" b="1" dirty="0"/>
              <a:t>Brute force attacks </a:t>
            </a:r>
            <a:r>
              <a:rPr lang="en-US" dirty="0"/>
              <a:t>involve trying every possible key or combination of keys to decrypt the ciphertext.</a:t>
            </a:r>
          </a:p>
          <a:p>
            <a:pPr lvl="1"/>
            <a:r>
              <a:rPr lang="en-US" b="1" dirty="0"/>
              <a:t>Frequency analysis </a:t>
            </a:r>
            <a:r>
              <a:rPr lang="en-US" dirty="0"/>
              <a:t>involves analyzing the frequency distribution of letters or symbols in the ciphertext to make educated guesses about the plaintext.</a:t>
            </a:r>
          </a:p>
          <a:p>
            <a:pPr lvl="1"/>
            <a:r>
              <a:rPr lang="en-US" b="1" dirty="0"/>
              <a:t>Side-channel attacks </a:t>
            </a:r>
            <a:r>
              <a:rPr lang="en-US" dirty="0"/>
              <a:t>involve analyzing non-cryptographic information, such as power consumption or electromagnetic emissions, to extract information about the encryption process.</a:t>
            </a:r>
          </a:p>
          <a:p>
            <a:pPr lvl="1"/>
            <a:r>
              <a:rPr lang="en-US" b="1" dirty="0"/>
              <a:t>Differential cryptanalysis </a:t>
            </a:r>
            <a:r>
              <a:rPr lang="en-US" dirty="0"/>
              <a:t>involves analyzing the difference between pairs of plaintext-ciphertext pairs to extract information about the encryption key.</a:t>
            </a:r>
          </a:p>
          <a:p>
            <a:r>
              <a:rPr lang="en-US" dirty="0"/>
              <a:t>Cryptanalysis is essential for ensuring the security of encrypted data and communications.</a:t>
            </a:r>
            <a:endParaRPr lang="en-PK" dirty="0"/>
          </a:p>
        </p:txBody>
      </p:sp>
    </p:spTree>
    <p:extLst>
      <p:ext uri="{BB962C8B-B14F-4D97-AF65-F5344CB8AC3E}">
        <p14:creationId xmlns:p14="http://schemas.microsoft.com/office/powerpoint/2010/main" val="17670827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5264F2-A4B7-5319-C47A-362EBC8D211E}"/>
              </a:ext>
            </a:extLst>
          </p:cNvPr>
          <p:cNvSpPr>
            <a:spLocks noGrp="1"/>
          </p:cNvSpPr>
          <p:nvPr>
            <p:ph type="title"/>
          </p:nvPr>
        </p:nvSpPr>
        <p:spPr/>
        <p:txBody>
          <a:bodyPr/>
          <a:lstStyle/>
          <a:p>
            <a:r>
              <a:rPr lang="en-US" dirty="0"/>
              <a:t>Cryptanalysis of Caesar Cipher</a:t>
            </a:r>
            <a:endParaRPr lang="en-PK" dirty="0"/>
          </a:p>
        </p:txBody>
      </p:sp>
      <p:sp>
        <p:nvSpPr>
          <p:cNvPr id="3" name="Content Placeholder 2">
            <a:extLst>
              <a:ext uri="{FF2B5EF4-FFF2-40B4-BE49-F238E27FC236}">
                <a16:creationId xmlns:a16="http://schemas.microsoft.com/office/drawing/2014/main" id="{84ADFD00-F281-3B0D-5EB0-68F9F30BC9F5}"/>
              </a:ext>
            </a:extLst>
          </p:cNvPr>
          <p:cNvSpPr>
            <a:spLocks noGrp="1"/>
          </p:cNvSpPr>
          <p:nvPr>
            <p:ph idx="1"/>
          </p:nvPr>
        </p:nvSpPr>
        <p:spPr/>
        <p:txBody>
          <a:bodyPr>
            <a:normAutofit/>
          </a:bodyPr>
          <a:lstStyle/>
          <a:p>
            <a:pPr algn="just"/>
            <a:r>
              <a:rPr lang="en-US" dirty="0"/>
              <a:t>Caesar Cipher is a simple substitution cipher that replaces each letter in the plaintext with a letter a fixed number of positions down the alphabet. </a:t>
            </a:r>
          </a:p>
          <a:p>
            <a:pPr algn="just"/>
            <a:r>
              <a:rPr lang="en-US" dirty="0"/>
              <a:t>The encryption key is the number of positions each letter is shifted.</a:t>
            </a:r>
          </a:p>
        </p:txBody>
      </p:sp>
    </p:spTree>
    <p:extLst>
      <p:ext uri="{BB962C8B-B14F-4D97-AF65-F5344CB8AC3E}">
        <p14:creationId xmlns:p14="http://schemas.microsoft.com/office/powerpoint/2010/main" val="102000939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ED3500-0E46-7A45-2795-10AA7C489DE5}"/>
              </a:ext>
            </a:extLst>
          </p:cNvPr>
          <p:cNvSpPr>
            <a:spLocks noGrp="1"/>
          </p:cNvSpPr>
          <p:nvPr>
            <p:ph type="title"/>
          </p:nvPr>
        </p:nvSpPr>
        <p:spPr/>
        <p:txBody>
          <a:bodyPr/>
          <a:lstStyle/>
          <a:p>
            <a:r>
              <a:rPr lang="en-US" dirty="0"/>
              <a:t>Cryptanalysis of Caesar Cipher (Brute Force Attack)</a:t>
            </a:r>
            <a:endParaRPr lang="en-PK" dirty="0"/>
          </a:p>
        </p:txBody>
      </p:sp>
      <p:sp>
        <p:nvSpPr>
          <p:cNvPr id="3" name="Content Placeholder 2">
            <a:extLst>
              <a:ext uri="{FF2B5EF4-FFF2-40B4-BE49-F238E27FC236}">
                <a16:creationId xmlns:a16="http://schemas.microsoft.com/office/drawing/2014/main" id="{C27F4D23-7CEC-0D1D-CFD9-9CE854FDF168}"/>
              </a:ext>
            </a:extLst>
          </p:cNvPr>
          <p:cNvSpPr>
            <a:spLocks noGrp="1"/>
          </p:cNvSpPr>
          <p:nvPr>
            <p:ph idx="1"/>
          </p:nvPr>
        </p:nvSpPr>
        <p:spPr/>
        <p:txBody>
          <a:bodyPr/>
          <a:lstStyle/>
          <a:p>
            <a:pPr algn="just"/>
            <a:r>
              <a:rPr lang="en-US" dirty="0"/>
              <a:t>An example of cryptanalysis of Caesar Cipher using a brute force attack:</a:t>
            </a:r>
          </a:p>
          <a:p>
            <a:pPr lvl="1" algn="just"/>
            <a:r>
              <a:rPr lang="en-US" b="1" dirty="0"/>
              <a:t>Obtain or intercept the ciphertext</a:t>
            </a:r>
            <a:r>
              <a:rPr lang="en-US" dirty="0"/>
              <a:t>: Let's say the ciphertext is "</a:t>
            </a:r>
            <a:r>
              <a:rPr lang="en-US" b="1" dirty="0">
                <a:solidFill>
                  <a:srgbClr val="FF0000"/>
                </a:solidFill>
              </a:rPr>
              <a:t>ZH ORYH SDNLVWDQ</a:t>
            </a:r>
            <a:r>
              <a:rPr lang="en-US" dirty="0"/>
              <a:t>" and we want to decrypt it to obtain the original plaintext.</a:t>
            </a:r>
          </a:p>
          <a:p>
            <a:pPr lvl="1" algn="just"/>
            <a:r>
              <a:rPr lang="en-US" b="1" dirty="0"/>
              <a:t>Determine the type of encryption</a:t>
            </a:r>
            <a:r>
              <a:rPr lang="en-US" dirty="0"/>
              <a:t>: We know that Caesar Cipher was used to encrypt the plaintext, so we need to determine the encryption key, which is the number of positions each letter is shifted. In this case, we don't know the encryption key.</a:t>
            </a:r>
          </a:p>
          <a:p>
            <a:pPr lvl="1" algn="just"/>
            <a:r>
              <a:rPr lang="en-US" b="1" dirty="0"/>
              <a:t>Identify weaknesses in the encryption</a:t>
            </a:r>
            <a:r>
              <a:rPr lang="en-US" dirty="0"/>
              <a:t>: One weakness of Caesar Cipher is that there are only 25 possible keys, since there are only 26 letters in the alphabet. Therefore, we can use a brute force attack to try all 25 possible keys and see which one produces a meaningful plaintext.</a:t>
            </a:r>
            <a:endParaRPr lang="en-PK" dirty="0"/>
          </a:p>
          <a:p>
            <a:endParaRPr lang="en-PK" dirty="0"/>
          </a:p>
        </p:txBody>
      </p:sp>
    </p:spTree>
    <p:extLst>
      <p:ext uri="{BB962C8B-B14F-4D97-AF65-F5344CB8AC3E}">
        <p14:creationId xmlns:p14="http://schemas.microsoft.com/office/powerpoint/2010/main" val="345290843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522847-0C58-0B00-F1C7-0796CCD26E08}"/>
              </a:ext>
            </a:extLst>
          </p:cNvPr>
          <p:cNvSpPr>
            <a:spLocks noGrp="1"/>
          </p:cNvSpPr>
          <p:nvPr>
            <p:ph type="title"/>
          </p:nvPr>
        </p:nvSpPr>
        <p:spPr/>
        <p:txBody>
          <a:bodyPr/>
          <a:lstStyle/>
          <a:p>
            <a:r>
              <a:rPr lang="en-US" dirty="0"/>
              <a:t>Cryptanalysis of Caesar Cipher (Brute Force Attack)</a:t>
            </a:r>
            <a:endParaRPr lang="en-PK" dirty="0"/>
          </a:p>
        </p:txBody>
      </p:sp>
      <p:sp>
        <p:nvSpPr>
          <p:cNvPr id="3" name="Content Placeholder 2">
            <a:extLst>
              <a:ext uri="{FF2B5EF4-FFF2-40B4-BE49-F238E27FC236}">
                <a16:creationId xmlns:a16="http://schemas.microsoft.com/office/drawing/2014/main" id="{F2C5214D-096A-8015-FB90-1B24A354B379}"/>
              </a:ext>
            </a:extLst>
          </p:cNvPr>
          <p:cNvSpPr>
            <a:spLocks noGrp="1"/>
          </p:cNvSpPr>
          <p:nvPr>
            <p:ph idx="1"/>
          </p:nvPr>
        </p:nvSpPr>
        <p:spPr/>
        <p:txBody>
          <a:bodyPr>
            <a:normAutofit fontScale="92500" lnSpcReduction="10000"/>
          </a:bodyPr>
          <a:lstStyle/>
          <a:p>
            <a:pPr algn="just"/>
            <a:r>
              <a:rPr lang="en-US" b="1" dirty="0"/>
              <a:t>Apply cryptanalysis techniques</a:t>
            </a:r>
            <a:r>
              <a:rPr lang="en-US" dirty="0"/>
              <a:t>: To apply a brute force attack, we can write a program or use a tool that tries all possible keys by shifting each letter of the ciphertext by 1 to 25 positions down the alphabet. For example, we can shift the ciphertext by 1 position to get "YG NQXG RCMKUVCP" and by 2 positions to get "XF MPWF QBLJTUBO". We can continue this process until we find a meaningful plaintext, which in this case is "</a:t>
            </a:r>
            <a:r>
              <a:rPr lang="en-US" dirty="0">
                <a:solidFill>
                  <a:srgbClr val="FF0000"/>
                </a:solidFill>
              </a:rPr>
              <a:t>we love </a:t>
            </a:r>
            <a:r>
              <a:rPr lang="en-US" dirty="0" err="1">
                <a:solidFill>
                  <a:srgbClr val="FF0000"/>
                </a:solidFill>
              </a:rPr>
              <a:t>pakistan</a:t>
            </a:r>
            <a:r>
              <a:rPr lang="en-US" dirty="0"/>
              <a:t>".</a:t>
            </a:r>
          </a:p>
          <a:p>
            <a:pPr algn="just"/>
            <a:r>
              <a:rPr lang="en-US" b="1" dirty="0"/>
              <a:t>Verify the results</a:t>
            </a:r>
            <a:r>
              <a:rPr lang="en-US" dirty="0"/>
              <a:t>: Once we have obtained the plaintext "</a:t>
            </a:r>
            <a:r>
              <a:rPr lang="en-US" dirty="0">
                <a:solidFill>
                  <a:srgbClr val="FF0000"/>
                </a:solidFill>
              </a:rPr>
              <a:t>we love </a:t>
            </a:r>
            <a:r>
              <a:rPr lang="en-US" dirty="0" err="1">
                <a:solidFill>
                  <a:srgbClr val="FF0000"/>
                </a:solidFill>
              </a:rPr>
              <a:t>pakistan</a:t>
            </a:r>
            <a:r>
              <a:rPr lang="en-US" dirty="0"/>
              <a:t>", we need to verify that it is correct by checking it against known plaintext or by using it to produce the same ciphertext as the original encryption key. In this case, we can encrypt the plaintext "we love </a:t>
            </a:r>
            <a:r>
              <a:rPr lang="en-US" dirty="0" err="1"/>
              <a:t>pakistan</a:t>
            </a:r>
            <a:r>
              <a:rPr lang="en-US" dirty="0"/>
              <a:t>" using a Caesar Cipher with a key of 3 to obtain the ciphertext "ZH ORYH SDNLVWDQ", which matches the original ciphertext "ZH ORYH SDNLVWDQ".</a:t>
            </a:r>
            <a:endParaRPr lang="en-PK" dirty="0"/>
          </a:p>
        </p:txBody>
      </p:sp>
    </p:spTree>
    <p:extLst>
      <p:ext uri="{BB962C8B-B14F-4D97-AF65-F5344CB8AC3E}">
        <p14:creationId xmlns:p14="http://schemas.microsoft.com/office/powerpoint/2010/main" val="15997590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5583E8-8516-80B8-17BA-C97B33E24211}"/>
              </a:ext>
            </a:extLst>
          </p:cNvPr>
          <p:cNvSpPr>
            <a:spLocks noGrp="1"/>
          </p:cNvSpPr>
          <p:nvPr>
            <p:ph type="title"/>
          </p:nvPr>
        </p:nvSpPr>
        <p:spPr/>
        <p:txBody>
          <a:bodyPr/>
          <a:lstStyle/>
          <a:p>
            <a:r>
              <a:rPr lang="en-US" dirty="0"/>
              <a:t>Summary</a:t>
            </a:r>
            <a:endParaRPr lang="en-PK" dirty="0"/>
          </a:p>
        </p:txBody>
      </p:sp>
      <p:sp>
        <p:nvSpPr>
          <p:cNvPr id="3" name="Content Placeholder 2">
            <a:extLst>
              <a:ext uri="{FF2B5EF4-FFF2-40B4-BE49-F238E27FC236}">
                <a16:creationId xmlns:a16="http://schemas.microsoft.com/office/drawing/2014/main" id="{887BA53C-17DA-217A-A1C0-DC36E39BAA17}"/>
              </a:ext>
            </a:extLst>
          </p:cNvPr>
          <p:cNvSpPr>
            <a:spLocks noGrp="1"/>
          </p:cNvSpPr>
          <p:nvPr>
            <p:ph idx="1"/>
          </p:nvPr>
        </p:nvSpPr>
        <p:spPr/>
        <p:txBody>
          <a:bodyPr/>
          <a:lstStyle/>
          <a:p>
            <a:pPr algn="just"/>
            <a:r>
              <a:rPr lang="en-US" dirty="0"/>
              <a:t>In summary, cryptanalysis of Caesar Cipher using a brute force attack involves trying all possible keys to find the one that produces a meaningful plaintext. </a:t>
            </a:r>
          </a:p>
          <a:p>
            <a:pPr algn="just"/>
            <a:r>
              <a:rPr lang="en-US" dirty="0"/>
              <a:t>This attack is possible because there are only 25 possible keys in Caesar Cipher. </a:t>
            </a:r>
          </a:p>
          <a:p>
            <a:pPr algn="just"/>
            <a:r>
              <a:rPr lang="en-US" dirty="0"/>
              <a:t>Once the plaintext is obtained, it can be verified by checking it against known plaintext or by using it to produce the same ciphertext as the original encryption key.</a:t>
            </a:r>
            <a:endParaRPr lang="en-PK" dirty="0"/>
          </a:p>
        </p:txBody>
      </p:sp>
    </p:spTree>
    <p:extLst>
      <p:ext uri="{BB962C8B-B14F-4D97-AF65-F5344CB8AC3E}">
        <p14:creationId xmlns:p14="http://schemas.microsoft.com/office/powerpoint/2010/main" val="426599655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79</TotalTime>
  <Words>909</Words>
  <Application>Microsoft Office PowerPoint</Application>
  <PresentationFormat>Widescreen</PresentationFormat>
  <Paragraphs>51</Paragraphs>
  <Slides>11</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Arial</vt:lpstr>
      <vt:lpstr>Calibri</vt:lpstr>
      <vt:lpstr>Calibri Light</vt:lpstr>
      <vt:lpstr>Courier New</vt:lpstr>
      <vt:lpstr>Office Theme</vt:lpstr>
      <vt:lpstr>Lecture – 3</vt:lpstr>
      <vt:lpstr>Contents</vt:lpstr>
      <vt:lpstr>What is Cryptanalysis?</vt:lpstr>
      <vt:lpstr>What is Cryptanalysis?</vt:lpstr>
      <vt:lpstr>How does cryptanalysis work?</vt:lpstr>
      <vt:lpstr>How does cryptanalysis work?</vt:lpstr>
      <vt:lpstr>Cryptanalysis Techniques</vt:lpstr>
      <vt:lpstr>Cryptanalysis of Caesar Cipher</vt:lpstr>
      <vt:lpstr>Cryptanalysis of Caesar Cipher (Brute Force Attack)</vt:lpstr>
      <vt:lpstr>Cryptanalysis of Caesar Cipher (Brute Force Attack)</vt:lpstr>
      <vt:lpstr>Summary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Lecture – 3</dc:title>
  <dc:creator>Annas Malik</dc:creator>
  <cp:lastModifiedBy>Muhammad Tauseef Hanif</cp:lastModifiedBy>
  <cp:revision>11</cp:revision>
  <dcterms:created xsi:type="dcterms:W3CDTF">2023-03-26T12:38:24Z</dcterms:created>
  <dcterms:modified xsi:type="dcterms:W3CDTF">2024-10-31T06:32:28Z</dcterms:modified>
</cp:coreProperties>
</file>